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Dit is het voorstel, niet de uitvoering. We leggen het format voor en vragen om akkoord op de keuzes en de open punten achterin.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Vaste CEDA-introslide: wie CEDA is. Kort toelichten, daarna door naar de inhoud.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vier getallen vatten het format samen. Nieuw ten opzichte van v1: aan het eind een evaluatieblok met reflectie en een peiling naar interesse in een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evaluatieblok staat na de laatste uitleg (spiegelmoment 2) en vóór de interactieve afsluiting. De uitleg-blokken aan het begin zijn ten opzichte van v1 iets ingekort om die 8 minuten vrij te maken.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Synthetisch is niet willekeurig: de verdelingen lijken op de werkelijkheid, de personen bestaan niet. Zelfde codebook, zelfde definities, dus wat je bouwt werkt straks ook op echte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bestuurder prompt, de navigator controleert wat de agent doet. Na elke ronde een spiegelmoment: 2-3 tweetallen laten zien wat ze deden, daarna laten we zien wat de skill in één instructie doet.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drie draaien op het 1CHO-bestand. Let op: casus C vraagt een VO-eindcijfer, dat zit niet in het synthetische inschrijvingenbestand maar in VAKHAVW. Zie de bevindingen uit staat1cho in de uitvoeringsdocumentatie.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Prompt: wat je nu al doet. Skill: een map met een SKILL.md, bovenaan staat wanneer hij van toepassing is. De agent leest alleen de korte beschrijving en laadt de rest pas als de taak erom vraagt.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Herkenbaar: je schrijft een goede prompt, het werkt, en een week later typ je hem opnieuw (en net iets anders). De drempel is een keuze van het project (staat1cho: minder dan 30 studenten per groep, minder dan 5 per percentage-cel), nog niet getoetst door een privacy officer.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Iedereen werkt via de agent. Streamlit is een voorlopige keuze: het staat1cho-dashboard zelf is in R Shiny gebouwd, maar voor de workshop is Python met de agent het meest haalbaar.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 mag je concluderen en hoe presenteer je het? Dat is het werk dat de agent niet voor je doet.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Nieuw: een derde skill voor de reflectie. Die is afgeleid van de bestaande sessie-terugblik van het team, maar zonder GitHub-koppeling: de antwoorden komen in een lokaal bestand en in de peiling.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agent bouwt snel. Jij bepaalt wat je mag concluderen. Na elke ronde zie je wat de tweetallen zelf misten.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Plek in het programma: na de laatste uitleg (spiegelmoment 2) en vóór de interactieve afsluiting. Antwoordopties MC: nee / losse sessie / paar dagdelen / programma van 4 uur per week voor één semester. Tool voor de peiling is nog open.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Het laatste risico is nieuw. Als de rondes uitlopen, schrappen we eerst de interactieve afsluiting, niet de evaluatie: die levert de input voor een vervolg.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Vraag om akkoord op de casus en de peiling-tool. Daarna werken we de uitvoering uit.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Vaste afsluitslide: laat deze staan tijdens de vragen, zodat iedereen de links ziet.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edanl" TargetMode="External"/><Relationship Id="rId3" Type="http://schemas.openxmlformats.org/officeDocument/2006/relationships/hyperlink" Target="https://community.npuls.nl/groups/data-ai" TargetMode="External"/><Relationship Id="rId4" Type="http://schemas.openxmlformats.org/officeDocument/2006/relationships/hyperlink" Target="mailto:ceda@surf.nl" TargetMode="External"/><Relationship Id="rId1" Type="http://schemas.openxmlformats.org/officeDocument/2006/relationships/image" Target="../media/Slide-17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6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3920" y="72136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" name="Shape 1"/>
          <p:cNvSpPr/>
          <p:nvPr/>
        </p:nvSpPr>
        <p:spPr>
          <a:xfrm>
            <a:off x="945896" y="75692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" name="Shape 2"/>
          <p:cNvSpPr/>
          <p:nvPr/>
        </p:nvSpPr>
        <p:spPr>
          <a:xfrm>
            <a:off x="945896" y="82804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" name="Shape 3"/>
          <p:cNvSpPr/>
          <p:nvPr/>
        </p:nvSpPr>
        <p:spPr>
          <a:xfrm>
            <a:off x="883920" y="86360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" name="Shape 4"/>
          <p:cNvSpPr/>
          <p:nvPr/>
        </p:nvSpPr>
        <p:spPr>
          <a:xfrm>
            <a:off x="821944" y="82804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" name="Shape 5"/>
          <p:cNvSpPr/>
          <p:nvPr/>
        </p:nvSpPr>
        <p:spPr>
          <a:xfrm>
            <a:off x="821944" y="756920"/>
            <a:ext cx="60960" cy="609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" name="Shape 6"/>
          <p:cNvSpPr/>
          <p:nvPr/>
        </p:nvSpPr>
        <p:spPr>
          <a:xfrm>
            <a:off x="889000" y="66548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9" name="Shape 7"/>
          <p:cNvSpPr/>
          <p:nvPr/>
        </p:nvSpPr>
        <p:spPr>
          <a:xfrm>
            <a:off x="966216" y="69088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0" name="Shape 8"/>
          <p:cNvSpPr/>
          <p:nvPr/>
        </p:nvSpPr>
        <p:spPr>
          <a:xfrm>
            <a:off x="1014984" y="75692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" y="83820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2" name="Shape 10"/>
          <p:cNvSpPr/>
          <p:nvPr/>
        </p:nvSpPr>
        <p:spPr>
          <a:xfrm>
            <a:off x="966216" y="90424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3" name="Shape 11"/>
          <p:cNvSpPr/>
          <p:nvPr/>
        </p:nvSpPr>
        <p:spPr>
          <a:xfrm>
            <a:off x="889000" y="92964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4" name="Shape 12"/>
          <p:cNvSpPr/>
          <p:nvPr/>
        </p:nvSpPr>
        <p:spPr>
          <a:xfrm>
            <a:off x="811784" y="90424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5" name="Shape 13"/>
          <p:cNvSpPr/>
          <p:nvPr/>
        </p:nvSpPr>
        <p:spPr>
          <a:xfrm>
            <a:off x="763016" y="83820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6" name="Shape 14"/>
          <p:cNvSpPr/>
          <p:nvPr/>
        </p:nvSpPr>
        <p:spPr>
          <a:xfrm>
            <a:off x="763016" y="75692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7" name="Shape 15"/>
          <p:cNvSpPr/>
          <p:nvPr/>
        </p:nvSpPr>
        <p:spPr>
          <a:xfrm>
            <a:off x="811784" y="690880"/>
            <a:ext cx="50800" cy="508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8" name="Shape 16"/>
          <p:cNvSpPr/>
          <p:nvPr/>
        </p:nvSpPr>
        <p:spPr>
          <a:xfrm>
            <a:off x="894080" y="609600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9" name="Shape 17"/>
          <p:cNvSpPr/>
          <p:nvPr/>
        </p:nvSpPr>
        <p:spPr>
          <a:xfrm>
            <a:off x="977392" y="628904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5464" y="682752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1" name="Shape 19"/>
          <p:cNvSpPr/>
          <p:nvPr/>
        </p:nvSpPr>
        <p:spPr>
          <a:xfrm>
            <a:off x="1082040" y="759968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082040" y="845312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5464" y="922528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4" name="Shape 22"/>
          <p:cNvSpPr/>
          <p:nvPr/>
        </p:nvSpPr>
        <p:spPr>
          <a:xfrm>
            <a:off x="977392" y="976376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5" name="Shape 23"/>
          <p:cNvSpPr/>
          <p:nvPr/>
        </p:nvSpPr>
        <p:spPr>
          <a:xfrm>
            <a:off x="894080" y="995680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6" name="Shape 24"/>
          <p:cNvSpPr/>
          <p:nvPr/>
        </p:nvSpPr>
        <p:spPr>
          <a:xfrm>
            <a:off x="810768" y="976376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7" name="Shape 25"/>
          <p:cNvSpPr/>
          <p:nvPr/>
        </p:nvSpPr>
        <p:spPr>
          <a:xfrm>
            <a:off x="742696" y="922528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8" name="Shape 26"/>
          <p:cNvSpPr/>
          <p:nvPr/>
        </p:nvSpPr>
        <p:spPr>
          <a:xfrm>
            <a:off x="706120" y="845312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9" name="Shape 27"/>
          <p:cNvSpPr/>
          <p:nvPr/>
        </p:nvSpPr>
        <p:spPr>
          <a:xfrm>
            <a:off x="706120" y="759968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742696" y="682752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1" name="Shape 29"/>
          <p:cNvSpPr/>
          <p:nvPr/>
        </p:nvSpPr>
        <p:spPr>
          <a:xfrm>
            <a:off x="810768" y="628904"/>
            <a:ext cx="40640" cy="40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2" name="Shape 30"/>
          <p:cNvSpPr/>
          <p:nvPr/>
        </p:nvSpPr>
        <p:spPr>
          <a:xfrm>
            <a:off x="898144" y="552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3" name="Shape 31"/>
          <p:cNvSpPr/>
          <p:nvPr/>
        </p:nvSpPr>
        <p:spPr>
          <a:xfrm>
            <a:off x="985520" y="56794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4" name="Shape 32"/>
          <p:cNvSpPr/>
          <p:nvPr/>
        </p:nvSpPr>
        <p:spPr>
          <a:xfrm>
            <a:off x="1061720" y="611632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18616" y="679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8080" y="763016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8080" y="850392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18616" y="933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9" name="Shape 37"/>
          <p:cNvSpPr/>
          <p:nvPr/>
        </p:nvSpPr>
        <p:spPr>
          <a:xfrm>
            <a:off x="1061720" y="1001776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0" name="Shape 38"/>
          <p:cNvSpPr/>
          <p:nvPr/>
        </p:nvSpPr>
        <p:spPr>
          <a:xfrm>
            <a:off x="985520" y="104546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1" name="Shape 39"/>
          <p:cNvSpPr/>
          <p:nvPr/>
        </p:nvSpPr>
        <p:spPr>
          <a:xfrm>
            <a:off x="898144" y="1060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2" name="Shape 40"/>
          <p:cNvSpPr/>
          <p:nvPr/>
        </p:nvSpPr>
        <p:spPr>
          <a:xfrm>
            <a:off x="810768" y="104546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3" name="Shape 41"/>
          <p:cNvSpPr/>
          <p:nvPr/>
        </p:nvSpPr>
        <p:spPr>
          <a:xfrm>
            <a:off x="734568" y="1001776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4" name="Shape 42"/>
          <p:cNvSpPr/>
          <p:nvPr/>
        </p:nvSpPr>
        <p:spPr>
          <a:xfrm>
            <a:off x="677672" y="933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5" name="Shape 43"/>
          <p:cNvSpPr/>
          <p:nvPr/>
        </p:nvSpPr>
        <p:spPr>
          <a:xfrm>
            <a:off x="648208" y="850392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6" name="Shape 44"/>
          <p:cNvSpPr/>
          <p:nvPr/>
        </p:nvSpPr>
        <p:spPr>
          <a:xfrm>
            <a:off x="648208" y="763016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7" name="Shape 45"/>
          <p:cNvSpPr/>
          <p:nvPr/>
        </p:nvSpPr>
        <p:spPr>
          <a:xfrm>
            <a:off x="677672" y="67970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8" name="Shape 46"/>
          <p:cNvSpPr/>
          <p:nvPr/>
        </p:nvSpPr>
        <p:spPr>
          <a:xfrm>
            <a:off x="734568" y="611632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9" name="Shape 47"/>
          <p:cNvSpPr/>
          <p:nvPr/>
        </p:nvSpPr>
        <p:spPr>
          <a:xfrm>
            <a:off x="810768" y="567944"/>
            <a:ext cx="32512" cy="32512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0" name="Shape 48"/>
          <p:cNvSpPr/>
          <p:nvPr/>
        </p:nvSpPr>
        <p:spPr>
          <a:xfrm>
            <a:off x="902208" y="495808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1" name="Shape 49"/>
          <p:cNvSpPr/>
          <p:nvPr/>
        </p:nvSpPr>
        <p:spPr>
          <a:xfrm>
            <a:off x="990600" y="509016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2" name="Shape 50"/>
          <p:cNvSpPr/>
          <p:nvPr/>
        </p:nvSpPr>
        <p:spPr>
          <a:xfrm>
            <a:off x="1072896" y="54559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3" name="Shape 51"/>
          <p:cNvSpPr/>
          <p:nvPr/>
        </p:nvSpPr>
        <p:spPr>
          <a:xfrm>
            <a:off x="1139952" y="604520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4" name="Shape 52"/>
          <p:cNvSpPr/>
          <p:nvPr/>
        </p:nvSpPr>
        <p:spPr>
          <a:xfrm>
            <a:off x="1188720" y="67970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5" name="Shape 53"/>
          <p:cNvSpPr/>
          <p:nvPr/>
        </p:nvSpPr>
        <p:spPr>
          <a:xfrm>
            <a:off x="1214120" y="76606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6" name="Shape 54"/>
          <p:cNvSpPr/>
          <p:nvPr/>
        </p:nvSpPr>
        <p:spPr>
          <a:xfrm>
            <a:off x="1214120" y="85547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7" name="Shape 55"/>
          <p:cNvSpPr/>
          <p:nvPr/>
        </p:nvSpPr>
        <p:spPr>
          <a:xfrm>
            <a:off x="1188720" y="94183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8" name="Shape 56"/>
          <p:cNvSpPr/>
          <p:nvPr/>
        </p:nvSpPr>
        <p:spPr>
          <a:xfrm>
            <a:off x="1139952" y="1017016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9" name="Shape 57"/>
          <p:cNvSpPr/>
          <p:nvPr/>
        </p:nvSpPr>
        <p:spPr>
          <a:xfrm>
            <a:off x="1072896" y="107594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0" name="Shape 58"/>
          <p:cNvSpPr/>
          <p:nvPr/>
        </p:nvSpPr>
        <p:spPr>
          <a:xfrm>
            <a:off x="990600" y="1112520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1" name="Shape 59"/>
          <p:cNvSpPr/>
          <p:nvPr/>
        </p:nvSpPr>
        <p:spPr>
          <a:xfrm>
            <a:off x="902208" y="1125728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2" name="Shape 60"/>
          <p:cNvSpPr/>
          <p:nvPr/>
        </p:nvSpPr>
        <p:spPr>
          <a:xfrm>
            <a:off x="813816" y="1112520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3" name="Shape 61"/>
          <p:cNvSpPr/>
          <p:nvPr/>
        </p:nvSpPr>
        <p:spPr>
          <a:xfrm>
            <a:off x="731520" y="107594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4" name="Shape 62"/>
          <p:cNvSpPr/>
          <p:nvPr/>
        </p:nvSpPr>
        <p:spPr>
          <a:xfrm>
            <a:off x="664464" y="1017016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5" name="Shape 63"/>
          <p:cNvSpPr/>
          <p:nvPr/>
        </p:nvSpPr>
        <p:spPr>
          <a:xfrm>
            <a:off x="615696" y="94183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6" name="Shape 64"/>
          <p:cNvSpPr/>
          <p:nvPr/>
        </p:nvSpPr>
        <p:spPr>
          <a:xfrm>
            <a:off x="590296" y="85547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7" name="Shape 65"/>
          <p:cNvSpPr/>
          <p:nvPr/>
        </p:nvSpPr>
        <p:spPr>
          <a:xfrm>
            <a:off x="590296" y="76606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8" name="Shape 66"/>
          <p:cNvSpPr/>
          <p:nvPr/>
        </p:nvSpPr>
        <p:spPr>
          <a:xfrm>
            <a:off x="615696" y="679704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9" name="Shape 67"/>
          <p:cNvSpPr/>
          <p:nvPr/>
        </p:nvSpPr>
        <p:spPr>
          <a:xfrm>
            <a:off x="664464" y="604520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0" name="Shape 68"/>
          <p:cNvSpPr/>
          <p:nvPr/>
        </p:nvSpPr>
        <p:spPr>
          <a:xfrm>
            <a:off x="731520" y="545592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1" name="Shape 69"/>
          <p:cNvSpPr/>
          <p:nvPr/>
        </p:nvSpPr>
        <p:spPr>
          <a:xfrm>
            <a:off x="813816" y="509016"/>
            <a:ext cx="24384" cy="24384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2" name="Shape 70"/>
          <p:cNvSpPr/>
          <p:nvPr/>
        </p:nvSpPr>
        <p:spPr>
          <a:xfrm>
            <a:off x="1508760" y="621792"/>
            <a:ext cx="3072384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3" name="Text 71"/>
          <p:cNvSpPr/>
          <p:nvPr/>
        </p:nvSpPr>
        <p:spPr>
          <a:xfrm>
            <a:off x="1600200" y="621792"/>
            <a:ext cx="2889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CEDA · DAIR-bijeenkomst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48640" y="1691640"/>
            <a:ext cx="6766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Agentic data science in het onderwijs</a:t>
            </a:r>
            <a:endParaRPr lang="en-US" sz="4600" dirty="0"/>
          </a:p>
        </p:txBody>
      </p:sp>
      <p:sp>
        <p:nvSpPr>
          <p:cNvPr id="75" name="Text 73"/>
          <p:cNvSpPr/>
          <p:nvPr/>
        </p:nvSpPr>
        <p:spPr>
          <a:xfrm>
            <a:off x="548640" y="365760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D74B"/>
                </a:solidFill>
                <a:latin typeface="Cooper Lt BT" pitchFamily="34" charset="0"/>
                <a:ea typeface="Cooper Lt BT" pitchFamily="34" charset="-122"/>
                <a:cs typeface="Cooper Lt BT" pitchFamily="34" charset="-120"/>
              </a:rPr>
              <a:t>Workshop-voorstel: korte rondes met spiegelen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548640" y="429768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120 minuten · één casus · één dashboard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595360" y="2103120"/>
            <a:ext cx="0" cy="640080"/>
          </a:xfrm>
          <a:prstGeom prst="line">
            <a:avLst/>
          </a:prstGeom>
          <a:noFill/>
          <a:ln w="19050">
            <a:solidFill>
              <a:srgbClr val="F4D9DC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8138160" y="1188720"/>
            <a:ext cx="914400" cy="91440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79" name="Text 77"/>
          <p:cNvSpPr/>
          <p:nvPr/>
        </p:nvSpPr>
        <p:spPr>
          <a:xfrm>
            <a:off x="8138160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2800" dirty="0"/>
          </a:p>
        </p:txBody>
      </p:sp>
      <p:sp>
        <p:nvSpPr>
          <p:cNvPr id="80" name="Text 78"/>
          <p:cNvSpPr/>
          <p:nvPr/>
        </p:nvSpPr>
        <p:spPr>
          <a:xfrm>
            <a:off x="9326880" y="118872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Data exploratie</a:t>
            </a:r>
            <a:endParaRPr lang="en-US" sz="2000" dirty="0"/>
          </a:p>
        </p:txBody>
      </p:sp>
      <p:sp>
        <p:nvSpPr>
          <p:cNvPr id="81" name="Shape 79"/>
          <p:cNvSpPr/>
          <p:nvPr/>
        </p:nvSpPr>
        <p:spPr>
          <a:xfrm>
            <a:off x="8595360" y="3657600"/>
            <a:ext cx="0" cy="640080"/>
          </a:xfrm>
          <a:prstGeom prst="line">
            <a:avLst/>
          </a:prstGeom>
          <a:noFill/>
          <a:ln w="19050">
            <a:solidFill>
              <a:srgbClr val="F4D9DC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>
            <a:off x="8138160" y="2743200"/>
            <a:ext cx="914400" cy="91440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3" name="Text 81"/>
          <p:cNvSpPr/>
          <p:nvPr/>
        </p:nvSpPr>
        <p:spPr>
          <a:xfrm>
            <a:off x="8138160" y="27432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2800" dirty="0"/>
          </a:p>
        </p:txBody>
      </p:sp>
      <p:sp>
        <p:nvSpPr>
          <p:cNvPr id="84" name="Text 82"/>
          <p:cNvSpPr/>
          <p:nvPr/>
        </p:nvSpPr>
        <p:spPr>
          <a:xfrm>
            <a:off x="932688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Dashboard bouwen</a:t>
            </a:r>
            <a:endParaRPr lang="en-US" sz="2000" dirty="0"/>
          </a:p>
        </p:txBody>
      </p:sp>
      <p:sp>
        <p:nvSpPr>
          <p:cNvPr id="85" name="Shape 83"/>
          <p:cNvSpPr/>
          <p:nvPr/>
        </p:nvSpPr>
        <p:spPr>
          <a:xfrm>
            <a:off x="8138160" y="4297680"/>
            <a:ext cx="914400" cy="91440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86" name="Text 84"/>
          <p:cNvSpPr/>
          <p:nvPr/>
        </p:nvSpPr>
        <p:spPr>
          <a:xfrm>
            <a:off x="8138160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8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</a:t>
            </a:r>
            <a:endParaRPr lang="en-US" sz="2800" dirty="0"/>
          </a:p>
        </p:txBody>
      </p:sp>
      <p:sp>
        <p:nvSpPr>
          <p:cNvPr id="87" name="Text 85"/>
          <p:cNvSpPr/>
          <p:nvPr/>
        </p:nvSpPr>
        <p:spPr>
          <a:xfrm>
            <a:off x="9326880" y="42976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Evaluatie en vervolg</a:t>
            </a:r>
            <a:endParaRPr lang="en-US" sz="2000" dirty="0"/>
          </a:p>
        </p:txBody>
      </p:sp>
      <p:sp>
        <p:nvSpPr>
          <p:cNvPr id="88" name="Shape 86"/>
          <p:cNvSpPr/>
          <p:nvPr/>
        </p:nvSpPr>
        <p:spPr>
          <a:xfrm>
            <a:off x="548640" y="5257800"/>
            <a:ext cx="4023360" cy="960120"/>
          </a:xfrm>
          <a:custGeom>
            <a:avLst/>
            <a:gdLst/>
            <a:ahLst/>
            <a:cxnLst/>
            <a:rect l="l" t="t" r="r" b="b"/>
            <a:pathLst>
              <a:path w="4023360" h="960120">
                <a:moveTo>
                  <a:pt x="0" y="822960"/>
                </a:moveTo>
                <a:cubicBezTo>
                  <a:pt x="603504" y="-137160"/>
                  <a:pt x="1207008" y="137160"/>
                  <a:pt x="2011680" y="617220"/>
                </a:cubicBezTo>
                <a:cubicBezTo>
                  <a:pt x="2816352" y="1097280"/>
                  <a:pt x="3419856" y="685800"/>
                  <a:pt x="4023360" y="18288"/>
                </a:cubicBezTo>
              </a:path>
            </a:pathLst>
          </a:custGeom>
          <a:ln w="114300">
            <a:solidFill>
              <a:srgbClr val="F4D74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48640" y="5669280"/>
            <a:ext cx="4023360" cy="960120"/>
          </a:xfrm>
          <a:custGeom>
            <a:avLst/>
            <a:gdLst/>
            <a:ahLst/>
            <a:cxnLst/>
            <a:rect l="l" t="t" r="r" b="b"/>
            <a:pathLst>
              <a:path w="4023360" h="960120">
                <a:moveTo>
                  <a:pt x="0" y="822960"/>
                </a:moveTo>
                <a:cubicBezTo>
                  <a:pt x="603504" y="-137160"/>
                  <a:pt x="1207008" y="137160"/>
                  <a:pt x="2011680" y="617220"/>
                </a:cubicBezTo>
                <a:cubicBezTo>
                  <a:pt x="2816352" y="1097280"/>
                  <a:pt x="3419856" y="685800"/>
                  <a:pt x="4023360" y="18288"/>
                </a:cubicBezTo>
              </a:path>
            </a:pathLst>
          </a:custGeom>
          <a:ln w="114300">
            <a:solidFill>
              <a:srgbClr val="F4D9DC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955280" y="61447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Moving Education.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00200"/>
            <a:ext cx="5090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spc="300" kern="0" dirty="0">
                <a:solidFill>
                  <a:srgbClr val="DD78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WIE IS CEDA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5090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Centre of Educational Data Analytics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509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ooper Lt BT" pitchFamily="34" charset="0"/>
                <a:ea typeface="Cooper Lt BT" pitchFamily="34" charset="-122"/>
                <a:cs typeface="Cooper Lt BT" pitchFamily="34" charset="-120"/>
              </a:rPr>
              <a:t>Eén team binnen Npuls. Van ruwe data tot AI-toepassing, open source.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315968"/>
            <a:ext cx="155448" cy="155448"/>
          </a:xfrm>
          <a:prstGeom prst="ellipse">
            <a:avLst/>
          </a:prstGeom>
          <a:solidFill>
            <a:srgbClr val="3D68EC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4206240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Data, analytics en generatieve AI in één keten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818888"/>
            <a:ext cx="155448" cy="155448"/>
          </a:xfrm>
          <a:prstGeom prst="ellipse">
            <a:avLst/>
          </a:prstGeom>
          <a:solidFill>
            <a:srgbClr val="DD784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709160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Altijd in co-creatie met mbo, hbo en wo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5321808"/>
            <a:ext cx="155448" cy="155448"/>
          </a:xfrm>
          <a:prstGeom prst="ellipse">
            <a:avLst/>
          </a:prstGeom>
          <a:solidFill>
            <a:srgbClr val="00AF81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5212080"/>
            <a:ext cx="476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Open source, voor elke instelling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D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Eén casus, één dashboard, twee rondes</a:t>
            </a:r>
            <a:endParaRPr lang="en-US" sz="3400" dirty="0"/>
          </a:p>
        </p:txBody>
      </p:sp>
      <p:sp>
        <p:nvSpPr>
          <p:cNvPr id="73" name="Text 71"/>
          <p:cNvSpPr/>
          <p:nvPr/>
        </p:nvSpPr>
        <p:spPr>
          <a:xfrm>
            <a:off x="548640" y="1325880"/>
            <a:ext cx="10241280" cy="675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ooper Lt BT" pitchFamily="34" charset="0"/>
                <a:ea typeface="Cooper Lt BT" pitchFamily="34" charset="-122"/>
                <a:cs typeface="Cooper Lt BT" pitchFamily="34" charset="-120"/>
              </a:rPr>
              <a:t>AI is geen black box maar een transparante junior-analist. De agent versnelt het handwerk, de deelnemers houden de regie.</a:t>
            </a:r>
            <a:endParaRPr lang="en-US" sz="2100" dirty="0"/>
          </a:p>
        </p:txBody>
      </p:sp>
      <p:sp>
        <p:nvSpPr>
          <p:cNvPr id="74" name="Shape 72"/>
          <p:cNvSpPr/>
          <p:nvPr/>
        </p:nvSpPr>
        <p:spPr>
          <a:xfrm>
            <a:off x="548640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3D68EC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120</a:t>
            </a:r>
            <a:endParaRPr lang="en-US" sz="6400" dirty="0"/>
          </a:p>
        </p:txBody>
      </p:sp>
      <p:sp>
        <p:nvSpPr>
          <p:cNvPr id="76" name="Text 74"/>
          <p:cNvSpPr/>
          <p:nvPr/>
        </p:nvSpPr>
        <p:spPr>
          <a:xfrm>
            <a:off x="822960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minuten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822960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één workshop, elf blokken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3377108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DD784B"/>
          </a:solidFill>
          <a:ln/>
        </p:spPr>
      </p:sp>
      <p:sp>
        <p:nvSpPr>
          <p:cNvPr id="79" name="Text 77"/>
          <p:cNvSpPr/>
          <p:nvPr/>
        </p:nvSpPr>
        <p:spPr>
          <a:xfrm>
            <a:off x="3651428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6400" dirty="0"/>
          </a:p>
        </p:txBody>
      </p:sp>
      <p:sp>
        <p:nvSpPr>
          <p:cNvPr id="80" name="Text 78"/>
          <p:cNvSpPr/>
          <p:nvPr/>
        </p:nvSpPr>
        <p:spPr>
          <a:xfrm>
            <a:off x="3651428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rondes</a:t>
            </a:r>
            <a:endParaRPr lang="en-US" sz="1900" dirty="0"/>
          </a:p>
        </p:txBody>
      </p:sp>
      <p:sp>
        <p:nvSpPr>
          <p:cNvPr id="81" name="Text 79"/>
          <p:cNvSpPr/>
          <p:nvPr/>
        </p:nvSpPr>
        <p:spPr>
          <a:xfrm>
            <a:off x="3651428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exploreren en bouwen, allebei verantwoord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205576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00AF81"/>
          </a:solidFill>
          <a:ln/>
        </p:spPr>
      </p:sp>
      <p:sp>
        <p:nvSpPr>
          <p:cNvPr id="83" name="Text 81"/>
          <p:cNvSpPr/>
          <p:nvPr/>
        </p:nvSpPr>
        <p:spPr>
          <a:xfrm>
            <a:off x="6479896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6400" dirty="0"/>
          </a:p>
        </p:txBody>
      </p:sp>
      <p:sp>
        <p:nvSpPr>
          <p:cNvPr id="84" name="Text 82"/>
          <p:cNvSpPr/>
          <p:nvPr/>
        </p:nvSpPr>
        <p:spPr>
          <a:xfrm>
            <a:off x="6479896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spiegelmomenten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479896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elk met een skill die de stap ervoor doet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9034043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3D68EC"/>
          </a:solidFill>
          <a:ln/>
        </p:spPr>
      </p:sp>
      <p:sp>
        <p:nvSpPr>
          <p:cNvPr id="87" name="Text 85"/>
          <p:cNvSpPr/>
          <p:nvPr/>
        </p:nvSpPr>
        <p:spPr>
          <a:xfrm>
            <a:off x="9308363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6400" dirty="0"/>
          </a:p>
        </p:txBody>
      </p:sp>
      <p:sp>
        <p:nvSpPr>
          <p:cNvPr id="88" name="Text 86"/>
          <p:cNvSpPr/>
          <p:nvPr/>
        </p:nvSpPr>
        <p:spPr>
          <a:xfrm>
            <a:off x="9308363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casus</a:t>
            </a:r>
            <a:endParaRPr lang="en-US" sz="1900" dirty="0"/>
          </a:p>
        </p:txBody>
      </p:sp>
      <p:sp>
        <p:nvSpPr>
          <p:cNvPr id="89" name="Text 87"/>
          <p:cNvSpPr/>
          <p:nvPr/>
        </p:nvSpPr>
        <p:spPr>
          <a:xfrm>
            <a:off x="9308363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beantwoord met één dashboard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48640" y="5064252"/>
            <a:ext cx="11094415" cy="777240"/>
          </a:xfrm>
          <a:prstGeom prst="roundRect">
            <a:avLst>
              <a:gd name="adj" fmla="val 27682"/>
            </a:avLst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868680" y="506425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Wow-moment: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 elke ronde een zichtbare sprong. De skill doet de vorige stap in één instructie, gespiegeld aan de groep ernaast.</a:t>
            </a:r>
            <a:endParaRPr lang="en-US" sz="1600" dirty="0"/>
          </a:p>
        </p:txBody>
      </p:sp>
      <p:sp>
        <p:nvSpPr>
          <p:cNvPr id="92" name="Text 90"/>
          <p:cNvSpPr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is synthetisch: validatie tegen de werkelijkheid hoort niet bij de workshop en vraagt echte data, buiten de devcontainer.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6E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Programma: 120 minuten in acht stappen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3328325"/>
                <a:gridCol w="1109442"/>
                <a:gridCol w="55472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Tijd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Blok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Duur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Wat gebeurt er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0:00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Intro, synthetische data, casus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17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Waarom agentic data science, wat is synthetisch, welke vraag beantwoorden we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0:17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Skills, prompts, devcontainer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13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Wat is een skill, hoe spreek je de agent aan, voorbeeldprompt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0:30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Ronde 1: data exploratie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22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Data en codebook verkennen, kleine groepen en definities checken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0:52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Spiegelmoment 1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15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2-3 tweetallen delen hun aanpak, daarna doet skill 1 de ronde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1:07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Ronde 2: dashboard bouwen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22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Eerlijke framing en toegankelijke grafieken in één dashboard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1:29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Spiegelmoment 2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15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Toon 2-3 dashboards, daarna doet skill 2 de ronde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1:44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Evaluatie en vervolg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8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Reflectie, peiling naar een training, wat wil je leren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1:52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Interactieve afsluiting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8 min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Wat verloor en won je, wat neem je mee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D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is synthetische data?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3D68EC"/>
          </a:solidFill>
          <a:ln/>
        </p:spPr>
      </p:sp>
      <p:pic>
        <p:nvPicPr>
          <p:cNvPr id="74" name="Image 0" descr="exports\261005_workshop_rad_voorstel\img\S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5178" y="1554480"/>
            <a:ext cx="1005840" cy="1005840"/>
          </a:xfrm>
          <a:prstGeom prst="rect">
            <a:avLst/>
          </a:prstGeom>
        </p:spPr>
      </p:pic>
      <p:sp>
        <p:nvSpPr>
          <p:cNvPr id="75" name="Text 72"/>
          <p:cNvSpPr/>
          <p:nvPr/>
        </p:nvSpPr>
        <p:spPr>
          <a:xfrm>
            <a:off x="822960" y="164592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Veilig</a:t>
            </a:r>
            <a:endParaRPr lang="en-US" sz="2200" dirty="0"/>
          </a:p>
        </p:txBody>
      </p:sp>
      <p:sp>
        <p:nvSpPr>
          <p:cNvPr id="76" name="Text 73"/>
          <p:cNvSpPr/>
          <p:nvPr/>
        </p:nvSpPr>
        <p:spPr>
          <a:xfrm>
            <a:off x="822960" y="225856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FICTIEVE RIJEN</a:t>
            </a:r>
            <a:endParaRPr lang="en-US" sz="1100" dirty="0"/>
          </a:p>
        </p:txBody>
      </p:sp>
      <p:sp>
        <p:nvSpPr>
          <p:cNvPr id="77" name="Text 74"/>
          <p:cNvSpPr/>
          <p:nvPr/>
        </p:nvSpPr>
        <p:spPr>
          <a:xfrm>
            <a:off x="822960" y="2606040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Zelfde kolommen en codes als 1CHO, maar geen enkele rij is een bestaand persoon.</a:t>
            </a:r>
            <a:endParaRPr lang="en-US" sz="1500" dirty="0"/>
          </a:p>
        </p:txBody>
      </p:sp>
      <p:sp>
        <p:nvSpPr>
          <p:cNvPr id="78" name="Shape 75"/>
          <p:cNvSpPr/>
          <p:nvPr/>
        </p:nvSpPr>
        <p:spPr>
          <a:xfrm>
            <a:off x="4338218" y="137160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DD784B"/>
          </a:solidFill>
          <a:ln/>
        </p:spPr>
      </p:sp>
      <p:pic>
        <p:nvPicPr>
          <p:cNvPr id="79" name="Image 1" descr="exports\261005_workshop_rad_voorstel\img\kunstmatigeintelligent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4757" y="1554480"/>
            <a:ext cx="1005840" cy="1005840"/>
          </a:xfrm>
          <a:prstGeom prst="rect">
            <a:avLst/>
          </a:prstGeom>
        </p:spPr>
      </p:pic>
      <p:sp>
        <p:nvSpPr>
          <p:cNvPr id="80" name="Text 76"/>
          <p:cNvSpPr/>
          <p:nvPr/>
        </p:nvSpPr>
        <p:spPr>
          <a:xfrm>
            <a:off x="4612538" y="164592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Open</a:t>
            </a:r>
            <a:endParaRPr lang="en-US" sz="2200" dirty="0"/>
          </a:p>
        </p:txBody>
      </p:sp>
      <p:sp>
        <p:nvSpPr>
          <p:cNvPr id="81" name="Text 77"/>
          <p:cNvSpPr/>
          <p:nvPr/>
        </p:nvSpPr>
        <p:spPr>
          <a:xfrm>
            <a:off x="4612538" y="225856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MAG DE AGENT IN</a:t>
            </a:r>
            <a:endParaRPr lang="en-US" sz="1100" dirty="0"/>
          </a:p>
        </p:txBody>
      </p:sp>
      <p:sp>
        <p:nvSpPr>
          <p:cNvPr id="82" name="Text 78"/>
          <p:cNvSpPr/>
          <p:nvPr/>
        </p:nvSpPr>
        <p:spPr>
          <a:xfrm>
            <a:off x="4612538" y="2606040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AVG-toets of verwerkersovereenkomst nodig: de data mag de devcontainer en de agent in.</a:t>
            </a:r>
            <a:endParaRPr lang="en-US" sz="1500" dirty="0"/>
          </a:p>
        </p:txBody>
      </p:sp>
      <p:sp>
        <p:nvSpPr>
          <p:cNvPr id="83" name="Shape 79"/>
          <p:cNvSpPr/>
          <p:nvPr/>
        </p:nvSpPr>
        <p:spPr>
          <a:xfrm>
            <a:off x="8127797" y="1371600"/>
            <a:ext cx="3515258" cy="2560320"/>
          </a:xfrm>
          <a:prstGeom prst="roundRect">
            <a:avLst>
              <a:gd name="adj" fmla="val 3571"/>
            </a:avLst>
          </a:prstGeom>
          <a:solidFill>
            <a:srgbClr val="00AF81"/>
          </a:solidFill>
          <a:ln/>
        </p:spPr>
      </p:sp>
      <p:pic>
        <p:nvPicPr>
          <p:cNvPr id="84" name="Image 2" descr="exports\261005_workshop_rad_voorstel\img\Lam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4335" y="1554480"/>
            <a:ext cx="1005840" cy="1005840"/>
          </a:xfrm>
          <a:prstGeom prst="rect">
            <a:avLst/>
          </a:prstGeom>
        </p:spPr>
      </p:pic>
      <p:sp>
        <p:nvSpPr>
          <p:cNvPr id="85" name="Text 80"/>
          <p:cNvSpPr/>
          <p:nvPr/>
        </p:nvSpPr>
        <p:spPr>
          <a:xfrm>
            <a:off x="8402117" y="164592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Let op</a:t>
            </a:r>
            <a:endParaRPr lang="en-US" sz="2200" dirty="0"/>
          </a:p>
        </p:txBody>
      </p:sp>
      <p:sp>
        <p:nvSpPr>
          <p:cNvPr id="86" name="Text 81"/>
          <p:cNvSpPr/>
          <p:nvPr/>
        </p:nvSpPr>
        <p:spPr>
          <a:xfrm>
            <a:off x="8402117" y="225856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BEWUST GEMAAKT</a:t>
            </a:r>
            <a:endParaRPr lang="en-US" sz="1100" dirty="0"/>
          </a:p>
        </p:txBody>
      </p:sp>
      <p:sp>
        <p:nvSpPr>
          <p:cNvPr id="87" name="Text 82"/>
          <p:cNvSpPr/>
          <p:nvPr/>
        </p:nvSpPr>
        <p:spPr>
          <a:xfrm>
            <a:off x="8402117" y="2606040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patroon en enkele kleine groepen zijn ingebakken, zodat er iets te vinden én te blokkeren is.</a:t>
            </a:r>
            <a:endParaRPr lang="en-US" sz="1500" dirty="0"/>
          </a:p>
        </p:txBody>
      </p:sp>
      <p:sp>
        <p:nvSpPr>
          <p:cNvPr id="88" name="Text 83"/>
          <p:cNvSpPr/>
          <p:nvPr/>
        </p:nvSpPr>
        <p:spPr>
          <a:xfrm>
            <a:off x="548640" y="4114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Je oefent de werkwijze, niet de uitkomst.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 Validatie vraagt echte data, buiten de devcontainer.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De opdracht in drie stappen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393338" cy="4160520"/>
          </a:xfrm>
          <a:prstGeom prst="roundRect">
            <a:avLst>
              <a:gd name="adj" fmla="val 2033"/>
            </a:avLst>
          </a:prstGeom>
          <a:solidFill>
            <a:srgbClr val="3D68E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508760" y="1719072"/>
            <a:ext cx="2158898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7" name="Text 75"/>
          <p:cNvSpPr/>
          <p:nvPr/>
        </p:nvSpPr>
        <p:spPr>
          <a:xfrm>
            <a:off x="1600200" y="1719072"/>
            <a:ext cx="1976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Vraag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2960" y="2423160"/>
            <a:ext cx="284469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Kies de casus</a:t>
            </a:r>
            <a:endParaRPr lang="en-US" sz="2400" dirty="0"/>
          </a:p>
        </p:txBody>
      </p:sp>
      <p:sp>
        <p:nvSpPr>
          <p:cNvPr id="79" name="Text 77"/>
          <p:cNvSpPr/>
          <p:nvPr/>
        </p:nvSpPr>
        <p:spPr>
          <a:xfrm>
            <a:off x="822960" y="338937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HOE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22960" y="3736848"/>
            <a:ext cx="284469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casusvraag over het 1CHO-bestand staat de hele sessie centraal.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822960" y="4549105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2960" y="4896577"/>
            <a:ext cx="284469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Een scherpe vraag die je aan het eind kunt beantwoorden.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4051706" y="3177540"/>
            <a:ext cx="237744" cy="548640"/>
          </a:xfrm>
          <a:prstGeom prst="chevron">
            <a:avLst/>
          </a:prstGeom>
          <a:solidFill>
            <a:srgbClr val="3D68EC"/>
          </a:solidFill>
          <a:ln/>
        </p:spPr>
      </p:sp>
      <p:sp>
        <p:nvSpPr>
          <p:cNvPr id="84" name="Shape 82"/>
          <p:cNvSpPr/>
          <p:nvPr/>
        </p:nvSpPr>
        <p:spPr>
          <a:xfrm>
            <a:off x="4399178" y="1371600"/>
            <a:ext cx="3393338" cy="4160520"/>
          </a:xfrm>
          <a:prstGeom prst="roundRect">
            <a:avLst>
              <a:gd name="adj" fmla="val 2033"/>
            </a:avLst>
          </a:prstGeom>
          <a:solidFill>
            <a:srgbClr val="DD784B"/>
          </a:solidFill>
          <a:ln/>
        </p:spPr>
      </p:sp>
      <p:sp>
        <p:nvSpPr>
          <p:cNvPr id="85" name="Shape 83"/>
          <p:cNvSpPr/>
          <p:nvPr/>
        </p:nvSpPr>
        <p:spPr>
          <a:xfrm>
            <a:off x="4673498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6" name="Text 84"/>
          <p:cNvSpPr/>
          <p:nvPr/>
        </p:nvSpPr>
        <p:spPr>
          <a:xfrm>
            <a:off x="467349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87" name="Shape 85"/>
          <p:cNvSpPr/>
          <p:nvPr/>
        </p:nvSpPr>
        <p:spPr>
          <a:xfrm>
            <a:off x="5359298" y="1719072"/>
            <a:ext cx="215889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8" name="Text 86"/>
          <p:cNvSpPr/>
          <p:nvPr/>
        </p:nvSpPr>
        <p:spPr>
          <a:xfrm>
            <a:off x="5450738" y="1719072"/>
            <a:ext cx="1976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Samen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4673498" y="2423160"/>
            <a:ext cx="284469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Werk in tweetallen</a:t>
            </a:r>
            <a:endParaRPr lang="en-US" sz="2300" dirty="0"/>
          </a:p>
        </p:txBody>
      </p:sp>
      <p:sp>
        <p:nvSpPr>
          <p:cNvPr id="90" name="Text 88"/>
          <p:cNvSpPr/>
          <p:nvPr/>
        </p:nvSpPr>
        <p:spPr>
          <a:xfrm>
            <a:off x="4673498" y="338937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HOE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4673498" y="3736848"/>
            <a:ext cx="284469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Eén stuurt de agent aan, de ander controleert code en uitkomst. Wissel per ronde.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4673498" y="4549105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4673498" y="4896577"/>
            <a:ext cx="284469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Een eigen aanpak, gespiegeld aan de tweetallen om je heen.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7902245" y="3177540"/>
            <a:ext cx="237744" cy="548640"/>
          </a:xfrm>
          <a:prstGeom prst="chevron">
            <a:avLst/>
          </a:prstGeom>
          <a:solidFill>
            <a:srgbClr val="3D68EC"/>
          </a:solidFill>
          <a:ln/>
        </p:spPr>
      </p:sp>
      <p:sp>
        <p:nvSpPr>
          <p:cNvPr id="95" name="Shape 93"/>
          <p:cNvSpPr/>
          <p:nvPr/>
        </p:nvSpPr>
        <p:spPr>
          <a:xfrm>
            <a:off x="8249717" y="1371600"/>
            <a:ext cx="3393338" cy="4160520"/>
          </a:xfrm>
          <a:prstGeom prst="roundRect">
            <a:avLst>
              <a:gd name="adj" fmla="val 2033"/>
            </a:avLst>
          </a:prstGeom>
          <a:solidFill>
            <a:srgbClr val="00AF81"/>
          </a:solidFill>
          <a:ln/>
        </p:spPr>
      </p:sp>
      <p:sp>
        <p:nvSpPr>
          <p:cNvPr id="96" name="Shape 94"/>
          <p:cNvSpPr/>
          <p:nvPr/>
        </p:nvSpPr>
        <p:spPr>
          <a:xfrm>
            <a:off x="8524037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97" name="Text 95"/>
          <p:cNvSpPr/>
          <p:nvPr/>
        </p:nvSpPr>
        <p:spPr>
          <a:xfrm>
            <a:off x="8524037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98" name="Shape 96"/>
          <p:cNvSpPr/>
          <p:nvPr/>
        </p:nvSpPr>
        <p:spPr>
          <a:xfrm>
            <a:off x="9209837" y="1719072"/>
            <a:ext cx="215889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99" name="Text 97"/>
          <p:cNvSpPr/>
          <p:nvPr/>
        </p:nvSpPr>
        <p:spPr>
          <a:xfrm>
            <a:off x="9301277" y="1719072"/>
            <a:ext cx="19760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Product</a:t>
            </a:r>
            <a:endParaRPr lang="en-US" sz="1200" dirty="0"/>
          </a:p>
        </p:txBody>
      </p:sp>
      <p:sp>
        <p:nvSpPr>
          <p:cNvPr id="100" name="Text 98"/>
          <p:cNvSpPr/>
          <p:nvPr/>
        </p:nvSpPr>
        <p:spPr>
          <a:xfrm>
            <a:off x="8524037" y="2423160"/>
            <a:ext cx="284469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 één dashboard</a:t>
            </a:r>
            <a:endParaRPr lang="en-US" sz="2300" dirty="0"/>
          </a:p>
        </p:txBody>
      </p:sp>
      <p:sp>
        <p:nvSpPr>
          <p:cNvPr id="101" name="Text 99"/>
          <p:cNvSpPr/>
          <p:nvPr/>
        </p:nvSpPr>
        <p:spPr>
          <a:xfrm>
            <a:off x="8524037" y="3389376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HOE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524037" y="3736848"/>
            <a:ext cx="284469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 in twee rondes een dashboard dat de vraag beantwoordt.</a:t>
            </a:r>
            <a:endParaRPr lang="en-US" sz="1500" dirty="0"/>
          </a:p>
        </p:txBody>
      </p:sp>
      <p:sp>
        <p:nvSpPr>
          <p:cNvPr id="103" name="Text 101"/>
          <p:cNvSpPr/>
          <p:nvPr/>
        </p:nvSpPr>
        <p:spPr>
          <a:xfrm>
            <a:off x="8524037" y="4549105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RESULTAAT</a:t>
            </a:r>
            <a:endParaRPr lang="en-US" sz="1100" dirty="0"/>
          </a:p>
        </p:txBody>
      </p:sp>
      <p:sp>
        <p:nvSpPr>
          <p:cNvPr id="104" name="Text 102"/>
          <p:cNvSpPr/>
          <p:nvPr/>
        </p:nvSpPr>
        <p:spPr>
          <a:xfrm>
            <a:off x="8524037" y="4896577"/>
            <a:ext cx="284469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Een kwalitatief antwoord, onderbouwd met het dashboard.</a:t>
            </a:r>
            <a:endParaRPr lang="en-US" sz="1300" dirty="0"/>
          </a:p>
        </p:txBody>
      </p:sp>
      <p:sp>
        <p:nvSpPr>
          <p:cNvPr id="105" name="Text 103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Er is geen goed of fout dashboard. Het gaat om de keuzes die je maakt, en of je ze kunt uitleggen.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6E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Drie casussen, wij kiezen er één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515258" cy="4160520"/>
          </a:xfrm>
          <a:prstGeom prst="roundRect">
            <a:avLst>
              <a:gd name="adj" fmla="val 1895"/>
            </a:avLst>
          </a:prstGeom>
          <a:solidFill>
            <a:srgbClr val="3D68E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508760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7" name="Text 75"/>
          <p:cNvSpPr/>
          <p:nvPr/>
        </p:nvSpPr>
        <p:spPr>
          <a:xfrm>
            <a:off x="1600200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1CHO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2960" y="2423160"/>
            <a:ext cx="296661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Eerstejaarsuitval</a:t>
            </a:r>
            <a:endParaRPr lang="en-US" sz="2300" dirty="0"/>
          </a:p>
        </p:txBody>
      </p:sp>
      <p:sp>
        <p:nvSpPr>
          <p:cNvPr id="79" name="Text 77"/>
          <p:cNvSpPr/>
          <p:nvPr/>
        </p:nvSpPr>
        <p:spPr>
          <a:xfrm>
            <a:off x="822960" y="3389376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VRAAG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22960" y="3736848"/>
            <a:ext cx="296661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Welke eerstejaars stoppen binnen een jaar, en verschilt dat per sector en opleidingsvorm?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822960" y="4549105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AI-TAAK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2960" y="4896577"/>
            <a:ext cx="296661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binnen 1 jaar per cohort berekenen en vergelijken.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4338218" y="1371600"/>
            <a:ext cx="3515258" cy="4160520"/>
          </a:xfrm>
          <a:prstGeom prst="roundRect">
            <a:avLst>
              <a:gd name="adj" fmla="val 1895"/>
            </a:avLst>
          </a:prstGeom>
          <a:solidFill>
            <a:srgbClr val="DD784B"/>
          </a:solidFill>
          <a:ln/>
        </p:spPr>
      </p:sp>
      <p:sp>
        <p:nvSpPr>
          <p:cNvPr id="84" name="Shape 82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5" name="Text 83"/>
          <p:cNvSpPr/>
          <p:nvPr/>
        </p:nvSpPr>
        <p:spPr>
          <a:xfrm>
            <a:off x="461253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</a:t>
            </a:r>
            <a:endParaRPr lang="en-US" sz="2000" dirty="0"/>
          </a:p>
        </p:txBody>
      </p:sp>
      <p:sp>
        <p:nvSpPr>
          <p:cNvPr id="86" name="Shape 84"/>
          <p:cNvSpPr/>
          <p:nvPr/>
        </p:nvSpPr>
        <p:spPr>
          <a:xfrm>
            <a:off x="5298338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7" name="Text 85"/>
          <p:cNvSpPr/>
          <p:nvPr/>
        </p:nvSpPr>
        <p:spPr>
          <a:xfrm>
            <a:off x="5389778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1CHO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4612538" y="2423160"/>
            <a:ext cx="296661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Wisselen of stoppen?</a:t>
            </a:r>
            <a:endParaRPr lang="en-US" sz="2300" dirty="0"/>
          </a:p>
        </p:txBody>
      </p:sp>
      <p:sp>
        <p:nvSpPr>
          <p:cNvPr id="89" name="Text 87"/>
          <p:cNvSpPr/>
          <p:nvPr/>
        </p:nvSpPr>
        <p:spPr>
          <a:xfrm>
            <a:off x="4612538" y="3389376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VRAAG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12538" y="3736848"/>
            <a:ext cx="296661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Stoppen studenten of wisselen ze van opleiding, en waar gaan de wisselaars heen?</a:t>
            </a:r>
            <a:endParaRPr lang="en-US" sz="1500" dirty="0"/>
          </a:p>
        </p:txBody>
      </p:sp>
      <p:sp>
        <p:nvSpPr>
          <p:cNvPr id="91" name="Text 89"/>
          <p:cNvSpPr/>
          <p:nvPr/>
        </p:nvSpPr>
        <p:spPr>
          <a:xfrm>
            <a:off x="4612538" y="4549105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AI-TAAK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4612538" y="4896577"/>
            <a:ext cx="296661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Uitval en wissel onderscheiden, stromen tonen.</a:t>
            </a:r>
            <a:endParaRPr lang="en-US" sz="1500" dirty="0"/>
          </a:p>
        </p:txBody>
      </p:sp>
      <p:sp>
        <p:nvSpPr>
          <p:cNvPr id="93" name="Shape 91"/>
          <p:cNvSpPr/>
          <p:nvPr/>
        </p:nvSpPr>
        <p:spPr>
          <a:xfrm>
            <a:off x="8127797" y="1371600"/>
            <a:ext cx="3515258" cy="4160520"/>
          </a:xfrm>
          <a:prstGeom prst="roundRect">
            <a:avLst>
              <a:gd name="adj" fmla="val 1895"/>
            </a:avLst>
          </a:prstGeom>
          <a:solidFill>
            <a:srgbClr val="00AF81"/>
          </a:solidFill>
          <a:ln/>
        </p:spPr>
      </p:sp>
      <p:sp>
        <p:nvSpPr>
          <p:cNvPr id="94" name="Shape 92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95" name="Text 93"/>
          <p:cNvSpPr/>
          <p:nvPr/>
        </p:nvSpPr>
        <p:spPr>
          <a:xfrm>
            <a:off x="8402117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</a:t>
            </a:r>
            <a:endParaRPr lang="en-US" sz="2000" dirty="0"/>
          </a:p>
        </p:txBody>
      </p:sp>
      <p:sp>
        <p:nvSpPr>
          <p:cNvPr id="96" name="Shape 94"/>
          <p:cNvSpPr/>
          <p:nvPr/>
        </p:nvSpPr>
        <p:spPr>
          <a:xfrm>
            <a:off x="9087917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97" name="Text 95"/>
          <p:cNvSpPr/>
          <p:nvPr/>
        </p:nvSpPr>
        <p:spPr>
          <a:xfrm>
            <a:off x="9179357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1CHO</a:t>
            </a:r>
            <a:endParaRPr lang="en-US" sz="1200" dirty="0"/>
          </a:p>
        </p:txBody>
      </p:sp>
      <p:sp>
        <p:nvSpPr>
          <p:cNvPr id="98" name="Text 96"/>
          <p:cNvSpPr/>
          <p:nvPr/>
        </p:nvSpPr>
        <p:spPr>
          <a:xfrm>
            <a:off x="8402117" y="2423160"/>
            <a:ext cx="2966618" cy="691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VO-cijfers en studiesucces</a:t>
            </a:r>
            <a:endParaRPr lang="en-US" sz="2300" dirty="0"/>
          </a:p>
        </p:txBody>
      </p:sp>
      <p:sp>
        <p:nvSpPr>
          <p:cNvPr id="99" name="Text 97"/>
          <p:cNvSpPr/>
          <p:nvPr/>
        </p:nvSpPr>
        <p:spPr>
          <a:xfrm>
            <a:off x="8402117" y="3389376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VRAAG</a:t>
            </a:r>
            <a:endParaRPr lang="en-US" sz="1100" dirty="0"/>
          </a:p>
        </p:txBody>
      </p:sp>
      <p:sp>
        <p:nvSpPr>
          <p:cNvPr id="100" name="Text 98"/>
          <p:cNvSpPr/>
          <p:nvPr/>
        </p:nvSpPr>
        <p:spPr>
          <a:xfrm>
            <a:off x="8402117" y="3736848"/>
            <a:ext cx="2966618" cy="6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Halen studenten met hoge VO-cijfers vaker binnen vijf jaar hun diploma?</a:t>
            </a:r>
            <a:endParaRPr lang="en-US" sz="1500" dirty="0"/>
          </a:p>
        </p:txBody>
      </p:sp>
      <p:sp>
        <p:nvSpPr>
          <p:cNvPr id="101" name="Text 99"/>
          <p:cNvSpPr/>
          <p:nvPr/>
        </p:nvSpPr>
        <p:spPr>
          <a:xfrm>
            <a:off x="8402117" y="4549105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AI-TAAK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8402117" y="4896577"/>
            <a:ext cx="2966618" cy="498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Rendement koppelen aan het VO-eindcijfer en de vooropleiding.</a:t>
            </a:r>
            <a:endParaRPr lang="en-US" sz="1300" dirty="0"/>
          </a:p>
        </p:txBody>
      </p:sp>
      <p:sp>
        <p:nvSpPr>
          <p:cNvPr id="103" name="Text 101"/>
          <p:cNvSpPr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Doel: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 aan het eind een kwalitatief antwoord op de casusvraag, onderbouwd met het dashboard.</a:t>
            </a:r>
            <a:endParaRPr lang="en-US" sz="1600" dirty="0"/>
          </a:p>
        </p:txBody>
      </p:sp>
      <p:sp>
        <p:nvSpPr>
          <p:cNvPr id="104" name="Text 102"/>
          <p:cNvSpPr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Definities van uitval, rendement en studiewissel volgen het package staat1cho.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D6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is een skill?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393338" cy="3817620"/>
          </a:xfrm>
          <a:prstGeom prst="roundRect">
            <a:avLst>
              <a:gd name="adj" fmla="val 2033"/>
            </a:avLst>
          </a:prstGeom>
          <a:solidFill>
            <a:srgbClr val="F4D74B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719072"/>
            <a:ext cx="284469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75" name="Text 73"/>
          <p:cNvSpPr/>
          <p:nvPr/>
        </p:nvSpPr>
        <p:spPr>
          <a:xfrm>
            <a:off x="914400" y="1719072"/>
            <a:ext cx="26618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Losse vraag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22960" y="2423160"/>
            <a:ext cx="28446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Prompt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822960" y="3035808"/>
            <a:ext cx="284469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typt wat je wilt. Het resultaat is elke keer anders en de kennis zit alleen in jouw hoofd.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822960" y="416356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22960" y="4511040"/>
            <a:ext cx="284469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Eén antwoord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4051706" y="3006090"/>
            <a:ext cx="237744" cy="548640"/>
          </a:xfrm>
          <a:prstGeom prst="chevron">
            <a:avLst/>
          </a:prstGeom>
          <a:solidFill>
            <a:srgbClr val="F4D9DC"/>
          </a:solidFill>
          <a:ln/>
        </p:spPr>
      </p:sp>
      <p:sp>
        <p:nvSpPr>
          <p:cNvPr id="81" name="Shape 79"/>
          <p:cNvSpPr/>
          <p:nvPr/>
        </p:nvSpPr>
        <p:spPr>
          <a:xfrm>
            <a:off x="4399178" y="1371600"/>
            <a:ext cx="3393338" cy="3817620"/>
          </a:xfrm>
          <a:prstGeom prst="roundRect">
            <a:avLst>
              <a:gd name="adj" fmla="val 2033"/>
            </a:avLst>
          </a:prstGeom>
          <a:solidFill>
            <a:srgbClr val="F4D9DC"/>
          </a:solidFill>
          <a:ln/>
        </p:spPr>
      </p:sp>
      <p:sp>
        <p:nvSpPr>
          <p:cNvPr id="82" name="Shape 80"/>
          <p:cNvSpPr/>
          <p:nvPr/>
        </p:nvSpPr>
        <p:spPr>
          <a:xfrm>
            <a:off x="4673498" y="1719072"/>
            <a:ext cx="284469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83" name="Text 81"/>
          <p:cNvSpPr/>
          <p:nvPr/>
        </p:nvSpPr>
        <p:spPr>
          <a:xfrm>
            <a:off x="4764938" y="1719072"/>
            <a:ext cx="26618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Vastgelegd recept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4673498" y="2423160"/>
            <a:ext cx="28446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Skill</a:t>
            </a:r>
            <a:endParaRPr lang="en-US" sz="2200" dirty="0"/>
          </a:p>
        </p:txBody>
      </p:sp>
      <p:sp>
        <p:nvSpPr>
          <p:cNvPr id="85" name="Text 83"/>
          <p:cNvSpPr/>
          <p:nvPr/>
        </p:nvSpPr>
        <p:spPr>
          <a:xfrm>
            <a:off x="4673498" y="3035808"/>
            <a:ext cx="284469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map met een SKILL.md: instructies, voorbeelden, scripts en checks. De agent pakt hem erbij.</a:t>
            </a:r>
            <a:endParaRPr lang="en-US" sz="1500" dirty="0"/>
          </a:p>
        </p:txBody>
      </p:sp>
      <p:sp>
        <p:nvSpPr>
          <p:cNvPr id="86" name="Text 84"/>
          <p:cNvSpPr/>
          <p:nvPr/>
        </p:nvSpPr>
        <p:spPr>
          <a:xfrm>
            <a:off x="4673498" y="416356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4673498" y="4511040"/>
            <a:ext cx="284469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Herhaalbare werkwijze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7902245" y="3006090"/>
            <a:ext cx="237744" cy="548640"/>
          </a:xfrm>
          <a:prstGeom prst="chevron">
            <a:avLst/>
          </a:prstGeom>
          <a:solidFill>
            <a:srgbClr val="F4D9DC"/>
          </a:solidFill>
          <a:ln/>
        </p:spPr>
      </p:sp>
      <p:sp>
        <p:nvSpPr>
          <p:cNvPr id="89" name="Shape 87"/>
          <p:cNvSpPr/>
          <p:nvPr/>
        </p:nvSpPr>
        <p:spPr>
          <a:xfrm>
            <a:off x="8249717" y="1371600"/>
            <a:ext cx="3393338" cy="3817620"/>
          </a:xfrm>
          <a:prstGeom prst="roundRect">
            <a:avLst>
              <a:gd name="adj" fmla="val 2033"/>
            </a:avLst>
          </a:prstGeom>
          <a:solidFill>
            <a:srgbClr val="F4D74B"/>
          </a:solidFill>
          <a:ln/>
        </p:spPr>
      </p:sp>
      <p:sp>
        <p:nvSpPr>
          <p:cNvPr id="90" name="Shape 88"/>
          <p:cNvSpPr/>
          <p:nvPr/>
        </p:nvSpPr>
        <p:spPr>
          <a:xfrm>
            <a:off x="8524037" y="1719072"/>
            <a:ext cx="284469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91" name="Text 89"/>
          <p:cNvSpPr/>
          <p:nvPr/>
        </p:nvSpPr>
        <p:spPr>
          <a:xfrm>
            <a:off x="8615477" y="1719072"/>
            <a:ext cx="266181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Voert uit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8524037" y="2423160"/>
            <a:ext cx="284469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Agent</a:t>
            </a:r>
            <a:endParaRPr lang="en-US" sz="2200" dirty="0"/>
          </a:p>
        </p:txBody>
      </p:sp>
      <p:sp>
        <p:nvSpPr>
          <p:cNvPr id="93" name="Text 91"/>
          <p:cNvSpPr/>
          <p:nvPr/>
        </p:nvSpPr>
        <p:spPr>
          <a:xfrm>
            <a:off x="8524037" y="3035808"/>
            <a:ext cx="284469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Claude Code leest de skill, draait de code en toetst het resultaat aan de checks.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8524037" y="4163568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524037" y="4511040"/>
            <a:ext cx="284469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Resultaat dat je kunt nalopen</a:t>
            </a:r>
            <a:endParaRPr lang="en-US" sz="1500" dirty="0"/>
          </a:p>
        </p:txBody>
      </p:sp>
      <p:sp>
        <p:nvSpPr>
          <p:cNvPr id="96" name="Text 94"/>
          <p:cNvSpPr/>
          <p:nvPr/>
        </p:nvSpPr>
        <p:spPr>
          <a:xfrm>
            <a:off x="548640" y="53721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Een skill is gewoon tekst in de repo: leesbaar, aanpasbaar en deelbaar. Programmeren hoeft niet.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D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Van prompt naar teamkennis</a:t>
            </a:r>
            <a:endParaRPr lang="en-US" sz="3400" dirty="0"/>
          </a:p>
        </p:txBody>
      </p:sp>
      <p:sp>
        <p:nvSpPr>
          <p:cNvPr id="73" name="Text 71"/>
          <p:cNvSpPr/>
          <p:nvPr/>
        </p:nvSpPr>
        <p:spPr>
          <a:xfrm>
            <a:off x="548640" y="1325880"/>
            <a:ext cx="10241280" cy="675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Cooper Lt BT" pitchFamily="34" charset="0"/>
                <a:ea typeface="Cooper Lt BT" pitchFamily="34" charset="-122"/>
                <a:cs typeface="Cooper Lt BT" pitchFamily="34" charset="-120"/>
              </a:rPr>
              <a:t>Een goede prompt helpt jou vandaag. Een goede skill helpt je hele team, elke keer weer.</a:t>
            </a:r>
            <a:endParaRPr lang="en-US" sz="2100" dirty="0"/>
          </a:p>
        </p:txBody>
      </p:sp>
      <p:sp>
        <p:nvSpPr>
          <p:cNvPr id="74" name="Shape 72"/>
          <p:cNvSpPr/>
          <p:nvPr/>
        </p:nvSpPr>
        <p:spPr>
          <a:xfrm>
            <a:off x="548640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3D68EC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1×</a:t>
            </a:r>
            <a:endParaRPr lang="en-US" sz="6400" dirty="0"/>
          </a:p>
        </p:txBody>
      </p:sp>
      <p:sp>
        <p:nvSpPr>
          <p:cNvPr id="76" name="Text 74"/>
          <p:cNvSpPr/>
          <p:nvPr/>
        </p:nvSpPr>
        <p:spPr>
          <a:xfrm>
            <a:off x="822960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uitschrijven</a:t>
            </a:r>
            <a:endParaRPr lang="en-US" sz="1900" dirty="0"/>
          </a:p>
        </p:txBody>
      </p:sp>
      <p:sp>
        <p:nvSpPr>
          <p:cNvPr id="77" name="Text 75"/>
          <p:cNvSpPr/>
          <p:nvPr/>
        </p:nvSpPr>
        <p:spPr>
          <a:xfrm>
            <a:off x="822960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daarna eindeloos hergebruiken, door iedereen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3377108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DD784B"/>
          </a:solidFill>
          <a:ln/>
        </p:spPr>
      </p:sp>
      <p:sp>
        <p:nvSpPr>
          <p:cNvPr id="79" name="Text 77"/>
          <p:cNvSpPr/>
          <p:nvPr/>
        </p:nvSpPr>
        <p:spPr>
          <a:xfrm>
            <a:off x="3651428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0</a:t>
            </a:r>
            <a:endParaRPr lang="en-US" sz="6400" dirty="0"/>
          </a:p>
        </p:txBody>
      </p:sp>
      <p:sp>
        <p:nvSpPr>
          <p:cNvPr id="80" name="Text 78"/>
          <p:cNvSpPr/>
          <p:nvPr/>
        </p:nvSpPr>
        <p:spPr>
          <a:xfrm>
            <a:off x="3651428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black boxes</a:t>
            </a:r>
            <a:endParaRPr lang="en-US" sz="1900" dirty="0"/>
          </a:p>
        </p:txBody>
      </p:sp>
      <p:sp>
        <p:nvSpPr>
          <p:cNvPr id="81" name="Text 79"/>
          <p:cNvSpPr/>
          <p:nvPr/>
        </p:nvSpPr>
        <p:spPr>
          <a:xfrm>
            <a:off x="3651428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je leest precies wat de agent gaat doen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205576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00AF81"/>
          </a:solidFill>
          <a:ln/>
        </p:spPr>
      </p:sp>
      <p:sp>
        <p:nvSpPr>
          <p:cNvPr id="83" name="Text 81"/>
          <p:cNvSpPr/>
          <p:nvPr/>
        </p:nvSpPr>
        <p:spPr>
          <a:xfrm>
            <a:off x="6479896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n&lt;30</a:t>
            </a:r>
            <a:endParaRPr lang="en-US" sz="5700" dirty="0"/>
          </a:p>
        </p:txBody>
      </p:sp>
      <p:sp>
        <p:nvSpPr>
          <p:cNvPr id="84" name="Text 82"/>
          <p:cNvSpPr/>
          <p:nvPr/>
        </p:nvSpPr>
        <p:spPr>
          <a:xfrm>
            <a:off x="6479896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ingebouwd</a:t>
            </a:r>
            <a:endParaRPr lang="en-US" sz="1900" dirty="0"/>
          </a:p>
        </p:txBody>
      </p:sp>
      <p:sp>
        <p:nvSpPr>
          <p:cNvPr id="85" name="Text 83"/>
          <p:cNvSpPr/>
          <p:nvPr/>
        </p:nvSpPr>
        <p:spPr>
          <a:xfrm>
            <a:off x="6479896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privacy-drempel en checks vergeet je nooit meer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9034043" y="2321052"/>
            <a:ext cx="2609012" cy="2468880"/>
          </a:xfrm>
          <a:prstGeom prst="roundRect">
            <a:avLst>
              <a:gd name="adj" fmla="val 3841"/>
            </a:avLst>
          </a:prstGeom>
          <a:solidFill>
            <a:srgbClr val="3D68EC"/>
          </a:solidFill>
          <a:ln/>
        </p:spPr>
      </p:sp>
      <p:sp>
        <p:nvSpPr>
          <p:cNvPr id="87" name="Text 85"/>
          <p:cNvSpPr/>
          <p:nvPr/>
        </p:nvSpPr>
        <p:spPr>
          <a:xfrm>
            <a:off x="9308363" y="2549652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€0</a:t>
            </a:r>
            <a:endParaRPr lang="en-US" sz="6400" dirty="0"/>
          </a:p>
        </p:txBody>
      </p:sp>
      <p:sp>
        <p:nvSpPr>
          <p:cNvPr id="88" name="Text 86"/>
          <p:cNvSpPr/>
          <p:nvPr/>
        </p:nvSpPr>
        <p:spPr>
          <a:xfrm>
            <a:off x="9308363" y="360121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kosten</a:t>
            </a:r>
            <a:endParaRPr lang="en-US" sz="1900" dirty="0"/>
          </a:p>
        </p:txBody>
      </p:sp>
      <p:sp>
        <p:nvSpPr>
          <p:cNvPr id="89" name="Text 87"/>
          <p:cNvSpPr/>
          <p:nvPr/>
        </p:nvSpPr>
        <p:spPr>
          <a:xfrm>
            <a:off x="9308363" y="4012692"/>
            <a:ext cx="20603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tekstbestanden in de repo, deelbaar via Git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548640" y="5064252"/>
            <a:ext cx="11094415" cy="777240"/>
          </a:xfrm>
          <a:prstGeom prst="roundRect">
            <a:avLst>
              <a:gd name="adj" fmla="val 27682"/>
            </a:avLst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868680" y="5064252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Vuistregel:</a:t>
            </a:r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 elke prompt die je drie keer typt, is een skill in wording.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CEE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komt er in de devcontainer?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822960" y="1472184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AI-agent: Claude Code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4754880" y="147218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waarmee iedereen werkt; jij stuurt, de agent programmeert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9859975" y="1687068"/>
            <a:ext cx="1554480" cy="329184"/>
          </a:xfrm>
          <a:prstGeom prst="roundRect">
            <a:avLst>
              <a:gd name="adj" fmla="val 138889"/>
            </a:avLst>
          </a:prstGeom>
          <a:solidFill>
            <a:srgbClr val="00AF81"/>
          </a:solidFill>
          <a:ln/>
        </p:spPr>
      </p:sp>
      <p:sp>
        <p:nvSpPr>
          <p:cNvPr id="77" name="Text 75"/>
          <p:cNvSpPr/>
          <p:nvPr/>
        </p:nvSpPr>
        <p:spPr>
          <a:xfrm>
            <a:off x="9951415" y="16870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Vast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48640" y="2377440"/>
            <a:ext cx="11094415" cy="868680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822960" y="2432304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Python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4754880" y="243230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agent schrijft de analyse, bijvoorbeeld met DuckDB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9859975" y="2647188"/>
            <a:ext cx="1554480" cy="329184"/>
          </a:xfrm>
          <a:prstGeom prst="roundRect">
            <a:avLst>
              <a:gd name="adj" fmla="val 138889"/>
            </a:avLst>
          </a:prstGeom>
          <a:solidFill>
            <a:srgbClr val="00AF81"/>
          </a:solidFill>
          <a:ln/>
        </p:spPr>
      </p:sp>
      <p:sp>
        <p:nvSpPr>
          <p:cNvPr id="82" name="Text 80"/>
          <p:cNvSpPr/>
          <p:nvPr/>
        </p:nvSpPr>
        <p:spPr>
          <a:xfrm>
            <a:off x="9951415" y="264718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Vast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548640" y="3337560"/>
            <a:ext cx="11094415" cy="868680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822960" y="3392424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Data en codebook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4754880" y="339242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synthetisch 1CHO-CSV, gelabelde waarden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9859975" y="3607308"/>
            <a:ext cx="1554480" cy="329184"/>
          </a:xfrm>
          <a:prstGeom prst="roundRect">
            <a:avLst>
              <a:gd name="adj" fmla="val 138889"/>
            </a:avLst>
          </a:prstGeom>
          <a:solidFill>
            <a:srgbClr val="00AF81"/>
          </a:solidFill>
          <a:ln/>
        </p:spPr>
      </p:sp>
      <p:sp>
        <p:nvSpPr>
          <p:cNvPr id="87" name="Text 85"/>
          <p:cNvSpPr/>
          <p:nvPr/>
        </p:nvSpPr>
        <p:spPr>
          <a:xfrm>
            <a:off x="9951415" y="36073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Vast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48640" y="4297680"/>
            <a:ext cx="11094415" cy="868680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822960" y="4352544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Skills en checkpoints</a:t>
            </a:r>
            <a:endParaRPr lang="en-US" sz="1600" dirty="0"/>
          </a:p>
        </p:txBody>
      </p:sp>
      <p:sp>
        <p:nvSpPr>
          <p:cNvPr id="90" name="Text 88"/>
          <p:cNvSpPr/>
          <p:nvPr/>
        </p:nvSpPr>
        <p:spPr>
          <a:xfrm>
            <a:off x="4754880" y="435254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staan klaar, activeren met één commando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9859975" y="4567428"/>
            <a:ext cx="1554480" cy="329184"/>
          </a:xfrm>
          <a:prstGeom prst="roundRect">
            <a:avLst>
              <a:gd name="adj" fmla="val 138889"/>
            </a:avLst>
          </a:prstGeom>
          <a:solidFill>
            <a:srgbClr val="00AF81"/>
          </a:solidFill>
          <a:ln/>
        </p:spPr>
      </p:sp>
      <p:sp>
        <p:nvSpPr>
          <p:cNvPr id="92" name="Text 90"/>
          <p:cNvSpPr/>
          <p:nvPr/>
        </p:nvSpPr>
        <p:spPr>
          <a:xfrm>
            <a:off x="9951415" y="45674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Vast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5512"/>
            </a:avLst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822960" y="5312664"/>
            <a:ext cx="384048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Dashboard: Streamlit</a:t>
            </a:r>
            <a:endParaRPr lang="en-US" sz="1600" dirty="0"/>
          </a:p>
        </p:txBody>
      </p:sp>
      <p:sp>
        <p:nvSpPr>
          <p:cNvPr id="95" name="Text 93"/>
          <p:cNvSpPr/>
          <p:nvPr/>
        </p:nvSpPr>
        <p:spPr>
          <a:xfrm>
            <a:off x="4754880" y="5312664"/>
            <a:ext cx="45720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nog niet zeker, de tool kan nog wijzigen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9859975" y="5527548"/>
            <a:ext cx="1554480" cy="329184"/>
          </a:xfrm>
          <a:prstGeom prst="roundRect">
            <a:avLst>
              <a:gd name="adj" fmla="val 138889"/>
            </a:avLst>
          </a:prstGeom>
          <a:solidFill>
            <a:srgbClr val="DD784B"/>
          </a:solidFill>
          <a:ln/>
        </p:spPr>
      </p:sp>
      <p:sp>
        <p:nvSpPr>
          <p:cNvPr id="97" name="Text 95"/>
          <p:cNvSpPr/>
          <p:nvPr/>
        </p:nvSpPr>
        <p:spPr>
          <a:xfrm>
            <a:off x="9951415" y="55275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Open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548640" y="62910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D68E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concept staat, de invulling is deels open. Geen programmeerervaring nodig, wel kritisch kijken: klopt wat de agent doet?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Eén dashboard, twee stappen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5318608" cy="3940302"/>
          </a:xfrm>
          <a:prstGeom prst="roundRect">
            <a:avLst>
              <a:gd name="adj" fmla="val 1508"/>
            </a:avLst>
          </a:prstGeom>
          <a:solidFill>
            <a:srgbClr val="3D68E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508760" y="1719072"/>
            <a:ext cx="4084168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7" name="Text 75"/>
          <p:cNvSpPr/>
          <p:nvPr/>
        </p:nvSpPr>
        <p:spPr>
          <a:xfrm>
            <a:off x="1600200" y="1719072"/>
            <a:ext cx="390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Data → Informatie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2960" y="2423160"/>
            <a:ext cx="476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1: data exploratie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822960" y="3035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22960" y="3383280"/>
            <a:ext cx="4769968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Data en codebook verkennen met de agent, de code controleren en kleine groepen en definities vastleggen.</a:t>
            </a:r>
            <a:endParaRPr lang="en-US" sz="1500" dirty="0"/>
          </a:p>
        </p:txBody>
      </p:sp>
      <p:sp>
        <p:nvSpPr>
          <p:cNvPr id="81" name="Text 79"/>
          <p:cNvSpPr/>
          <p:nvPr/>
        </p:nvSpPr>
        <p:spPr>
          <a:xfrm>
            <a:off x="822960" y="428625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82" name="Text 80"/>
          <p:cNvSpPr/>
          <p:nvPr/>
        </p:nvSpPr>
        <p:spPr>
          <a:xfrm>
            <a:off x="822960" y="4633722"/>
            <a:ext cx="476996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Begrip van de data, een schets van twee of drie views en een eerste privacy-check.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5976976" y="3067431"/>
            <a:ext cx="237744" cy="548640"/>
          </a:xfrm>
          <a:prstGeom prst="chevron">
            <a:avLst/>
          </a:prstGeom>
          <a:solidFill>
            <a:srgbClr val="3D68EC"/>
          </a:solidFill>
          <a:ln/>
        </p:spPr>
      </p:sp>
      <p:sp>
        <p:nvSpPr>
          <p:cNvPr id="84" name="Shape 82"/>
          <p:cNvSpPr/>
          <p:nvPr/>
        </p:nvSpPr>
        <p:spPr>
          <a:xfrm>
            <a:off x="6324448" y="1371600"/>
            <a:ext cx="5318608" cy="3940302"/>
          </a:xfrm>
          <a:prstGeom prst="roundRect">
            <a:avLst>
              <a:gd name="adj" fmla="val 1508"/>
            </a:avLst>
          </a:prstGeom>
          <a:solidFill>
            <a:srgbClr val="DD784B"/>
          </a:solidFill>
          <a:ln/>
        </p:spPr>
      </p:sp>
      <p:sp>
        <p:nvSpPr>
          <p:cNvPr id="85" name="Shape 83"/>
          <p:cNvSpPr/>
          <p:nvPr/>
        </p:nvSpPr>
        <p:spPr>
          <a:xfrm>
            <a:off x="6598768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6" name="Text 84"/>
          <p:cNvSpPr/>
          <p:nvPr/>
        </p:nvSpPr>
        <p:spPr>
          <a:xfrm>
            <a:off x="659876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87" name="Shape 85"/>
          <p:cNvSpPr/>
          <p:nvPr/>
        </p:nvSpPr>
        <p:spPr>
          <a:xfrm>
            <a:off x="7284568" y="1719072"/>
            <a:ext cx="408416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8" name="Text 86"/>
          <p:cNvSpPr/>
          <p:nvPr/>
        </p:nvSpPr>
        <p:spPr>
          <a:xfrm>
            <a:off x="7376008" y="1719072"/>
            <a:ext cx="39012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Informatie → Wijsheid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598768" y="2423160"/>
            <a:ext cx="47699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2: dashboard bouwen</a:t>
            </a:r>
            <a:endParaRPr lang="en-US" sz="2200" dirty="0"/>
          </a:p>
        </p:txBody>
      </p:sp>
      <p:sp>
        <p:nvSpPr>
          <p:cNvPr id="90" name="Text 88"/>
          <p:cNvSpPr/>
          <p:nvPr/>
        </p:nvSpPr>
        <p:spPr>
          <a:xfrm>
            <a:off x="6598768" y="3035808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JE DOET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6598768" y="3383280"/>
            <a:ext cx="4769968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Grafiek, vergelijking en filter bouwen, met eerlijke framing, bron en toegankelijke grafieken.</a:t>
            </a:r>
            <a:endParaRPr lang="en-US" sz="1500" dirty="0"/>
          </a:p>
        </p:txBody>
      </p:sp>
      <p:sp>
        <p:nvSpPr>
          <p:cNvPr id="92" name="Text 90"/>
          <p:cNvSpPr/>
          <p:nvPr/>
        </p:nvSpPr>
        <p:spPr>
          <a:xfrm>
            <a:off x="6598768" y="4286250"/>
            <a:ext cx="476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WAT ONTSTAAT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6598768" y="4633722"/>
            <a:ext cx="476996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Een werkend én verantwoord dashboard, bij voorkeur met de conclusie als titel.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548640" y="549478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Het dashboard is het middel, de casusvraag het doel. De analist voegt de wijsheid toe.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6E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Een skill bij elk moment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515258" cy="4042410"/>
          </a:xfrm>
          <a:prstGeom prst="roundRect">
            <a:avLst>
              <a:gd name="adj" fmla="val 1895"/>
            </a:avLst>
          </a:prstGeom>
          <a:solidFill>
            <a:srgbClr val="3D68E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F4D74B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508760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7" name="Text 75"/>
          <p:cNvSpPr/>
          <p:nvPr/>
        </p:nvSpPr>
        <p:spPr>
          <a:xfrm>
            <a:off x="1600200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Doet ronde 1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2960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Verkennen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822960" y="3035808"/>
            <a:ext cx="296661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Profileert CSV en codebook, signaleert kleine groepen, legt definities vast en schetst twee of drie views.</a:t>
            </a:r>
            <a:endParaRPr lang="en-US" sz="1500" dirty="0"/>
          </a:p>
        </p:txBody>
      </p:sp>
      <p:sp>
        <p:nvSpPr>
          <p:cNvPr id="80" name="Text 78"/>
          <p:cNvSpPr/>
          <p:nvPr/>
        </p:nvSpPr>
        <p:spPr>
          <a:xfrm>
            <a:off x="822960" y="438835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822960" y="4735830"/>
            <a:ext cx="296661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Data-profiel, privacy-check en schets</a:t>
            </a:r>
            <a:endParaRPr lang="en-US" sz="1500" dirty="0"/>
          </a:p>
        </p:txBody>
      </p:sp>
      <p:sp>
        <p:nvSpPr>
          <p:cNvPr id="82" name="Shape 80"/>
          <p:cNvSpPr/>
          <p:nvPr/>
        </p:nvSpPr>
        <p:spPr>
          <a:xfrm>
            <a:off x="4338218" y="1371600"/>
            <a:ext cx="3515258" cy="4042410"/>
          </a:xfrm>
          <a:prstGeom prst="roundRect">
            <a:avLst>
              <a:gd name="adj" fmla="val 1895"/>
            </a:avLst>
          </a:prstGeom>
          <a:solidFill>
            <a:srgbClr val="DD784B"/>
          </a:solidFill>
          <a:ln/>
        </p:spPr>
      </p:sp>
      <p:sp>
        <p:nvSpPr>
          <p:cNvPr id="83" name="Shape 81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84" name="Text 82"/>
          <p:cNvSpPr/>
          <p:nvPr/>
        </p:nvSpPr>
        <p:spPr>
          <a:xfrm>
            <a:off x="461253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85" name="Shape 83"/>
          <p:cNvSpPr/>
          <p:nvPr/>
        </p:nvSpPr>
        <p:spPr>
          <a:xfrm>
            <a:off x="5298338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6" name="Text 84"/>
          <p:cNvSpPr/>
          <p:nvPr/>
        </p:nvSpPr>
        <p:spPr>
          <a:xfrm>
            <a:off x="5389778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Doet ronde 2</a:t>
            </a:r>
            <a:endParaRPr lang="en-US" sz="1200" dirty="0"/>
          </a:p>
        </p:txBody>
      </p:sp>
      <p:sp>
        <p:nvSpPr>
          <p:cNvPr id="87" name="Text 85"/>
          <p:cNvSpPr/>
          <p:nvPr/>
        </p:nvSpPr>
        <p:spPr>
          <a:xfrm>
            <a:off x="4612538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Dashboard</a:t>
            </a:r>
            <a:endParaRPr lang="en-US" sz="2200" dirty="0"/>
          </a:p>
        </p:txBody>
      </p:sp>
      <p:sp>
        <p:nvSpPr>
          <p:cNvPr id="88" name="Text 86"/>
          <p:cNvSpPr/>
          <p:nvPr/>
        </p:nvSpPr>
        <p:spPr>
          <a:xfrm>
            <a:off x="4612538" y="3035808"/>
            <a:ext cx="296661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Bouwt uit de schets een dashboard met grafiek, vergelijking en filter, met drempel, framing, bron en toegankelijkheid erin verweven.</a:t>
            </a:r>
            <a:endParaRPr lang="en-US" sz="1500" dirty="0"/>
          </a:p>
        </p:txBody>
      </p:sp>
      <p:sp>
        <p:nvSpPr>
          <p:cNvPr id="89" name="Text 87"/>
          <p:cNvSpPr/>
          <p:nvPr/>
        </p:nvSpPr>
        <p:spPr>
          <a:xfrm>
            <a:off x="4612538" y="438835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4612538" y="4735830"/>
            <a:ext cx="296661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Werkend én verantwoord dashboard</a:t>
            </a:r>
            <a:endParaRPr lang="en-US" sz="1500" dirty="0"/>
          </a:p>
        </p:txBody>
      </p:sp>
      <p:sp>
        <p:nvSpPr>
          <p:cNvPr id="91" name="Shape 89"/>
          <p:cNvSpPr/>
          <p:nvPr/>
        </p:nvSpPr>
        <p:spPr>
          <a:xfrm>
            <a:off x="8127797" y="1371600"/>
            <a:ext cx="3515258" cy="4042410"/>
          </a:xfrm>
          <a:prstGeom prst="roundRect">
            <a:avLst>
              <a:gd name="adj" fmla="val 1895"/>
            </a:avLst>
          </a:prstGeom>
          <a:solidFill>
            <a:srgbClr val="00AF81"/>
          </a:solidFill>
          <a:ln/>
        </p:spPr>
      </p:sp>
      <p:sp>
        <p:nvSpPr>
          <p:cNvPr id="92" name="Shape 90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rgbClr val="F4D9DC"/>
          </a:solidFill>
          <a:ln/>
        </p:spPr>
      </p:sp>
      <p:sp>
        <p:nvSpPr>
          <p:cNvPr id="93" name="Text 91"/>
          <p:cNvSpPr/>
          <p:nvPr/>
        </p:nvSpPr>
        <p:spPr>
          <a:xfrm>
            <a:off x="8402117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94" name="Shape 92"/>
          <p:cNvSpPr/>
          <p:nvPr/>
        </p:nvSpPr>
        <p:spPr>
          <a:xfrm>
            <a:off x="9087917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95" name="Text 93"/>
          <p:cNvSpPr/>
          <p:nvPr/>
        </p:nvSpPr>
        <p:spPr>
          <a:xfrm>
            <a:off x="9179357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Bij de evaluatie</a:t>
            </a:r>
            <a:endParaRPr lang="en-US" sz="1200" dirty="0"/>
          </a:p>
        </p:txBody>
      </p:sp>
      <p:sp>
        <p:nvSpPr>
          <p:cNvPr id="96" name="Text 94"/>
          <p:cNvSpPr/>
          <p:nvPr/>
        </p:nvSpPr>
        <p:spPr>
          <a:xfrm>
            <a:off x="8402117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Reflectie</a:t>
            </a:r>
            <a:endParaRPr lang="en-US" sz="2200" dirty="0"/>
          </a:p>
        </p:txBody>
      </p:sp>
      <p:sp>
        <p:nvSpPr>
          <p:cNvPr id="97" name="Text 95"/>
          <p:cNvSpPr/>
          <p:nvPr/>
        </p:nvSpPr>
        <p:spPr>
          <a:xfrm>
            <a:off x="8402117" y="3035808"/>
            <a:ext cx="2966618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Stelt dezelfde vaste vragen aan elke deelnemer en legt de antwoorden vast in hun eigen woorden.</a:t>
            </a:r>
            <a:endParaRPr lang="en-US" sz="1500" dirty="0"/>
          </a:p>
        </p:txBody>
      </p:sp>
      <p:sp>
        <p:nvSpPr>
          <p:cNvPr id="98" name="Text 96"/>
          <p:cNvSpPr/>
          <p:nvPr/>
        </p:nvSpPr>
        <p:spPr>
          <a:xfrm>
            <a:off x="8402117" y="4388358"/>
            <a:ext cx="2966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spc="300" kern="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LEVERT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402117" y="4735830"/>
            <a:ext cx="2966618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Reflectie en vervolgwensen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548640" y="559689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Skills werken via vaste tussenproducten (data.csv, schets.md), zodat elke stap na te lopen is.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EA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Responsible zit in beide rondes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2567864" cy="3250438"/>
          </a:xfrm>
          <a:prstGeom prst="roundRect">
            <a:avLst>
              <a:gd name="adj" fmla="val 3550"/>
            </a:avLst>
          </a:prstGeom>
          <a:solidFill>
            <a:srgbClr val="3D68E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719072"/>
            <a:ext cx="2019224" cy="402336"/>
          </a:xfrm>
          <a:prstGeom prst="roundRect">
            <a:avLst>
              <a:gd name="adj" fmla="val 113636"/>
            </a:avLst>
          </a:prstGeom>
          <a:solidFill>
            <a:srgbClr val="F4D74B"/>
          </a:solidFill>
          <a:ln/>
        </p:spPr>
      </p:sp>
      <p:sp>
        <p:nvSpPr>
          <p:cNvPr id="75" name="Text 73"/>
          <p:cNvSpPr/>
          <p:nvPr/>
        </p:nvSpPr>
        <p:spPr>
          <a:xfrm>
            <a:off x="914400" y="1719072"/>
            <a:ext cx="1836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1 + 2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822960" y="2423160"/>
            <a:ext cx="2019224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Privacy-check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822960" y="3269488"/>
            <a:ext cx="2019224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4D9DC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Drempel voor kleine aantallen en herleidbare combinaties van uitsplitsingen.</a:t>
            </a:r>
            <a:endParaRPr lang="en-US" sz="1500" dirty="0"/>
          </a:p>
        </p:txBody>
      </p:sp>
      <p:sp>
        <p:nvSpPr>
          <p:cNvPr id="78" name="Shape 76"/>
          <p:cNvSpPr/>
          <p:nvPr/>
        </p:nvSpPr>
        <p:spPr>
          <a:xfrm>
            <a:off x="3390824" y="1371600"/>
            <a:ext cx="2567864" cy="3250438"/>
          </a:xfrm>
          <a:prstGeom prst="roundRect">
            <a:avLst>
              <a:gd name="adj" fmla="val 3550"/>
            </a:avLst>
          </a:prstGeom>
          <a:solidFill>
            <a:srgbClr val="DD784B"/>
          </a:solidFill>
          <a:ln/>
        </p:spPr>
      </p:sp>
      <p:sp>
        <p:nvSpPr>
          <p:cNvPr id="79" name="Shape 77"/>
          <p:cNvSpPr/>
          <p:nvPr/>
        </p:nvSpPr>
        <p:spPr>
          <a:xfrm>
            <a:off x="3665144" y="1719072"/>
            <a:ext cx="2019224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0" name="Text 78"/>
          <p:cNvSpPr/>
          <p:nvPr/>
        </p:nvSpPr>
        <p:spPr>
          <a:xfrm>
            <a:off x="3756584" y="1719072"/>
            <a:ext cx="1836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2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3665144" y="2423160"/>
            <a:ext cx="2019224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Toegankelijkheid</a:t>
            </a:r>
            <a:endParaRPr lang="en-US" sz="1900" dirty="0"/>
          </a:p>
        </p:txBody>
      </p:sp>
      <p:sp>
        <p:nvSpPr>
          <p:cNvPr id="82" name="Text 80"/>
          <p:cNvSpPr/>
          <p:nvPr/>
        </p:nvSpPr>
        <p:spPr>
          <a:xfrm>
            <a:off x="3665144" y="3269488"/>
            <a:ext cx="2019224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Kleurcontrast, alt-tekst en een dashboard dat een bestuurder echt kan lezen.</a:t>
            </a:r>
            <a:endParaRPr lang="en-US" sz="1500" dirty="0"/>
          </a:p>
        </p:txBody>
      </p:sp>
      <p:sp>
        <p:nvSpPr>
          <p:cNvPr id="83" name="Shape 81"/>
          <p:cNvSpPr/>
          <p:nvPr/>
        </p:nvSpPr>
        <p:spPr>
          <a:xfrm>
            <a:off x="6233008" y="1371600"/>
            <a:ext cx="2567864" cy="3250438"/>
          </a:xfrm>
          <a:prstGeom prst="roundRect">
            <a:avLst>
              <a:gd name="adj" fmla="val 3550"/>
            </a:avLst>
          </a:prstGeom>
          <a:solidFill>
            <a:srgbClr val="00AF81"/>
          </a:solidFill>
          <a:ln/>
        </p:spPr>
      </p:sp>
      <p:sp>
        <p:nvSpPr>
          <p:cNvPr id="84" name="Shape 82"/>
          <p:cNvSpPr/>
          <p:nvPr/>
        </p:nvSpPr>
        <p:spPr>
          <a:xfrm>
            <a:off x="6507328" y="1719072"/>
            <a:ext cx="2019224" cy="402336"/>
          </a:xfrm>
          <a:prstGeom prst="roundRect">
            <a:avLst>
              <a:gd name="adj" fmla="val 113636"/>
            </a:avLst>
          </a:prstGeom>
          <a:solidFill>
            <a:srgbClr val="F4D9DC"/>
          </a:solidFill>
          <a:ln/>
        </p:spPr>
      </p:sp>
      <p:sp>
        <p:nvSpPr>
          <p:cNvPr id="85" name="Text 83"/>
          <p:cNvSpPr/>
          <p:nvPr/>
        </p:nvSpPr>
        <p:spPr>
          <a:xfrm>
            <a:off x="6598768" y="1719072"/>
            <a:ext cx="1836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2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6507328" y="2423160"/>
            <a:ext cx="2019224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Eerlijke framing</a:t>
            </a:r>
            <a:endParaRPr lang="en-US" sz="1900" dirty="0"/>
          </a:p>
        </p:txBody>
      </p:sp>
      <p:sp>
        <p:nvSpPr>
          <p:cNvPr id="87" name="Text 85"/>
          <p:cNvSpPr/>
          <p:nvPr/>
        </p:nvSpPr>
        <p:spPr>
          <a:xfrm>
            <a:off x="6507328" y="3269488"/>
            <a:ext cx="2019224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Cijfers per groep mogen niet stigmatiseren, en een verband is nog geen oorzaak.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9075191" y="1371600"/>
            <a:ext cx="2567864" cy="3250438"/>
          </a:xfrm>
          <a:prstGeom prst="roundRect">
            <a:avLst>
              <a:gd name="adj" fmla="val 3550"/>
            </a:avLst>
          </a:prstGeom>
          <a:solidFill>
            <a:srgbClr val="F4D74B"/>
          </a:solidFill>
          <a:ln/>
        </p:spPr>
      </p:sp>
      <p:sp>
        <p:nvSpPr>
          <p:cNvPr id="89" name="Shape 87"/>
          <p:cNvSpPr/>
          <p:nvPr/>
        </p:nvSpPr>
        <p:spPr>
          <a:xfrm>
            <a:off x="9349511" y="1719072"/>
            <a:ext cx="2019224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90" name="Text 88"/>
          <p:cNvSpPr/>
          <p:nvPr/>
        </p:nvSpPr>
        <p:spPr>
          <a:xfrm>
            <a:off x="9440951" y="1719072"/>
            <a:ext cx="1836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7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Ronde 1 + 2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9349511" y="2423160"/>
            <a:ext cx="2019224" cy="572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9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Bron en uitleg</a:t>
            </a:r>
            <a:endParaRPr lang="en-US" sz="1900" dirty="0"/>
          </a:p>
        </p:txBody>
      </p:sp>
      <p:sp>
        <p:nvSpPr>
          <p:cNvPr id="92" name="Text 90"/>
          <p:cNvSpPr/>
          <p:nvPr/>
        </p:nvSpPr>
        <p:spPr>
          <a:xfrm>
            <a:off x="9349511" y="3269488"/>
            <a:ext cx="2019224" cy="121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Definities uit het codebook, bronvermelding en uitleg bij elke grafiek.</a:t>
            </a:r>
            <a:endParaRPr lang="en-US" sz="1500" dirty="0"/>
          </a:p>
        </p:txBody>
      </p:sp>
      <p:sp>
        <p:nvSpPr>
          <p:cNvPr id="93" name="Text 91"/>
          <p:cNvSpPr/>
          <p:nvPr/>
        </p:nvSpPr>
        <p:spPr>
          <a:xfrm>
            <a:off x="548640" y="480491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Geen aparte stap: elke skill past de checks toe die bij zijn ronde horen.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AF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Evaluatie en vervolg: 8 minuten</a:t>
            </a:r>
            <a:endParaRPr lang="en-US" sz="3400" dirty="0"/>
          </a:p>
        </p:txBody>
      </p:sp>
      <p:sp>
        <p:nvSpPr>
          <p:cNvPr id="73" name="Shape 71"/>
          <p:cNvSpPr/>
          <p:nvPr/>
        </p:nvSpPr>
        <p:spPr>
          <a:xfrm>
            <a:off x="548640" y="1371600"/>
            <a:ext cx="3515258" cy="2791968"/>
          </a:xfrm>
          <a:prstGeom prst="roundRect">
            <a:avLst>
              <a:gd name="adj" fmla="val 3003"/>
            </a:avLst>
          </a:prstGeom>
          <a:solidFill>
            <a:srgbClr val="F4D9DC"/>
          </a:solidFill>
          <a:ln/>
        </p:spPr>
      </p:sp>
      <p:sp>
        <p:nvSpPr>
          <p:cNvPr id="74" name="Shape 72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3D68EC"/>
          </a:solidFill>
          <a:ln/>
        </p:spPr>
      </p:sp>
      <p:sp>
        <p:nvSpPr>
          <p:cNvPr id="75" name="Text 73"/>
          <p:cNvSpPr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6" name="Shape 74"/>
          <p:cNvSpPr/>
          <p:nvPr/>
        </p:nvSpPr>
        <p:spPr>
          <a:xfrm>
            <a:off x="1508760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77" name="Text 75"/>
          <p:cNvSpPr/>
          <p:nvPr/>
        </p:nvSpPr>
        <p:spPr>
          <a:xfrm>
            <a:off x="1600200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 min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822960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Reflectie</a:t>
            </a:r>
            <a:endParaRPr lang="en-US" sz="2200" dirty="0"/>
          </a:p>
        </p:txBody>
      </p:sp>
      <p:sp>
        <p:nvSpPr>
          <p:cNvPr id="79" name="Text 77"/>
          <p:cNvSpPr/>
          <p:nvPr/>
        </p:nvSpPr>
        <p:spPr>
          <a:xfrm>
            <a:off x="822960" y="3035808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vond je ervan? Wat ging goed, wat zag je nu pas, wat neem je mee? Via de reflectie-skill of de peiling.</a:t>
            </a:r>
            <a:endParaRPr lang="en-US" sz="1500" dirty="0"/>
          </a:p>
        </p:txBody>
      </p:sp>
      <p:sp>
        <p:nvSpPr>
          <p:cNvPr id="80" name="Shape 78"/>
          <p:cNvSpPr/>
          <p:nvPr/>
        </p:nvSpPr>
        <p:spPr>
          <a:xfrm>
            <a:off x="4338218" y="1371600"/>
            <a:ext cx="3515258" cy="2791968"/>
          </a:xfrm>
          <a:prstGeom prst="roundRect">
            <a:avLst>
              <a:gd name="adj" fmla="val 3003"/>
            </a:avLst>
          </a:prstGeom>
          <a:solidFill>
            <a:srgbClr val="F4D9DC"/>
          </a:solidFill>
          <a:ln/>
        </p:spPr>
      </p:sp>
      <p:sp>
        <p:nvSpPr>
          <p:cNvPr id="81" name="Shape 79"/>
          <p:cNvSpPr/>
          <p:nvPr/>
        </p:nvSpPr>
        <p:spPr>
          <a:xfrm>
            <a:off x="4612538" y="1645920"/>
            <a:ext cx="548640" cy="548640"/>
          </a:xfrm>
          <a:prstGeom prst="ellipse">
            <a:avLst/>
          </a:prstGeom>
          <a:solidFill>
            <a:srgbClr val="3D68EC"/>
          </a:solidFill>
          <a:ln/>
        </p:spPr>
      </p:sp>
      <p:sp>
        <p:nvSpPr>
          <p:cNvPr id="82" name="Text 80"/>
          <p:cNvSpPr/>
          <p:nvPr/>
        </p:nvSpPr>
        <p:spPr>
          <a:xfrm>
            <a:off x="4612538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83" name="Shape 81"/>
          <p:cNvSpPr/>
          <p:nvPr/>
        </p:nvSpPr>
        <p:spPr>
          <a:xfrm>
            <a:off x="5298338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84" name="Text 82"/>
          <p:cNvSpPr/>
          <p:nvPr/>
        </p:nvSpPr>
        <p:spPr>
          <a:xfrm>
            <a:off x="5389778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2 min</a:t>
            </a:r>
            <a:endParaRPr lang="en-US" sz="1200" dirty="0"/>
          </a:p>
        </p:txBody>
      </p:sp>
      <p:sp>
        <p:nvSpPr>
          <p:cNvPr id="85" name="Text 83"/>
          <p:cNvSpPr/>
          <p:nvPr/>
        </p:nvSpPr>
        <p:spPr>
          <a:xfrm>
            <a:off x="4612538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Meerkeuzevraag</a:t>
            </a:r>
            <a:endParaRPr lang="en-US" sz="2200" dirty="0"/>
          </a:p>
        </p:txBody>
      </p:sp>
      <p:sp>
        <p:nvSpPr>
          <p:cNvPr id="86" name="Text 84"/>
          <p:cNvSpPr/>
          <p:nvPr/>
        </p:nvSpPr>
        <p:spPr>
          <a:xfrm>
            <a:off x="4612538" y="3035808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Interesse in een training? Van nee tot een programma van 4 uur per week voor één semester.</a:t>
            </a:r>
            <a:endParaRPr lang="en-US" sz="1500" dirty="0"/>
          </a:p>
        </p:txBody>
      </p:sp>
      <p:sp>
        <p:nvSpPr>
          <p:cNvPr id="87" name="Shape 85"/>
          <p:cNvSpPr/>
          <p:nvPr/>
        </p:nvSpPr>
        <p:spPr>
          <a:xfrm>
            <a:off x="8127797" y="1371600"/>
            <a:ext cx="3515258" cy="2791968"/>
          </a:xfrm>
          <a:prstGeom prst="roundRect">
            <a:avLst>
              <a:gd name="adj" fmla="val 3003"/>
            </a:avLst>
          </a:prstGeom>
          <a:solidFill>
            <a:srgbClr val="F4D9DC"/>
          </a:solidFill>
          <a:ln/>
        </p:spPr>
      </p:sp>
      <p:sp>
        <p:nvSpPr>
          <p:cNvPr id="88" name="Shape 86"/>
          <p:cNvSpPr/>
          <p:nvPr/>
        </p:nvSpPr>
        <p:spPr>
          <a:xfrm>
            <a:off x="8402117" y="1645920"/>
            <a:ext cx="548640" cy="548640"/>
          </a:xfrm>
          <a:prstGeom prst="ellipse">
            <a:avLst/>
          </a:prstGeom>
          <a:solidFill>
            <a:srgbClr val="3D68EC"/>
          </a:solidFill>
          <a:ln/>
        </p:spPr>
      </p:sp>
      <p:sp>
        <p:nvSpPr>
          <p:cNvPr id="89" name="Text 87"/>
          <p:cNvSpPr/>
          <p:nvPr/>
        </p:nvSpPr>
        <p:spPr>
          <a:xfrm>
            <a:off x="8402117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90" name="Shape 88"/>
          <p:cNvSpPr/>
          <p:nvPr/>
        </p:nvSpPr>
        <p:spPr>
          <a:xfrm>
            <a:off x="9087917" y="1719072"/>
            <a:ext cx="2280818" cy="402336"/>
          </a:xfrm>
          <a:prstGeom prst="roundRect">
            <a:avLst>
              <a:gd name="adj" fmla="val 113636"/>
            </a:avLst>
          </a:prstGeom>
          <a:solidFill>
            <a:srgbClr val="3D68EC"/>
          </a:solidFill>
          <a:ln/>
        </p:spPr>
      </p:sp>
      <p:sp>
        <p:nvSpPr>
          <p:cNvPr id="91" name="Text 89"/>
          <p:cNvSpPr/>
          <p:nvPr/>
        </p:nvSpPr>
        <p:spPr>
          <a:xfrm>
            <a:off x="9179357" y="1719072"/>
            <a:ext cx="20979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3 min</a:t>
            </a:r>
            <a:endParaRPr lang="en-US" sz="1200" dirty="0"/>
          </a:p>
        </p:txBody>
      </p:sp>
      <p:sp>
        <p:nvSpPr>
          <p:cNvPr id="92" name="Text 90"/>
          <p:cNvSpPr/>
          <p:nvPr/>
        </p:nvSpPr>
        <p:spPr>
          <a:xfrm>
            <a:off x="8402117" y="2423160"/>
            <a:ext cx="296661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Open vraag</a:t>
            </a:r>
            <a:endParaRPr lang="en-US" sz="2200" dirty="0"/>
          </a:p>
        </p:txBody>
      </p:sp>
      <p:sp>
        <p:nvSpPr>
          <p:cNvPr id="93" name="Text 91"/>
          <p:cNvSpPr/>
          <p:nvPr/>
        </p:nvSpPr>
        <p:spPr>
          <a:xfrm>
            <a:off x="8402117" y="3035808"/>
            <a:ext cx="2966618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Wat wil je precies leren in zo’n training? Kort en concreet, in je eigen woorden.</a:t>
            </a:r>
            <a:endParaRPr lang="en-US" sz="1500" dirty="0"/>
          </a:p>
        </p:txBody>
      </p:sp>
      <p:sp>
        <p:nvSpPr>
          <p:cNvPr id="94" name="Text 92"/>
          <p:cNvSpPr/>
          <p:nvPr/>
        </p:nvSpPr>
        <p:spPr>
          <a:xfrm>
            <a:off x="548640" y="434644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De antwoorden bepalen of en hoe CEDA een vervolg inricht.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296345" y="61518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11350574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" name="Shape 2"/>
          <p:cNvSpPr/>
          <p:nvPr/>
        </p:nvSpPr>
        <p:spPr>
          <a:xfrm>
            <a:off x="11350574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11296345" y="739648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11242116" y="70853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11242116" y="646303"/>
            <a:ext cx="53340" cy="5334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hape 6"/>
          <p:cNvSpPr/>
          <p:nvPr/>
        </p:nvSpPr>
        <p:spPr>
          <a:xfrm>
            <a:off x="11300790" y="56629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1368354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1411026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1" name="Shape 9"/>
          <p:cNvSpPr/>
          <p:nvPr/>
        </p:nvSpPr>
        <p:spPr>
          <a:xfrm>
            <a:off x="11411026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368354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00790" y="79743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33226" y="77520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190554" y="71742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1190554" y="646303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33226" y="588518"/>
            <a:ext cx="44450" cy="4445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1305235" y="51739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78133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7696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46970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2" name="Shape 20"/>
          <p:cNvSpPr/>
          <p:nvPr/>
        </p:nvSpPr>
        <p:spPr>
          <a:xfrm>
            <a:off x="1146970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Shape 21"/>
          <p:cNvSpPr/>
          <p:nvPr/>
        </p:nvSpPr>
        <p:spPr>
          <a:xfrm>
            <a:off x="11437696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11378133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5" name="Shape 23"/>
          <p:cNvSpPr/>
          <p:nvPr/>
        </p:nvSpPr>
        <p:spPr>
          <a:xfrm>
            <a:off x="11305235" y="855218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32337" y="838327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11172774" y="79121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11140770" y="72364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40770" y="648970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11172774" y="581406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1" name="Shape 29"/>
          <p:cNvSpPr/>
          <p:nvPr/>
        </p:nvSpPr>
        <p:spPr>
          <a:xfrm>
            <a:off x="11232337" y="534289"/>
            <a:ext cx="35560" cy="3556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08791" y="4676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5245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51920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501704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6" name="Shape 34"/>
          <p:cNvSpPr/>
          <p:nvPr/>
        </p:nvSpPr>
        <p:spPr>
          <a:xfrm>
            <a:off x="11527485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7" name="Shape 35"/>
          <p:cNvSpPr/>
          <p:nvPr/>
        </p:nvSpPr>
        <p:spPr>
          <a:xfrm>
            <a:off x="11527485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8" name="Shape 36"/>
          <p:cNvSpPr/>
          <p:nvPr/>
        </p:nvSpPr>
        <p:spPr>
          <a:xfrm>
            <a:off x="11501704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39" name="Shape 37"/>
          <p:cNvSpPr/>
          <p:nvPr/>
        </p:nvSpPr>
        <p:spPr>
          <a:xfrm>
            <a:off x="11451920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385245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1" name="Shape 39"/>
          <p:cNvSpPr/>
          <p:nvPr/>
        </p:nvSpPr>
        <p:spPr>
          <a:xfrm>
            <a:off x="11308791" y="912114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2" name="Shape 40"/>
          <p:cNvSpPr/>
          <p:nvPr/>
        </p:nvSpPr>
        <p:spPr>
          <a:xfrm>
            <a:off x="11232337" y="89877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3" name="Shape 41"/>
          <p:cNvSpPr/>
          <p:nvPr/>
        </p:nvSpPr>
        <p:spPr>
          <a:xfrm>
            <a:off x="11165662" y="860552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4" name="Shape 42"/>
          <p:cNvSpPr/>
          <p:nvPr/>
        </p:nvSpPr>
        <p:spPr>
          <a:xfrm>
            <a:off x="11115878" y="80098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5" name="Shape 43"/>
          <p:cNvSpPr/>
          <p:nvPr/>
        </p:nvSpPr>
        <p:spPr>
          <a:xfrm>
            <a:off x="11090097" y="728091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6" name="Shape 44"/>
          <p:cNvSpPr/>
          <p:nvPr/>
        </p:nvSpPr>
        <p:spPr>
          <a:xfrm>
            <a:off x="11090097" y="651637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115878" y="57873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65662" y="519176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49" name="Shape 47"/>
          <p:cNvSpPr/>
          <p:nvPr/>
        </p:nvSpPr>
        <p:spPr>
          <a:xfrm>
            <a:off x="11232337" y="480949"/>
            <a:ext cx="28448" cy="28448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0" name="Shape 48"/>
          <p:cNvSpPr/>
          <p:nvPr/>
        </p:nvSpPr>
        <p:spPr>
          <a:xfrm>
            <a:off x="11312347" y="41783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1" name="Shape 49"/>
          <p:cNvSpPr/>
          <p:nvPr/>
        </p:nvSpPr>
        <p:spPr>
          <a:xfrm>
            <a:off x="11389690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11461699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3" name="Shape 51"/>
          <p:cNvSpPr/>
          <p:nvPr/>
        </p:nvSpPr>
        <p:spPr>
          <a:xfrm>
            <a:off x="11520373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4" name="Shape 52"/>
          <p:cNvSpPr/>
          <p:nvPr/>
        </p:nvSpPr>
        <p:spPr>
          <a:xfrm>
            <a:off x="11563045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1585270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1585270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1563045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8" name="Shape 56"/>
          <p:cNvSpPr/>
          <p:nvPr/>
        </p:nvSpPr>
        <p:spPr>
          <a:xfrm>
            <a:off x="11520373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9" name="Shape 57"/>
          <p:cNvSpPr/>
          <p:nvPr/>
        </p:nvSpPr>
        <p:spPr>
          <a:xfrm>
            <a:off x="11461699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0" name="Shape 58"/>
          <p:cNvSpPr/>
          <p:nvPr/>
        </p:nvSpPr>
        <p:spPr>
          <a:xfrm>
            <a:off x="11389690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1" name="Shape 59"/>
          <p:cNvSpPr/>
          <p:nvPr/>
        </p:nvSpPr>
        <p:spPr>
          <a:xfrm>
            <a:off x="11312347" y="969010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2" name="Shape 60"/>
          <p:cNvSpPr/>
          <p:nvPr/>
        </p:nvSpPr>
        <p:spPr>
          <a:xfrm>
            <a:off x="11235004" y="9574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3" name="Shape 61"/>
          <p:cNvSpPr/>
          <p:nvPr/>
        </p:nvSpPr>
        <p:spPr>
          <a:xfrm>
            <a:off x="11162995" y="92544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4" name="Shape 62"/>
          <p:cNvSpPr/>
          <p:nvPr/>
        </p:nvSpPr>
        <p:spPr>
          <a:xfrm>
            <a:off x="11104321" y="8738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5" name="Shape 63"/>
          <p:cNvSpPr/>
          <p:nvPr/>
        </p:nvSpPr>
        <p:spPr>
          <a:xfrm>
            <a:off x="11061649" y="80810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6" name="Shape 64"/>
          <p:cNvSpPr/>
          <p:nvPr/>
        </p:nvSpPr>
        <p:spPr>
          <a:xfrm>
            <a:off x="11039424" y="732536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7" name="Shape 65"/>
          <p:cNvSpPr/>
          <p:nvPr/>
        </p:nvSpPr>
        <p:spPr>
          <a:xfrm>
            <a:off x="11039424" y="654304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8" name="Shape 66"/>
          <p:cNvSpPr/>
          <p:nvPr/>
        </p:nvSpPr>
        <p:spPr>
          <a:xfrm>
            <a:off x="11061649" y="578739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69" name="Shape 67"/>
          <p:cNvSpPr/>
          <p:nvPr/>
        </p:nvSpPr>
        <p:spPr>
          <a:xfrm>
            <a:off x="11104321" y="512953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0" name="Shape 68"/>
          <p:cNvSpPr/>
          <p:nvPr/>
        </p:nvSpPr>
        <p:spPr>
          <a:xfrm>
            <a:off x="11162995" y="461391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1" name="Shape 69"/>
          <p:cNvSpPr/>
          <p:nvPr/>
        </p:nvSpPr>
        <p:spPr>
          <a:xfrm>
            <a:off x="11235004" y="429387"/>
            <a:ext cx="21336" cy="21336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2" name="Text 7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Randvoorwaarden en risico’s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4415" cy="914400"/>
        </p:xfrm>
        <a:graphic>
          <a:graphicData uri="http://schemas.openxmlformats.org/drawingml/2006/table">
            <a:tbl>
              <a:tblPr/>
              <a:tblGrid>
                <a:gridCol w="4437766"/>
                <a:gridCol w="66566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Risico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4D9DC"/>
                          </a:solidFill>
                          <a:latin typeface="General Sans Semibold" pitchFamily="34" charset="0"/>
                          <a:ea typeface="General Sans Semibold" pitchFamily="34" charset="-122"/>
                          <a:cs typeface="General Sans Semibold" pitchFamily="34" charset="-120"/>
                        </a:rPr>
                        <a:t>Maatregel</a:t>
                      </a:r>
                      <a:endParaRPr lang="en-US" sz="1400" dirty="0">
                        <a:latin typeface="General Sans Semibold" charset="0"/>
                        <a:ea typeface="General Sans Semibold" charset="0"/>
                        <a:cs typeface="General Sans Semibold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68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Deelnemers zonder codeerervaring haken af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Iedereen werkt alleen via prompten; de voorbeeldprompt en de skills geven houvast.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De agent is niet deterministisch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Per ronde een checkpoint met het verwachte resultaat en minstens twee droge runs vooraf.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Skills uitdelen kost tijd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Skills staan klaar in de devcontainer en activeren met één commando (maximaal 1 minuut).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Responsible raakt ondergesneeuwd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De checks zitten verweven in beide skills, plus een korte checklist per ronde.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Data zonder patroon of kleine groepen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Vooraf controleren en zo nodig een patroon en enkele kleine groepen inbouwen.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E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Evaluatie loopt uit of krijgt weinig respons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General Sans" pitchFamily="34" charset="0"/>
                          <a:ea typeface="General Sans" pitchFamily="34" charset="-122"/>
                          <a:cs typeface="General Sans" pitchFamily="34" charset="-120"/>
                        </a:rPr>
                        <a:t>Vaste 8 minuten, peiling via QR-code, reflectie-skill als optie voor wie meer wil kwijt.</a:t>
                      </a:r>
                      <a:endParaRPr lang="en-US" sz="1400" dirty="0">
                        <a:latin typeface="General Sans" charset="0"/>
                        <a:ea typeface="General Sans" charset="0"/>
                        <a:cs typeface="General Sans" charset="0"/>
                      </a:endParaRPr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4D9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D9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Open punten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5120640" cy="129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000000"/>
                </a:solidFill>
                <a:latin typeface="Cooper Lt BT" pitchFamily="34" charset="0"/>
                <a:ea typeface="Cooper Lt BT" pitchFamily="34" charset="-122"/>
                <a:cs typeface="Cooper Lt BT" pitchFamily="34" charset="-120"/>
              </a:rPr>
              <a:t>Welke casus kiezen we?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0" y="1600200"/>
            <a:ext cx="5242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Nog te beslissen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0" y="2240280"/>
            <a:ext cx="5242255" cy="137160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0" y="2441448"/>
            <a:ext cx="1371600" cy="347472"/>
          </a:xfrm>
          <a:prstGeom prst="roundRect">
            <a:avLst>
              <a:gd name="adj" fmla="val 131579"/>
            </a:avLst>
          </a:prstGeom>
          <a:solidFill>
            <a:srgbClr val="F4D9DC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24414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Casus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675120" y="2880360"/>
            <a:ext cx="4693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Kies A, B of C: alle drie op het 1CHO-bestand.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242255" cy="1371600"/>
          </a:xfrm>
          <a:prstGeom prst="roundRect">
            <a:avLst>
              <a:gd name="adj" fmla="val 11111"/>
            </a:avLst>
          </a:prstGeom>
          <a:solidFill>
            <a:srgbClr val="00AF81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0" y="3950208"/>
            <a:ext cx="1371600" cy="347472"/>
          </a:xfrm>
          <a:prstGeom prst="roundRect">
            <a:avLst>
              <a:gd name="adj" fmla="val 131579"/>
            </a:avLst>
          </a:prstGeom>
          <a:solidFill>
            <a:srgbClr val="F4D9DC"/>
          </a:solidFill>
          <a:ln/>
        </p:spPr>
      </p:sp>
      <p:sp>
        <p:nvSpPr>
          <p:cNvPr id="11" name="Text 9"/>
          <p:cNvSpPr/>
          <p:nvPr/>
        </p:nvSpPr>
        <p:spPr>
          <a:xfrm>
            <a:off x="6766560" y="3950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0" y="4389120"/>
            <a:ext cx="4693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Dashboard-tool en peiling-tool nog kiezen.</a:t>
            </a:r>
            <a:endParaRPr lang="en-US" sz="1500" dirty="0"/>
          </a:p>
        </p:txBody>
      </p:sp>
      <p:pic>
        <p:nvPicPr>
          <p:cNvPr id="13" name="Image 0" descr="Npul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335" y="5120640"/>
            <a:ext cx="1188720" cy="11887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00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spc="300" kern="0" dirty="0">
                <a:solidFill>
                  <a:srgbClr val="DD784B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TOT SLOT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3D68E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Blijf in contact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286000" y="2880360"/>
            <a:ext cx="7619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</a:rPr>
              <a:t>Vragen, feedback of zin om mee te bouwen? We horen graag van je.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20928" y="3657600"/>
            <a:ext cx="3200400" cy="1234440"/>
          </a:xfrm>
          <a:prstGeom prst="roundRect">
            <a:avLst>
              <a:gd name="adj" fmla="val 1097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889608" y="3858768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3D68EC"/>
          </a:solidFill>
          <a:ln/>
        </p:spPr>
      </p:sp>
      <p:sp>
        <p:nvSpPr>
          <p:cNvPr id="7" name="Text 5"/>
          <p:cNvSpPr/>
          <p:nvPr/>
        </p:nvSpPr>
        <p:spPr>
          <a:xfrm>
            <a:off x="1981048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4D9DC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GitHub</a:t>
            </a:r>
            <a:endParaRPr lang="en-US" sz="1200" dirty="0"/>
          </a:p>
        </p:txBody>
      </p:sp>
      <p:sp>
        <p:nvSpPr>
          <p:cNvPr id="8" name="Text 6">
            <a:hlinkClick r:id="rId2" tooltip=""/>
          </p:cNvPr>
          <p:cNvSpPr/>
          <p:nvPr/>
        </p:nvSpPr>
        <p:spPr>
          <a:xfrm>
            <a:off x="1158088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github.com/cedanl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95648" y="3657600"/>
            <a:ext cx="3200400" cy="1234440"/>
          </a:xfrm>
          <a:prstGeom prst="roundRect">
            <a:avLst>
              <a:gd name="adj" fmla="val 1097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5364328" y="3858768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00AF81"/>
          </a:solidFill>
          <a:ln/>
        </p:spPr>
      </p:sp>
      <p:sp>
        <p:nvSpPr>
          <p:cNvPr id="11" name="Text 9"/>
          <p:cNvSpPr/>
          <p:nvPr/>
        </p:nvSpPr>
        <p:spPr>
          <a:xfrm>
            <a:off x="5455768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Community</a:t>
            </a:r>
            <a:endParaRPr lang="en-US" sz="1200" dirty="0"/>
          </a:p>
        </p:txBody>
      </p:sp>
      <p:sp>
        <p:nvSpPr>
          <p:cNvPr id="12" name="Text 10">
            <a:hlinkClick r:id="rId3" tooltip=""/>
          </p:cNvPr>
          <p:cNvSpPr/>
          <p:nvPr/>
        </p:nvSpPr>
        <p:spPr>
          <a:xfrm>
            <a:off x="4632808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community.npuls.nl/groups/data-ai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970368" y="3657600"/>
            <a:ext cx="3200400" cy="1234440"/>
          </a:xfrm>
          <a:prstGeom prst="roundRect">
            <a:avLst>
              <a:gd name="adj" fmla="val 10974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839048" y="3858768"/>
            <a:ext cx="1463040" cy="365760"/>
          </a:xfrm>
          <a:prstGeom prst="roundRect">
            <a:avLst>
              <a:gd name="adj" fmla="val 125000"/>
            </a:avLst>
          </a:prstGeom>
          <a:solidFill>
            <a:srgbClr val="DD784B"/>
          </a:solidFill>
          <a:ln/>
        </p:spPr>
      </p:sp>
      <p:sp>
        <p:nvSpPr>
          <p:cNvPr id="15" name="Text 13"/>
          <p:cNvSpPr/>
          <p:nvPr/>
        </p:nvSpPr>
        <p:spPr>
          <a:xfrm>
            <a:off x="8930488" y="38587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neral Sans Semibold" pitchFamily="34" charset="0"/>
                <a:ea typeface="General Sans Semibold" pitchFamily="34" charset="-122"/>
                <a:cs typeface="General Sans Semibold" pitchFamily="34" charset="-120"/>
              </a:rPr>
              <a:t>Email</a:t>
            </a:r>
            <a:endParaRPr lang="en-US" sz="1200" dirty="0"/>
          </a:p>
        </p:txBody>
      </p:sp>
      <p:sp>
        <p:nvSpPr>
          <p:cNvPr id="16" name="Text 14">
            <a:hlinkClick r:id="rId4" tooltip=""/>
          </p:cNvPr>
          <p:cNvSpPr/>
          <p:nvPr/>
        </p:nvSpPr>
        <p:spPr>
          <a:xfrm>
            <a:off x="8107528" y="437083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u="sng" dirty="0">
                <a:solidFill>
                  <a:srgbClr val="000000"/>
                </a:solidFill>
                <a:latin typeface="General Sans" pitchFamily="34" charset="0"/>
                <a:ea typeface="General Sans" pitchFamily="34" charset="-122"/>
                <a:cs typeface="General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ceda@surf.nl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neral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neral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Npuls · CEDA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data science in het onderwijs: workshop-voorstel</dc:title>
  <dc:subject>PptxGenJS Presentation</dc:subject>
  <dc:creator>CEDA</dc:creator>
  <cp:lastModifiedBy>CEDA</cp:lastModifiedBy>
  <cp:revision>1</cp:revision>
  <dcterms:created xsi:type="dcterms:W3CDTF">2026-10-05T12:19:36Z</dcterms:created>
  <dcterms:modified xsi:type="dcterms:W3CDTF">2026-10-05T12:19:36Z</dcterms:modified>
</cp:coreProperties>
</file>