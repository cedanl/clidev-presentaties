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01_0.xml" ContentType="application/vnd.ms-powerpoint.comments+xml"/>
  <Override PartName="/ppt/comments/modernComment_102_0.xml" ContentType="application/vnd.ms-powerpoint.comments+xml"/>
  <Override PartName="/ppt/comments/modernComment_103_0.xml" ContentType="application/vnd.ms-powerpoint.comments+xml"/>
  <Override PartName="/ppt/comments/modernComment_106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5"/>
    <p:sldId id="266" r:id="rId18"/>
    <p:sldId id="267" r:id="rId19"/>
    <p:sldId id="258" r:id="rId4"/>
    <p:sldId id="268" r:id="rId20"/>
    <p:sldId id="269" r:id="rId21"/>
    <p:sldId id="260" r:id="rId6"/>
    <p:sldId id="261" r:id="rId7"/>
    <p:sldId id="262" r:id="rId8"/>
    <p:sldId id="263" r:id="rId9"/>
    <p:sldId id="264" r:id="rId10"/>
    <p:sldId id="270" r:id="rId22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D11F7D-11EF-FF80-122A-4ACC359334A6}" name="Corneel den Hartogh" initials="CdH" userId="S::corneel.denhartogh@surf.nl::1aae7db1-df05-436d-8614-f8b2392b87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032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96" y="7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3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5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D8BBF2-EA91-4B45-93C7-3F4B05E0D141}" authorId="{B2D11F7D-11EF-FF80-122A-4ACC359334A6}" created="2026-10-01T11:51:07.2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picMk id="3" creationId="{00000000-0000-0000-0000-000000000000}"/>
    </ac:deMkLst>
    <p188:txBody>
      <a:bodyPr/>
      <a:lstStyle/>
      <a:p>
        <a:r>
          <a:rPr lang="en-US"/>
          <a:t>dit is niet het npuls logo?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9C64636-B86A-184C-9220-54B440722AE3}" authorId="{B2D11F7D-11EF-FF80-122A-4ACC359334A6}" created="2026-10-01T11:46:41.86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38" creationId="{00000000-0000-0000-0000-000000000000}"/>
      <ac:txMk cp="0" len="148">
        <ac:context len="149" hash="4285380498"/>
      </ac:txMk>
    </ac:txMkLst>
    <p188:pos x="9321501" y="523897"/>
    <p188:txBody>
      <a:bodyPr/>
      <a:lstStyle/>
      <a:p>
        <a:r>
          <a:rPr lang="en-US"/>
          <a:t>lichten we dit hier of later toe?</a:t>
        </a:r>
      </a:p>
    </p188:txBody>
  </p188:cm>
</p188:cmLst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A1C945-E1B9-EB4F-94EC-A09F280755A0}" authorId="{B2D11F7D-11EF-FF80-122A-4ACC359334A6}" created="2026-10-01T11:57:19.25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2" creationId="{00000000-0000-0000-0000-000000000000}"/>
      <ac:txMk cp="0" len="21">
        <ac:context len="22" hash="3241130774"/>
      </ac:txMk>
    </ac:txMkLst>
    <p188:pos x="5058784" y="570155"/>
    <p188:txBody>
      <a:bodyPr/>
      <a:lstStyle/>
      <a:p>
        <a:r>
          <a:rPr lang="en-US"/>
          <a:t>9 onderdelen in 90 minuten waarvan 3 rondes lijkt me een uitdaging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CE28DA-C453-2348-AE7B-90B132219FCC}" authorId="{B2D11F7D-11EF-FF80-122A-4ACC359334A6}" created="2026-10-01T11:49:37.7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10" creationId="{00000000-0000-0000-0000-000000000000}"/>
      <ac:txMk cp="0" len="10">
        <ac:context len="136" hash="3309166040"/>
      </ac:txMk>
    </ac:txMkLst>
    <p188:pos x="763793" y="793376"/>
    <p188:txBody>
      <a:bodyPr/>
      <a:lstStyle/>
      <a:p>
        <a:r>
          <a:rPr lang="en-US"/>
          <a:t>wablief?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1001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Synthetische data (±7 min)</a:t>
            </a:r>
          </a:p>
          <a:p>
            <a:r>
              <a:t>- Wat: data die gegenereerd is naar het patroon van een echt bestand. Zelfde kolommen, codes en verdelingen, geen echte personen.</a:t>
            </a:r>
          </a:p>
          <a:p>
            <a:r>
              <a:t>- Waarom: we willen met een AI-agent werken zonder privacyrisico. Echte 1CHO-data mag niet zomaar een taalmodel in.</a:t>
            </a:r>
          </a:p>
          <a:p>
            <a:r>
              <a:t>- Ingebouwd: een patroon om te vinden en kleine groepen om te blokkeren (privacy-drempel, verweven in beide skills).</a:t>
            </a:r>
          </a:p>
          <a:p>
            <a:r>
              <a:t>- Grens: conclusies over de echte wereld trek je hier niet. Voor echte data: het CEDA-pakket eencijferho.</a:t>
            </a:r>
          </a:p>
          <a:p>
            <a:r>
              <a:t>- Vraag aan de zaal: wie werkt al met synthetische data, en waarvoor?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 opdracht (±7 min, samen met de casusslide)</a:t>
            </a:r>
          </a:p>
          <a:p>
            <a:r>
              <a:t>- Eén casusvraag, twee rondes, één dashboard.</a:t>
            </a:r>
          </a:p>
          <a:p>
            <a:r>
              <a:t>- Tweetallen: de bestuurder prompt, de navigator controleert wat de agent doet. Wissel na ronde 1.</a:t>
            </a:r>
          </a:p>
          <a:p>
            <a:r>
              <a:t>- Na elke ronde een spiegelmoment: 2-3 tweetallen laten zien wat ze deden, daarna laten we zien wat de skill in één instructie doet.</a:t>
            </a:r>
          </a:p>
          <a:p>
            <a:r>
              <a:t>- Eindproduct: een dashboard dat de vraag beantwoordt én de responsible-checks doorstaat.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 is een skill? (±4 min)</a:t>
            </a:r>
          </a:p>
          <a:p>
            <a:r>
              <a:t>- Prompt: wat je nu al doet. Prima voor eenmalig werk, maar niet herhaalbaar.</a:t>
            </a:r>
          </a:p>
          <a:p>
            <a:r>
              <a:t>- Skill: een map met een SKILL.md. Bovenaan staat wanneer de skill van toepassing is, daaronder de stappen, voorbeelden, scripts en checks.</a:t>
            </a:r>
          </a:p>
          <a:p>
            <a:r>
              <a:t>- De agent leest alleen de korte beschrijving, en laadt de rest pas als de taak erom vraagt. Je kunt er dus veel hebben zonder dat het traag wordt.</a:t>
            </a:r>
          </a:p>
          <a:p>
            <a:r>
              <a:t>- Laat eventueel live een SKILL.md uit de devcontainer zien: het is gewoon Markdown.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Verkooppraatje skills en prompts (±6 min)</a:t>
            </a:r>
          </a:p>
          <a:p>
            <a:r>
              <a:t>- Herkenbaar: je schrijft een goede prompt, het werkt, en een week later typ je hem opnieuw (en net iets anders).</a:t>
            </a:r>
          </a:p>
          <a:p>
            <a:r>
              <a:t>- Een skill legt jouw vakkennis vast: definities uit het codebook, de n&lt;5-drempel, de huisstijl. De agent past ze elke keer toe, ook als je het zelf vergeet.</a:t>
            </a:r>
          </a:p>
          <a:p>
            <a:r>
              <a:t>- Transparant: geen black box. Je leest de skill, je past hem aan, je ziet in de code wat de agent ermee deed.</a:t>
            </a:r>
          </a:p>
          <a:p>
            <a:r>
              <a:t>- Deelbaar: een collega kloont de repo en heeft dezelfde werkwijze. Kennis van één analist wordt teamkennis.</a:t>
            </a:r>
          </a:p>
          <a:p>
            <a:r>
              <a:t>- Goedkoop: het zijn tekstbestanden, geen licentie of platform.</a:t>
            </a:r>
          </a:p>
          <a:p>
            <a:r>
              <a:t>- Brug naar de rondes: na elke ronde laten we de skill draaien. Vergelijk zelf: jouw 20 minuten tegenover één instructie.</a:t>
            </a:r>
          </a:p>
          <a:p>
            <a:r>
              <a:t>- Afsluitende oproep: welke prompt typ jij steeds opnieuw? Dat is je eerste skill.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Evaluatie en afsluiting (16 min, één blok). Vraag eerst toestemming: de antwoorden zijn anoniem en dienen om te bepalen of er een vervolg komt. Terugblik (4 min) via de reflectie-skill of de peiling; meerkeuzevraag (2 min); open vraag (4 min); daarna de afsluiting (6 min). Formulering: workshop-rad/skills/workshop-reflectie/references/vragenset.md.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microsoft.com/office/2018/10/relationships/comments" Target="../comments/modernComment_103_0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102_0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85800" cy="685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63040" y="621792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1"/>
          <p:cNvSpPr txBox="1"/>
          <p:nvPr/>
        </p:nvSpPr>
        <p:spPr>
          <a:xfrm>
            <a:off x="1463040" y="621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CEDA · DAIR-bijeenkomst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73736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Agentic data science in het onderwijs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Workshop-voorstel: korte rondes met spiegelen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 minuten · één casus · één dashboard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74920"/>
            <a:ext cx="3840480" cy="19202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595360" y="2560320"/>
            <a:ext cx="0" cy="64008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8138160" y="1645920"/>
            <a:ext cx="914400" cy="91440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813816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3268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exploratie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8138160" y="3200400"/>
            <a:ext cx="914400" cy="91440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813816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 bouwen</a:t>
            </a:r>
            <a:endParaRPr lang="en-US" sz="2000" dirty="0"/>
          </a:p>
        </p:txBody>
      </p:sp>
      <p:sp>
        <p:nvSpPr>
          <p:cNvPr id="17" name="Text 16"/>
          <p:cNvSpPr txBox="1"/>
          <p:nvPr/>
        </p:nvSpPr>
        <p:spPr>
          <a:xfrm>
            <a:off x="8503920" y="6172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Onderwijs bewegen.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casus, één dashboard, twee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geen black box maar een transparante junior-analist. De agent versnelt het handwerk, de deelnemers houden de regie.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minuten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workshop, tien blokken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exploreren en bouwen, allebei verantwoord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spiegelmomenten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 met een skill die de stap ervoor doet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beantwoord met één dashboard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Wow-moment: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elke ronde een zichtbare sprong. De skill doet de vorige stap in één instructie, gespiegeld aan de groep ernaast.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validatie tegen de werkelijkheid gebeurt niet tijdens de workshop. Dat vraagt echte data, buiten de devcontainer.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EAEA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Programma: 120 minuten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188720"/>
            <a:ext cx="445008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548640" y="1188720"/>
            <a:ext cx="44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7" name="Shape 1"/>
          <p:cNvSpPr/>
          <p:nvPr/>
        </p:nvSpPr>
        <p:spPr>
          <a:xfrm>
            <a:off x="1039368" y="1188720"/>
            <a:ext cx="534009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2"/>
          <p:cNvSpPr txBox="1"/>
          <p:nvPr/>
        </p:nvSpPr>
        <p:spPr>
          <a:xfrm>
            <a:off x="1039368" y="1188720"/>
            <a:ext cx="5340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9" name="Shape 1"/>
          <p:cNvSpPr/>
          <p:nvPr/>
        </p:nvSpPr>
        <p:spPr>
          <a:xfrm>
            <a:off x="1619097" y="1188720"/>
            <a:ext cx="534009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2"/>
          <p:cNvSpPr txBox="1"/>
          <p:nvPr/>
        </p:nvSpPr>
        <p:spPr>
          <a:xfrm>
            <a:off x="1619097" y="1188720"/>
            <a:ext cx="5340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11" name="Shape 1"/>
          <p:cNvSpPr/>
          <p:nvPr/>
        </p:nvSpPr>
        <p:spPr>
          <a:xfrm>
            <a:off x="2198827" y="1188720"/>
            <a:ext cx="712012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2"/>
          <p:cNvSpPr txBox="1"/>
          <p:nvPr/>
        </p:nvSpPr>
        <p:spPr>
          <a:xfrm>
            <a:off x="2198827" y="1188720"/>
            <a:ext cx="7120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000" dirty="0"/>
          </a:p>
        </p:txBody>
      </p:sp>
      <p:sp>
        <p:nvSpPr>
          <p:cNvPr id="13" name="Shape 1"/>
          <p:cNvSpPr/>
          <p:nvPr/>
        </p:nvSpPr>
        <p:spPr>
          <a:xfrm>
            <a:off x="2956560" y="1188720"/>
            <a:ext cx="445008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2"/>
          <p:cNvSpPr txBox="1"/>
          <p:nvPr/>
        </p:nvSpPr>
        <p:spPr>
          <a:xfrm>
            <a:off x="2956560" y="1188720"/>
            <a:ext cx="44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3447288" y="1188720"/>
            <a:ext cx="1958035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6"/>
          <p:cNvSpPr txBox="1"/>
          <p:nvPr/>
        </p:nvSpPr>
        <p:spPr>
          <a:xfrm>
            <a:off x="3447288" y="1188720"/>
            <a:ext cx="1958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17" name="Shape 7"/>
          <p:cNvSpPr/>
          <p:nvPr/>
        </p:nvSpPr>
        <p:spPr>
          <a:xfrm>
            <a:off x="5451043" y="118872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8"/>
          <p:cNvSpPr txBox="1"/>
          <p:nvPr/>
        </p:nvSpPr>
        <p:spPr>
          <a:xfrm>
            <a:off x="5451043" y="118872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19" name="Shape 5"/>
          <p:cNvSpPr/>
          <p:nvPr/>
        </p:nvSpPr>
        <p:spPr>
          <a:xfrm>
            <a:off x="6831787" y="1188720"/>
            <a:ext cx="1958035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6"/>
          <p:cNvSpPr txBox="1"/>
          <p:nvPr/>
        </p:nvSpPr>
        <p:spPr>
          <a:xfrm>
            <a:off x="6831787" y="1188720"/>
            <a:ext cx="1958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21" name="Shape 7"/>
          <p:cNvSpPr/>
          <p:nvPr/>
        </p:nvSpPr>
        <p:spPr>
          <a:xfrm>
            <a:off x="8835542" y="118872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8"/>
          <p:cNvSpPr txBox="1"/>
          <p:nvPr/>
        </p:nvSpPr>
        <p:spPr>
          <a:xfrm>
            <a:off x="8835542" y="118872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10216286" y="1188720"/>
            <a:ext cx="1424025" cy="310896"/>
          </a:xfrm>
          <a:prstGeom prst="roundRect">
            <a:avLst>
              <a:gd name="adj" fmla="val 23529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18"/>
          <p:cNvSpPr txBox="1"/>
          <p:nvPr/>
        </p:nvSpPr>
        <p:spPr>
          <a:xfrm>
            <a:off x="10216286" y="1188720"/>
            <a:ext cx="14240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16 min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48640" y="169164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0"/>
          <p:cNvSpPr/>
          <p:nvPr/>
        </p:nvSpPr>
        <p:spPr>
          <a:xfrm>
            <a:off x="640080" y="1737360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1"/>
          <p:cNvSpPr txBox="1"/>
          <p:nvPr/>
        </p:nvSpPr>
        <p:spPr>
          <a:xfrm>
            <a:off x="64008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109728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783080" y="1691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Intro (CEDA)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61772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303520" y="169164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agentic data science, en wat gaan we doen?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548640" y="211226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3" name="Shape 20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21"/>
          <p:cNvSpPr txBox="1"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22"/>
          <p:cNvSpPr txBox="1"/>
          <p:nvPr/>
        </p:nvSpPr>
        <p:spPr>
          <a:xfrm>
            <a:off x="1097280" y="21122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0:05</a:t>
            </a:r>
            <a:endParaRPr lang="en-US" sz="1200" dirty="0"/>
          </a:p>
        </p:txBody>
      </p:sp>
      <p:sp>
        <p:nvSpPr>
          <p:cNvPr id="36" name="Text 23"/>
          <p:cNvSpPr txBox="1"/>
          <p:nvPr/>
        </p:nvSpPr>
        <p:spPr>
          <a:xfrm>
            <a:off x="1783080" y="21122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Synthetische data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4617720" y="21122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5303520" y="2112264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het, waarom gebruiken we het, wat kun je er (niet) mee?</a:t>
            </a:r>
            <a:endParaRPr lang="en-US" sz="1100" dirty="0"/>
          </a:p>
        </p:txBody>
      </p:sp>
      <p:sp>
        <p:nvSpPr>
          <p:cNvPr id="39" name="Shape 19"/>
          <p:cNvSpPr/>
          <p:nvPr/>
        </p:nvSpPr>
        <p:spPr>
          <a:xfrm>
            <a:off x="548640" y="253288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0" name="Shape 20"/>
          <p:cNvSpPr/>
          <p:nvPr/>
        </p:nvSpPr>
        <p:spPr>
          <a:xfrm>
            <a:off x="640080" y="2578608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1" name="Text 21"/>
          <p:cNvSpPr txBox="1"/>
          <p:nvPr/>
        </p:nvSpPr>
        <p:spPr>
          <a:xfrm>
            <a:off x="640080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22"/>
          <p:cNvSpPr txBox="1"/>
          <p:nvPr/>
        </p:nvSpPr>
        <p:spPr>
          <a:xfrm>
            <a:off x="1097280" y="2532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0:11</a:t>
            </a:r>
            <a:endParaRPr lang="en-US" sz="1200" dirty="0"/>
          </a:p>
        </p:txBody>
      </p:sp>
      <p:sp>
        <p:nvSpPr>
          <p:cNvPr id="43" name="Text 23"/>
          <p:cNvSpPr txBox="1"/>
          <p:nvPr/>
        </p:nvSpPr>
        <p:spPr>
          <a:xfrm>
            <a:off x="1783080" y="25328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 en casus</a:t>
            </a:r>
            <a:endParaRPr lang="en-US" sz="1300" dirty="0"/>
          </a:p>
        </p:txBody>
      </p:sp>
      <p:sp>
        <p:nvSpPr>
          <p:cNvPr id="44" name="Text 24"/>
          <p:cNvSpPr txBox="1"/>
          <p:nvPr/>
        </p:nvSpPr>
        <p:spPr>
          <a:xfrm>
            <a:off x="4617720" y="2532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45" name="Text 25"/>
          <p:cNvSpPr txBox="1"/>
          <p:nvPr/>
        </p:nvSpPr>
        <p:spPr>
          <a:xfrm>
            <a:off x="5303520" y="253288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Casusvraag, werken in tweetallen en het eindproduct</a:t>
            </a:r>
            <a:endParaRPr lang="en-US" sz="1100" dirty="0"/>
          </a:p>
        </p:txBody>
      </p:sp>
      <p:sp>
        <p:nvSpPr>
          <p:cNvPr id="46" name="Shape 19"/>
          <p:cNvSpPr/>
          <p:nvPr/>
        </p:nvSpPr>
        <p:spPr>
          <a:xfrm>
            <a:off x="548640" y="295351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7" name="Shape 20"/>
          <p:cNvSpPr/>
          <p:nvPr/>
        </p:nvSpPr>
        <p:spPr>
          <a:xfrm>
            <a:off x="640080" y="2999232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8" name="Text 21"/>
          <p:cNvSpPr txBox="1"/>
          <p:nvPr/>
        </p:nvSpPr>
        <p:spPr>
          <a:xfrm>
            <a:off x="640080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22"/>
          <p:cNvSpPr txBox="1"/>
          <p:nvPr/>
        </p:nvSpPr>
        <p:spPr>
          <a:xfrm>
            <a:off x="1097280" y="29535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0:17</a:t>
            </a:r>
            <a:endParaRPr lang="en-US" sz="1200" dirty="0"/>
          </a:p>
        </p:txBody>
      </p:sp>
      <p:sp>
        <p:nvSpPr>
          <p:cNvPr id="50" name="Text 23"/>
          <p:cNvSpPr txBox="1"/>
          <p:nvPr/>
        </p:nvSpPr>
        <p:spPr>
          <a:xfrm>
            <a:off x="1783080" y="2953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prompts</a:t>
            </a:r>
            <a:endParaRPr lang="en-US" sz="1300" dirty="0"/>
          </a:p>
        </p:txBody>
      </p:sp>
      <p:sp>
        <p:nvSpPr>
          <p:cNvPr id="51" name="Text 24"/>
          <p:cNvSpPr txBox="1"/>
          <p:nvPr/>
        </p:nvSpPr>
        <p:spPr>
          <a:xfrm>
            <a:off x="4617720" y="29535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200" dirty="0"/>
          </a:p>
        </p:txBody>
      </p:sp>
      <p:sp>
        <p:nvSpPr>
          <p:cNvPr id="52" name="Text 25"/>
          <p:cNvSpPr txBox="1"/>
          <p:nvPr/>
        </p:nvSpPr>
        <p:spPr>
          <a:xfrm>
            <a:off x="5303520" y="2953512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skill, en waarom loont het om er één te maken?</a:t>
            </a:r>
            <a:endParaRPr lang="en-US" sz="1100" dirty="0"/>
          </a:p>
        </p:txBody>
      </p:sp>
      <p:sp>
        <p:nvSpPr>
          <p:cNvPr id="53" name="Shape 19"/>
          <p:cNvSpPr/>
          <p:nvPr/>
        </p:nvSpPr>
        <p:spPr>
          <a:xfrm>
            <a:off x="548640" y="337413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4" name="Shape 20"/>
          <p:cNvSpPr/>
          <p:nvPr/>
        </p:nvSpPr>
        <p:spPr>
          <a:xfrm>
            <a:off x="640080" y="3419856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5" name="Text 21"/>
          <p:cNvSpPr txBox="1"/>
          <p:nvPr/>
        </p:nvSpPr>
        <p:spPr>
          <a:xfrm>
            <a:off x="640080" y="3419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2"/>
          <p:cNvSpPr txBox="1"/>
          <p:nvPr/>
        </p:nvSpPr>
        <p:spPr>
          <a:xfrm>
            <a:off x="1097280" y="33741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0:25</a:t>
            </a:r>
            <a:endParaRPr lang="en-US" sz="1200" dirty="0"/>
          </a:p>
        </p:txBody>
      </p:sp>
      <p:sp>
        <p:nvSpPr>
          <p:cNvPr id="57" name="Text 23"/>
          <p:cNvSpPr txBox="1"/>
          <p:nvPr/>
        </p:nvSpPr>
        <p:spPr>
          <a:xfrm>
            <a:off x="1783080" y="33741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Devcontainer + voorbeeldprompt</a:t>
            </a:r>
            <a:endParaRPr lang="en-US" sz="1300" dirty="0"/>
          </a:p>
        </p:txBody>
      </p:sp>
      <p:sp>
        <p:nvSpPr>
          <p:cNvPr id="58" name="Text 24"/>
          <p:cNvSpPr txBox="1"/>
          <p:nvPr/>
        </p:nvSpPr>
        <p:spPr>
          <a:xfrm>
            <a:off x="4617720" y="33741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59" name="Text 25"/>
          <p:cNvSpPr txBox="1"/>
          <p:nvPr/>
        </p:nvSpPr>
        <p:spPr>
          <a:xfrm>
            <a:off x="5303520" y="337413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Kijk hoe je de agent aanspreekt</a:t>
            </a:r>
            <a:endParaRPr lang="en-US" sz="1100" dirty="0"/>
          </a:p>
        </p:txBody>
      </p:sp>
      <p:sp>
        <p:nvSpPr>
          <p:cNvPr id="60" name="Shape 33"/>
          <p:cNvSpPr/>
          <p:nvPr/>
        </p:nvSpPr>
        <p:spPr>
          <a:xfrm>
            <a:off x="548640" y="379476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1" name="Shape 34"/>
          <p:cNvSpPr/>
          <p:nvPr/>
        </p:nvSpPr>
        <p:spPr>
          <a:xfrm>
            <a:off x="640080" y="3840480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2" name="Text 35"/>
          <p:cNvSpPr txBox="1"/>
          <p:nvPr/>
        </p:nvSpPr>
        <p:spPr>
          <a:xfrm>
            <a:off x="64008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Text 36"/>
          <p:cNvSpPr txBox="1"/>
          <p:nvPr/>
        </p:nvSpPr>
        <p:spPr>
          <a:xfrm>
            <a:off x="1097280" y="3794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0:30</a:t>
            </a:r>
            <a:endParaRPr lang="en-US" sz="1200" dirty="0"/>
          </a:p>
        </p:txBody>
      </p:sp>
      <p:sp>
        <p:nvSpPr>
          <p:cNvPr id="64" name="Text 37"/>
          <p:cNvSpPr txBox="1"/>
          <p:nvPr/>
        </p:nvSpPr>
        <p:spPr>
          <a:xfrm>
            <a:off x="1783080" y="37947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1300" dirty="0"/>
          </a:p>
        </p:txBody>
      </p:sp>
      <p:sp>
        <p:nvSpPr>
          <p:cNvPr id="65" name="Text 38"/>
          <p:cNvSpPr txBox="1"/>
          <p:nvPr/>
        </p:nvSpPr>
        <p:spPr>
          <a:xfrm>
            <a:off x="4617720" y="3794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66" name="Text 39"/>
          <p:cNvSpPr txBox="1"/>
          <p:nvPr/>
        </p:nvSpPr>
        <p:spPr>
          <a:xfrm>
            <a:off x="5303520" y="379476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Verken data en codebook, check kleine groepen en definities</a:t>
            </a:r>
            <a:endParaRPr lang="en-US" sz="1100" dirty="0"/>
          </a:p>
        </p:txBody>
      </p:sp>
      <p:sp>
        <p:nvSpPr>
          <p:cNvPr id="67" name="Shape 40"/>
          <p:cNvSpPr/>
          <p:nvPr/>
        </p:nvSpPr>
        <p:spPr>
          <a:xfrm>
            <a:off x="548640" y="421538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8" name="Shape 41"/>
          <p:cNvSpPr/>
          <p:nvPr/>
        </p:nvSpPr>
        <p:spPr>
          <a:xfrm>
            <a:off x="640080" y="4261104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9" name="Text 42"/>
          <p:cNvSpPr txBox="1"/>
          <p:nvPr/>
        </p:nvSpPr>
        <p:spPr>
          <a:xfrm>
            <a:off x="640080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</a:t>
            </a:r>
            <a:endParaRPr lang="en-US" sz="1100" dirty="0"/>
          </a:p>
        </p:txBody>
      </p:sp>
      <p:sp>
        <p:nvSpPr>
          <p:cNvPr id="70" name="Text 43"/>
          <p:cNvSpPr txBox="1"/>
          <p:nvPr/>
        </p:nvSpPr>
        <p:spPr>
          <a:xfrm>
            <a:off x="1097280" y="42153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0:52</a:t>
            </a:r>
            <a:endParaRPr lang="en-US" sz="1200" dirty="0"/>
          </a:p>
        </p:txBody>
      </p:sp>
      <p:sp>
        <p:nvSpPr>
          <p:cNvPr id="71" name="Text 44"/>
          <p:cNvSpPr txBox="1"/>
          <p:nvPr/>
        </p:nvSpPr>
        <p:spPr>
          <a:xfrm>
            <a:off x="1783080" y="42153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1</a:t>
            </a:r>
            <a:endParaRPr lang="en-US" sz="1300" dirty="0"/>
          </a:p>
        </p:txBody>
      </p:sp>
      <p:sp>
        <p:nvSpPr>
          <p:cNvPr id="72" name="Text 45"/>
          <p:cNvSpPr txBox="1"/>
          <p:nvPr/>
        </p:nvSpPr>
        <p:spPr>
          <a:xfrm>
            <a:off x="4617720" y="42153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73" name="Text 46"/>
          <p:cNvSpPr txBox="1"/>
          <p:nvPr/>
        </p:nvSpPr>
        <p:spPr>
          <a:xfrm>
            <a:off x="5303520" y="42153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Bespreek de skill: wat zit erin, wat deed jij anders?</a:t>
            </a:r>
            <a:endParaRPr lang="en-US" sz="1100" dirty="0"/>
          </a:p>
        </p:txBody>
      </p:sp>
      <p:sp>
        <p:nvSpPr>
          <p:cNvPr id="74" name="Shape 47"/>
          <p:cNvSpPr/>
          <p:nvPr/>
        </p:nvSpPr>
        <p:spPr>
          <a:xfrm>
            <a:off x="9646920" y="4274820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5" name="Text 48"/>
          <p:cNvSpPr txBox="1"/>
          <p:nvPr/>
        </p:nvSpPr>
        <p:spPr>
          <a:xfrm>
            <a:off x="9646920" y="4274820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 doet ronde 1</a:t>
            </a:r>
            <a:endParaRPr lang="en-US" sz="1000" dirty="0"/>
          </a:p>
        </p:txBody>
      </p:sp>
      <p:sp>
        <p:nvSpPr>
          <p:cNvPr id="76" name="Shape 33"/>
          <p:cNvSpPr/>
          <p:nvPr/>
        </p:nvSpPr>
        <p:spPr>
          <a:xfrm>
            <a:off x="548640" y="463600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7" name="Shape 34"/>
          <p:cNvSpPr/>
          <p:nvPr/>
        </p:nvSpPr>
        <p:spPr>
          <a:xfrm>
            <a:off x="640080" y="4681728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8" name="Text 35"/>
          <p:cNvSpPr txBox="1"/>
          <p:nvPr/>
        </p:nvSpPr>
        <p:spPr>
          <a:xfrm>
            <a:off x="640080" y="4681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</a:t>
            </a:r>
            <a:endParaRPr lang="en-US" sz="1100" dirty="0"/>
          </a:p>
        </p:txBody>
      </p:sp>
      <p:sp>
        <p:nvSpPr>
          <p:cNvPr id="79" name="Text 36"/>
          <p:cNvSpPr txBox="1"/>
          <p:nvPr/>
        </p:nvSpPr>
        <p:spPr>
          <a:xfrm>
            <a:off x="1097280" y="46360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1:07</a:t>
            </a:r>
            <a:endParaRPr lang="en-US" sz="1200" dirty="0"/>
          </a:p>
        </p:txBody>
      </p:sp>
      <p:sp>
        <p:nvSpPr>
          <p:cNvPr id="80" name="Text 37"/>
          <p:cNvSpPr txBox="1"/>
          <p:nvPr/>
        </p:nvSpPr>
        <p:spPr>
          <a:xfrm>
            <a:off x="17830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1300" dirty="0"/>
          </a:p>
        </p:txBody>
      </p:sp>
      <p:sp>
        <p:nvSpPr>
          <p:cNvPr id="81" name="Text 38"/>
          <p:cNvSpPr txBox="1"/>
          <p:nvPr/>
        </p:nvSpPr>
        <p:spPr>
          <a:xfrm>
            <a:off x="4617720" y="46360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82" name="Text 39"/>
          <p:cNvSpPr txBox="1"/>
          <p:nvPr/>
        </p:nvSpPr>
        <p:spPr>
          <a:xfrm>
            <a:off x="5303520" y="463600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het dashboard met eerlijke framing en toegankelijke grafieken</a:t>
            </a:r>
            <a:endParaRPr lang="en-US" sz="1100" dirty="0"/>
          </a:p>
        </p:txBody>
      </p:sp>
      <p:sp>
        <p:nvSpPr>
          <p:cNvPr id="83" name="Shape 40"/>
          <p:cNvSpPr/>
          <p:nvPr/>
        </p:nvSpPr>
        <p:spPr>
          <a:xfrm>
            <a:off x="548640" y="505663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4" name="Shape 41"/>
          <p:cNvSpPr/>
          <p:nvPr/>
        </p:nvSpPr>
        <p:spPr>
          <a:xfrm>
            <a:off x="640080" y="5102352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5" name="Text 42"/>
          <p:cNvSpPr txBox="1"/>
          <p:nvPr/>
        </p:nvSpPr>
        <p:spPr>
          <a:xfrm>
            <a:off x="640080" y="5102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9</a:t>
            </a:r>
            <a:endParaRPr lang="en-US" sz="1100" dirty="0"/>
          </a:p>
        </p:txBody>
      </p:sp>
      <p:sp>
        <p:nvSpPr>
          <p:cNvPr id="86" name="Text 43"/>
          <p:cNvSpPr txBox="1"/>
          <p:nvPr/>
        </p:nvSpPr>
        <p:spPr>
          <a:xfrm>
            <a:off x="1097280" y="50566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1:29</a:t>
            </a:r>
            <a:endParaRPr lang="en-US" sz="1200" dirty="0"/>
          </a:p>
        </p:txBody>
      </p:sp>
      <p:sp>
        <p:nvSpPr>
          <p:cNvPr id="87" name="Text 44"/>
          <p:cNvSpPr txBox="1"/>
          <p:nvPr/>
        </p:nvSpPr>
        <p:spPr>
          <a:xfrm>
            <a:off x="1783080" y="505663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2</a:t>
            </a:r>
            <a:endParaRPr lang="en-US" sz="1300" dirty="0"/>
          </a:p>
        </p:txBody>
      </p:sp>
      <p:sp>
        <p:nvSpPr>
          <p:cNvPr id="88" name="Text 45"/>
          <p:cNvSpPr txBox="1"/>
          <p:nvPr/>
        </p:nvSpPr>
        <p:spPr>
          <a:xfrm>
            <a:off x="4617720" y="50566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89" name="Text 46"/>
          <p:cNvSpPr txBox="1"/>
          <p:nvPr/>
        </p:nvSpPr>
        <p:spPr>
          <a:xfrm>
            <a:off x="5303520" y="505663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Bespreek de skill: wat zit erin, wat miste je dashboard?</a:t>
            </a:r>
            <a:endParaRPr lang="en-US" sz="1100" dirty="0"/>
          </a:p>
        </p:txBody>
      </p:sp>
      <p:sp>
        <p:nvSpPr>
          <p:cNvPr id="90" name="Shape 47"/>
          <p:cNvSpPr/>
          <p:nvPr/>
        </p:nvSpPr>
        <p:spPr>
          <a:xfrm>
            <a:off x="9646920" y="5116068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1" name="Text 48"/>
          <p:cNvSpPr txBox="1"/>
          <p:nvPr/>
        </p:nvSpPr>
        <p:spPr>
          <a:xfrm>
            <a:off x="9646920" y="5116068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 doet ronde 2</a:t>
            </a:r>
            <a:endParaRPr lang="en-US" sz="1000" dirty="0"/>
          </a:p>
        </p:txBody>
      </p:sp>
      <p:sp>
        <p:nvSpPr>
          <p:cNvPr id="92" name="Shape 81"/>
          <p:cNvSpPr/>
          <p:nvPr/>
        </p:nvSpPr>
        <p:spPr>
          <a:xfrm>
            <a:off x="548640" y="547725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3" name="Shape 82"/>
          <p:cNvSpPr/>
          <p:nvPr/>
        </p:nvSpPr>
        <p:spPr>
          <a:xfrm>
            <a:off x="640080" y="5522976"/>
            <a:ext cx="292608" cy="292608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4" name="Text 83"/>
          <p:cNvSpPr txBox="1"/>
          <p:nvPr/>
        </p:nvSpPr>
        <p:spPr>
          <a:xfrm>
            <a:off x="64008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10</a:t>
            </a:r>
            <a:endParaRPr lang="en-US" sz="1100" dirty="0"/>
          </a:p>
        </p:txBody>
      </p:sp>
      <p:sp>
        <p:nvSpPr>
          <p:cNvPr id="95" name="Text 84"/>
          <p:cNvSpPr txBox="1"/>
          <p:nvPr/>
        </p:nvSpPr>
        <p:spPr>
          <a:xfrm>
            <a:off x="1097280" y="54772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1:44</a:t>
            </a:r>
            <a:endParaRPr lang="en-US" sz="1200" dirty="0"/>
          </a:p>
        </p:txBody>
      </p:sp>
      <p:sp>
        <p:nvSpPr>
          <p:cNvPr id="96" name="Text 85"/>
          <p:cNvSpPr txBox="1"/>
          <p:nvPr/>
        </p:nvSpPr>
        <p:spPr>
          <a:xfrm>
            <a:off x="1783080" y="54772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Evaluatie en afsluiting</a:t>
            </a:r>
            <a:endParaRPr lang="en-US" sz="1300" dirty="0"/>
          </a:p>
        </p:txBody>
      </p:sp>
      <p:sp>
        <p:nvSpPr>
          <p:cNvPr id="97" name="Text 86"/>
          <p:cNvSpPr txBox="1"/>
          <p:nvPr/>
        </p:nvSpPr>
        <p:spPr>
          <a:xfrm>
            <a:off x="4617720" y="54772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16 min</a:t>
            </a:r>
            <a:endParaRPr lang="en-US" sz="1200" dirty="0"/>
          </a:p>
        </p:txBody>
      </p:sp>
      <p:sp>
        <p:nvSpPr>
          <p:cNvPr id="98" name="Text 87"/>
          <p:cNvSpPr txBox="1"/>
          <p:nvPr/>
        </p:nvSpPr>
        <p:spPr>
          <a:xfrm>
            <a:off x="5303520" y="547725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Terugblik, interesse in een training, wat je wilt leren en wat je meeneemt</a:t>
            </a:r>
            <a:endParaRPr lang="en-US" sz="1100" dirty="0"/>
          </a:p>
        </p:txBody>
      </p:sp>
      <p:sp>
        <p:nvSpPr>
          <p:cNvPr id="99" name="Text 88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Kanttekening: </a:t>
            </a: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werken alleen via de AI-agent. De devcontainer bevat alles wat die nodig heeft (o.a. Python, DuckDB en Streamlit).</a:t>
            </a:r>
            <a:endParaRPr lang="en-US" sz="12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synthetische data?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Echt genoeg om mee te oefenen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Kunstmatig gemaakte data die de structuur en verbanden van het echte 1CHO-bestand nabootst.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codebook, zelfde definities: wat je vandaag bouwt, werkt straks ook op echte data.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VEILIG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Fictieve rijen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kolommen en codes als 1CHO, maar geen enkele rij is een bestaand persoon.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Mag de agent in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AVG-toets of verwerkersovereenkomst nodig: de data mag zo de devcontainer en de AI-agent in.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gemaakt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een patroon en enkele kleine groepen ingebakken, zodat er iets te vinden én te blokkeren is.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Alleen oefenen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oefent de werkwijze, niet de uitkomst. Validatie vraagt echte data, buiten de devcontainer.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is niet willekeurig: de verdelingen lijken op de werkelijkheid, de personen bestaan niet.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Kies de casus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casusvraag over het 1CHO-bestand (A, B of C) staat de hele sessie centraal.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scherpe vraag die je aan het eind kunt beantwoorden.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Samen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 in tweetallen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stuurt de agent aan, de ander controleert code en uitkomst. Wissel per ronde.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eigen aanpak, gespiegeld aan de tweetallen om je heen.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Product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 één dashboard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in twee rondes een dashboard dat de vraag beantwoordt.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kwalitatief antwoord, onderbouwd met het dashboard.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 is geen goed of fout dashboard. Het gaat om de keuzes die je maakt, en of je ze kunt uitleggen.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Drie casussen, wij kiezen er één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463040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Eerstejaarsuitval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na één jaar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Welke eerstejaars stoppen binnen een jaar, en verschilt dat per sector en opleidingsvorm?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binnen 1 jaar per cohort berekenen en vergelijken naar sector, opleidingsvorm en geslacht.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379976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294376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Wisselen of stoppen?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versus studiewissel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Stoppen studenten, of wisselen ze van opleiding, en waar gaan de wisselaars heen?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4654296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en studiewissel (binnen 1 en 3 jaar) onderscheiden en de stromen tussen sectoren tonen.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8211312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9125712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VO-cijfers en studiesucces</a:t>
            </a:r>
            <a:endParaRPr lang="en-US" sz="19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en VO-eindcijfer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Halen studenten met hoge VO-cijfers vaker binnen vijf jaar hun diploma?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485632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(diploma binnen 3, 5 en 8 jaar) koppelen aan het gemiddelde VO-eindcijfer en de vooropleiding.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Doel: </a:t>
            </a: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aan het eind een kwalitatief antwoord op de casusvraag, onderbouwd met het dashboard.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 drie draaien op het 1CHO-bestand (output van de 1cijferho-tool). Definities van uitval, rendement en studiewissel volgen het package staat1cho.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50876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60604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267004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029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losse vraag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typt wat je wilt. Dat werkt, maar het resultaat is elke keer anders en de kennis zit alleen in jouw hoofd.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627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1883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antwoord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0632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1920240" y="416052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 flipV="1">
            <a:off x="1783080" y="422452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85800" y="3108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35844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vastgelegd recept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337560" y="29260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map met een SKILL.md: instructies, voorbeelden, scripts en checks. De agent pakt hem erbij zodra de taak erom vraagt.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503920" y="31821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503920" y="34381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Herhaalbare werkwijze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448056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20"/>
          <p:cNvSpPr/>
          <p:nvPr/>
        </p:nvSpPr>
        <p:spPr>
          <a:xfrm>
            <a:off x="685800" y="461772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21"/>
          <p:cNvSpPr txBox="1"/>
          <p:nvPr/>
        </p:nvSpPr>
        <p:spPr>
          <a:xfrm>
            <a:off x="685800" y="4663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5138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voert uit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337560" y="4480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Claude Code leest de skill, schrijft en draait de code en toetst het resultaat aan de checks uit de skill.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503920" y="47365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920" y="499262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 dat je kunt nalopen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is gewoon tekst in de repo: leesbaar, aanpasbaar en deelbaar. Je hoeft niet te kunnen programmeren om er één te schrijven.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skills? Van prompt naar teamkennis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Een goede prompt helpt jou vandaag. Een goede skill helpt je hele team, elke keer weer.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1×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uitschrijven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daarna eindeloos hergebruiken, door iedereen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black boxes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leest precies wat de agent gaat doen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n&lt;5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ingebouwd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privacy-drempel en checks vergeet je nooit meer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€0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kosten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tekstbestanden in de repo, deelbaar via Git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Zie het zelf: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na elke ronde doet een skill in één instructie wat jij net met de hand deed.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Vuistregel: elke prompt die je drie keer typt, is een skill in wording.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E2FD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komt er in de devcontainer?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1155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Iedereen werkt via de AI-agent: jij stuurt, de agent programmeert.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ROUTE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BOUWSTENEN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1965960"/>
            <a:ext cx="4572000" cy="3703320"/>
          </a:xfrm>
          <a:prstGeom prst="roundRect">
            <a:avLst>
              <a:gd name="adj" fmla="val 15385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86868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Prompten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3566160" y="231343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566160" y="231343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 iedereen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8346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Leg de casus voor aan de AI-agent (Claude Code) in de devcontainer. Jij stuurt en controleert, de agent schrijft de code.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/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programmeerervaring nodig. Wel kritisch kijken: klopt wat de agent doet?</a:t>
            </a:r>
            <a:endParaRPr lang="en-US" sz="1500" dirty="0"/>
          </a:p>
        </p:txBody>
      </p:sp>
      <p:sp>
        <p:nvSpPr>
          <p:cNvPr id="13" name="Shape 14"/>
          <p:cNvSpPr/>
          <p:nvPr/>
        </p:nvSpPr>
        <p:spPr>
          <a:xfrm>
            <a:off x="5486400" y="196596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15"/>
          <p:cNvSpPr txBox="1"/>
          <p:nvPr/>
        </p:nvSpPr>
        <p:spPr>
          <a:xfrm>
            <a:off x="5715000" y="20208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AI-agent: Claude Code</a:t>
            </a:r>
            <a:endParaRPr lang="en-US" sz="1400" dirty="0"/>
          </a:p>
        </p:txBody>
      </p:sp>
      <p:sp>
        <p:nvSpPr>
          <p:cNvPr id="15" name="Text 16"/>
          <p:cNvSpPr txBox="1"/>
          <p:nvPr/>
        </p:nvSpPr>
        <p:spPr>
          <a:xfrm>
            <a:off x="571500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waarmee iedereen werkt</a:t>
            </a:r>
            <a:endParaRPr lang="en-US" sz="1100" dirty="0"/>
          </a:p>
        </p:txBody>
      </p:sp>
      <p:sp>
        <p:nvSpPr>
          <p:cNvPr id="16" name="Shape 17"/>
          <p:cNvSpPr/>
          <p:nvPr/>
        </p:nvSpPr>
        <p:spPr>
          <a:xfrm>
            <a:off x="10012680" y="211226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8"/>
          <p:cNvSpPr txBox="1"/>
          <p:nvPr/>
        </p:nvSpPr>
        <p:spPr>
          <a:xfrm>
            <a:off x="10012680" y="21122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18" name="Shape 19"/>
          <p:cNvSpPr/>
          <p:nvPr/>
        </p:nvSpPr>
        <p:spPr>
          <a:xfrm>
            <a:off x="5486400" y="260604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20"/>
          <p:cNvSpPr txBox="1"/>
          <p:nvPr/>
        </p:nvSpPr>
        <p:spPr>
          <a:xfrm>
            <a:off x="5715000" y="2660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Python</a:t>
            </a:r>
            <a:endParaRPr lang="en-US" sz="1400" dirty="0"/>
          </a:p>
        </p:txBody>
      </p:sp>
      <p:sp>
        <p:nvSpPr>
          <p:cNvPr id="20" name="Text 21"/>
          <p:cNvSpPr txBox="1"/>
          <p:nvPr/>
        </p:nvSpPr>
        <p:spPr>
          <a:xfrm>
            <a:off x="5715000" y="29077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schrijft de analyse, bijv. met DuckDB</a:t>
            </a:r>
            <a:endParaRPr lang="en-US" sz="1100" dirty="0"/>
          </a:p>
        </p:txBody>
      </p:sp>
      <p:sp>
        <p:nvSpPr>
          <p:cNvPr id="21" name="Shape 22"/>
          <p:cNvSpPr/>
          <p:nvPr/>
        </p:nvSpPr>
        <p:spPr>
          <a:xfrm>
            <a:off x="10012680" y="275234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23"/>
          <p:cNvSpPr txBox="1"/>
          <p:nvPr/>
        </p:nvSpPr>
        <p:spPr>
          <a:xfrm>
            <a:off x="10012680" y="2752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3" name="Shape 24"/>
          <p:cNvSpPr/>
          <p:nvPr/>
        </p:nvSpPr>
        <p:spPr>
          <a:xfrm>
            <a:off x="5486400" y="324612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25"/>
          <p:cNvSpPr txBox="1"/>
          <p:nvPr/>
        </p:nvSpPr>
        <p:spPr>
          <a:xfrm>
            <a:off x="571500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</a:t>
            </a:r>
            <a:endParaRPr lang="en-US" sz="1400" dirty="0"/>
          </a:p>
        </p:txBody>
      </p:sp>
      <p:sp>
        <p:nvSpPr>
          <p:cNvPr id="25" name="Text 26"/>
          <p:cNvSpPr txBox="1"/>
          <p:nvPr/>
        </p:nvSpPr>
        <p:spPr>
          <a:xfrm>
            <a:off x="571500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1CHO-CSV, gelabelde waarden</a:t>
            </a:r>
            <a:endParaRPr lang="en-US" sz="1100" dirty="0"/>
          </a:p>
        </p:txBody>
      </p:sp>
      <p:sp>
        <p:nvSpPr>
          <p:cNvPr id="26" name="Shape 27"/>
          <p:cNvSpPr/>
          <p:nvPr/>
        </p:nvSpPr>
        <p:spPr>
          <a:xfrm>
            <a:off x="10012680" y="339242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8"/>
          <p:cNvSpPr txBox="1"/>
          <p:nvPr/>
        </p:nvSpPr>
        <p:spPr>
          <a:xfrm>
            <a:off x="10012680" y="3392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8" name="Shape 29"/>
          <p:cNvSpPr/>
          <p:nvPr/>
        </p:nvSpPr>
        <p:spPr>
          <a:xfrm>
            <a:off x="5486400" y="388620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30"/>
          <p:cNvSpPr txBox="1"/>
          <p:nvPr/>
        </p:nvSpPr>
        <p:spPr>
          <a:xfrm>
            <a:off x="5715000" y="3941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Dashboard: Streamlit</a:t>
            </a:r>
            <a:endParaRPr lang="en-US" sz="1400" dirty="0"/>
          </a:p>
        </p:txBody>
      </p:sp>
      <p:sp>
        <p:nvSpPr>
          <p:cNvPr id="30" name="Text 31"/>
          <p:cNvSpPr txBox="1"/>
          <p:nvPr/>
        </p:nvSpPr>
        <p:spPr>
          <a:xfrm>
            <a:off x="5715000" y="4187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niet zeker, tool kan nog wijzigen</a:t>
            </a:r>
            <a:endParaRPr lang="en-US" sz="1100" dirty="0"/>
          </a:p>
        </p:txBody>
      </p:sp>
      <p:sp>
        <p:nvSpPr>
          <p:cNvPr id="31" name="Shape 32"/>
          <p:cNvSpPr/>
          <p:nvPr/>
        </p:nvSpPr>
        <p:spPr>
          <a:xfrm>
            <a:off x="10012680" y="403250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33"/>
          <p:cNvSpPr txBox="1"/>
          <p:nvPr/>
        </p:nvSpPr>
        <p:spPr>
          <a:xfrm>
            <a:off x="10012680" y="40325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33" name="Shape 39"/>
          <p:cNvSpPr/>
          <p:nvPr/>
        </p:nvSpPr>
        <p:spPr>
          <a:xfrm>
            <a:off x="5486400" y="452628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40"/>
          <p:cNvSpPr txBox="1"/>
          <p:nvPr/>
        </p:nvSpPr>
        <p:spPr>
          <a:xfrm>
            <a:off x="5715000" y="45811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checkpoints</a:t>
            </a:r>
            <a:endParaRPr lang="en-US" sz="1400" dirty="0"/>
          </a:p>
        </p:txBody>
      </p:sp>
      <p:sp>
        <p:nvSpPr>
          <p:cNvPr id="35" name="Text 41"/>
          <p:cNvSpPr txBox="1"/>
          <p:nvPr/>
        </p:nvSpPr>
        <p:spPr>
          <a:xfrm>
            <a:off x="5715000" y="4828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staan klaar, activeren met één commando</a:t>
            </a:r>
            <a:endParaRPr lang="en-US" sz="1100" dirty="0"/>
          </a:p>
        </p:txBody>
      </p:sp>
      <p:sp>
        <p:nvSpPr>
          <p:cNvPr id="36" name="Shape 42"/>
          <p:cNvSpPr/>
          <p:nvPr/>
        </p:nvSpPr>
        <p:spPr>
          <a:xfrm>
            <a:off x="10012680" y="46725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7" name="Text 43"/>
          <p:cNvSpPr txBox="1"/>
          <p:nvPr/>
        </p:nvSpPr>
        <p:spPr>
          <a:xfrm>
            <a:off x="10012680" y="4672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38" name="Text 4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Het concept staat, de invulling is deels open: de dashboard-tool kan nog wijzigen.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dashboard, twee stappen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→ Informatie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 verkennen met de agent, de code controleren en kleine groepen en definities vastleggen.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Begrip van de data, een schets van twee of drie views en een eerste privacy-check.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984748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6295644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6569964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569964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210044" y="1719072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7210044" y="1719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Informatie → Kennis → Wijsheid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69964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569964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569964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Grafiek, vergelijking en filter bouwen tot een dashboard dat de casusvraag beantwoordt, met eerlijke framing, bron en toegankelijke grafieken.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569964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569964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werkend én verantwoord dashboard, bij voorkeur met de conclusie als titel.</a:t>
            </a:r>
            <a:endParaRPr lang="en-US" sz="1400" dirty="0"/>
          </a:p>
        </p:txBody>
      </p:sp>
      <p:sp>
        <p:nvSpPr>
          <p:cNvPr id="26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 dashboard is het middel, de casusvraag het doel. De analist voegt de wijsheid toe: wat mag je concluderen en hoe presenteer je het?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bij elk spiegelmoment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6916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971800"/>
            <a:ext cx="0" cy="45720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3108960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737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212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Profileert de CSV en het codebook (kolommen, ontbrekende waarden, verdelingen), signaleert kleine groepen, legt de definities vast en schetst twee of drie views.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8105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20665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Data-profiel, privacy-check en schets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4290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7490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14"/>
          <p:cNvSpPr txBox="1"/>
          <p:nvPr/>
        </p:nvSpPr>
        <p:spPr>
          <a:xfrm>
            <a:off x="685800" y="3794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270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429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Bouwt uit de schets een dashboard (waarschijnlijk in Streamlit) met grafiek, vergelijking en filter, met de drempel voor kleine aantallen, eerlijke framing, bron en toegankelijkheid erin verweven.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8679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1239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Werkend én verantwoord dashboard</a:t>
            </a:r>
            <a:endParaRPr lang="en-US" sz="1600" dirty="0"/>
          </a:p>
        </p:txBody>
      </p:sp>
      <p:sp>
        <p:nvSpPr>
          <p:cNvPr id="21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werken via vaste tussenproducten (bijvoorbeeld data.csv en schets.md), zodat elke stap na te lopen is. Responsible-checks zitten in beide skills verweven. De skills zijn bestanden in de repo en kosten €0.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zit in beide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analist voegt de wijsheid toe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bouwt snel. Jij bepaalt wat je mag concluderen en hoe je het presenteert.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Beide skills hebben de checks verweven. Na elke ronde zie je wat de tweetallen zelf misten.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Privacy-check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Drempel voor kleine aantallen (bijvoorbeeld n&lt;5) en herleidbare combinaties van uitsplitsingen.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Toegankelijkheid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Kleurcontrast, alt-tekst en een dashboard dat een bestuurder echt kan lezen.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Eerlijke framing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Cijfers per groep mogen niet stigmatiseren, en een verband is nog geen oorzaak.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Bron en uitleg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Definities uit het codebook, bronvermelding en uitleg bij elke grafiek.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aparte stap: elke skill past de checks toe die bij zijn ronde horen.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Randvoorwaarden en risico's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566160" cy="4846320"/>
          </a:xfrm>
          <a:prstGeom prst="roundRect">
            <a:avLst>
              <a:gd name="adj" fmla="val 769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868680" y="16916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 devcontainer: deelnemers werken alleen via de AI-agent. De devcontainer bevat Python, DuckDB en Streamlit, en de skills en checkpoints staan al klaar. De data is een synthetisch 1CHO-CSV met gelabelde waarden en codebook.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160520"/>
            <a:ext cx="192024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892040" y="1371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RISICO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777240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MAATREGEL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4343400" y="1691640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4480560" y="1874520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448056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892040" y="16916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zonder codeerervaring haken af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7772400" y="1691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Iedereen werkt alleen via prompten; de voorbeeldprompt en de skills geven houvast.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43400" y="2450592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1"/>
          <p:cNvSpPr/>
          <p:nvPr/>
        </p:nvSpPr>
        <p:spPr>
          <a:xfrm>
            <a:off x="4480560" y="2633472"/>
            <a:ext cx="320040" cy="32004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2"/>
          <p:cNvSpPr txBox="1"/>
          <p:nvPr/>
        </p:nvSpPr>
        <p:spPr>
          <a:xfrm>
            <a:off x="4480560" y="26334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24505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is niet deterministisch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24505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Per ronde een checkpoint met het verwachte resultaat en minstens twee droge runs vooraf.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343400" y="3209544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Shape 16"/>
          <p:cNvSpPr/>
          <p:nvPr/>
        </p:nvSpPr>
        <p:spPr>
          <a:xfrm>
            <a:off x="4480560" y="3392424"/>
            <a:ext cx="320040" cy="320040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17"/>
          <p:cNvSpPr txBox="1"/>
          <p:nvPr/>
        </p:nvSpPr>
        <p:spPr>
          <a:xfrm>
            <a:off x="4480560" y="3392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209544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uitdelen kost tijd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7772400" y="320954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staan klaar in de devcontainer en activeren met één commando (maximaal 1 minuut).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343400" y="3968496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1"/>
          <p:cNvSpPr/>
          <p:nvPr/>
        </p:nvSpPr>
        <p:spPr>
          <a:xfrm>
            <a:off x="4480560" y="4151376"/>
            <a:ext cx="320040" cy="32004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2"/>
          <p:cNvSpPr txBox="1"/>
          <p:nvPr/>
        </p:nvSpPr>
        <p:spPr>
          <a:xfrm>
            <a:off x="448056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4892040" y="396849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raakt ondergesneeuwd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7772400" y="3968496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checks zitten verweven in beide skills, plus een korte checklist per ronde.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343400" y="4727448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6"/>
          <p:cNvSpPr/>
          <p:nvPr/>
        </p:nvSpPr>
        <p:spPr>
          <a:xfrm>
            <a:off x="4480560" y="4910328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7"/>
          <p:cNvSpPr txBox="1"/>
          <p:nvPr/>
        </p:nvSpPr>
        <p:spPr>
          <a:xfrm>
            <a:off x="4480560" y="4910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4892040" y="47274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zonder patroon of kleine groepen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7772400" y="472744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Vooraf controleren en zo nodig een patroon en enkele kleine groepen inbouwen, zodat er iets te vinden is én te blokkeren.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Afsluiting en open punten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4630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Plenaire reflectie: wat verloor en won je?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Vertaal het naar je eigen praktijk.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840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echte data vraagt een eigen route. Voor echte 1CHO-data is er het CEDA-pakket eencijferho.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1737360" cy="17373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852160" y="1463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punten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5852160" y="2103120"/>
            <a:ext cx="5788152" cy="12344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230428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270662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open: kies A, B of C. Alle drie draaien op het 1CHO-inschrijvingenbestand.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Evaluatie en afsluiting</a:t>
            </a:r>
            <a:endParaRPr lang="en-US" sz="34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Terugblik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vond je ervan?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ging goed, wat zag je nu pas, wat neem je mee? Via de reflectie-skill of de peiling.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Jouw eigen woorden, anoniem en vrijwillig.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Peiling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Interesse in een training?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Meerkeuzevraag: van nee tot een programma van 4 uur per week voor één semester.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Zicht op hoeveel tijd mensen echt willen vrijmaken.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vraag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leren?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precies leren in zo'n training? Kort en concreet.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Input voor de inhoud van een vervolg.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Evaluatie en afsluiting vormen één blok van 16 minuten, na de laatste uitleg. De antwoorden bepalen of en hoe CEDA een vervolg inricht.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1329</Words>
  <Application>Microsoft Office PowerPoint</Application>
  <PresentationFormat>Widescreen</PresentationFormat>
  <Paragraphs>235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General Sans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CEDA / Npuls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data science in het onderwijs</dc:title>
  <dc:subject>PptxGenJS Presentation</dc:subject>
  <dc:creator>PptxGenJS</dc:creator>
  <cp:lastModifiedBy>Aslam Tanjung</cp:lastModifiedBy>
  <cp:revision>3</cp:revision>
  <dcterms:created xsi:type="dcterms:W3CDTF">2026-09-24T12:15:19Z</dcterms:created>
  <dcterms:modified xsi:type="dcterms:W3CDTF">2026-10-01T13:56:21Z</dcterms:modified>
</cp:coreProperties>
</file>