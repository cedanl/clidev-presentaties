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s/modernComment_101_0.xml" ContentType="application/vnd.ms-powerpoint.comments+xml"/>
  <Override PartName="/ppt/comments/modernComment_102_0.xml" ContentType="application/vnd.ms-powerpoint.comments+xml"/>
  <Override PartName="/ppt/comments/modernComment_103_0.xml" ContentType="application/vnd.ms-powerpoint.comments+xml"/>
  <Override PartName="/ppt/comments/modernComment_106_0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5"/>
    <p:sldId id="266" r:id="rId18"/>
    <p:sldId id="267" r:id="rId19"/>
    <p:sldId id="258" r:id="rId4"/>
    <p:sldId id="268" r:id="rId20"/>
    <p:sldId id="269" r:id="rId21"/>
    <p:sldId id="260" r:id="rId6"/>
    <p:sldId id="261" r:id="rId7"/>
    <p:sldId id="262" r:id="rId8"/>
    <p:sldId id="263" r:id="rId9"/>
    <p:sldId id="264" r:id="rId10"/>
    <p:sldId id="270" r:id="rId22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2D11F7D-11EF-FF80-122A-4ACC359334A6}" name="Corneel den Hartogh" initials="CdH" userId="S::corneel.denhartogh@surf.nl::1aae7db1-df05-436d-8614-f8b2392b876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032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96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6.xml"/><Relationship Id="rId5" Type="http://schemas.openxmlformats.org/officeDocument/2006/relationships/slide" Target="slides/slide3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8/10/relationships/authors" Target="authors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15.xml"/></Relationships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D8BBF2-EA91-4B45-93C7-3F4B05E0D141}" authorId="{B2D11F7D-11EF-FF80-122A-4ACC359334A6}" created="2026-10-01T11:51:07.2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picMk id="3" creationId="{00000000-0000-0000-0000-000000000000}"/>
    </ac:deMkLst>
    <p188:txBody>
      <a:bodyPr/>
      <a:lstStyle/>
      <a:p>
        <a:r>
          <a:rPr lang="en-US"/>
          <a:t>dit is niet het npuls logo?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C64636-B86A-184C-9220-54B440722AE3}" authorId="{B2D11F7D-11EF-FF80-122A-4ACC359334A6}" created="2026-10-01T11:46:41.86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38" creationId="{00000000-0000-0000-0000-000000000000}"/>
      <ac:txMk cp="0" len="148">
        <ac:context len="149" hash="4285380498"/>
      </ac:txMk>
    </ac:txMkLst>
    <p188:pos x="9321501" y="523897"/>
    <p188:txBody>
      <a:bodyPr/>
      <a:lstStyle/>
      <a:p>
        <a:r>
          <a:rPr lang="en-US"/>
          <a:t>lichten we dit hier of later toe?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DA1C945-E1B9-EB4F-94EC-A09F280755A0}" authorId="{B2D11F7D-11EF-FF80-122A-4ACC359334A6}" created="2026-10-01T11:57:19.25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2" creationId="{00000000-0000-0000-0000-000000000000}"/>
      <ac:txMk cp="0" len="21">
        <ac:context len="22" hash="3241130774"/>
      </ac:txMk>
    </ac:txMkLst>
    <p188:pos x="5058784" y="570155"/>
    <p188:txBody>
      <a:bodyPr/>
      <a:lstStyle/>
      <a:p>
        <a:r>
          <a:rPr lang="en-US"/>
          <a:t>9 onderdelen in 90 minuten waarvan 3 rondes lijkt me een uitdaging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FCE28DA-C453-2348-AE7B-90B132219FCC}" authorId="{B2D11F7D-11EF-FF80-122A-4ACC359334A6}" created="2026-10-01T11:49:37.71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2"/>
      <ac:spMk id="10" creationId="{00000000-0000-0000-0000-000000000000}"/>
      <ac:txMk cp="0" len="10">
        <ac:context len="136" hash="3309166040"/>
      </ac:txMk>
    </ac:txMkLst>
    <p188:pos x="763793" y="793376"/>
    <p188:txBody>
      <a:bodyPr/>
      <a:lstStyle/>
      <a:p>
        <a:r>
          <a:rPr lang="en-US"/>
          <a:t>wablief?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001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Synthetische data (±7 min)</a:t>
            </a:r>
          </a:p>
          <a:p>
            <a:r>
              <a:t>- Wat: data die gegenereerd is naar het patroon van een echt bestand. Zelfde kolommen, codes en verdelingen, geen echte personen.</a:t>
            </a:r>
          </a:p>
          <a:p>
            <a:r>
              <a:t>- Waarom: we willen met een AI-agent werken zonder privacyrisico. Echte 1CHO-data mag niet zomaar een taalmodel in.</a:t>
            </a:r>
          </a:p>
          <a:p>
            <a:r>
              <a:t>- Ingebouwd: een patroon om te vinden en kleine groepen om te blokkeren (privacy-drempel, verweven in beide skills).</a:t>
            </a:r>
          </a:p>
          <a:p>
            <a:r>
              <a:t>- Grens: conclusies over de echte wereld trek je hier niet. Voor echte data: het CEDA-pakket eencijferho.</a:t>
            </a:r>
          </a:p>
          <a:p>
            <a:r>
              <a:t>- Vraag aan de zaal: wie werkt al met synthetische data, en waarvoor?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 opdracht (±7 min, samen met de casusslide)</a:t>
            </a:r>
          </a:p>
          <a:p>
            <a:r>
              <a:t>- Eén casusvraag, twee rondes, één dashboard.</a:t>
            </a:r>
          </a:p>
          <a:p>
            <a:r>
              <a:t>- Tweetallen: de bestuurder prompt, de navigator controleert wat de agent doet. Wissel na ronde 1.</a:t>
            </a:r>
          </a:p>
          <a:p>
            <a:r>
              <a:t>- Na elke ronde een spiegelmoment: 2-3 tweetallen laten zien wat ze deden, daarna laten we zien wat de skill in één instructie doet.</a:t>
            </a:r>
          </a:p>
          <a:p>
            <a:r>
              <a:t>- Eindproduct: een dashboard dat de vraag beantwoordt én de responsible-checks doorstaat.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Wat is een skill? (±4 min)</a:t>
            </a:r>
          </a:p>
          <a:p>
            <a:r>
              <a:t>- Prompt: wat je nu al doet. Prima voor eenmalig werk, maar niet herhaalbaar.</a:t>
            </a:r>
          </a:p>
          <a:p>
            <a:r>
              <a:t>- Skill: een map met een SKILL.md. Bovenaan staat wanneer de skill van toepassing is, daaronder de stappen, voorbeelden, scripts en checks.</a:t>
            </a:r>
          </a:p>
          <a:p>
            <a:r>
              <a:t>- De agent leest alleen de korte beschrijving, en laadt de rest pas als de taak erom vraagt. Je kunt er dus veel hebben zonder dat het traag wordt.</a:t>
            </a:r>
          </a:p>
          <a:p>
            <a:r>
              <a:t>- Laat eventueel live een SKILL.md uit de devcontainer zien: het is gewoon Markdown.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Verkooppraatje skills en prompts (±6 min)</a:t>
            </a:r>
          </a:p>
          <a:p>
            <a:r>
              <a:t>- Herkenbaar: je schrijft een goede prompt, het werkt, en een week later typ je hem opnieuw (en net iets anders).</a:t>
            </a:r>
          </a:p>
          <a:p>
            <a:r>
              <a:t>- Een skill legt jouw vakkennis vast: definities uit het codebook, de n&lt;5-drempel, de huisstijl. De agent past ze elke keer toe, ook als je het zelf vergeet.</a:t>
            </a:r>
          </a:p>
          <a:p>
            <a:r>
              <a:t>- Transparant: geen black box. Je leest de skill, je past hem aan, je ziet in de code wat de agent ermee deed.</a:t>
            </a:r>
          </a:p>
          <a:p>
            <a:r>
              <a:t>- Deelbaar: een collega kloont de repo en heeft dezelfde werkwijze. Kennis van één analist wordt teamkennis.</a:t>
            </a:r>
          </a:p>
          <a:p>
            <a:r>
              <a:t>- Goedkoop: het zijn tekstbestanden, geen licentie of platform.</a:t>
            </a:r>
          </a:p>
          <a:p>
            <a:r>
              <a:t>- Brug naar de rondes: na elke ronde laten we de skill draaien. Vergelijk zelf: jouw 20 minuten tegenover één instructie.</a:t>
            </a:r>
          </a:p>
          <a:p>
            <a:r>
              <a:t>- Afsluitende oproep: welke prompt typ jij steeds opnieuw? Dat is je eerste skill.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Evaluatie en afsluiting (16 min, één blok). Vraag eerst toestemming: de antwoorden zijn anoniem en dienen om te bepalen of er een vervolg komt. Terugblik (4 min) via de peiling of een kort rondje; meerkeuzevraag (2 min); open vraag (4 min); daarna de afsluiting (6 min). Formulering: workshop-rad/docs/evaluatievragen.md.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microsoft.com/office/2018/10/relationships/comments" Target="../comments/modernComment_101_0.xml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microsoft.com/office/2018/10/relationships/comments" Target="../comments/modernComment_103_0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microsoft.com/office/2018/10/relationships/comments" Target="../comments/modernComment_102_0.xml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microsoft.com/office/2018/10/relationships/comments" Target="../comments/modernComment_106_0.xml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microsoft.com/office/2018/10/relationships/comments" Target="../comments/modernComment_101_0.xml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microsoft.com/office/2018/10/relationships/comments" Target="../comments/modernComment_106_0.xml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68E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68580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463040" y="621792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1"/>
          <p:cNvSpPr txBox="1"/>
          <p:nvPr/>
        </p:nvSpPr>
        <p:spPr>
          <a:xfrm>
            <a:off x="1463040" y="6217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CEDA · DAIR-bijeenkomst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73736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Agentic data science in het onderwijs</a:t>
            </a:r>
            <a:endParaRPr lang="en-US" sz="4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6118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F4D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Workshop-voorstel: korte rondes met spiegelen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062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120 minuten · één casus · één dashboard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74920"/>
            <a:ext cx="3840480" cy="19202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595360" y="2560320"/>
            <a:ext cx="0" cy="640080"/>
          </a:xfrm>
          <a:prstGeom prst="line">
            <a:avLst/>
          </a:prstGeom>
          <a:noFill/>
          <a:ln w="25400">
            <a:solidFill>
              <a:srgbClr val="F4D9DC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6"/>
          <p:cNvSpPr/>
          <p:nvPr/>
        </p:nvSpPr>
        <p:spPr>
          <a:xfrm>
            <a:off x="8138160" y="1645920"/>
            <a:ext cx="914400" cy="914400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/>
          <p:cNvSpPr txBox="1"/>
          <p:nvPr/>
        </p:nvSpPr>
        <p:spPr>
          <a:xfrm>
            <a:off x="813816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932688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exploratie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8138160" y="3200400"/>
            <a:ext cx="914400" cy="914400"/>
          </a:xfrm>
          <a:prstGeom prst="ellipse">
            <a:avLst/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1"/>
          <p:cNvSpPr txBox="1"/>
          <p:nvPr/>
        </p:nvSpPr>
        <p:spPr>
          <a:xfrm>
            <a:off x="813816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932688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Dashboard bouwen</a:t>
            </a:r>
            <a:endParaRPr lang="en-US" sz="2000" dirty="0"/>
          </a:p>
        </p:txBody>
      </p:sp>
      <p:sp>
        <p:nvSpPr>
          <p:cNvPr id="17" name="Text 16"/>
          <p:cNvSpPr txBox="1"/>
          <p:nvPr/>
        </p:nvSpPr>
        <p:spPr>
          <a:xfrm>
            <a:off x="8503920" y="6172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Onderwijs bewegen.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D9D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Eén casus, één dashboard, twee rondes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3258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geen black box maar een transparante junior-analist. De agent versnelt het handwerk, de deelnemers houden de regie.</a:t>
            </a:r>
            <a:endParaRPr lang="en-US" sz="2100" dirty="0"/>
          </a:p>
        </p:txBody>
      </p:sp>
      <p:sp>
        <p:nvSpPr>
          <p:cNvPr id="6" name="Shape 2"/>
          <p:cNvSpPr/>
          <p:nvPr/>
        </p:nvSpPr>
        <p:spPr>
          <a:xfrm>
            <a:off x="548640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/>
          <p:cNvSpPr txBox="1"/>
          <p:nvPr/>
        </p:nvSpPr>
        <p:spPr>
          <a:xfrm>
            <a:off x="822960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120</a:t>
            </a:r>
            <a:endParaRPr lang="en-US" sz="64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minuten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één workshop, tien blokken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376879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7"/>
          <p:cNvSpPr txBox="1"/>
          <p:nvPr/>
        </p:nvSpPr>
        <p:spPr>
          <a:xfrm>
            <a:off x="3651199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6400" dirty="0"/>
          </a:p>
        </p:txBody>
      </p:sp>
      <p:sp>
        <p:nvSpPr>
          <p:cNvPr id="12" name="Text 8"/>
          <p:cNvSpPr txBox="1"/>
          <p:nvPr/>
        </p:nvSpPr>
        <p:spPr>
          <a:xfrm>
            <a:off x="3651199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651199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exploreren en bouwen, allebei verantwoord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5118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1"/>
          <p:cNvSpPr txBox="1"/>
          <p:nvPr/>
        </p:nvSpPr>
        <p:spPr>
          <a:xfrm>
            <a:off x="6479438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6400" dirty="0"/>
          </a:p>
        </p:txBody>
      </p:sp>
      <p:sp>
        <p:nvSpPr>
          <p:cNvPr id="16" name="Text 12"/>
          <p:cNvSpPr txBox="1"/>
          <p:nvPr/>
        </p:nvSpPr>
        <p:spPr>
          <a:xfrm>
            <a:off x="6479438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spiegelmomenten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6479438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elk met een skill die de stap ervoor doet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9033358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5"/>
          <p:cNvSpPr txBox="1"/>
          <p:nvPr/>
        </p:nvSpPr>
        <p:spPr>
          <a:xfrm>
            <a:off x="9307678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6400" dirty="0"/>
          </a:p>
        </p:txBody>
      </p:sp>
      <p:sp>
        <p:nvSpPr>
          <p:cNvPr id="20" name="Text 16"/>
          <p:cNvSpPr txBox="1"/>
          <p:nvPr/>
        </p:nvSpPr>
        <p:spPr>
          <a:xfrm>
            <a:off x="9307678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casus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9307678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beantwoord met één dashboard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19"/>
          <p:cNvSpPr txBox="1"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Wow-moment: </a:t>
            </a: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elke ronde een zichtbare sprong. De skill doet de vorige stap in één instructie, gespiegeld aan de groep ernaast.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1996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is synthetisch: validatie tegen de werkelijkheid gebeurt niet tijdens de workshop. Dat vraagt echte data, buiten de devcontainer.</a:t>
            </a:r>
            <a:endParaRPr lang="en-US" sz="11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EAEA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Programma: 120 minuten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188720"/>
            <a:ext cx="445008" cy="310896"/>
          </a:xfrm>
          <a:prstGeom prst="roundRect">
            <a:avLst>
              <a:gd name="adj" fmla="val 23529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2"/>
          <p:cNvSpPr txBox="1"/>
          <p:nvPr/>
        </p:nvSpPr>
        <p:spPr>
          <a:xfrm>
            <a:off x="548640" y="1188720"/>
            <a:ext cx="44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5 min</a:t>
            </a:r>
            <a:endParaRPr lang="en-US" sz="1000" dirty="0"/>
          </a:p>
        </p:txBody>
      </p:sp>
      <p:sp>
        <p:nvSpPr>
          <p:cNvPr id="7" name="Shape 1"/>
          <p:cNvSpPr/>
          <p:nvPr/>
        </p:nvSpPr>
        <p:spPr>
          <a:xfrm>
            <a:off x="1039368" y="1188720"/>
            <a:ext cx="534009" cy="310896"/>
          </a:xfrm>
          <a:prstGeom prst="roundRect">
            <a:avLst>
              <a:gd name="adj" fmla="val 23529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2"/>
          <p:cNvSpPr txBox="1"/>
          <p:nvPr/>
        </p:nvSpPr>
        <p:spPr>
          <a:xfrm>
            <a:off x="1039368" y="1188720"/>
            <a:ext cx="5340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6 min</a:t>
            </a:r>
            <a:endParaRPr lang="en-US" sz="1000" dirty="0"/>
          </a:p>
        </p:txBody>
      </p:sp>
      <p:sp>
        <p:nvSpPr>
          <p:cNvPr id="9" name="Shape 1"/>
          <p:cNvSpPr/>
          <p:nvPr/>
        </p:nvSpPr>
        <p:spPr>
          <a:xfrm>
            <a:off x="1619097" y="1188720"/>
            <a:ext cx="534009" cy="310896"/>
          </a:xfrm>
          <a:prstGeom prst="roundRect">
            <a:avLst>
              <a:gd name="adj" fmla="val 23529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2"/>
          <p:cNvSpPr txBox="1"/>
          <p:nvPr/>
        </p:nvSpPr>
        <p:spPr>
          <a:xfrm>
            <a:off x="1619097" y="1188720"/>
            <a:ext cx="5340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6 min</a:t>
            </a:r>
            <a:endParaRPr lang="en-US" sz="1000" dirty="0"/>
          </a:p>
        </p:txBody>
      </p:sp>
      <p:sp>
        <p:nvSpPr>
          <p:cNvPr id="11" name="Shape 1"/>
          <p:cNvSpPr/>
          <p:nvPr/>
        </p:nvSpPr>
        <p:spPr>
          <a:xfrm>
            <a:off x="2198827" y="1188720"/>
            <a:ext cx="712012" cy="310896"/>
          </a:xfrm>
          <a:prstGeom prst="roundRect">
            <a:avLst>
              <a:gd name="adj" fmla="val 23529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2"/>
          <p:cNvSpPr txBox="1"/>
          <p:nvPr/>
        </p:nvSpPr>
        <p:spPr>
          <a:xfrm>
            <a:off x="2198827" y="1188720"/>
            <a:ext cx="7120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8 min</a:t>
            </a:r>
            <a:endParaRPr lang="en-US" sz="1000" dirty="0"/>
          </a:p>
        </p:txBody>
      </p:sp>
      <p:sp>
        <p:nvSpPr>
          <p:cNvPr id="13" name="Shape 1"/>
          <p:cNvSpPr/>
          <p:nvPr/>
        </p:nvSpPr>
        <p:spPr>
          <a:xfrm>
            <a:off x="2956560" y="1188720"/>
            <a:ext cx="445008" cy="310896"/>
          </a:xfrm>
          <a:prstGeom prst="roundRect">
            <a:avLst>
              <a:gd name="adj" fmla="val 23529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2"/>
          <p:cNvSpPr txBox="1"/>
          <p:nvPr/>
        </p:nvSpPr>
        <p:spPr>
          <a:xfrm>
            <a:off x="2956560" y="1188720"/>
            <a:ext cx="44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5 min</a:t>
            </a:r>
            <a:endParaRPr lang="en-US" sz="1000" dirty="0"/>
          </a:p>
        </p:txBody>
      </p:sp>
      <p:sp>
        <p:nvSpPr>
          <p:cNvPr id="15" name="Shape 5"/>
          <p:cNvSpPr/>
          <p:nvPr/>
        </p:nvSpPr>
        <p:spPr>
          <a:xfrm>
            <a:off x="3447288" y="1188720"/>
            <a:ext cx="1958035" cy="310896"/>
          </a:xfrm>
          <a:prstGeom prst="roundRect">
            <a:avLst>
              <a:gd name="adj" fmla="val 23529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6"/>
          <p:cNvSpPr txBox="1"/>
          <p:nvPr/>
        </p:nvSpPr>
        <p:spPr>
          <a:xfrm>
            <a:off x="3447288" y="1188720"/>
            <a:ext cx="19580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22 min</a:t>
            </a:r>
            <a:endParaRPr lang="en-US" sz="1000" dirty="0"/>
          </a:p>
        </p:txBody>
      </p:sp>
      <p:sp>
        <p:nvSpPr>
          <p:cNvPr id="17" name="Shape 7"/>
          <p:cNvSpPr/>
          <p:nvPr/>
        </p:nvSpPr>
        <p:spPr>
          <a:xfrm>
            <a:off x="5451043" y="1188720"/>
            <a:ext cx="1335024" cy="310896"/>
          </a:xfrm>
          <a:prstGeom prst="roundRect">
            <a:avLst>
              <a:gd name="adj" fmla="val 23529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8"/>
          <p:cNvSpPr txBox="1"/>
          <p:nvPr/>
        </p:nvSpPr>
        <p:spPr>
          <a:xfrm>
            <a:off x="5451043" y="118872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15 min</a:t>
            </a:r>
            <a:endParaRPr lang="en-US" sz="1000" dirty="0"/>
          </a:p>
        </p:txBody>
      </p:sp>
      <p:sp>
        <p:nvSpPr>
          <p:cNvPr id="19" name="Shape 5"/>
          <p:cNvSpPr/>
          <p:nvPr/>
        </p:nvSpPr>
        <p:spPr>
          <a:xfrm>
            <a:off x="6831787" y="1188720"/>
            <a:ext cx="1958035" cy="310896"/>
          </a:xfrm>
          <a:prstGeom prst="roundRect">
            <a:avLst>
              <a:gd name="adj" fmla="val 23529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6"/>
          <p:cNvSpPr txBox="1"/>
          <p:nvPr/>
        </p:nvSpPr>
        <p:spPr>
          <a:xfrm>
            <a:off x="6831787" y="1188720"/>
            <a:ext cx="19580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22 min</a:t>
            </a:r>
            <a:endParaRPr lang="en-US" sz="1000" dirty="0"/>
          </a:p>
        </p:txBody>
      </p:sp>
      <p:sp>
        <p:nvSpPr>
          <p:cNvPr id="21" name="Shape 7"/>
          <p:cNvSpPr/>
          <p:nvPr/>
        </p:nvSpPr>
        <p:spPr>
          <a:xfrm>
            <a:off x="8835542" y="1188720"/>
            <a:ext cx="1335024" cy="310896"/>
          </a:xfrm>
          <a:prstGeom prst="roundRect">
            <a:avLst>
              <a:gd name="adj" fmla="val 23529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8"/>
          <p:cNvSpPr txBox="1"/>
          <p:nvPr/>
        </p:nvSpPr>
        <p:spPr>
          <a:xfrm>
            <a:off x="8835542" y="118872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15 min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10216286" y="1188720"/>
            <a:ext cx="1424025" cy="310896"/>
          </a:xfrm>
          <a:prstGeom prst="roundRect">
            <a:avLst>
              <a:gd name="adj" fmla="val 23529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18"/>
          <p:cNvSpPr txBox="1"/>
          <p:nvPr/>
        </p:nvSpPr>
        <p:spPr>
          <a:xfrm>
            <a:off x="10216286" y="1188720"/>
            <a:ext cx="14240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16 min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1691640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Shape 20"/>
          <p:cNvSpPr/>
          <p:nvPr/>
        </p:nvSpPr>
        <p:spPr>
          <a:xfrm>
            <a:off x="640080" y="1737360"/>
            <a:ext cx="292608" cy="292608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1"/>
          <p:cNvSpPr txBox="1"/>
          <p:nvPr/>
        </p:nvSpPr>
        <p:spPr>
          <a:xfrm>
            <a:off x="64008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1097280" y="16916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0:00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783080" y="1691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Intro (CEDA)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4617720" y="16916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5 min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5303520" y="1691640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Waarom agentic data science, en wat gaan we doen?</a:t>
            </a:r>
            <a:endParaRPr lang="en-US" sz="1100" dirty="0"/>
          </a:p>
        </p:txBody>
      </p:sp>
      <p:sp>
        <p:nvSpPr>
          <p:cNvPr id="32" name="Shape 19"/>
          <p:cNvSpPr/>
          <p:nvPr/>
        </p:nvSpPr>
        <p:spPr>
          <a:xfrm>
            <a:off x="548640" y="2112264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Shape 20"/>
          <p:cNvSpPr/>
          <p:nvPr/>
        </p:nvSpPr>
        <p:spPr>
          <a:xfrm>
            <a:off x="640080" y="2157984"/>
            <a:ext cx="292608" cy="292608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21"/>
          <p:cNvSpPr txBox="1"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22"/>
          <p:cNvSpPr txBox="1"/>
          <p:nvPr/>
        </p:nvSpPr>
        <p:spPr>
          <a:xfrm>
            <a:off x="1097280" y="211226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0:05</a:t>
            </a:r>
            <a:endParaRPr lang="en-US" sz="1200" dirty="0"/>
          </a:p>
        </p:txBody>
      </p:sp>
      <p:sp>
        <p:nvSpPr>
          <p:cNvPr id="36" name="Text 23"/>
          <p:cNvSpPr txBox="1"/>
          <p:nvPr/>
        </p:nvSpPr>
        <p:spPr>
          <a:xfrm>
            <a:off x="1783080" y="211226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Synthetische data</a:t>
            </a:r>
            <a:endParaRPr lang="en-US" sz="1300" dirty="0"/>
          </a:p>
        </p:txBody>
      </p:sp>
      <p:sp>
        <p:nvSpPr>
          <p:cNvPr id="37" name="Text 24"/>
          <p:cNvSpPr txBox="1"/>
          <p:nvPr/>
        </p:nvSpPr>
        <p:spPr>
          <a:xfrm>
            <a:off x="4617720" y="211226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6 min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5303520" y="2112264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is het, waarom gebruiken we het, wat kun je er (niet) mee?</a:t>
            </a:r>
            <a:endParaRPr lang="en-US" sz="1100" dirty="0"/>
          </a:p>
        </p:txBody>
      </p:sp>
      <p:sp>
        <p:nvSpPr>
          <p:cNvPr id="39" name="Shape 19"/>
          <p:cNvSpPr/>
          <p:nvPr/>
        </p:nvSpPr>
        <p:spPr>
          <a:xfrm>
            <a:off x="548640" y="2532888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0" name="Shape 20"/>
          <p:cNvSpPr/>
          <p:nvPr/>
        </p:nvSpPr>
        <p:spPr>
          <a:xfrm>
            <a:off x="640080" y="2578608"/>
            <a:ext cx="292608" cy="292608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Text 21"/>
          <p:cNvSpPr txBox="1"/>
          <p:nvPr/>
        </p:nvSpPr>
        <p:spPr>
          <a:xfrm>
            <a:off x="640080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22"/>
          <p:cNvSpPr txBox="1"/>
          <p:nvPr/>
        </p:nvSpPr>
        <p:spPr>
          <a:xfrm>
            <a:off x="1097280" y="2532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0:11</a:t>
            </a:r>
            <a:endParaRPr lang="en-US" sz="1200" dirty="0"/>
          </a:p>
        </p:txBody>
      </p:sp>
      <p:sp>
        <p:nvSpPr>
          <p:cNvPr id="43" name="Text 23"/>
          <p:cNvSpPr txBox="1"/>
          <p:nvPr/>
        </p:nvSpPr>
        <p:spPr>
          <a:xfrm>
            <a:off x="1783080" y="25328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opdracht en casus</a:t>
            </a:r>
            <a:endParaRPr lang="en-US" sz="1300" dirty="0"/>
          </a:p>
        </p:txBody>
      </p:sp>
      <p:sp>
        <p:nvSpPr>
          <p:cNvPr id="44" name="Text 24"/>
          <p:cNvSpPr txBox="1"/>
          <p:nvPr/>
        </p:nvSpPr>
        <p:spPr>
          <a:xfrm>
            <a:off x="4617720" y="2532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6 min</a:t>
            </a:r>
            <a:endParaRPr lang="en-US" sz="1200" dirty="0"/>
          </a:p>
        </p:txBody>
      </p:sp>
      <p:sp>
        <p:nvSpPr>
          <p:cNvPr id="45" name="Text 25"/>
          <p:cNvSpPr txBox="1"/>
          <p:nvPr/>
        </p:nvSpPr>
        <p:spPr>
          <a:xfrm>
            <a:off x="5303520" y="2532888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Casusvraag, werken in tweetallen en het eindproduct</a:t>
            </a:r>
            <a:endParaRPr lang="en-US" sz="1100" dirty="0"/>
          </a:p>
        </p:txBody>
      </p:sp>
      <p:sp>
        <p:nvSpPr>
          <p:cNvPr id="46" name="Shape 19"/>
          <p:cNvSpPr/>
          <p:nvPr/>
        </p:nvSpPr>
        <p:spPr>
          <a:xfrm>
            <a:off x="548640" y="2953512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7" name="Shape 20"/>
          <p:cNvSpPr/>
          <p:nvPr/>
        </p:nvSpPr>
        <p:spPr>
          <a:xfrm>
            <a:off x="640080" y="2999232"/>
            <a:ext cx="292608" cy="292608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8" name="Text 21"/>
          <p:cNvSpPr txBox="1"/>
          <p:nvPr/>
        </p:nvSpPr>
        <p:spPr>
          <a:xfrm>
            <a:off x="64008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Text 22"/>
          <p:cNvSpPr txBox="1"/>
          <p:nvPr/>
        </p:nvSpPr>
        <p:spPr>
          <a:xfrm>
            <a:off x="1097280" y="29535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0:17</a:t>
            </a:r>
            <a:endParaRPr lang="en-US" sz="1200" dirty="0"/>
          </a:p>
        </p:txBody>
      </p:sp>
      <p:sp>
        <p:nvSpPr>
          <p:cNvPr id="50" name="Text 23"/>
          <p:cNvSpPr txBox="1"/>
          <p:nvPr/>
        </p:nvSpPr>
        <p:spPr>
          <a:xfrm>
            <a:off x="1783080" y="29535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Skills en prompts</a:t>
            </a:r>
            <a:endParaRPr lang="en-US" sz="1300" dirty="0"/>
          </a:p>
        </p:txBody>
      </p:sp>
      <p:sp>
        <p:nvSpPr>
          <p:cNvPr id="51" name="Text 24"/>
          <p:cNvSpPr txBox="1"/>
          <p:nvPr/>
        </p:nvSpPr>
        <p:spPr>
          <a:xfrm>
            <a:off x="4617720" y="29535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8 min</a:t>
            </a:r>
            <a:endParaRPr lang="en-US" sz="1200" dirty="0"/>
          </a:p>
        </p:txBody>
      </p:sp>
      <p:sp>
        <p:nvSpPr>
          <p:cNvPr id="52" name="Text 25"/>
          <p:cNvSpPr txBox="1"/>
          <p:nvPr/>
        </p:nvSpPr>
        <p:spPr>
          <a:xfrm>
            <a:off x="5303520" y="2953512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is een skill, en waarom loont het om er één te maken?</a:t>
            </a:r>
            <a:endParaRPr lang="en-US" sz="1100" dirty="0"/>
          </a:p>
        </p:txBody>
      </p:sp>
      <p:sp>
        <p:nvSpPr>
          <p:cNvPr id="53" name="Shape 19"/>
          <p:cNvSpPr/>
          <p:nvPr/>
        </p:nvSpPr>
        <p:spPr>
          <a:xfrm>
            <a:off x="548640" y="3374136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4" name="Shape 20"/>
          <p:cNvSpPr/>
          <p:nvPr/>
        </p:nvSpPr>
        <p:spPr>
          <a:xfrm>
            <a:off x="640080" y="3419856"/>
            <a:ext cx="292608" cy="292608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5" name="Text 21"/>
          <p:cNvSpPr txBox="1"/>
          <p:nvPr/>
        </p:nvSpPr>
        <p:spPr>
          <a:xfrm>
            <a:off x="64008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5</a:t>
            </a:r>
            <a:endParaRPr lang="en-US" sz="1100" dirty="0"/>
          </a:p>
        </p:txBody>
      </p:sp>
      <p:sp>
        <p:nvSpPr>
          <p:cNvPr id="56" name="Text 22"/>
          <p:cNvSpPr txBox="1"/>
          <p:nvPr/>
        </p:nvSpPr>
        <p:spPr>
          <a:xfrm>
            <a:off x="1097280" y="33741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0:25</a:t>
            </a:r>
            <a:endParaRPr lang="en-US" sz="1200" dirty="0"/>
          </a:p>
        </p:txBody>
      </p:sp>
      <p:sp>
        <p:nvSpPr>
          <p:cNvPr id="57" name="Text 23"/>
          <p:cNvSpPr txBox="1"/>
          <p:nvPr/>
        </p:nvSpPr>
        <p:spPr>
          <a:xfrm>
            <a:off x="1783080" y="33741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Devcontainer + voorbeeldprompt</a:t>
            </a:r>
            <a:endParaRPr lang="en-US" sz="1300" dirty="0"/>
          </a:p>
        </p:txBody>
      </p:sp>
      <p:sp>
        <p:nvSpPr>
          <p:cNvPr id="58" name="Text 24"/>
          <p:cNvSpPr txBox="1"/>
          <p:nvPr/>
        </p:nvSpPr>
        <p:spPr>
          <a:xfrm>
            <a:off x="4617720" y="33741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5 min</a:t>
            </a:r>
            <a:endParaRPr lang="en-US" sz="1200" dirty="0"/>
          </a:p>
        </p:txBody>
      </p:sp>
      <p:sp>
        <p:nvSpPr>
          <p:cNvPr id="59" name="Text 25"/>
          <p:cNvSpPr txBox="1"/>
          <p:nvPr/>
        </p:nvSpPr>
        <p:spPr>
          <a:xfrm>
            <a:off x="5303520" y="3374136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Kijk hoe je de agent aanspreekt</a:t>
            </a:r>
            <a:endParaRPr lang="en-US" sz="1100" dirty="0"/>
          </a:p>
        </p:txBody>
      </p:sp>
      <p:sp>
        <p:nvSpPr>
          <p:cNvPr id="60" name="Shape 33"/>
          <p:cNvSpPr/>
          <p:nvPr/>
        </p:nvSpPr>
        <p:spPr>
          <a:xfrm>
            <a:off x="548640" y="3794760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1" name="Shape 34"/>
          <p:cNvSpPr/>
          <p:nvPr/>
        </p:nvSpPr>
        <p:spPr>
          <a:xfrm>
            <a:off x="640080" y="3840480"/>
            <a:ext cx="292608" cy="292608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2" name="Text 35"/>
          <p:cNvSpPr txBox="1"/>
          <p:nvPr/>
        </p:nvSpPr>
        <p:spPr>
          <a:xfrm>
            <a:off x="64008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Text 36"/>
          <p:cNvSpPr txBox="1"/>
          <p:nvPr/>
        </p:nvSpPr>
        <p:spPr>
          <a:xfrm>
            <a:off x="1097280" y="37947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0:30</a:t>
            </a:r>
            <a:endParaRPr lang="en-US" sz="1200" dirty="0"/>
          </a:p>
        </p:txBody>
      </p:sp>
      <p:sp>
        <p:nvSpPr>
          <p:cNvPr id="64" name="Text 37"/>
          <p:cNvSpPr txBox="1"/>
          <p:nvPr/>
        </p:nvSpPr>
        <p:spPr>
          <a:xfrm>
            <a:off x="1783080" y="37947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1: data exploratie</a:t>
            </a:r>
            <a:endParaRPr lang="en-US" sz="1300" dirty="0"/>
          </a:p>
        </p:txBody>
      </p:sp>
      <p:sp>
        <p:nvSpPr>
          <p:cNvPr id="65" name="Text 38"/>
          <p:cNvSpPr txBox="1"/>
          <p:nvPr/>
        </p:nvSpPr>
        <p:spPr>
          <a:xfrm>
            <a:off x="4617720" y="37947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22 min</a:t>
            </a:r>
            <a:endParaRPr lang="en-US" sz="1200" dirty="0"/>
          </a:p>
        </p:txBody>
      </p:sp>
      <p:sp>
        <p:nvSpPr>
          <p:cNvPr id="66" name="Text 39"/>
          <p:cNvSpPr txBox="1"/>
          <p:nvPr/>
        </p:nvSpPr>
        <p:spPr>
          <a:xfrm>
            <a:off x="5303520" y="3794760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Verken data en codebook, check kleine groepen en definities</a:t>
            </a:r>
            <a:endParaRPr lang="en-US" sz="1100" dirty="0"/>
          </a:p>
        </p:txBody>
      </p:sp>
      <p:sp>
        <p:nvSpPr>
          <p:cNvPr id="67" name="Shape 40"/>
          <p:cNvSpPr/>
          <p:nvPr/>
        </p:nvSpPr>
        <p:spPr>
          <a:xfrm>
            <a:off x="548640" y="4215384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8" name="Shape 41"/>
          <p:cNvSpPr/>
          <p:nvPr/>
        </p:nvSpPr>
        <p:spPr>
          <a:xfrm>
            <a:off x="640080" y="4261104"/>
            <a:ext cx="292608" cy="292608"/>
          </a:xfrm>
          <a:prstGeom prst="ellipse">
            <a:avLst/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9" name="Text 42"/>
          <p:cNvSpPr txBox="1"/>
          <p:nvPr/>
        </p:nvSpPr>
        <p:spPr>
          <a:xfrm>
            <a:off x="64008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7</a:t>
            </a:r>
            <a:endParaRPr lang="en-US" sz="1100" dirty="0"/>
          </a:p>
        </p:txBody>
      </p:sp>
      <p:sp>
        <p:nvSpPr>
          <p:cNvPr id="70" name="Text 43"/>
          <p:cNvSpPr txBox="1"/>
          <p:nvPr/>
        </p:nvSpPr>
        <p:spPr>
          <a:xfrm>
            <a:off x="1097280" y="42153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0:52</a:t>
            </a:r>
            <a:endParaRPr lang="en-US" sz="1200" dirty="0"/>
          </a:p>
        </p:txBody>
      </p:sp>
      <p:sp>
        <p:nvSpPr>
          <p:cNvPr id="71" name="Text 44"/>
          <p:cNvSpPr txBox="1"/>
          <p:nvPr/>
        </p:nvSpPr>
        <p:spPr>
          <a:xfrm>
            <a:off x="1783080" y="421538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Spiegelmoment 1</a:t>
            </a:r>
            <a:endParaRPr lang="en-US" sz="1300" dirty="0"/>
          </a:p>
        </p:txBody>
      </p:sp>
      <p:sp>
        <p:nvSpPr>
          <p:cNvPr id="72" name="Text 45"/>
          <p:cNvSpPr txBox="1"/>
          <p:nvPr/>
        </p:nvSpPr>
        <p:spPr>
          <a:xfrm>
            <a:off x="4617720" y="42153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15 min</a:t>
            </a:r>
            <a:endParaRPr lang="en-US" sz="1200" dirty="0"/>
          </a:p>
        </p:txBody>
      </p:sp>
      <p:sp>
        <p:nvSpPr>
          <p:cNvPr id="73" name="Text 46"/>
          <p:cNvSpPr txBox="1"/>
          <p:nvPr/>
        </p:nvSpPr>
        <p:spPr>
          <a:xfrm>
            <a:off x="5303520" y="421538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Bespreek de skill: wat zit erin, wat deed jij anders?</a:t>
            </a:r>
            <a:endParaRPr lang="en-US" sz="1100" dirty="0"/>
          </a:p>
        </p:txBody>
      </p:sp>
      <p:sp>
        <p:nvSpPr>
          <p:cNvPr id="74" name="Shape 47"/>
          <p:cNvSpPr/>
          <p:nvPr/>
        </p:nvSpPr>
        <p:spPr>
          <a:xfrm>
            <a:off x="9646920" y="4274820"/>
            <a:ext cx="1874520" cy="265176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5" name="Text 48"/>
          <p:cNvSpPr txBox="1"/>
          <p:nvPr/>
        </p:nvSpPr>
        <p:spPr>
          <a:xfrm>
            <a:off x="9646920" y="4274820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 1 doet ronde 1</a:t>
            </a:r>
            <a:endParaRPr lang="en-US" sz="1000" dirty="0"/>
          </a:p>
        </p:txBody>
      </p:sp>
      <p:sp>
        <p:nvSpPr>
          <p:cNvPr id="76" name="Shape 33"/>
          <p:cNvSpPr/>
          <p:nvPr/>
        </p:nvSpPr>
        <p:spPr>
          <a:xfrm>
            <a:off x="548640" y="4636008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7" name="Shape 34"/>
          <p:cNvSpPr/>
          <p:nvPr/>
        </p:nvSpPr>
        <p:spPr>
          <a:xfrm>
            <a:off x="640080" y="4681728"/>
            <a:ext cx="292608" cy="292608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8" name="Text 35"/>
          <p:cNvSpPr txBox="1"/>
          <p:nvPr/>
        </p:nvSpPr>
        <p:spPr>
          <a:xfrm>
            <a:off x="64008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8</a:t>
            </a:r>
            <a:endParaRPr lang="en-US" sz="1100" dirty="0"/>
          </a:p>
        </p:txBody>
      </p:sp>
      <p:sp>
        <p:nvSpPr>
          <p:cNvPr id="79" name="Text 36"/>
          <p:cNvSpPr txBox="1"/>
          <p:nvPr/>
        </p:nvSpPr>
        <p:spPr>
          <a:xfrm>
            <a:off x="1097280" y="46360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1:07</a:t>
            </a:r>
            <a:endParaRPr lang="en-US" sz="1200" dirty="0"/>
          </a:p>
        </p:txBody>
      </p:sp>
      <p:sp>
        <p:nvSpPr>
          <p:cNvPr id="80" name="Text 37"/>
          <p:cNvSpPr txBox="1"/>
          <p:nvPr/>
        </p:nvSpPr>
        <p:spPr>
          <a:xfrm>
            <a:off x="1783080" y="46360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2: dashboard bouwen</a:t>
            </a:r>
            <a:endParaRPr lang="en-US" sz="1300" dirty="0"/>
          </a:p>
        </p:txBody>
      </p:sp>
      <p:sp>
        <p:nvSpPr>
          <p:cNvPr id="81" name="Text 38"/>
          <p:cNvSpPr txBox="1"/>
          <p:nvPr/>
        </p:nvSpPr>
        <p:spPr>
          <a:xfrm>
            <a:off x="4617720" y="46360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22 min</a:t>
            </a:r>
            <a:endParaRPr lang="en-US" sz="1200" dirty="0"/>
          </a:p>
        </p:txBody>
      </p:sp>
      <p:sp>
        <p:nvSpPr>
          <p:cNvPr id="82" name="Text 39"/>
          <p:cNvSpPr txBox="1"/>
          <p:nvPr/>
        </p:nvSpPr>
        <p:spPr>
          <a:xfrm>
            <a:off x="5303520" y="4636008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Bouw het dashboard met eerlijke framing en toegankelijke grafieken</a:t>
            </a:r>
            <a:endParaRPr lang="en-US" sz="1100" dirty="0"/>
          </a:p>
        </p:txBody>
      </p:sp>
      <p:sp>
        <p:nvSpPr>
          <p:cNvPr id="83" name="Shape 40"/>
          <p:cNvSpPr/>
          <p:nvPr/>
        </p:nvSpPr>
        <p:spPr>
          <a:xfrm>
            <a:off x="548640" y="5056632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4" name="Shape 41"/>
          <p:cNvSpPr/>
          <p:nvPr/>
        </p:nvSpPr>
        <p:spPr>
          <a:xfrm>
            <a:off x="640080" y="5102352"/>
            <a:ext cx="292608" cy="292608"/>
          </a:xfrm>
          <a:prstGeom prst="ellipse">
            <a:avLst/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5" name="Text 42"/>
          <p:cNvSpPr txBox="1"/>
          <p:nvPr/>
        </p:nvSpPr>
        <p:spPr>
          <a:xfrm>
            <a:off x="640080" y="5102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9</a:t>
            </a:r>
            <a:endParaRPr lang="en-US" sz="1100" dirty="0"/>
          </a:p>
        </p:txBody>
      </p:sp>
      <p:sp>
        <p:nvSpPr>
          <p:cNvPr id="86" name="Text 43"/>
          <p:cNvSpPr txBox="1"/>
          <p:nvPr/>
        </p:nvSpPr>
        <p:spPr>
          <a:xfrm>
            <a:off x="1097280" y="50566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1:29</a:t>
            </a:r>
            <a:endParaRPr lang="en-US" sz="1200" dirty="0"/>
          </a:p>
        </p:txBody>
      </p:sp>
      <p:sp>
        <p:nvSpPr>
          <p:cNvPr id="87" name="Text 44"/>
          <p:cNvSpPr txBox="1"/>
          <p:nvPr/>
        </p:nvSpPr>
        <p:spPr>
          <a:xfrm>
            <a:off x="1783080" y="50566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Spiegelmoment 2</a:t>
            </a:r>
            <a:endParaRPr lang="en-US" sz="1300" dirty="0"/>
          </a:p>
        </p:txBody>
      </p:sp>
      <p:sp>
        <p:nvSpPr>
          <p:cNvPr id="88" name="Text 45"/>
          <p:cNvSpPr txBox="1"/>
          <p:nvPr/>
        </p:nvSpPr>
        <p:spPr>
          <a:xfrm>
            <a:off x="4617720" y="50566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15 min</a:t>
            </a:r>
            <a:endParaRPr lang="en-US" sz="1200" dirty="0"/>
          </a:p>
        </p:txBody>
      </p:sp>
      <p:sp>
        <p:nvSpPr>
          <p:cNvPr id="89" name="Text 46"/>
          <p:cNvSpPr txBox="1"/>
          <p:nvPr/>
        </p:nvSpPr>
        <p:spPr>
          <a:xfrm>
            <a:off x="5303520" y="50566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Bespreek de skill: wat zit erin, wat miste je dashboard?</a:t>
            </a:r>
            <a:endParaRPr lang="en-US" sz="1100" dirty="0"/>
          </a:p>
        </p:txBody>
      </p:sp>
      <p:sp>
        <p:nvSpPr>
          <p:cNvPr id="90" name="Shape 47"/>
          <p:cNvSpPr/>
          <p:nvPr/>
        </p:nvSpPr>
        <p:spPr>
          <a:xfrm>
            <a:off x="9646920" y="5116068"/>
            <a:ext cx="1874520" cy="265176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1" name="Text 48"/>
          <p:cNvSpPr txBox="1"/>
          <p:nvPr/>
        </p:nvSpPr>
        <p:spPr>
          <a:xfrm>
            <a:off x="9646920" y="5116068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 2 doet ronde 2</a:t>
            </a:r>
            <a:endParaRPr lang="en-US" sz="1000" dirty="0"/>
          </a:p>
        </p:txBody>
      </p:sp>
      <p:sp>
        <p:nvSpPr>
          <p:cNvPr id="92" name="Shape 81"/>
          <p:cNvSpPr/>
          <p:nvPr/>
        </p:nvSpPr>
        <p:spPr>
          <a:xfrm>
            <a:off x="548640" y="5477256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3" name="Shape 82"/>
          <p:cNvSpPr/>
          <p:nvPr/>
        </p:nvSpPr>
        <p:spPr>
          <a:xfrm>
            <a:off x="640080" y="5522976"/>
            <a:ext cx="292608" cy="292608"/>
          </a:xfrm>
          <a:prstGeom prst="ellipse">
            <a:avLst/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4" name="Text 83"/>
          <p:cNvSpPr txBox="1"/>
          <p:nvPr/>
        </p:nvSpPr>
        <p:spPr>
          <a:xfrm>
            <a:off x="640080" y="5522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10</a:t>
            </a:r>
            <a:endParaRPr lang="en-US" sz="1100" dirty="0"/>
          </a:p>
        </p:txBody>
      </p:sp>
      <p:sp>
        <p:nvSpPr>
          <p:cNvPr id="95" name="Text 84"/>
          <p:cNvSpPr txBox="1"/>
          <p:nvPr/>
        </p:nvSpPr>
        <p:spPr>
          <a:xfrm>
            <a:off x="1097280" y="54772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1:44</a:t>
            </a:r>
            <a:endParaRPr lang="en-US" sz="1200" dirty="0"/>
          </a:p>
        </p:txBody>
      </p:sp>
      <p:sp>
        <p:nvSpPr>
          <p:cNvPr id="96" name="Text 85"/>
          <p:cNvSpPr txBox="1"/>
          <p:nvPr/>
        </p:nvSpPr>
        <p:spPr>
          <a:xfrm>
            <a:off x="1783080" y="54772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Evaluatie en afsluiting</a:t>
            </a:r>
            <a:endParaRPr lang="en-US" sz="1300" dirty="0"/>
          </a:p>
        </p:txBody>
      </p:sp>
      <p:sp>
        <p:nvSpPr>
          <p:cNvPr id="97" name="Text 86"/>
          <p:cNvSpPr txBox="1"/>
          <p:nvPr/>
        </p:nvSpPr>
        <p:spPr>
          <a:xfrm>
            <a:off x="4617720" y="54772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16 min</a:t>
            </a:r>
            <a:endParaRPr lang="en-US" sz="1200" dirty="0"/>
          </a:p>
        </p:txBody>
      </p:sp>
      <p:sp>
        <p:nvSpPr>
          <p:cNvPr id="98" name="Text 87"/>
          <p:cNvSpPr txBox="1"/>
          <p:nvPr/>
        </p:nvSpPr>
        <p:spPr>
          <a:xfrm>
            <a:off x="5303520" y="5477256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Terugblik, interesse in een training, wat je wilt leren en wat je meeneemt</a:t>
            </a:r>
            <a:endParaRPr lang="en-US" sz="1100" dirty="0"/>
          </a:p>
        </p:txBody>
      </p:sp>
      <p:sp>
        <p:nvSpPr>
          <p:cNvPr id="99" name="Text 88"/>
          <p:cNvSpPr txBox="1"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Kanttekening: </a:t>
            </a:r>
            <a:r>
              <a:rPr lang="en-US" sz="12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deelnemers werken alleen via de AI-agent. De devcontainer bevat alles wat die nodig heeft (o.a. Python, DuckDB en Streamlit).</a:t>
            </a:r>
            <a:endParaRPr lang="en-US" sz="12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D9D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is synthetische data?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4206240" cy="4480560"/>
          </a:xfrm>
          <a:prstGeom prst="roundRect">
            <a:avLst>
              <a:gd name="adj" fmla="val 6522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2"/>
          <p:cNvSpPr txBox="1"/>
          <p:nvPr/>
        </p:nvSpPr>
        <p:spPr>
          <a:xfrm>
            <a:off x="914400" y="17373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4D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Echt genoeg om mee te oefenen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3200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Kunstmatig gemaakte data die de structuur en verbanden van het echte 1CHO-bestand nabootst.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44348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Zelfde codebook, zelfde definities: wat je vandaag bouwt, werkt straks ook op echte data.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0" y="137160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Shape 6"/>
          <p:cNvSpPr/>
          <p:nvPr/>
        </p:nvSpPr>
        <p:spPr>
          <a:xfrm>
            <a:off x="5303520" y="162763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7"/>
          <p:cNvSpPr txBox="1"/>
          <p:nvPr/>
        </p:nvSpPr>
        <p:spPr>
          <a:xfrm>
            <a:off x="5303520" y="16276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VEILIG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360920" y="1554480"/>
            <a:ext cx="594360" cy="59436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70078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352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Fictieve rijen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5303520" y="2468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Zelfde kolommen en codes als 1CHO, maar geen enkele rij is een bestaand persoon.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412480" y="137160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2"/>
          <p:cNvSpPr/>
          <p:nvPr/>
        </p:nvSpPr>
        <p:spPr>
          <a:xfrm>
            <a:off x="8686800" y="162763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3"/>
          <p:cNvSpPr txBox="1"/>
          <p:nvPr/>
        </p:nvSpPr>
        <p:spPr>
          <a:xfrm>
            <a:off x="8686800" y="16276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OPEN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0744200" y="1554480"/>
            <a:ext cx="594360" cy="59436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0504" y="170078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68680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Mag de agent in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686800" y="2468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Geen AVG-toets of verwerkersovereenkomst nodig: de data mag zo de devcontainer en de AI-agent in.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029200" y="374904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18"/>
          <p:cNvSpPr/>
          <p:nvPr/>
        </p:nvSpPr>
        <p:spPr>
          <a:xfrm>
            <a:off x="5303520" y="400507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19"/>
          <p:cNvSpPr txBox="1"/>
          <p:nvPr/>
        </p:nvSpPr>
        <p:spPr>
          <a:xfrm>
            <a:off x="5303520" y="4005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LET OP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360920" y="3931920"/>
            <a:ext cx="594360" cy="594360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4" y="4078224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0352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Bewust gemaakt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5303520" y="4846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Bewust een patroon en enkele kleine groepen ingebakken, zodat er iets te vinden én te blokkeren is.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412480" y="374904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D6E2FD"/>
          </a:solidFill>
          <a:ln w="12700">
            <a:solidFill>
              <a:srgbClr val="D6E2F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4"/>
          <p:cNvSpPr/>
          <p:nvPr/>
        </p:nvSpPr>
        <p:spPr>
          <a:xfrm>
            <a:off x="8686800" y="400507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25"/>
          <p:cNvSpPr txBox="1"/>
          <p:nvPr/>
        </p:nvSpPr>
        <p:spPr>
          <a:xfrm>
            <a:off x="8686800" y="4005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LET OP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10744200" y="3931920"/>
            <a:ext cx="594360" cy="594360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0504" y="4078224"/>
            <a:ext cx="301752" cy="30175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68680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Alleen oefenen</a:t>
            </a:r>
            <a:endParaRPr lang="en-US" sz="2000" dirty="0"/>
          </a:p>
        </p:txBody>
      </p:sp>
      <p:sp>
        <p:nvSpPr>
          <p:cNvPr id="36" name="Text 28"/>
          <p:cNvSpPr txBox="1"/>
          <p:nvPr/>
        </p:nvSpPr>
        <p:spPr>
          <a:xfrm>
            <a:off x="8686800" y="4846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Je oefent de werkwijze, niet de uitkomst. Validatie vraagt echte data, buiten de devcontainer.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5029200" y="603504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Synthetisch is niet willekeurig: de verdelingen lijken op de werkelijkheid, de personen bestaan niet.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5D4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opdracht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1463040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1463040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Vraag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Kies de casus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200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HOE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474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Eén casusvraag over het 1CHO-bestand (A, B of C) staat de hele sessie centraal.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scherpe vraag die je aan het eind kunt beantwoorden.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069080" y="3246120"/>
            <a:ext cx="219456" cy="457200"/>
          </a:xfrm>
          <a:prstGeom prst="chevron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2"/>
          <p:cNvSpPr/>
          <p:nvPr/>
        </p:nvSpPr>
        <p:spPr>
          <a:xfrm>
            <a:off x="4379976" y="137160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3"/>
          <p:cNvSpPr/>
          <p:nvPr/>
        </p:nvSpPr>
        <p:spPr>
          <a:xfrm>
            <a:off x="4654296" y="164592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4"/>
          <p:cNvSpPr txBox="1"/>
          <p:nvPr/>
        </p:nvSpPr>
        <p:spPr>
          <a:xfrm>
            <a:off x="465429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294376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6"/>
          <p:cNvSpPr txBox="1"/>
          <p:nvPr/>
        </p:nvSpPr>
        <p:spPr>
          <a:xfrm>
            <a:off x="5294376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Samen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654296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Werk in tweetallen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4654296" y="3200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HOE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654296" y="3474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Eén typt de opdrachten, de ander checkt of het antwoord klopt. Wissel per ronde.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654296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4654296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eigen aanpak, gespiegeld aan de tweetallen om je heen.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7900416" y="3246120"/>
            <a:ext cx="219456" cy="457200"/>
          </a:xfrm>
          <a:prstGeom prst="chevron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3"/>
          <p:cNvSpPr/>
          <p:nvPr/>
        </p:nvSpPr>
        <p:spPr>
          <a:xfrm>
            <a:off x="8211312" y="137160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4"/>
          <p:cNvSpPr/>
          <p:nvPr/>
        </p:nvSpPr>
        <p:spPr>
          <a:xfrm>
            <a:off x="8485632" y="164592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5"/>
          <p:cNvSpPr txBox="1"/>
          <p:nvPr/>
        </p:nvSpPr>
        <p:spPr>
          <a:xfrm>
            <a:off x="848563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9125712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7"/>
          <p:cNvSpPr txBox="1"/>
          <p:nvPr/>
        </p:nvSpPr>
        <p:spPr>
          <a:xfrm>
            <a:off x="9125712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Product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8485632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Lever één dashboard</a:t>
            </a:r>
            <a:endParaRPr lang="en-US" sz="2200" dirty="0"/>
          </a:p>
        </p:txBody>
      </p:sp>
      <p:sp>
        <p:nvSpPr>
          <p:cNvPr id="33" name="Text 29"/>
          <p:cNvSpPr txBox="1"/>
          <p:nvPr/>
        </p:nvSpPr>
        <p:spPr>
          <a:xfrm>
            <a:off x="8485632" y="3200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HOE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8485632" y="3474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Bouw in twee rondes een dashboard dat de vraag beantwoordt.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8485632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8485632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kwalitatief antwoord, onderbouwd met het dashboard.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548640" y="57607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is geen goed of fout dashboard. Het gaat om de keuzes die je maakt, en of je ze kunt uitleggen.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5D4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Drie casussen, wij kiezen er één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25880"/>
            <a:ext cx="3429000" cy="4343400"/>
          </a:xfrm>
          <a:prstGeom prst="roundRect">
            <a:avLst>
              <a:gd name="adj" fmla="val 8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2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/>
          <p:cNvSpPr txBox="1"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1463040" y="1673352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1463040" y="1673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Inschrijvingen (1CHO)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2402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Eerstejaarsuitval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108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Uitval na één jaar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5204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VRAAG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7764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Welke eerstejaars stoppen binnen een jaar, en verschilt dat per sector en opleidingsvorm?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5720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MET DE AGENT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828032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Uitval binnen 1 jaar per cohort berekenen en vergelijken naar sector, opleidingsvorm en geslacht.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379976" y="1325880"/>
            <a:ext cx="3429000" cy="4343400"/>
          </a:xfrm>
          <a:prstGeom prst="roundRect">
            <a:avLst>
              <a:gd name="adj" fmla="val 8000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3"/>
          <p:cNvSpPr/>
          <p:nvPr/>
        </p:nvSpPr>
        <p:spPr>
          <a:xfrm>
            <a:off x="4654296" y="160020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4"/>
          <p:cNvSpPr txBox="1"/>
          <p:nvPr/>
        </p:nvSpPr>
        <p:spPr>
          <a:xfrm>
            <a:off x="465429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294376" y="1673352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6"/>
          <p:cNvSpPr txBox="1"/>
          <p:nvPr/>
        </p:nvSpPr>
        <p:spPr>
          <a:xfrm>
            <a:off x="5294376" y="1673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Inschrijvingen (1CHO)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654296" y="22402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Wisselen of stoppen?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4654296" y="3108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Uitval versus studiewissel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4654296" y="35204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VRAAG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654296" y="37764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Stoppen studenten, of wisselen ze van opleiding, en waar gaan de wisselaars heen?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4654296" y="45720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MET DE AGENT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4654296" y="4828032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Uitval en studiewissel (binnen 1 en 3 jaar) onderscheiden en de stromen tussen sectoren tonen.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8211312" y="1325880"/>
            <a:ext cx="3429000" cy="4343400"/>
          </a:xfrm>
          <a:prstGeom prst="roundRect">
            <a:avLst>
              <a:gd name="adj" fmla="val 8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4"/>
          <p:cNvSpPr/>
          <p:nvPr/>
        </p:nvSpPr>
        <p:spPr>
          <a:xfrm>
            <a:off x="8485632" y="160020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5"/>
          <p:cNvSpPr txBox="1"/>
          <p:nvPr/>
        </p:nvSpPr>
        <p:spPr>
          <a:xfrm>
            <a:off x="8485632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9125712" y="1673352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7"/>
          <p:cNvSpPr txBox="1"/>
          <p:nvPr/>
        </p:nvSpPr>
        <p:spPr>
          <a:xfrm>
            <a:off x="9125712" y="1673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Inschrijvingen (1CHO)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8485632" y="22402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VO-cijfers en studiesucces</a:t>
            </a:r>
            <a:endParaRPr lang="en-US" sz="1900" dirty="0"/>
          </a:p>
        </p:txBody>
      </p:sp>
      <p:sp>
        <p:nvSpPr>
          <p:cNvPr id="33" name="Text 29"/>
          <p:cNvSpPr txBox="1"/>
          <p:nvPr/>
        </p:nvSpPr>
        <p:spPr>
          <a:xfrm>
            <a:off x="8485632" y="3108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Rendement en VO-eindcijfer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8485632" y="35204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VRAAG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8485632" y="37764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Halen studenten met hoge VO-cijfers vaker binnen vijf jaar hun diploma?</a:t>
            </a:r>
            <a:endParaRPr lang="en-US" sz="1350" dirty="0"/>
          </a:p>
        </p:txBody>
      </p:sp>
      <p:sp>
        <p:nvSpPr>
          <p:cNvPr id="36" name="Text 32"/>
          <p:cNvSpPr txBox="1"/>
          <p:nvPr/>
        </p:nvSpPr>
        <p:spPr>
          <a:xfrm>
            <a:off x="8485632" y="45720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MET DE AGENT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8485632" y="4828032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Rendement (diploma binnen 3, 5 en 8 jaar) koppelen aan het gemiddelde VO-eindcijfer en de vooropleiding.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Doel: </a:t>
            </a:r>
            <a:r>
              <a:rPr lang="en-US" sz="16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aan het eind een kwalitatief antwoord op de casusvraag, onderbouwd met het dashboard.</a:t>
            </a:r>
            <a:endParaRPr lang="en-US" sz="1600" dirty="0"/>
          </a:p>
        </p:txBody>
      </p:sp>
      <p:sp>
        <p:nvSpPr>
          <p:cNvPr id="39" name="Text 35"/>
          <p:cNvSpPr txBox="1"/>
          <p:nvPr/>
        </p:nvSpPr>
        <p:spPr>
          <a:xfrm>
            <a:off x="548640" y="61996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Voorstel: casus A. Casus C vraagt het VO-eindcijfer, dat niet in het synthetische inschrijvingenbestand zit (dat komt uit VAKHAVW). Definities volgen het package staat1cho.</a:t>
            </a:r>
            <a:endParaRPr lang="en-US" sz="11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68E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is een skill?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22222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2"/>
          <p:cNvSpPr/>
          <p:nvPr/>
        </p:nvSpPr>
        <p:spPr>
          <a:xfrm>
            <a:off x="685800" y="1508760"/>
            <a:ext cx="2468880" cy="960120"/>
          </a:xfrm>
          <a:prstGeom prst="roundRect">
            <a:avLst>
              <a:gd name="adj" fmla="val 20952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3"/>
          <p:cNvSpPr/>
          <p:nvPr/>
        </p:nvSpPr>
        <p:spPr>
          <a:xfrm>
            <a:off x="1920240" y="2606040"/>
            <a:ext cx="0" cy="320040"/>
          </a:xfrm>
          <a:prstGeom prst="line">
            <a:avLst/>
          </a:prstGeom>
          <a:noFill/>
          <a:ln w="25400">
            <a:solidFill>
              <a:srgbClr val="F4D9DC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8" name="Shape 4"/>
          <p:cNvSpPr/>
          <p:nvPr/>
        </p:nvSpPr>
        <p:spPr>
          <a:xfrm flipV="1">
            <a:off x="1783080" y="2670048"/>
            <a:ext cx="274320" cy="182880"/>
          </a:xfrm>
          <a:prstGeom prst="triangl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685800" y="1554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Prompt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299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losse opdracht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13716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jij zelf typt. Het resultaat is elke keer anders en hangt af van hoe je het vraagt.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503920" y="16276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LEVERT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188366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Eén antwoord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2926080"/>
            <a:ext cx="11091672" cy="1234440"/>
          </a:xfrm>
          <a:prstGeom prst="roundRect">
            <a:avLst>
              <a:gd name="adj" fmla="val 22222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Shape 11"/>
          <p:cNvSpPr/>
          <p:nvPr/>
        </p:nvSpPr>
        <p:spPr>
          <a:xfrm>
            <a:off x="685800" y="3063240"/>
            <a:ext cx="2468880" cy="960120"/>
          </a:xfrm>
          <a:prstGeom prst="roundRect">
            <a:avLst>
              <a:gd name="adj" fmla="val 20952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2"/>
          <p:cNvSpPr/>
          <p:nvPr/>
        </p:nvSpPr>
        <p:spPr>
          <a:xfrm>
            <a:off x="1920240" y="4160520"/>
            <a:ext cx="0" cy="320040"/>
          </a:xfrm>
          <a:prstGeom prst="line">
            <a:avLst/>
          </a:prstGeom>
          <a:noFill/>
          <a:ln w="25400">
            <a:solidFill>
              <a:srgbClr val="F4D9DC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3"/>
          <p:cNvSpPr/>
          <p:nvPr/>
        </p:nvSpPr>
        <p:spPr>
          <a:xfrm flipV="1">
            <a:off x="1783080" y="4224528"/>
            <a:ext cx="274320" cy="182880"/>
          </a:xfrm>
          <a:prstGeom prst="triangl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4"/>
          <p:cNvSpPr txBox="1"/>
          <p:nvPr/>
        </p:nvSpPr>
        <p:spPr>
          <a:xfrm>
            <a:off x="685800" y="3108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" y="3584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vast stappenplan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3337560" y="29260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tekstbestand (SKILL.md) met stappen en checks dat de agent volgt. Elke keer dezelfde werkwijze.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31821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LEVERT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43814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Herhaalbare werkwijze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80560"/>
            <a:ext cx="11091672" cy="1234440"/>
          </a:xfrm>
          <a:prstGeom prst="roundRect">
            <a:avLst>
              <a:gd name="adj" fmla="val 22222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20"/>
          <p:cNvSpPr/>
          <p:nvPr/>
        </p:nvSpPr>
        <p:spPr>
          <a:xfrm>
            <a:off x="685800" y="4617720"/>
            <a:ext cx="2468880" cy="960120"/>
          </a:xfrm>
          <a:prstGeom prst="roundRect">
            <a:avLst>
              <a:gd name="adj" fmla="val 20952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1"/>
          <p:cNvSpPr txBox="1"/>
          <p:nvPr/>
        </p:nvSpPr>
        <p:spPr>
          <a:xfrm>
            <a:off x="685800" y="4663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Agent</a:t>
            </a:r>
            <a:endParaRPr lang="en-US" sz="26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" y="51389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uitvoerder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337560" y="44805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AI die het werk doet: leest je opdracht of de skill, schrijft en draait de code. Wij gebruiken Claude Code.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8503920" y="4736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LEVERT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8503920" y="499262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 dat je kunt nalopen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skill is gewoon tekst in de repo: leesbaar, aanpasbaar en deelbaar. Je hoeft niet te kunnen programmeren om er één te schrijven.</a:t>
            </a:r>
            <a:endParaRPr lang="en-US" sz="13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D9D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Waarom skills? Van prompt naar teamkennis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3258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goede prompt helpt jou vandaag. Een goede skill helpt je hele team, elke keer weer.</a:t>
            </a:r>
            <a:endParaRPr lang="en-US" sz="2100" dirty="0"/>
          </a:p>
        </p:txBody>
      </p:sp>
      <p:sp>
        <p:nvSpPr>
          <p:cNvPr id="6" name="Shape 2"/>
          <p:cNvSpPr/>
          <p:nvPr/>
        </p:nvSpPr>
        <p:spPr>
          <a:xfrm>
            <a:off x="548640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/>
          <p:cNvSpPr txBox="1"/>
          <p:nvPr/>
        </p:nvSpPr>
        <p:spPr>
          <a:xfrm>
            <a:off x="822960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1×</a:t>
            </a:r>
            <a:endParaRPr lang="en-US" sz="64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uitschrijven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daarna eindeloos hergebruiken, door iedereen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376879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7"/>
          <p:cNvSpPr txBox="1"/>
          <p:nvPr/>
        </p:nvSpPr>
        <p:spPr>
          <a:xfrm>
            <a:off x="3651199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</a:t>
            </a:r>
            <a:endParaRPr lang="en-US" sz="6400" dirty="0"/>
          </a:p>
        </p:txBody>
      </p:sp>
      <p:sp>
        <p:nvSpPr>
          <p:cNvPr id="12" name="Text 8"/>
          <p:cNvSpPr txBox="1"/>
          <p:nvPr/>
        </p:nvSpPr>
        <p:spPr>
          <a:xfrm>
            <a:off x="3651199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black boxes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651199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je leest precies wat de agent gaat doen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5118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1"/>
          <p:cNvSpPr txBox="1"/>
          <p:nvPr/>
        </p:nvSpPr>
        <p:spPr>
          <a:xfrm>
            <a:off x="6479438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n&lt;30</a:t>
            </a:r>
            <a:endParaRPr lang="en-US" sz="6400" dirty="0"/>
          </a:p>
        </p:txBody>
      </p:sp>
      <p:sp>
        <p:nvSpPr>
          <p:cNvPr id="16" name="Text 12"/>
          <p:cNvSpPr txBox="1"/>
          <p:nvPr/>
        </p:nvSpPr>
        <p:spPr>
          <a:xfrm>
            <a:off x="6479438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ingebouwd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6479438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privacy-drempel en checks vergeet je nooit meer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9033358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5"/>
          <p:cNvSpPr txBox="1"/>
          <p:nvPr/>
        </p:nvSpPr>
        <p:spPr>
          <a:xfrm>
            <a:off x="9307678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€0</a:t>
            </a:r>
            <a:endParaRPr lang="en-US" sz="6400" dirty="0"/>
          </a:p>
        </p:txBody>
      </p:sp>
      <p:sp>
        <p:nvSpPr>
          <p:cNvPr id="20" name="Text 16"/>
          <p:cNvSpPr txBox="1"/>
          <p:nvPr/>
        </p:nvSpPr>
        <p:spPr>
          <a:xfrm>
            <a:off x="9307678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kosten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9307678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tekstbestanden in de repo, deelbaar via Git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19"/>
          <p:cNvSpPr txBox="1"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Zie het zelf: </a:t>
            </a: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na elke ronde doet een skill in één instructie wat jij net met de hand deed.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1996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Vuistregel: elke prompt die je drie keer typt, is een skill in wording.</a:t>
            </a:r>
            <a:endParaRPr lang="en-US" sz="11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6E2FD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komt er in de devcontainer?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1155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Iedereen werkt via de AI-agent: jij stuurt, de agent programmeert.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645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ÉÉN ROUTE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486400" y="1645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BOUWSTENEN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1965960"/>
            <a:ext cx="4572000" cy="3703320"/>
          </a:xfrm>
          <a:prstGeom prst="roundRect">
            <a:avLst>
              <a:gd name="adj" fmla="val 15385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868680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Prompten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3566160" y="23134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7"/>
          <p:cNvSpPr txBox="1"/>
          <p:nvPr/>
        </p:nvSpPr>
        <p:spPr>
          <a:xfrm>
            <a:off x="3566160" y="23134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Voor iedereen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83464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Leg de casus voor aan de AI-agent (Claude Code) in de devcontainer. Jij stuurt en controleert, de agent schrijft de code.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/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Geen programmeerervaring nodig. Wel kritisch kijken: klopt wat de agent doet?</a:t>
            </a:r>
            <a:endParaRPr lang="en-US" sz="1500" dirty="0"/>
          </a:p>
        </p:txBody>
      </p:sp>
      <p:sp>
        <p:nvSpPr>
          <p:cNvPr id="13" name="Shape 14"/>
          <p:cNvSpPr/>
          <p:nvPr/>
        </p:nvSpPr>
        <p:spPr>
          <a:xfrm>
            <a:off x="5486400" y="1965960"/>
            <a:ext cx="615391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5"/>
          <p:cNvSpPr txBox="1"/>
          <p:nvPr/>
        </p:nvSpPr>
        <p:spPr>
          <a:xfrm>
            <a:off x="5715000" y="2020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AI-agent: Claude Code</a:t>
            </a:r>
            <a:endParaRPr lang="en-US" sz="1400" dirty="0"/>
          </a:p>
        </p:txBody>
      </p:sp>
      <p:sp>
        <p:nvSpPr>
          <p:cNvPr id="15" name="Text 16"/>
          <p:cNvSpPr txBox="1"/>
          <p:nvPr/>
        </p:nvSpPr>
        <p:spPr>
          <a:xfrm>
            <a:off x="5715000" y="2267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agent waarmee iedereen werkt</a:t>
            </a:r>
            <a:endParaRPr lang="en-US" sz="1100" dirty="0"/>
          </a:p>
        </p:txBody>
      </p:sp>
      <p:sp>
        <p:nvSpPr>
          <p:cNvPr id="16" name="Shape 17"/>
          <p:cNvSpPr/>
          <p:nvPr/>
        </p:nvSpPr>
        <p:spPr>
          <a:xfrm>
            <a:off x="10012680" y="211226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8"/>
          <p:cNvSpPr txBox="1"/>
          <p:nvPr/>
        </p:nvSpPr>
        <p:spPr>
          <a:xfrm>
            <a:off x="10012680" y="2112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Vast</a:t>
            </a:r>
            <a:endParaRPr lang="en-US" sz="1000" dirty="0"/>
          </a:p>
        </p:txBody>
      </p:sp>
      <p:sp>
        <p:nvSpPr>
          <p:cNvPr id="18" name="Shape 19"/>
          <p:cNvSpPr/>
          <p:nvPr/>
        </p:nvSpPr>
        <p:spPr>
          <a:xfrm>
            <a:off x="5486400" y="2606040"/>
            <a:ext cx="615391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20"/>
          <p:cNvSpPr txBox="1"/>
          <p:nvPr/>
        </p:nvSpPr>
        <p:spPr>
          <a:xfrm>
            <a:off x="5715000" y="2660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Python</a:t>
            </a:r>
            <a:endParaRPr lang="en-US" sz="1400" dirty="0"/>
          </a:p>
        </p:txBody>
      </p:sp>
      <p:sp>
        <p:nvSpPr>
          <p:cNvPr id="20" name="Text 21"/>
          <p:cNvSpPr txBox="1"/>
          <p:nvPr/>
        </p:nvSpPr>
        <p:spPr>
          <a:xfrm>
            <a:off x="571500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agent schrijft de analyse, bijv. met DuckDB</a:t>
            </a:r>
            <a:endParaRPr lang="en-US" sz="1100" dirty="0"/>
          </a:p>
        </p:txBody>
      </p:sp>
      <p:sp>
        <p:nvSpPr>
          <p:cNvPr id="21" name="Shape 22"/>
          <p:cNvSpPr/>
          <p:nvPr/>
        </p:nvSpPr>
        <p:spPr>
          <a:xfrm>
            <a:off x="10012680" y="275234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3"/>
          <p:cNvSpPr txBox="1"/>
          <p:nvPr/>
        </p:nvSpPr>
        <p:spPr>
          <a:xfrm>
            <a:off x="10012680" y="2752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Vast</a:t>
            </a:r>
            <a:endParaRPr lang="en-US" sz="1000" dirty="0"/>
          </a:p>
        </p:txBody>
      </p:sp>
      <p:sp>
        <p:nvSpPr>
          <p:cNvPr id="23" name="Shape 24"/>
          <p:cNvSpPr/>
          <p:nvPr/>
        </p:nvSpPr>
        <p:spPr>
          <a:xfrm>
            <a:off x="5486400" y="3246120"/>
            <a:ext cx="615391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5"/>
          <p:cNvSpPr txBox="1"/>
          <p:nvPr/>
        </p:nvSpPr>
        <p:spPr>
          <a:xfrm>
            <a:off x="5715000" y="33009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en codebook</a:t>
            </a:r>
            <a:endParaRPr lang="en-US" sz="1400" dirty="0"/>
          </a:p>
        </p:txBody>
      </p:sp>
      <p:sp>
        <p:nvSpPr>
          <p:cNvPr id="25" name="Text 26"/>
          <p:cNvSpPr txBox="1"/>
          <p:nvPr/>
        </p:nvSpPr>
        <p:spPr>
          <a:xfrm>
            <a:off x="5715000" y="3547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synthetisch 1CHO-CSV, gelabelde waarden</a:t>
            </a:r>
            <a:endParaRPr lang="en-US" sz="1100" dirty="0"/>
          </a:p>
        </p:txBody>
      </p:sp>
      <p:sp>
        <p:nvSpPr>
          <p:cNvPr id="26" name="Shape 27"/>
          <p:cNvSpPr/>
          <p:nvPr/>
        </p:nvSpPr>
        <p:spPr>
          <a:xfrm>
            <a:off x="10012680" y="339242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8"/>
          <p:cNvSpPr txBox="1"/>
          <p:nvPr/>
        </p:nvSpPr>
        <p:spPr>
          <a:xfrm>
            <a:off x="10012680" y="3392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Vast</a:t>
            </a:r>
            <a:endParaRPr lang="en-US" sz="1000" dirty="0"/>
          </a:p>
        </p:txBody>
      </p:sp>
      <p:sp>
        <p:nvSpPr>
          <p:cNvPr id="28" name="Shape 29"/>
          <p:cNvSpPr/>
          <p:nvPr/>
        </p:nvSpPr>
        <p:spPr>
          <a:xfrm>
            <a:off x="5486400" y="3886200"/>
            <a:ext cx="615391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30"/>
          <p:cNvSpPr txBox="1"/>
          <p:nvPr/>
        </p:nvSpPr>
        <p:spPr>
          <a:xfrm>
            <a:off x="5715000" y="39410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Dashboard: Streamlit</a:t>
            </a:r>
            <a:endParaRPr lang="en-US" sz="1400" dirty="0"/>
          </a:p>
        </p:txBody>
      </p:sp>
      <p:sp>
        <p:nvSpPr>
          <p:cNvPr id="30" name="Text 31"/>
          <p:cNvSpPr txBox="1"/>
          <p:nvPr/>
        </p:nvSpPr>
        <p:spPr>
          <a:xfrm>
            <a:off x="5715000" y="41879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nog niet zeker, tool kan nog wijzigen</a:t>
            </a:r>
            <a:endParaRPr lang="en-US" sz="1100" dirty="0"/>
          </a:p>
        </p:txBody>
      </p:sp>
      <p:sp>
        <p:nvSpPr>
          <p:cNvPr id="31" name="Shape 32"/>
          <p:cNvSpPr/>
          <p:nvPr/>
        </p:nvSpPr>
        <p:spPr>
          <a:xfrm>
            <a:off x="10012680" y="403250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3"/>
          <p:cNvSpPr txBox="1"/>
          <p:nvPr/>
        </p:nvSpPr>
        <p:spPr>
          <a:xfrm>
            <a:off x="10012680" y="40325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Open</a:t>
            </a:r>
            <a:endParaRPr lang="en-US" sz="1000" dirty="0"/>
          </a:p>
        </p:txBody>
      </p:sp>
      <p:sp>
        <p:nvSpPr>
          <p:cNvPr id="33" name="Shape 39"/>
          <p:cNvSpPr/>
          <p:nvPr/>
        </p:nvSpPr>
        <p:spPr>
          <a:xfrm>
            <a:off x="5486400" y="4526280"/>
            <a:ext cx="615391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40"/>
          <p:cNvSpPr txBox="1"/>
          <p:nvPr/>
        </p:nvSpPr>
        <p:spPr>
          <a:xfrm>
            <a:off x="5715000" y="45811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Skills</a:t>
            </a:r>
            <a:endParaRPr lang="en-US" sz="1400" dirty="0"/>
          </a:p>
        </p:txBody>
      </p:sp>
      <p:sp>
        <p:nvSpPr>
          <p:cNvPr id="35" name="Text 41"/>
          <p:cNvSpPr txBox="1"/>
          <p:nvPr/>
        </p:nvSpPr>
        <p:spPr>
          <a:xfrm>
            <a:off x="5715000" y="4828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leider laat ze live zien bij de spiegelmomenten</a:t>
            </a:r>
            <a:endParaRPr lang="en-US" sz="1100" dirty="0"/>
          </a:p>
        </p:txBody>
      </p:sp>
      <p:sp>
        <p:nvSpPr>
          <p:cNvPr id="36" name="Shape 42"/>
          <p:cNvSpPr/>
          <p:nvPr/>
        </p:nvSpPr>
        <p:spPr>
          <a:xfrm>
            <a:off x="10012680" y="467258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Text 43"/>
          <p:cNvSpPr txBox="1"/>
          <p:nvPr/>
        </p:nvSpPr>
        <p:spPr>
          <a:xfrm>
            <a:off x="10012680" y="46725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Vast</a:t>
            </a:r>
            <a:endParaRPr lang="en-US" sz="1000" dirty="0"/>
          </a:p>
        </p:txBody>
      </p:sp>
      <p:sp>
        <p:nvSpPr>
          <p:cNvPr id="38" name="Text 44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Het concept staat, de invulling is deels open: de dashboard-tool kan nog wijzigen.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5D4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Eén dashboard, twee stappen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5344668" cy="4206240"/>
          </a:xfrm>
          <a:prstGeom prst="roundRect">
            <a:avLst>
              <a:gd name="adj" fmla="val 8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1463040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1463040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→ Informatie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331720"/>
            <a:ext cx="47960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1: data exploratie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200400"/>
            <a:ext cx="4796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JE DOET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474720"/>
            <a:ext cx="4796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en codebook verkennen met de agent, de uitkomsten controleren en kleine groepen en definities vastleggen.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89120"/>
            <a:ext cx="4796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ONTSTAAT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663440"/>
            <a:ext cx="47960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Begrip van de data, een schets van twee of drie views en een eerste privacy-check.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984748" y="3246120"/>
            <a:ext cx="219456" cy="457200"/>
          </a:xfrm>
          <a:prstGeom prst="chevron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2"/>
          <p:cNvSpPr/>
          <p:nvPr/>
        </p:nvSpPr>
        <p:spPr>
          <a:xfrm>
            <a:off x="6295644" y="1371600"/>
            <a:ext cx="5344668" cy="4206240"/>
          </a:xfrm>
          <a:prstGeom prst="roundRect">
            <a:avLst>
              <a:gd name="adj" fmla="val 8000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3"/>
          <p:cNvSpPr/>
          <p:nvPr/>
        </p:nvSpPr>
        <p:spPr>
          <a:xfrm>
            <a:off x="6569964" y="164592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4"/>
          <p:cNvSpPr txBox="1"/>
          <p:nvPr/>
        </p:nvSpPr>
        <p:spPr>
          <a:xfrm>
            <a:off x="6569964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7210044" y="1719072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6"/>
          <p:cNvSpPr txBox="1"/>
          <p:nvPr/>
        </p:nvSpPr>
        <p:spPr>
          <a:xfrm>
            <a:off x="7210044" y="17190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Informatie → Kennis → Wijsheid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569964" y="2331720"/>
            <a:ext cx="47960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2: dashboard bouwen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6569964" y="3200400"/>
            <a:ext cx="4796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JE DOET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569964" y="3474720"/>
            <a:ext cx="4796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Grafiek, vergelijking en filter bouwen tot een dashboard dat de casusvraag beantwoordt, met eerlijke framing, bron en toegankelijke grafieken.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569964" y="4389120"/>
            <a:ext cx="4796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ONTSTAAT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6569964" y="4663440"/>
            <a:ext cx="47960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werkend én verantwoord dashboard, bij voorkeur met de conclusie als titel.</a:t>
            </a:r>
            <a:endParaRPr lang="en-US" sz="1400" dirty="0"/>
          </a:p>
        </p:txBody>
      </p:sp>
      <p:sp>
        <p:nvSpPr>
          <p:cNvPr id="26" name="Text 33"/>
          <p:cNvSpPr txBox="1"/>
          <p:nvPr/>
        </p:nvSpPr>
        <p:spPr>
          <a:xfrm>
            <a:off x="548640" y="57607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dashboard is het middel, de casusvraag het doel. De analist voegt de wijsheid toe: wat mag je concluderen en hoe presenteer je het?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68E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skill bij elk spiegelmoment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11091672" cy="1600200"/>
          </a:xfrm>
          <a:prstGeom prst="roundRect">
            <a:avLst>
              <a:gd name="adj" fmla="val 22222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2"/>
          <p:cNvSpPr/>
          <p:nvPr/>
        </p:nvSpPr>
        <p:spPr>
          <a:xfrm>
            <a:off x="685800" y="1691640"/>
            <a:ext cx="2468880" cy="960120"/>
          </a:xfrm>
          <a:prstGeom prst="roundRect">
            <a:avLst>
              <a:gd name="adj" fmla="val 20952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3"/>
          <p:cNvSpPr/>
          <p:nvPr/>
        </p:nvSpPr>
        <p:spPr>
          <a:xfrm>
            <a:off x="1920240" y="2971800"/>
            <a:ext cx="0" cy="457200"/>
          </a:xfrm>
          <a:prstGeom prst="line">
            <a:avLst/>
          </a:prstGeom>
          <a:noFill/>
          <a:ln w="25400">
            <a:solidFill>
              <a:srgbClr val="F4D9DC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8" name="Shape 4"/>
          <p:cNvSpPr/>
          <p:nvPr/>
        </p:nvSpPr>
        <p:spPr>
          <a:xfrm flipV="1">
            <a:off x="1783080" y="3108960"/>
            <a:ext cx="274320" cy="182880"/>
          </a:xfrm>
          <a:prstGeom prst="triangl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68580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 1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212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doet ronde 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137160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Profileert de CSV en het codebook (kolommen, ontbrekende waarden, verdelingen), signaleert kleine groepen, legt de definities vast en schetst twee of drie views.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503920" y="1810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LEVERT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206654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Data-profiel, privacy-check en schets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429000"/>
            <a:ext cx="11091672" cy="1600200"/>
          </a:xfrm>
          <a:prstGeom prst="roundRect">
            <a:avLst>
              <a:gd name="adj" fmla="val 22222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Shape 11"/>
          <p:cNvSpPr/>
          <p:nvPr/>
        </p:nvSpPr>
        <p:spPr>
          <a:xfrm>
            <a:off x="685800" y="3749040"/>
            <a:ext cx="2468880" cy="960120"/>
          </a:xfrm>
          <a:prstGeom prst="roundRect">
            <a:avLst>
              <a:gd name="adj" fmla="val 20952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 txBox="1"/>
          <p:nvPr/>
        </p:nvSpPr>
        <p:spPr>
          <a:xfrm>
            <a:off x="685800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 2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270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doet ronde 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342900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Bouwt uit de schets een dashboard (waarschijnlijk in Streamlit) met grafiek, vergelijking en filter, met de drempel voor kleine aantallen, eerlijke framing, bron en toegankelijkheid erin verweven.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8679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LEVERT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412394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Werkend én verantwoord dashboard</a:t>
            </a:r>
            <a:endParaRPr lang="en-US" sz="1600" dirty="0"/>
          </a:p>
        </p:txBody>
      </p:sp>
      <p:sp>
        <p:nvSpPr>
          <p:cNvPr id="21" name="Text 26"/>
          <p:cNvSpPr txBox="1"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/verkennen en /bouwen. Deelnemers prompten zelf; de leider draait de skills live (gemeten: ongeveer 1 tot 2 en 2 tot 3 minuut). Vaste tussenproducten, kosten €0.</a:t>
            </a:r>
            <a:endParaRPr lang="en-US" sz="13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D9D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Responsible zit in beide rondes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4206240" cy="4480560"/>
          </a:xfrm>
          <a:prstGeom prst="roundRect">
            <a:avLst>
              <a:gd name="adj" fmla="val 6522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2"/>
          <p:cNvSpPr txBox="1"/>
          <p:nvPr/>
        </p:nvSpPr>
        <p:spPr>
          <a:xfrm>
            <a:off x="914400" y="17373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4D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analist voegt de wijsheid toe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3200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agent bouwt snel. Jij bepaalt wat je mag concluderen en hoe je het presenteert.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44348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Beide skills hebben de checks verweven. Na elke ronde zie je wat de tweetallen zelf misten.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0" y="137160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Shape 6"/>
          <p:cNvSpPr/>
          <p:nvPr/>
        </p:nvSpPr>
        <p:spPr>
          <a:xfrm>
            <a:off x="5303520" y="162763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7"/>
          <p:cNvSpPr txBox="1"/>
          <p:nvPr/>
        </p:nvSpPr>
        <p:spPr>
          <a:xfrm>
            <a:off x="5303520" y="16276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1 + 2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360920" y="1554480"/>
            <a:ext cx="594360" cy="59436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70078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352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Privacy-check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5303520" y="2468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Groepen onder 30 studenten en percentages onder 5 niet tonen, en herleidbare combinaties van uitsplitsingen.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412480" y="137160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2"/>
          <p:cNvSpPr/>
          <p:nvPr/>
        </p:nvSpPr>
        <p:spPr>
          <a:xfrm>
            <a:off x="8686800" y="162763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3"/>
          <p:cNvSpPr txBox="1"/>
          <p:nvPr/>
        </p:nvSpPr>
        <p:spPr>
          <a:xfrm>
            <a:off x="8686800" y="16276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2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0744200" y="1554480"/>
            <a:ext cx="594360" cy="59436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0504" y="170078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68680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Toegankelijkheid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686800" y="2468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Kleurcontrast, alt-tekst en een dashboard dat een bestuurder echt kan lezen.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029200" y="374904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18"/>
          <p:cNvSpPr/>
          <p:nvPr/>
        </p:nvSpPr>
        <p:spPr>
          <a:xfrm>
            <a:off x="5303520" y="400507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19"/>
          <p:cNvSpPr txBox="1"/>
          <p:nvPr/>
        </p:nvSpPr>
        <p:spPr>
          <a:xfrm>
            <a:off x="5303520" y="40050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2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360920" y="3931920"/>
            <a:ext cx="594360" cy="594360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4" y="4078224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0352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Eerlijke framing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5303520" y="4846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Cijfers per groep mogen niet stigmatiseren, en een verband is nog geen oorzaak.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412480" y="374904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D6E2FD"/>
          </a:solidFill>
          <a:ln w="12700">
            <a:solidFill>
              <a:srgbClr val="D6E2F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4"/>
          <p:cNvSpPr/>
          <p:nvPr/>
        </p:nvSpPr>
        <p:spPr>
          <a:xfrm>
            <a:off x="8686800" y="400507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25"/>
          <p:cNvSpPr txBox="1"/>
          <p:nvPr/>
        </p:nvSpPr>
        <p:spPr>
          <a:xfrm>
            <a:off x="8686800" y="40050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1 + 2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10744200" y="3931920"/>
            <a:ext cx="594360" cy="594360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0504" y="4078224"/>
            <a:ext cx="301752" cy="30175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68680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Bron en uitleg</a:t>
            </a:r>
            <a:endParaRPr lang="en-US" sz="2000" dirty="0"/>
          </a:p>
        </p:txBody>
      </p:sp>
      <p:sp>
        <p:nvSpPr>
          <p:cNvPr id="36" name="Text 28"/>
          <p:cNvSpPr txBox="1"/>
          <p:nvPr/>
        </p:nvSpPr>
        <p:spPr>
          <a:xfrm>
            <a:off x="8686800" y="4846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Definities uit het codebook, bronvermelding en uitleg bij elke grafiek.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5029200" y="603504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Geen aparte stap: elke skill past de checks toe die bij zijn ronde horen.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D9D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Randvoorwaarden en risico's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3566160" cy="4846320"/>
          </a:xfrm>
          <a:prstGeom prst="roundRect">
            <a:avLst>
              <a:gd name="adj" fmla="val 7692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2"/>
          <p:cNvSpPr txBox="1"/>
          <p:nvPr/>
        </p:nvSpPr>
        <p:spPr>
          <a:xfrm>
            <a:off x="868680" y="1691640"/>
            <a:ext cx="2926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Kanttekening devcontainer: deelnemers werken alleen via de AI-agent, in de Codespaces-omgeving dair-agentic-coding (Claude via Foundry). Python en uv staan erin; DuckDB, Streamlit en Plotly installeert de skill zelf met uv (voorstel: ze vooraf in het image zetten, issue #10). Deelnemers krijgen Claude Sonnet 5.5.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160520"/>
            <a:ext cx="1920240" cy="19202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892040" y="1371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RISICO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777240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MAATREGEL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4343400" y="1691640"/>
            <a:ext cx="7296912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6"/>
          <p:cNvSpPr/>
          <p:nvPr/>
        </p:nvSpPr>
        <p:spPr>
          <a:xfrm>
            <a:off x="4480560" y="1874520"/>
            <a:ext cx="320040" cy="320040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/>
          <p:cNvSpPr txBox="1"/>
          <p:nvPr/>
        </p:nvSpPr>
        <p:spPr>
          <a:xfrm>
            <a:off x="448056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4892040" y="16916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Deelnemers zonder codeerervaring haken af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7772400" y="1691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Iedereen werkt alleen via prompten; de voorbeeldprompt en de skills geven houvast.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343400" y="2450592"/>
            <a:ext cx="7296912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1"/>
          <p:cNvSpPr/>
          <p:nvPr/>
        </p:nvSpPr>
        <p:spPr>
          <a:xfrm>
            <a:off x="4480560" y="2633472"/>
            <a:ext cx="320040" cy="320040"/>
          </a:xfrm>
          <a:prstGeom prst="ellipse">
            <a:avLst/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2"/>
          <p:cNvSpPr txBox="1"/>
          <p:nvPr/>
        </p:nvSpPr>
        <p:spPr>
          <a:xfrm>
            <a:off x="4480560" y="2633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892040" y="24505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agent is niet deterministisch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7772400" y="24505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Per ronde een checkpoint met het verwachte resultaat en minstens twee droge runs vooraf.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343400" y="3209544"/>
            <a:ext cx="7296912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Shape 16"/>
          <p:cNvSpPr/>
          <p:nvPr/>
        </p:nvSpPr>
        <p:spPr>
          <a:xfrm>
            <a:off x="4480560" y="3392424"/>
            <a:ext cx="320040" cy="320040"/>
          </a:xfrm>
          <a:prstGeom prst="ellipse">
            <a:avLst/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17"/>
          <p:cNvSpPr txBox="1"/>
          <p:nvPr/>
        </p:nvSpPr>
        <p:spPr>
          <a:xfrm>
            <a:off x="448056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892040" y="3209544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skill duurt langer dan gepland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7772400" y="320954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Gemeten met hetzelfde model als de deelnemers: 1 tot 2 minuut en 2 tot 3 minuut. Opnieuw meten in de echte omgeving en ruim marge nemen.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343400" y="3968496"/>
            <a:ext cx="7296912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Shape 21"/>
          <p:cNvSpPr/>
          <p:nvPr/>
        </p:nvSpPr>
        <p:spPr>
          <a:xfrm>
            <a:off x="4480560" y="4151376"/>
            <a:ext cx="320040" cy="320040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2"/>
          <p:cNvSpPr txBox="1"/>
          <p:nvPr/>
        </p:nvSpPr>
        <p:spPr>
          <a:xfrm>
            <a:off x="4480560" y="4151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4892040" y="396849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Responsible raakt ondergesneeuwd</a:t>
            </a:r>
            <a:endParaRPr lang="en-US" sz="1250" dirty="0"/>
          </a:p>
        </p:txBody>
      </p:sp>
      <p:sp>
        <p:nvSpPr>
          <p:cNvPr id="29" name="Text 24"/>
          <p:cNvSpPr txBox="1"/>
          <p:nvPr/>
        </p:nvSpPr>
        <p:spPr>
          <a:xfrm>
            <a:off x="7772400" y="396849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checks zitten verweven in beide skills, plus een korte checklist per ronde.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4343400" y="4727448"/>
            <a:ext cx="7296912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6"/>
          <p:cNvSpPr/>
          <p:nvPr/>
        </p:nvSpPr>
        <p:spPr>
          <a:xfrm>
            <a:off x="4480560" y="4910328"/>
            <a:ext cx="320040" cy="320040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27"/>
          <p:cNvSpPr txBox="1"/>
          <p:nvPr/>
        </p:nvSpPr>
        <p:spPr>
          <a:xfrm>
            <a:off x="4480560" y="4910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4892040" y="472744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zonder patroon of kleine groepen</a:t>
            </a:r>
            <a:endParaRPr lang="en-US" sz="1250" dirty="0"/>
          </a:p>
        </p:txBody>
      </p:sp>
      <p:sp>
        <p:nvSpPr>
          <p:cNvPr id="34" name="Text 29"/>
          <p:cNvSpPr txBox="1"/>
          <p:nvPr/>
        </p:nvSpPr>
        <p:spPr>
          <a:xfrm>
            <a:off x="7772400" y="47274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Patroon (sector) en kleine groepen zijn ingebouwd en vooraf gecontroleerd met een antwoordsleutel.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68E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Afsluiting en open punten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4630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4D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Plenaire reflectie: wat verloor en won je?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4D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Vertaal het naar je eigen praktijk.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8404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is synthetisch: echte data vraagt een eigen route. Voor echte 1CHO-data is er het CEDA-pakket eencijferho.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54880"/>
            <a:ext cx="1737360" cy="17373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852160" y="14630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Open punten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5852160" y="2011680"/>
            <a:ext cx="5788152" cy="1005840"/>
          </a:xfrm>
          <a:prstGeom prst="roundRect">
            <a:avLst>
              <a:gd name="adj" fmla="val 20741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6"/>
          <p:cNvSpPr/>
          <p:nvPr/>
        </p:nvSpPr>
        <p:spPr>
          <a:xfrm>
            <a:off x="6126480" y="213969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/>
          <p:cNvSpPr txBox="1"/>
          <p:nvPr/>
        </p:nvSpPr>
        <p:spPr>
          <a:xfrm>
            <a:off x="6126480" y="213969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Casus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248716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Voorstel: casus A. Casus C vraagt het VO-eindcijfer, dat niet in het synthetische bestand zit.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852160" y="3108960"/>
            <a:ext cx="5788152" cy="1005840"/>
          </a:xfrm>
          <a:prstGeom prst="roundRect">
            <a:avLst>
              <a:gd name="adj" fmla="val 20741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6"/>
          <p:cNvSpPr/>
          <p:nvPr/>
        </p:nvSpPr>
        <p:spPr>
          <a:xfrm>
            <a:off x="6126480" y="323697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/>
          <p:cNvSpPr txBox="1"/>
          <p:nvPr/>
        </p:nvSpPr>
        <p:spPr>
          <a:xfrm>
            <a:off x="6126480" y="32369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Omgeving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358444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Pakketten vooraf in het image (issue #10), bij Tomer. Het model is Sonnet 5.5.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852160" y="4206240"/>
            <a:ext cx="5788152" cy="1005840"/>
          </a:xfrm>
          <a:prstGeom prst="roundRect">
            <a:avLst>
              <a:gd name="adj" fmla="val 20741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6"/>
          <p:cNvSpPr/>
          <p:nvPr/>
        </p:nvSpPr>
        <p:spPr>
          <a:xfrm>
            <a:off x="6126480" y="4334255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/>
          <p:cNvSpPr txBox="1"/>
          <p:nvPr/>
        </p:nvSpPr>
        <p:spPr>
          <a:xfrm>
            <a:off x="6126480" y="4334255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4681727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skills en de synthetische data staan in dair-agentic-coding, nog te mergen naar main.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852160" y="5303520"/>
            <a:ext cx="5788152" cy="1005840"/>
          </a:xfrm>
          <a:prstGeom prst="roundRect">
            <a:avLst>
              <a:gd name="adj" fmla="val 20741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6"/>
          <p:cNvSpPr/>
          <p:nvPr/>
        </p:nvSpPr>
        <p:spPr>
          <a:xfrm>
            <a:off x="6126480" y="543153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/>
          <p:cNvSpPr txBox="1"/>
          <p:nvPr/>
        </p:nvSpPr>
        <p:spPr>
          <a:xfrm>
            <a:off x="6126480" y="54315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577900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Peiling-tool, datum en spreker invullen en de skills opnieuw meten in de echte omgeving.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5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Evaluatie en afsluiting</a:t>
            </a:r>
            <a:endParaRPr lang="en-US" sz="34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1463040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1463040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Terugblik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vond je ervan?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200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HOE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474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ging goed, wat zag je nu pas, wat neem je mee? Via de peiling of een kort rondje.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Jouw eigen woorden, anoniem en vrijwillig.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069080" y="3246120"/>
            <a:ext cx="219456" cy="457200"/>
          </a:xfrm>
          <a:prstGeom prst="chevron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2"/>
          <p:cNvSpPr/>
          <p:nvPr/>
        </p:nvSpPr>
        <p:spPr>
          <a:xfrm>
            <a:off x="4379976" y="137160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3"/>
          <p:cNvSpPr/>
          <p:nvPr/>
        </p:nvSpPr>
        <p:spPr>
          <a:xfrm>
            <a:off x="4654296" y="164592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4"/>
          <p:cNvSpPr txBox="1"/>
          <p:nvPr/>
        </p:nvSpPr>
        <p:spPr>
          <a:xfrm>
            <a:off x="465429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294376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6"/>
          <p:cNvSpPr txBox="1"/>
          <p:nvPr/>
        </p:nvSpPr>
        <p:spPr>
          <a:xfrm>
            <a:off x="5294376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Peiling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654296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Interesse in een training?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4654296" y="3200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HOE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654296" y="3474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Meerkeuzevraag: van nee tot een programma van 4 uur per week voor één semester.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654296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4654296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Zicht op hoeveel tijd mensen echt willen vrijmaken.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7900416" y="3246120"/>
            <a:ext cx="219456" cy="457200"/>
          </a:xfrm>
          <a:prstGeom prst="chevron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3"/>
          <p:cNvSpPr/>
          <p:nvPr/>
        </p:nvSpPr>
        <p:spPr>
          <a:xfrm>
            <a:off x="8211312" y="137160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4"/>
          <p:cNvSpPr/>
          <p:nvPr/>
        </p:nvSpPr>
        <p:spPr>
          <a:xfrm>
            <a:off x="8485632" y="164592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5"/>
          <p:cNvSpPr txBox="1"/>
          <p:nvPr/>
        </p:nvSpPr>
        <p:spPr>
          <a:xfrm>
            <a:off x="848563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9125712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7"/>
          <p:cNvSpPr txBox="1"/>
          <p:nvPr/>
        </p:nvSpPr>
        <p:spPr>
          <a:xfrm>
            <a:off x="9125712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Open vraag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8485632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wil je leren?</a:t>
            </a:r>
            <a:endParaRPr lang="en-US" sz="2200" dirty="0"/>
          </a:p>
        </p:txBody>
      </p:sp>
      <p:sp>
        <p:nvSpPr>
          <p:cNvPr id="33" name="Text 29"/>
          <p:cNvSpPr txBox="1"/>
          <p:nvPr/>
        </p:nvSpPr>
        <p:spPr>
          <a:xfrm>
            <a:off x="8485632" y="3200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HOE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8485632" y="3474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wil je precies leren in zo'n training? Kort en concreet.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8485632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8485632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Input voor de inhoud van een vervolg.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548640" y="57607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Evaluatie en afsluiting vormen één blok van 16 minuten, na de laatste uitleg. De antwoorden bepalen of en hoe CEDA een vervolg inricht.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1329</Words>
  <Application>Microsoft Office PowerPoint</Application>
  <PresentationFormat>Widescreen</PresentationFormat>
  <Paragraphs>235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General Sans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CEDA / Npuls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data science in het onderwijs</dc:title>
  <dc:subject>PptxGenJS Presentation</dc:subject>
  <dc:creator>PptxGenJS</dc:creator>
  <cp:lastModifiedBy>Aslam Tanjung</cp:lastModifiedBy>
  <cp:revision>3</cp:revision>
  <dcterms:created xsi:type="dcterms:W3CDTF">2026-09-24T12:15:19Z</dcterms:created>
  <dcterms:modified xsi:type="dcterms:W3CDTF">2026-10-01T13:56:21Z</dcterms:modified>
</cp:coreProperties>
</file>