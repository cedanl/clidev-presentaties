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3-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Het evaluatieblok vóór de afsluiting is nieuw: we vragen straks wat jullie ervan vonden en of er een vervolg moet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Iedereen heeft een laptop met de devcontainer; check dat per tweetal één laptop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een echte SKILL.md zien, maximaal een minuut. Een goede prompt helpt jou vandaag, een goede skill helpt je hele team elke keer weer. Na elk spiegelmoment doet een skill in één instructie wat jullie net met de hand deden. Geen black box: je kunt lezen wat de agent gaat doen.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Activeren van de skills duurt maximaal een minuut; lukt dat niet, dan is dat een signaal over de devcontainer en niet over de deelnemer.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tweetal één minuut: wat deden jullie, wat vonden jullie lastig, wat vonden jullie nog niet. Niet oordelen. Daarna draai je /workshop-verkennen op dezelfde data,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samen: wat zag de skill wat jullie misten, en wat deden jullie wat de skill niet deed? Leg het verschil neer als bevinding. De definities komen uit het package staat1cho (CEDA). De drempel van 30 en 5 is een keuze van het project en nog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groep één minuut. Zet daarna de volgende dia nog niet aan: eerst vragen welke verschillen groepen op hun dashboard hadden staan (sector? geslacht?).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Wie "vrouwen vallen vaker uit" op een dashboard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skill 2 live draaien, laat de uitkomst kort zien en vergelijk met de dashboards van de groepen. De analist voegt de wijsheid toe: wat mag je concluderen en hoe presenteer je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eerst toestemming: de antwoorden zijn anoniem en gebruiken we om te bepalen of er een vervolg komt. Terugblik via workshop-reflectie of de peiling (QR-code). Gebruik de formulering uit workshop-rad/skills/workshop-reflectie/references/vragenset.md en verander die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drie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1508760" y="621792"/>
            <a:ext cx="3072384" cy="402336"/>
          </a:xfrm>
          <a:prstGeom prst="roundRect">
            <a:avLst>
              <a:gd name="adj" fmla="val 113636"/>
            </a:avLst>
          </a:prstGeom>
          <a:solidFill>
            <a:srgbClr val="F4D74B"/>
          </a:solidFill>
          <a:ln/>
        </p:spPr>
      </p:sp>
      <p:sp>
        <p:nvSpPr>
          <p:cNvPr id="73" name="Text 71"/>
          <p:cNvSpPr/>
          <p:nvPr/>
        </p:nvSpPr>
        <p:spPr>
          <a:xfrm>
            <a:off x="1600200" y="621792"/>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sp>
      <p:sp>
        <p:nvSpPr>
          <p:cNvPr id="78" name="Shape 76"/>
          <p:cNvSpPr/>
          <p:nvPr/>
        </p:nvSpPr>
        <p:spPr>
          <a:xfrm>
            <a:off x="8138160" y="1188720"/>
            <a:ext cx="914400" cy="914400"/>
          </a:xfrm>
          <a:prstGeom prst="ellipse">
            <a:avLst/>
          </a:prstGeom>
          <a:solidFill>
            <a:srgbClr val="F4D74B"/>
          </a:solidFill>
          <a:ln/>
        </p:spPr>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sp>
      <p:sp>
        <p:nvSpPr>
          <p:cNvPr id="82" name="Shape 80"/>
          <p:cNvSpPr/>
          <p:nvPr/>
        </p:nvSpPr>
        <p:spPr>
          <a:xfrm>
            <a:off x="8138160" y="2743200"/>
            <a:ext cx="914400" cy="914400"/>
          </a:xfrm>
          <a:prstGeom prst="ellipse">
            <a:avLst/>
          </a:prstGeom>
          <a:solidFill>
            <a:srgbClr val="F4D9DC"/>
          </a:solidFill>
          <a:ln/>
        </p:spPr>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vervolg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sp>
      <p:sp>
        <p:nvSpPr>
          <p:cNvPr id="90" name="Text 88"/>
          <p:cNvSpPr/>
          <p:nvPr/>
        </p:nvSpPr>
        <p:spPr>
          <a:xfrm>
            <a:off x="7955280" y="6144768"/>
            <a:ext cx="3657600" cy="365760"/>
          </a:xfrm>
          <a:prstGeom prst="rect">
            <a:avLst/>
          </a:prstGeom>
          <a:noFill/>
          <a:ln/>
        </p:spPr>
        <p:txBody>
          <a:bodyPr wrap="square" lIns="0" tIns="0" rIns="0" bIns="0" rtlCol="0" anchor="t"/>
          <a:lstStyle/>
          <a:p>
            <a:pPr algn="r"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1" name="Npuls beeldmerk" descr="npuls-beeldmerk-wit.png"/>
          <p:cNvPicPr>
            <a:picLocks noChangeAspect="1"/>
          </p:cNvPicPr>
          <p:nvPr/>
        </p:nvPicPr>
        <p:blipFill>
          <a:blip r:embed="rId3"/>
          <a:stretch>
            <a:fillRect/>
          </a:stretch>
        </p:blipFill>
        <p:spPr>
          <a:xfrm>
            <a:off x="587248" y="495808"/>
            <a:ext cx="654304" cy="65430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64162"/>
                <a:gridCol w="7766091"/>
                <a:gridCol w="1664162"/>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Tijd</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Blok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Duur</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0:00</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Intro, synthetische data, casus</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17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0:17</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Skills, prompts en de devcontainer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13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0:30</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Ronde 1: data verkennen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22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0:52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Spiegelmoment 1</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1:07</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Ronde 2: dashboard bouwen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22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1:29</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Spiegelmoment 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1:44</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Evaluatie en vervolg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8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Afsluiting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8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De AI-taak</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per cohort</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binnen 1 jaar per cohort berekenen en vergelijken naar sector, geslacht en opleiding.</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Het product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Bestuurder: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instructies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Navigator: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leest de code en controleert de uitkomst</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Vraag je iets?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Dan stel ik een wedervraag: wat zou de agent hier doen?</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Prompt, skill, agent</a:t>
            </a:r>
            <a:endParaRPr lang="en-US" sz="3400" dirty="0"/>
          </a:p>
        </p:txBody>
      </p:sp>
      <p:sp>
        <p:nvSpPr>
          <p:cNvPr id="73" name="Shape 71"/>
          <p:cNvSpPr/>
          <p:nvPr/>
        </p:nvSpPr>
        <p:spPr>
          <a:xfrm>
            <a:off x="548640" y="1371600"/>
            <a:ext cx="3393338" cy="3817620"/>
          </a:xfrm>
          <a:prstGeom prst="roundRect">
            <a:avLst>
              <a:gd name="adj" fmla="val 2033"/>
            </a:avLst>
          </a:prstGeom>
          <a:solidFill>
            <a:srgbClr val="F4D74B"/>
          </a:solidFill>
          <a:ln/>
        </p:spPr>
      </p:sp>
      <p:sp>
        <p:nvSpPr>
          <p:cNvPr id="74" name="Shape 72"/>
          <p:cNvSpPr/>
          <p:nvPr/>
        </p:nvSpPr>
        <p:spPr>
          <a:xfrm>
            <a:off x="822960" y="1719072"/>
            <a:ext cx="2844698" cy="402336"/>
          </a:xfrm>
          <a:prstGeom prst="roundRect">
            <a:avLst>
              <a:gd name="adj" fmla="val 113636"/>
            </a:avLst>
          </a:prstGeom>
          <a:solidFill>
            <a:srgbClr val="3D68EC"/>
          </a:solidFill>
          <a:ln/>
        </p:spPr>
      </p:sp>
      <p:sp>
        <p:nvSpPr>
          <p:cNvPr id="75" name="Text 73"/>
          <p:cNvSpPr/>
          <p:nvPr/>
        </p:nvSpPr>
        <p:spPr>
          <a:xfrm>
            <a:off x="914400"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Losse vraag</a:t>
            </a:r>
            <a:endParaRPr lang="en-US" sz="12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77" name="Text 75"/>
          <p:cNvSpPr/>
          <p:nvPr/>
        </p:nvSpPr>
        <p:spPr>
          <a:xfrm>
            <a:off x="822960"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Je typt wat je wilt. Elke keer anders, de kennis zit in jouw hoofd.</a:t>
            </a:r>
            <a:endParaRPr lang="en-US" sz="1500" dirty="0"/>
          </a:p>
        </p:txBody>
      </p:sp>
      <p:sp>
        <p:nvSpPr>
          <p:cNvPr id="78" name="Text 76"/>
          <p:cNvSpPr/>
          <p:nvPr/>
        </p:nvSpPr>
        <p:spPr>
          <a:xfrm>
            <a:off x="822960"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79" name="Text 77"/>
          <p:cNvSpPr/>
          <p:nvPr/>
        </p:nvSpPr>
        <p:spPr>
          <a:xfrm>
            <a:off x="822960"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antwoord</a:t>
            </a:r>
            <a:endParaRPr lang="en-US" sz="1500" dirty="0"/>
          </a:p>
        </p:txBody>
      </p:sp>
      <p:sp>
        <p:nvSpPr>
          <p:cNvPr id="80" name="Shape 78"/>
          <p:cNvSpPr/>
          <p:nvPr/>
        </p:nvSpPr>
        <p:spPr>
          <a:xfrm>
            <a:off x="4051706" y="3006090"/>
            <a:ext cx="237744" cy="548640"/>
          </a:xfrm>
          <a:prstGeom prst="chevron">
            <a:avLst/>
          </a:prstGeom>
          <a:solidFill>
            <a:srgbClr val="F4D9DC"/>
          </a:solidFill>
          <a:ln/>
        </p:spPr>
      </p:sp>
      <p:sp>
        <p:nvSpPr>
          <p:cNvPr id="81" name="Shape 79"/>
          <p:cNvSpPr/>
          <p:nvPr/>
        </p:nvSpPr>
        <p:spPr>
          <a:xfrm>
            <a:off x="4399178" y="1371600"/>
            <a:ext cx="3393338" cy="3817620"/>
          </a:xfrm>
          <a:prstGeom prst="roundRect">
            <a:avLst>
              <a:gd name="adj" fmla="val 2033"/>
            </a:avLst>
          </a:prstGeom>
          <a:solidFill>
            <a:srgbClr val="F4D9DC"/>
          </a:solidFill>
          <a:ln/>
        </p:spPr>
      </p:sp>
      <p:sp>
        <p:nvSpPr>
          <p:cNvPr id="82" name="Shape 80"/>
          <p:cNvSpPr/>
          <p:nvPr/>
        </p:nvSpPr>
        <p:spPr>
          <a:xfrm>
            <a:off x="4673498" y="1719072"/>
            <a:ext cx="2844698" cy="402336"/>
          </a:xfrm>
          <a:prstGeom prst="roundRect">
            <a:avLst>
              <a:gd name="adj" fmla="val 113636"/>
            </a:avLst>
          </a:prstGeom>
          <a:solidFill>
            <a:srgbClr val="3D68EC"/>
          </a:solidFill>
          <a:ln/>
        </p:spPr>
      </p:sp>
      <p:sp>
        <p:nvSpPr>
          <p:cNvPr id="83" name="Text 81"/>
          <p:cNvSpPr/>
          <p:nvPr/>
        </p:nvSpPr>
        <p:spPr>
          <a:xfrm>
            <a:off x="4764938"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Vastgelegd recept</a:t>
            </a:r>
            <a:endParaRPr lang="en-US" sz="1200" dirty="0"/>
          </a:p>
        </p:txBody>
      </p:sp>
      <p:sp>
        <p:nvSpPr>
          <p:cNvPr id="84" name="Text 82"/>
          <p:cNvSpPr/>
          <p:nvPr/>
        </p:nvSpPr>
        <p:spPr>
          <a:xfrm>
            <a:off x="4673498"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85" name="Text 83"/>
          <p:cNvSpPr/>
          <p:nvPr/>
        </p:nvSpPr>
        <p:spPr>
          <a:xfrm>
            <a:off x="4673498"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map met een SKILL.md: instructies, voorbeelden, checks. Leesbaar en deelbaar.</a:t>
            </a:r>
            <a:endParaRPr lang="en-US" sz="1500" dirty="0"/>
          </a:p>
        </p:txBody>
      </p:sp>
      <p:sp>
        <p:nvSpPr>
          <p:cNvPr id="86" name="Text 84"/>
          <p:cNvSpPr/>
          <p:nvPr/>
        </p:nvSpPr>
        <p:spPr>
          <a:xfrm>
            <a:off x="4673498"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7" name="Text 85"/>
          <p:cNvSpPr/>
          <p:nvPr/>
        </p:nvSpPr>
        <p:spPr>
          <a:xfrm>
            <a:off x="4673498"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Herhaalbare werkwijze</a:t>
            </a:r>
            <a:endParaRPr lang="en-US" sz="1500" dirty="0"/>
          </a:p>
        </p:txBody>
      </p:sp>
      <p:sp>
        <p:nvSpPr>
          <p:cNvPr id="88" name="Shape 86"/>
          <p:cNvSpPr/>
          <p:nvPr/>
        </p:nvSpPr>
        <p:spPr>
          <a:xfrm>
            <a:off x="7902245" y="3006090"/>
            <a:ext cx="237744" cy="548640"/>
          </a:xfrm>
          <a:prstGeom prst="chevron">
            <a:avLst/>
          </a:prstGeom>
          <a:solidFill>
            <a:srgbClr val="F4D9DC"/>
          </a:solidFill>
          <a:ln/>
        </p:spPr>
      </p:sp>
      <p:sp>
        <p:nvSpPr>
          <p:cNvPr id="89" name="Shape 87"/>
          <p:cNvSpPr/>
          <p:nvPr/>
        </p:nvSpPr>
        <p:spPr>
          <a:xfrm>
            <a:off x="8249717" y="1371600"/>
            <a:ext cx="3393338" cy="3817620"/>
          </a:xfrm>
          <a:prstGeom prst="roundRect">
            <a:avLst>
              <a:gd name="adj" fmla="val 2033"/>
            </a:avLst>
          </a:prstGeom>
          <a:solidFill>
            <a:srgbClr val="F4D74B"/>
          </a:solidFill>
          <a:ln/>
        </p:spPr>
      </p:sp>
      <p:sp>
        <p:nvSpPr>
          <p:cNvPr id="90" name="Shape 88"/>
          <p:cNvSpPr/>
          <p:nvPr/>
        </p:nvSpPr>
        <p:spPr>
          <a:xfrm>
            <a:off x="8524037" y="1719072"/>
            <a:ext cx="2844698" cy="402336"/>
          </a:xfrm>
          <a:prstGeom prst="roundRect">
            <a:avLst>
              <a:gd name="adj" fmla="val 113636"/>
            </a:avLst>
          </a:prstGeom>
          <a:solidFill>
            <a:srgbClr val="3D68EC"/>
          </a:solidFill>
          <a:ln/>
        </p:spPr>
      </p:sp>
      <p:sp>
        <p:nvSpPr>
          <p:cNvPr id="91" name="Text 89"/>
          <p:cNvSpPr/>
          <p:nvPr/>
        </p:nvSpPr>
        <p:spPr>
          <a:xfrm>
            <a:off x="8615477"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Voert uit</a:t>
            </a:r>
            <a:endParaRPr lang="en-US" sz="1200" dirty="0"/>
          </a:p>
        </p:txBody>
      </p:sp>
      <p:sp>
        <p:nvSpPr>
          <p:cNvPr id="92" name="Text 90"/>
          <p:cNvSpPr/>
          <p:nvPr/>
        </p:nvSpPr>
        <p:spPr>
          <a:xfrm>
            <a:off x="8524037"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93" name="Text 91"/>
          <p:cNvSpPr/>
          <p:nvPr/>
        </p:nvSpPr>
        <p:spPr>
          <a:xfrm>
            <a:off x="8524037"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Claude Code leest de skill, draait de code en toetst aan de checks.</a:t>
            </a:r>
            <a:endParaRPr lang="en-US" sz="1500" dirty="0"/>
          </a:p>
        </p:txBody>
      </p:sp>
      <p:sp>
        <p:nvSpPr>
          <p:cNvPr id="94" name="Text 92"/>
          <p:cNvSpPr/>
          <p:nvPr/>
        </p:nvSpPr>
        <p:spPr>
          <a:xfrm>
            <a:off x="8524037"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5" name="Text 93"/>
          <p:cNvSpPr/>
          <p:nvPr/>
        </p:nvSpPr>
        <p:spPr>
          <a:xfrm>
            <a:off x="8524037"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Resultaat dat je kunt nalopen</a:t>
            </a:r>
            <a:endParaRPr lang="en-US" sz="1500" dirty="0"/>
          </a:p>
        </p:txBody>
      </p:sp>
      <p:sp>
        <p:nvSpPr>
          <p:cNvPr id="96" name="Text 94"/>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F4D9DC"/>
                </a:solidFill>
                <a:latin typeface="General Sans" pitchFamily="34" charset="0"/>
                <a:ea typeface="General Sans" pitchFamily="34" charset="-122"/>
                <a:cs typeface="General Sans" pitchFamily="34" charset="-120"/>
              </a:rPr>
              <a:t>Vuistregel: elke prompt die je drie keer typt, is een skill in wording.</a:t>
            </a:r>
            <a:endParaRPr lang="en-US" sz="1800" dirty="0"/>
          </a:p>
        </p:txBody>
      </p:sp>
      <p:pic>
        <p:nvPicPr>
          <p:cNvPr id="97"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Python, DuckDB, Streamlit, de data en de skills</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Activeer skill 1</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/workshop-verkennen: dat doen we straks bij het spiegelmoment</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Later</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8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wat deden jullie?</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Twee of drie tweetallen delen hun aanpak. Daarna doet skill 1 de ronde.</a:t>
            </a:r>
            <a:endParaRPr lang="en-US" sz="2200" dirty="0"/>
          </a:p>
        </p:txBody>
      </p:sp>
      <p:pic>
        <p:nvPicPr>
          <p:cNvPr id="76" name="Image 0" descr="exports\261005_workshop_rad_uitvoering\img\gespre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Skill 1 doet ronde 1 in één instructie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Profiel: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rijen, studenten, cohorten, ontbrekende waarden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Definities: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staat1cho-definities van uitval, instroom en rendement</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Kleine groepen: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onder 30 studenten, met secundaire onderdrukking</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Schets: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twee of drie views als tussenproduct (schets.md)</a:t>
            </a:r>
            <a:endParaRPr lang="en-US" sz="1900" dirty="0"/>
          </a:p>
        </p:txBody>
      </p:sp>
      <p:pic>
        <p:nvPicPr>
          <p:cNvPr id="81" name="Image 0" descr="exports\261005_workshop_rad_uitvoering\img\Lamp.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Het dashboard is het middel, de casusvraag het doel.</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wat bouwden jullie?</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Toon twee of drie dashboards. Wat deed je anders, wat miste de agent?</a:t>
            </a:r>
            <a:endParaRPr lang="en-US" sz="2200" dirty="0"/>
          </a:p>
        </p:txBody>
      </p:sp>
      <p:pic>
        <p:nvPicPr>
          <p:cNvPr id="76" name="Image 0" descr="exports\261005_workshop_rad_uitvoering\img\gespre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Skill 2 bouwt het dashboard met de checks erin</a:t>
            </a:r>
            <a:endParaRPr lang="en-US" sz="28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Bouwt: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grafiek, vergelijking en filter uit schets.md</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Past toe:</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drempel, waarneembaarheid, eerlijke framing, toegankelijkheid</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Legt uit: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bron, definities en wat het dashboard niet kan zeggen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Jij bepaalt: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wat je mag concluderen en hoe je het presenteert</a:t>
            </a:r>
            <a:endParaRPr lang="en-US" sz="1900" dirty="0"/>
          </a:p>
        </p:txBody>
      </p:sp>
      <p:pic>
        <p:nvPicPr>
          <p:cNvPr id="81" name="Image 0" descr="exports\261005_workshop_rad_uitvoering\img\Vaantje geel met vin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vervolg: 8 minuten</a:t>
            </a:r>
            <a:endParaRPr lang="en-US" sz="3400" dirty="0"/>
          </a:p>
        </p:txBody>
      </p:sp>
      <p:sp>
        <p:nvSpPr>
          <p:cNvPr id="73" name="Shape 71"/>
          <p:cNvSpPr/>
          <p:nvPr/>
        </p:nvSpPr>
        <p:spPr>
          <a:xfrm>
            <a:off x="548640" y="1371600"/>
            <a:ext cx="3515258" cy="2560320"/>
          </a:xfrm>
          <a:prstGeom prst="roundRect">
            <a:avLst>
              <a:gd name="adj" fmla="val 3571"/>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3D68EC"/>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3 min</a:t>
            </a:r>
            <a:endParaRPr lang="en-US" sz="1200" dirty="0"/>
          </a:p>
        </p:txBody>
      </p:sp>
      <p:sp>
        <p:nvSpPr>
          <p:cNvPr id="78" name="Text 76"/>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Terugblik</a:t>
            </a:r>
            <a:endParaRPr lang="en-US" sz="2200" dirty="0"/>
          </a:p>
        </p:txBody>
      </p:sp>
      <p:sp>
        <p:nvSpPr>
          <p:cNvPr id="79" name="Text 77"/>
          <p:cNvSpPr/>
          <p:nvPr/>
        </p:nvSpPr>
        <p:spPr>
          <a:xfrm>
            <a:off x="822960" y="303580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4338218" y="1371600"/>
            <a:ext cx="3515258" cy="2560320"/>
          </a:xfrm>
          <a:prstGeom prst="roundRect">
            <a:avLst>
              <a:gd name="adj" fmla="val 3571"/>
            </a:avLst>
          </a:prstGeom>
          <a:solidFill>
            <a:srgbClr val="F4D9DC"/>
          </a:solidFill>
          <a:ln/>
        </p:spPr>
      </p:sp>
      <p:sp>
        <p:nvSpPr>
          <p:cNvPr id="81" name="Shape 79"/>
          <p:cNvSpPr/>
          <p:nvPr/>
        </p:nvSpPr>
        <p:spPr>
          <a:xfrm>
            <a:off x="4612538" y="1645920"/>
            <a:ext cx="548640" cy="548640"/>
          </a:xfrm>
          <a:prstGeom prst="ellipse">
            <a:avLst/>
          </a:prstGeom>
          <a:solidFill>
            <a:srgbClr val="3D68E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3D68E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Meerkeuzevraag</a:t>
            </a:r>
            <a:endParaRPr lang="en-US" sz="2200" dirty="0"/>
          </a:p>
        </p:txBody>
      </p:sp>
      <p:sp>
        <p:nvSpPr>
          <p:cNvPr id="86" name="Text 84"/>
          <p:cNvSpPr/>
          <p:nvPr/>
        </p:nvSpPr>
        <p:spPr>
          <a:xfrm>
            <a:off x="4612538" y="303580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8127797" y="1371600"/>
            <a:ext cx="3515258" cy="2560320"/>
          </a:xfrm>
          <a:prstGeom prst="roundRect">
            <a:avLst>
              <a:gd name="adj" fmla="val 3571"/>
            </a:avLst>
          </a:prstGeom>
          <a:solidFill>
            <a:srgbClr val="F4D9DC"/>
          </a:solidFill>
          <a:ln/>
        </p:spPr>
      </p:sp>
      <p:sp>
        <p:nvSpPr>
          <p:cNvPr id="88" name="Shape 86"/>
          <p:cNvSpPr/>
          <p:nvPr/>
        </p:nvSpPr>
        <p:spPr>
          <a:xfrm>
            <a:off x="8402117" y="1645920"/>
            <a:ext cx="548640" cy="548640"/>
          </a:xfrm>
          <a:prstGeom prst="ellipse">
            <a:avLst/>
          </a:prstGeom>
          <a:solidFill>
            <a:srgbClr val="3D68E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3D68E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3 min</a:t>
            </a:r>
            <a:endParaRPr lang="en-US" sz="1200" dirty="0"/>
          </a:p>
        </p:txBody>
      </p:sp>
      <p:sp>
        <p:nvSpPr>
          <p:cNvPr id="92" name="Text 90"/>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 vraag</a:t>
            </a:r>
            <a:endParaRPr lang="en-US" sz="2200" dirty="0"/>
          </a:p>
        </p:txBody>
      </p:sp>
      <p:sp>
        <p:nvSpPr>
          <p:cNvPr id="93" name="Text 91"/>
          <p:cNvSpPr/>
          <p:nvPr/>
        </p:nvSpPr>
        <p:spPr>
          <a:xfrm>
            <a:off x="8402117" y="303580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Text 92"/>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2026-10-05T12:24:22Z</dcterms:created>
  <dcterms:modified xsi:type="dcterms:W3CDTF">2026-10-05T12:24:22Z</dcterms:modified>
</cp:coreProperties>
</file>