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Uitval binnen 1 jaar</c:v>
                </c:pt>
              </c:strCache>
            </c:strRef>
          </c:tx>
          <c:spPr>
            <a:solidFill>
              <a:srgbClr val="3D68EC"/>
            </a:solidFill>
            <a:effectLst/>
          </c:spPr>
          <c:invertIfNegative val="0"/>
          <c:dLbls>
            <c:numFmt formatCode="0.0&quot;%&quot;" sourceLinked="0"/>
            <c:txPr>
              <a:bodyPr/>
              <a:lstStyle/>
              <a:p>
                <a:pPr>
                  <a:defRPr b="0" i="0" strike="noStrike" sz="1200" u="none">
                    <a:solidFill>
                      <a:srgbClr val="000000"/>
                    </a:solidFill>
                    <a:latin typeface="General Sans Semibold"/>
                  </a:defRPr>
                </a:pPr>
              </a:p>
            </c:txPr>
            <c:showLegendKey val="0"/>
            <c:showVal val="1"/>
            <c:showCatName val="0"/>
            <c:showSerName val="0"/>
            <c:showPercent val="0"/>
            <c:showBubbleSize val="0"/>
            <c:showLeaderLines val="0"/>
          </c:dLbls>
          <c:cat>
            <c:multiLvlStrRef>
              <c:f>Sheet1!$A$2:$A$5</c:f>
              <c:multiLvlStrCache>
                <c:ptCount val="4"/>
                <c:lvl>
                  <c:pt idx="0">
                    <c:v>Techniek</c:v>
                  </c:pt>
                  <c:pt idx="1">
                    <c:v>Economie</c:v>
                  </c:pt>
                  <c:pt idx="2">
                    <c:v>Gezondheidszorg</c:v>
                  </c:pt>
                  <c:pt idx="3">
                    <c:v>Totaal</c:v>
                  </c:pt>
                </c:lvl>
              </c:multiLvlStrCache>
            </c:multiLvlStrRef>
          </c:cat>
          <c:val>
            <c:numRef>
              <c:f>Sheet1!$B$2:$B$5</c:f>
              <c:numCache>
                <c:formatCode>General</c:formatCode>
                <c:ptCount val="4"/>
                <c:pt idx="0">
                  <c:v>21.9</c:v>
                </c:pt>
                <c:pt idx="1">
                  <c:v>13.1</c:v>
                </c:pt>
                <c:pt idx="2">
                  <c:v>10.2</c:v>
                </c:pt>
                <c:pt idx="3">
                  <c:v>16.7</c:v>
                </c:pt>
              </c:numCache>
            </c:numRef>
          </c:val>
        </c:ser>
        <c:dLbls>
          <c:numFmt formatCode="0.0&quot;%&quot;" sourceLinked="0"/>
          <c:txPr>
            <a:bodyPr/>
            <a:lstStyle/>
            <a:p>
              <a:pPr>
                <a:defRPr b="0" i="0" strike="noStrike" sz="1200" u="none">
                  <a:solidFill>
                    <a:srgbClr val="000000"/>
                  </a:solidFill>
                  <a:latin typeface="General Sans Semibold"/>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General Sans"/>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DDDD"/>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General San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Zeg in een zin wat vandaag gebeurt: in tweetallen werken met een AI-agent aan één casus, en een dashboard opleveren dat de vraag beantwoordt. Schrijf de eindtijd op een bord: 15:00 bijvoorbeeld.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Vaste CEDA-introslide: wie CEDA is. Kort toelichten, daarna door naar de inhoud.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het schema in dertig seconden door. Benadruk de spiegelmomenten: daar leer je het meest, omdat je ziet wat de groep naast je deed. Het evaluatieblok vóór de afsluiting is nieuw: we vragen straks wat jullie ervan vonden en of er een vervolg moet 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Spelregels: iedereen werkt via de agent, niemand hoeft te kunnen programmeren, wel kritisch kijken. Doel aan het eind: een kwalitatief antwoord op de casusvraag, onderbouwd met je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is synthetisch: gegenereerd naar het patroon van een echt bestand. Zeg hardop: er zit één echt verschil in en één dat alleen toeval is, we vertellen niet welke. Dat is de oefening. Validatie tegen de werkelijkheid doen we niet; dat vraagt echte data buiten de devcontainer.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Casus A gekozen omdat de data daar het sterkst op aansluit. Let op: opleidingsvorm heeft maar één waarde (voltijd). Wie dat zelf ontdekt, ziet waarom verkennen loont. Noem het niet vooraf.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Verdeel de tweetallen nu. Iedereen heeft een laptop met de devcontainer; check dat per tweetal één laptop werkt. Wat ze aan het eind in handen hebben: een eigen aanpak, gespiegeld aan de tweetallen om hen heen.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een echte SKILL.md zien, maximaal een minuut. Een goede prompt helpt jou vandaag, een goede skill helpt je hele team elke keer weer. Na elk spiegelmoment doet een skill in één instructie wat jullie net met de hand deden. Geen black box: je kunt lezen wat de agent gaat doen.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 de eerste instructie live voor, op het scherm. Laat zien dat de agent de code zichtbaar maakt. Activeren van de skills duurt maximaal een minuut; lukt dat niet, dan is dat een signaal over de devcontainer en niet over de deelnemer.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de timer van 22 minuten. Loop rond; beantwoord vragen met een wedervraag. Let op: wie het laatste cohort als 0% uitval toont, zit in de valkuil. Dat bespreken we bij het spiegelmoment.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bestuurder-navigator-ronde. Aan het eind van ronde 1 moeten ze kunnen zeggen hoeveel studenten en cohorten er zijn, welke cohorten niet waarneembaar zijn en waar kleine groepen zitten.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per tweetal één minuut: wat deden jullie, wat vonden jullie lastig, wat vonden jullie nog niet. Niet oordelen. Daarna draai je /workshop-verkennen op dezelfde data,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Vergelijk samen: wat zag de skill wat jullie misten, en wat deden jullie wat de skill niet deed? Leg het verschil neer als bevinding. De definities komen uit het package staat1cho (CEDA). De drempel van 30 en 5 is een keuze van het project en nog niet getoetst door een privacy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Wissel nu van rol. Timer 22 minuten. Loop rond met de responsible-checks in je hoofd: drempel, waarneembaarheid, framing, toegankelijkheid.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zijn de vier minimumeisen. Meer hoeft niet; liever een werkend en uitlegbaar dashboard dan een volle tabbladenwand.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agent bouwt snel. Jij bepaalt wat je mag concluderen. Na ronde 2 zie je wat jullie zelf misten.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per groep één minuut. Zet daarna de volgende dia nog niet aan: eerst vragen welke verschillen groepen op hun dashboard hadden staan (sector? geslacht?).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onthulling. Wie "vrouwen vallen vaker uit" op een dashboard had, ziet hier ruis. Gebruik dit als leermoment zonder beschuldiging. Antwoordsleutel: workshop-rad/data/verwachte_uitkomsten.txt.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skill 2 live draaien, laat de uitkomst kort zien en vergelijk met de dashboards van de groepen. De analist voegt de wijsheid toe: wat mag je concluderen en hoe presenteer je het?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eerst toestemming: de antwoorden zijn anoniem en gebruiken we om te bepalen of er een vervolg komt. Terugblik via workshop-reflectie of de peiling (QR-code). Gebruik de formulering uit workshop-rad/skills/workshop-reflectie/references/vragenset.md en verander die niet.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peiling lopen, twee minuten. Als de peiling-tool nog niet gekozen is, tel handopsteking en noteer de aantallen. Voeg de QR-code hier toe zodra de tool bekend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vraag, drie minuten. Alleen voor wie bij de vorige vraag niet "nee" koos. Vraag om concreet gedrag, niet om een onderwerp als "AI". Eén of twee zinnen is genoeg.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Rondje door de groep, één zin per persoon of op een kaartje. Sluit af met de contactslide. Verwijs voor echte data naar het CEDA-pakket eencijferho.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Vaste afsluitslide: laat deze staan tijdens de vragen, zodat iedereen de links ziet.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cedanl" TargetMode="External"/><Relationship Id="rId3" Type="http://schemas.openxmlformats.org/officeDocument/2006/relationships/hyperlink" Target="https://community.npuls.nl/groups/data-ai" TargetMode="External"/><Relationship Id="rId4" Type="http://schemas.openxmlformats.org/officeDocument/2006/relationships/hyperlink" Target="mailto:ceda@surf.nl" TargetMode="External"/><Relationship Id="rId1" Type="http://schemas.openxmlformats.org/officeDocument/2006/relationships/image" Target="../media/Slide-24-image-1.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68EC"/>
        </a:solidFill>
      </p:bgPr>
    </p:bg>
    <p:spTree>
      <p:nvGrpSpPr>
        <p:cNvPr id="1" name=""/>
        <p:cNvGrpSpPr/>
        <p:nvPr/>
      </p:nvGrpSpPr>
      <p:grpSpPr>
        <a:xfrm>
          <a:off x="0" y="0"/>
          <a:ext cx="0" cy="0"/>
          <a:chOff x="0" y="0"/>
          <a:chExt cx="0" cy="0"/>
        </a:xfrm>
      </p:grpSpPr>
      <p:sp>
        <p:nvSpPr>
          <p:cNvPr id="2" name="Shape 0"/>
          <p:cNvSpPr/>
          <p:nvPr/>
        </p:nvSpPr>
        <p:spPr>
          <a:xfrm>
            <a:off x="883920" y="721360"/>
            <a:ext cx="60960" cy="60960"/>
          </a:xfrm>
          <a:prstGeom prst="ellipse">
            <a:avLst/>
          </a:prstGeom>
          <a:solidFill>
            <a:srgbClr val="F4D9DC"/>
          </a:solidFill>
          <a:ln/>
        </p:spPr>
      </p:sp>
      <p:sp>
        <p:nvSpPr>
          <p:cNvPr id="3" name="Shape 1"/>
          <p:cNvSpPr/>
          <p:nvPr/>
        </p:nvSpPr>
        <p:spPr>
          <a:xfrm>
            <a:off x="945896" y="756920"/>
            <a:ext cx="60960" cy="60960"/>
          </a:xfrm>
          <a:prstGeom prst="ellipse">
            <a:avLst/>
          </a:prstGeom>
          <a:solidFill>
            <a:srgbClr val="F4D9DC"/>
          </a:solidFill>
          <a:ln/>
        </p:spPr>
      </p:sp>
      <p:sp>
        <p:nvSpPr>
          <p:cNvPr id="4" name="Shape 2"/>
          <p:cNvSpPr/>
          <p:nvPr/>
        </p:nvSpPr>
        <p:spPr>
          <a:xfrm>
            <a:off x="945896" y="828040"/>
            <a:ext cx="60960" cy="60960"/>
          </a:xfrm>
          <a:prstGeom prst="ellipse">
            <a:avLst/>
          </a:prstGeom>
          <a:solidFill>
            <a:srgbClr val="F4D9DC"/>
          </a:solidFill>
          <a:ln/>
        </p:spPr>
      </p:sp>
      <p:sp>
        <p:nvSpPr>
          <p:cNvPr id="5" name="Shape 3"/>
          <p:cNvSpPr/>
          <p:nvPr/>
        </p:nvSpPr>
        <p:spPr>
          <a:xfrm>
            <a:off x="883920" y="863600"/>
            <a:ext cx="60960" cy="60960"/>
          </a:xfrm>
          <a:prstGeom prst="ellipse">
            <a:avLst/>
          </a:prstGeom>
          <a:solidFill>
            <a:srgbClr val="F4D9DC"/>
          </a:solidFill>
          <a:ln/>
        </p:spPr>
      </p:sp>
      <p:sp>
        <p:nvSpPr>
          <p:cNvPr id="6" name="Shape 4"/>
          <p:cNvSpPr/>
          <p:nvPr/>
        </p:nvSpPr>
        <p:spPr>
          <a:xfrm>
            <a:off x="821944" y="828040"/>
            <a:ext cx="60960" cy="60960"/>
          </a:xfrm>
          <a:prstGeom prst="ellipse">
            <a:avLst/>
          </a:prstGeom>
          <a:solidFill>
            <a:srgbClr val="F4D9DC"/>
          </a:solidFill>
          <a:ln/>
        </p:spPr>
      </p:sp>
      <p:sp>
        <p:nvSpPr>
          <p:cNvPr id="7" name="Shape 5"/>
          <p:cNvSpPr/>
          <p:nvPr/>
        </p:nvSpPr>
        <p:spPr>
          <a:xfrm>
            <a:off x="821944" y="756920"/>
            <a:ext cx="60960" cy="60960"/>
          </a:xfrm>
          <a:prstGeom prst="ellipse">
            <a:avLst/>
          </a:prstGeom>
          <a:solidFill>
            <a:srgbClr val="F4D9DC"/>
          </a:solidFill>
          <a:ln/>
        </p:spPr>
      </p:sp>
      <p:sp>
        <p:nvSpPr>
          <p:cNvPr id="8" name="Shape 6"/>
          <p:cNvSpPr/>
          <p:nvPr/>
        </p:nvSpPr>
        <p:spPr>
          <a:xfrm>
            <a:off x="889000" y="665480"/>
            <a:ext cx="50800" cy="50800"/>
          </a:xfrm>
          <a:prstGeom prst="ellipse">
            <a:avLst/>
          </a:prstGeom>
          <a:solidFill>
            <a:srgbClr val="F4D9DC"/>
          </a:solidFill>
          <a:ln/>
        </p:spPr>
      </p:sp>
      <p:sp>
        <p:nvSpPr>
          <p:cNvPr id="9" name="Shape 7"/>
          <p:cNvSpPr/>
          <p:nvPr/>
        </p:nvSpPr>
        <p:spPr>
          <a:xfrm>
            <a:off x="966216" y="690880"/>
            <a:ext cx="50800" cy="50800"/>
          </a:xfrm>
          <a:prstGeom prst="ellipse">
            <a:avLst/>
          </a:prstGeom>
          <a:solidFill>
            <a:srgbClr val="F4D9DC"/>
          </a:solidFill>
          <a:ln/>
        </p:spPr>
      </p:sp>
      <p:sp>
        <p:nvSpPr>
          <p:cNvPr id="10" name="Shape 8"/>
          <p:cNvSpPr/>
          <p:nvPr/>
        </p:nvSpPr>
        <p:spPr>
          <a:xfrm>
            <a:off x="1014984" y="756920"/>
            <a:ext cx="50800" cy="50800"/>
          </a:xfrm>
          <a:prstGeom prst="ellipse">
            <a:avLst/>
          </a:prstGeom>
          <a:solidFill>
            <a:srgbClr val="F4D9DC"/>
          </a:solidFill>
          <a:ln/>
        </p:spPr>
      </p:sp>
      <p:sp>
        <p:nvSpPr>
          <p:cNvPr id="11" name="Shape 9"/>
          <p:cNvSpPr/>
          <p:nvPr/>
        </p:nvSpPr>
        <p:spPr>
          <a:xfrm>
            <a:off x="1014984" y="838200"/>
            <a:ext cx="50800" cy="50800"/>
          </a:xfrm>
          <a:prstGeom prst="ellipse">
            <a:avLst/>
          </a:prstGeom>
          <a:solidFill>
            <a:srgbClr val="F4D9DC"/>
          </a:solidFill>
          <a:ln/>
        </p:spPr>
      </p:sp>
      <p:sp>
        <p:nvSpPr>
          <p:cNvPr id="12" name="Shape 10"/>
          <p:cNvSpPr/>
          <p:nvPr/>
        </p:nvSpPr>
        <p:spPr>
          <a:xfrm>
            <a:off x="966216" y="904240"/>
            <a:ext cx="50800" cy="50800"/>
          </a:xfrm>
          <a:prstGeom prst="ellipse">
            <a:avLst/>
          </a:prstGeom>
          <a:solidFill>
            <a:srgbClr val="F4D9DC"/>
          </a:solidFill>
          <a:ln/>
        </p:spPr>
      </p:sp>
      <p:sp>
        <p:nvSpPr>
          <p:cNvPr id="13" name="Shape 11"/>
          <p:cNvSpPr/>
          <p:nvPr/>
        </p:nvSpPr>
        <p:spPr>
          <a:xfrm>
            <a:off x="889000" y="929640"/>
            <a:ext cx="50800" cy="50800"/>
          </a:xfrm>
          <a:prstGeom prst="ellipse">
            <a:avLst/>
          </a:prstGeom>
          <a:solidFill>
            <a:srgbClr val="F4D9DC"/>
          </a:solidFill>
          <a:ln/>
        </p:spPr>
      </p:sp>
      <p:sp>
        <p:nvSpPr>
          <p:cNvPr id="14" name="Shape 12"/>
          <p:cNvSpPr/>
          <p:nvPr/>
        </p:nvSpPr>
        <p:spPr>
          <a:xfrm>
            <a:off x="811784" y="904240"/>
            <a:ext cx="50800" cy="50800"/>
          </a:xfrm>
          <a:prstGeom prst="ellipse">
            <a:avLst/>
          </a:prstGeom>
          <a:solidFill>
            <a:srgbClr val="F4D9DC"/>
          </a:solidFill>
          <a:ln/>
        </p:spPr>
      </p:sp>
      <p:sp>
        <p:nvSpPr>
          <p:cNvPr id="15" name="Shape 13"/>
          <p:cNvSpPr/>
          <p:nvPr/>
        </p:nvSpPr>
        <p:spPr>
          <a:xfrm>
            <a:off x="763016" y="838200"/>
            <a:ext cx="50800" cy="50800"/>
          </a:xfrm>
          <a:prstGeom prst="ellipse">
            <a:avLst/>
          </a:prstGeom>
          <a:solidFill>
            <a:srgbClr val="F4D9DC"/>
          </a:solidFill>
          <a:ln/>
        </p:spPr>
      </p:sp>
      <p:sp>
        <p:nvSpPr>
          <p:cNvPr id="16" name="Shape 14"/>
          <p:cNvSpPr/>
          <p:nvPr/>
        </p:nvSpPr>
        <p:spPr>
          <a:xfrm>
            <a:off x="763016" y="756920"/>
            <a:ext cx="50800" cy="50800"/>
          </a:xfrm>
          <a:prstGeom prst="ellipse">
            <a:avLst/>
          </a:prstGeom>
          <a:solidFill>
            <a:srgbClr val="F4D9DC"/>
          </a:solidFill>
          <a:ln/>
        </p:spPr>
      </p:sp>
      <p:sp>
        <p:nvSpPr>
          <p:cNvPr id="17" name="Shape 15"/>
          <p:cNvSpPr/>
          <p:nvPr/>
        </p:nvSpPr>
        <p:spPr>
          <a:xfrm>
            <a:off x="811784" y="690880"/>
            <a:ext cx="50800" cy="50800"/>
          </a:xfrm>
          <a:prstGeom prst="ellipse">
            <a:avLst/>
          </a:prstGeom>
          <a:solidFill>
            <a:srgbClr val="F4D9DC"/>
          </a:solidFill>
          <a:ln/>
        </p:spPr>
      </p:sp>
      <p:sp>
        <p:nvSpPr>
          <p:cNvPr id="18" name="Shape 16"/>
          <p:cNvSpPr/>
          <p:nvPr/>
        </p:nvSpPr>
        <p:spPr>
          <a:xfrm>
            <a:off x="894080" y="609600"/>
            <a:ext cx="40640" cy="40640"/>
          </a:xfrm>
          <a:prstGeom prst="ellipse">
            <a:avLst/>
          </a:prstGeom>
          <a:solidFill>
            <a:srgbClr val="F4D9DC"/>
          </a:solidFill>
          <a:ln/>
        </p:spPr>
      </p:sp>
      <p:sp>
        <p:nvSpPr>
          <p:cNvPr id="19" name="Shape 17"/>
          <p:cNvSpPr/>
          <p:nvPr/>
        </p:nvSpPr>
        <p:spPr>
          <a:xfrm>
            <a:off x="977392" y="628904"/>
            <a:ext cx="40640" cy="40640"/>
          </a:xfrm>
          <a:prstGeom prst="ellipse">
            <a:avLst/>
          </a:prstGeom>
          <a:solidFill>
            <a:srgbClr val="F4D9DC"/>
          </a:solidFill>
          <a:ln/>
        </p:spPr>
      </p:sp>
      <p:sp>
        <p:nvSpPr>
          <p:cNvPr id="20" name="Shape 18"/>
          <p:cNvSpPr/>
          <p:nvPr/>
        </p:nvSpPr>
        <p:spPr>
          <a:xfrm>
            <a:off x="1045464" y="682752"/>
            <a:ext cx="40640" cy="40640"/>
          </a:xfrm>
          <a:prstGeom prst="ellipse">
            <a:avLst/>
          </a:prstGeom>
          <a:solidFill>
            <a:srgbClr val="F4D9DC"/>
          </a:solidFill>
          <a:ln/>
        </p:spPr>
      </p:sp>
      <p:sp>
        <p:nvSpPr>
          <p:cNvPr id="21" name="Shape 19"/>
          <p:cNvSpPr/>
          <p:nvPr/>
        </p:nvSpPr>
        <p:spPr>
          <a:xfrm>
            <a:off x="1082040" y="759968"/>
            <a:ext cx="40640" cy="40640"/>
          </a:xfrm>
          <a:prstGeom prst="ellipse">
            <a:avLst/>
          </a:prstGeom>
          <a:solidFill>
            <a:srgbClr val="F4D9DC"/>
          </a:solidFill>
          <a:ln/>
        </p:spPr>
      </p:sp>
      <p:sp>
        <p:nvSpPr>
          <p:cNvPr id="22" name="Shape 20"/>
          <p:cNvSpPr/>
          <p:nvPr/>
        </p:nvSpPr>
        <p:spPr>
          <a:xfrm>
            <a:off x="1082040" y="845312"/>
            <a:ext cx="40640" cy="40640"/>
          </a:xfrm>
          <a:prstGeom prst="ellipse">
            <a:avLst/>
          </a:prstGeom>
          <a:solidFill>
            <a:srgbClr val="F4D9DC"/>
          </a:solidFill>
          <a:ln/>
        </p:spPr>
      </p:sp>
      <p:sp>
        <p:nvSpPr>
          <p:cNvPr id="23" name="Shape 21"/>
          <p:cNvSpPr/>
          <p:nvPr/>
        </p:nvSpPr>
        <p:spPr>
          <a:xfrm>
            <a:off x="1045464" y="922528"/>
            <a:ext cx="40640" cy="40640"/>
          </a:xfrm>
          <a:prstGeom prst="ellipse">
            <a:avLst/>
          </a:prstGeom>
          <a:solidFill>
            <a:srgbClr val="F4D9DC"/>
          </a:solidFill>
          <a:ln/>
        </p:spPr>
      </p:sp>
      <p:sp>
        <p:nvSpPr>
          <p:cNvPr id="24" name="Shape 22"/>
          <p:cNvSpPr/>
          <p:nvPr/>
        </p:nvSpPr>
        <p:spPr>
          <a:xfrm>
            <a:off x="977392" y="976376"/>
            <a:ext cx="40640" cy="40640"/>
          </a:xfrm>
          <a:prstGeom prst="ellipse">
            <a:avLst/>
          </a:prstGeom>
          <a:solidFill>
            <a:srgbClr val="F4D9DC"/>
          </a:solidFill>
          <a:ln/>
        </p:spPr>
      </p:sp>
      <p:sp>
        <p:nvSpPr>
          <p:cNvPr id="25" name="Shape 23"/>
          <p:cNvSpPr/>
          <p:nvPr/>
        </p:nvSpPr>
        <p:spPr>
          <a:xfrm>
            <a:off x="894080" y="995680"/>
            <a:ext cx="40640" cy="40640"/>
          </a:xfrm>
          <a:prstGeom prst="ellipse">
            <a:avLst/>
          </a:prstGeom>
          <a:solidFill>
            <a:srgbClr val="F4D9DC"/>
          </a:solidFill>
          <a:ln/>
        </p:spPr>
      </p:sp>
      <p:sp>
        <p:nvSpPr>
          <p:cNvPr id="26" name="Shape 24"/>
          <p:cNvSpPr/>
          <p:nvPr/>
        </p:nvSpPr>
        <p:spPr>
          <a:xfrm>
            <a:off x="810768" y="976376"/>
            <a:ext cx="40640" cy="40640"/>
          </a:xfrm>
          <a:prstGeom prst="ellipse">
            <a:avLst/>
          </a:prstGeom>
          <a:solidFill>
            <a:srgbClr val="F4D9DC"/>
          </a:solidFill>
          <a:ln/>
        </p:spPr>
      </p:sp>
      <p:sp>
        <p:nvSpPr>
          <p:cNvPr id="27" name="Shape 25"/>
          <p:cNvSpPr/>
          <p:nvPr/>
        </p:nvSpPr>
        <p:spPr>
          <a:xfrm>
            <a:off x="742696" y="922528"/>
            <a:ext cx="40640" cy="40640"/>
          </a:xfrm>
          <a:prstGeom prst="ellipse">
            <a:avLst/>
          </a:prstGeom>
          <a:solidFill>
            <a:srgbClr val="F4D9DC"/>
          </a:solidFill>
          <a:ln/>
        </p:spPr>
      </p:sp>
      <p:sp>
        <p:nvSpPr>
          <p:cNvPr id="28" name="Shape 26"/>
          <p:cNvSpPr/>
          <p:nvPr/>
        </p:nvSpPr>
        <p:spPr>
          <a:xfrm>
            <a:off x="706120" y="845312"/>
            <a:ext cx="40640" cy="40640"/>
          </a:xfrm>
          <a:prstGeom prst="ellipse">
            <a:avLst/>
          </a:prstGeom>
          <a:solidFill>
            <a:srgbClr val="F4D9DC"/>
          </a:solidFill>
          <a:ln/>
        </p:spPr>
      </p:sp>
      <p:sp>
        <p:nvSpPr>
          <p:cNvPr id="29" name="Shape 27"/>
          <p:cNvSpPr/>
          <p:nvPr/>
        </p:nvSpPr>
        <p:spPr>
          <a:xfrm>
            <a:off x="706120" y="759968"/>
            <a:ext cx="40640" cy="40640"/>
          </a:xfrm>
          <a:prstGeom prst="ellipse">
            <a:avLst/>
          </a:prstGeom>
          <a:solidFill>
            <a:srgbClr val="F4D9DC"/>
          </a:solidFill>
          <a:ln/>
        </p:spPr>
      </p:sp>
      <p:sp>
        <p:nvSpPr>
          <p:cNvPr id="30" name="Shape 28"/>
          <p:cNvSpPr/>
          <p:nvPr/>
        </p:nvSpPr>
        <p:spPr>
          <a:xfrm>
            <a:off x="742696" y="682752"/>
            <a:ext cx="40640" cy="40640"/>
          </a:xfrm>
          <a:prstGeom prst="ellipse">
            <a:avLst/>
          </a:prstGeom>
          <a:solidFill>
            <a:srgbClr val="F4D9DC"/>
          </a:solidFill>
          <a:ln/>
        </p:spPr>
      </p:sp>
      <p:sp>
        <p:nvSpPr>
          <p:cNvPr id="31" name="Shape 29"/>
          <p:cNvSpPr/>
          <p:nvPr/>
        </p:nvSpPr>
        <p:spPr>
          <a:xfrm>
            <a:off x="810768" y="628904"/>
            <a:ext cx="40640" cy="40640"/>
          </a:xfrm>
          <a:prstGeom prst="ellipse">
            <a:avLst/>
          </a:prstGeom>
          <a:solidFill>
            <a:srgbClr val="F4D9DC"/>
          </a:solidFill>
          <a:ln/>
        </p:spPr>
      </p:sp>
      <p:sp>
        <p:nvSpPr>
          <p:cNvPr id="32" name="Shape 30"/>
          <p:cNvSpPr/>
          <p:nvPr/>
        </p:nvSpPr>
        <p:spPr>
          <a:xfrm>
            <a:off x="898144" y="552704"/>
            <a:ext cx="32512" cy="32512"/>
          </a:xfrm>
          <a:prstGeom prst="ellipse">
            <a:avLst/>
          </a:prstGeom>
          <a:solidFill>
            <a:srgbClr val="F4D9DC"/>
          </a:solidFill>
          <a:ln/>
        </p:spPr>
      </p:sp>
      <p:sp>
        <p:nvSpPr>
          <p:cNvPr id="33" name="Shape 31"/>
          <p:cNvSpPr/>
          <p:nvPr/>
        </p:nvSpPr>
        <p:spPr>
          <a:xfrm>
            <a:off x="985520" y="567944"/>
            <a:ext cx="32512" cy="32512"/>
          </a:xfrm>
          <a:prstGeom prst="ellipse">
            <a:avLst/>
          </a:prstGeom>
          <a:solidFill>
            <a:srgbClr val="F4D9DC"/>
          </a:solidFill>
          <a:ln/>
        </p:spPr>
      </p:sp>
      <p:sp>
        <p:nvSpPr>
          <p:cNvPr id="34" name="Shape 32"/>
          <p:cNvSpPr/>
          <p:nvPr/>
        </p:nvSpPr>
        <p:spPr>
          <a:xfrm>
            <a:off x="1061720" y="611632"/>
            <a:ext cx="32512" cy="32512"/>
          </a:xfrm>
          <a:prstGeom prst="ellipse">
            <a:avLst/>
          </a:prstGeom>
          <a:solidFill>
            <a:srgbClr val="F4D9DC"/>
          </a:solidFill>
          <a:ln/>
        </p:spPr>
      </p:sp>
      <p:sp>
        <p:nvSpPr>
          <p:cNvPr id="35" name="Shape 33"/>
          <p:cNvSpPr/>
          <p:nvPr/>
        </p:nvSpPr>
        <p:spPr>
          <a:xfrm>
            <a:off x="1118616" y="679704"/>
            <a:ext cx="32512" cy="32512"/>
          </a:xfrm>
          <a:prstGeom prst="ellipse">
            <a:avLst/>
          </a:prstGeom>
          <a:solidFill>
            <a:srgbClr val="F4D9DC"/>
          </a:solidFill>
          <a:ln/>
        </p:spPr>
      </p:sp>
      <p:sp>
        <p:nvSpPr>
          <p:cNvPr id="36" name="Shape 34"/>
          <p:cNvSpPr/>
          <p:nvPr/>
        </p:nvSpPr>
        <p:spPr>
          <a:xfrm>
            <a:off x="1148080" y="763016"/>
            <a:ext cx="32512" cy="32512"/>
          </a:xfrm>
          <a:prstGeom prst="ellipse">
            <a:avLst/>
          </a:prstGeom>
          <a:solidFill>
            <a:srgbClr val="F4D9DC"/>
          </a:solidFill>
          <a:ln/>
        </p:spPr>
      </p:sp>
      <p:sp>
        <p:nvSpPr>
          <p:cNvPr id="37" name="Shape 35"/>
          <p:cNvSpPr/>
          <p:nvPr/>
        </p:nvSpPr>
        <p:spPr>
          <a:xfrm>
            <a:off x="1148080" y="850392"/>
            <a:ext cx="32512" cy="32512"/>
          </a:xfrm>
          <a:prstGeom prst="ellipse">
            <a:avLst/>
          </a:prstGeom>
          <a:solidFill>
            <a:srgbClr val="F4D9DC"/>
          </a:solidFill>
          <a:ln/>
        </p:spPr>
      </p:sp>
      <p:sp>
        <p:nvSpPr>
          <p:cNvPr id="38" name="Shape 36"/>
          <p:cNvSpPr/>
          <p:nvPr/>
        </p:nvSpPr>
        <p:spPr>
          <a:xfrm>
            <a:off x="1118616" y="933704"/>
            <a:ext cx="32512" cy="32512"/>
          </a:xfrm>
          <a:prstGeom prst="ellipse">
            <a:avLst/>
          </a:prstGeom>
          <a:solidFill>
            <a:srgbClr val="F4D9DC"/>
          </a:solidFill>
          <a:ln/>
        </p:spPr>
      </p:sp>
      <p:sp>
        <p:nvSpPr>
          <p:cNvPr id="39" name="Shape 37"/>
          <p:cNvSpPr/>
          <p:nvPr/>
        </p:nvSpPr>
        <p:spPr>
          <a:xfrm>
            <a:off x="1061720" y="1001776"/>
            <a:ext cx="32512" cy="32512"/>
          </a:xfrm>
          <a:prstGeom prst="ellipse">
            <a:avLst/>
          </a:prstGeom>
          <a:solidFill>
            <a:srgbClr val="F4D9DC"/>
          </a:solidFill>
          <a:ln/>
        </p:spPr>
      </p:sp>
      <p:sp>
        <p:nvSpPr>
          <p:cNvPr id="40" name="Shape 38"/>
          <p:cNvSpPr/>
          <p:nvPr/>
        </p:nvSpPr>
        <p:spPr>
          <a:xfrm>
            <a:off x="985520" y="1045464"/>
            <a:ext cx="32512" cy="32512"/>
          </a:xfrm>
          <a:prstGeom prst="ellipse">
            <a:avLst/>
          </a:prstGeom>
          <a:solidFill>
            <a:srgbClr val="F4D9DC"/>
          </a:solidFill>
          <a:ln/>
        </p:spPr>
      </p:sp>
      <p:sp>
        <p:nvSpPr>
          <p:cNvPr id="41" name="Shape 39"/>
          <p:cNvSpPr/>
          <p:nvPr/>
        </p:nvSpPr>
        <p:spPr>
          <a:xfrm>
            <a:off x="898144" y="1060704"/>
            <a:ext cx="32512" cy="32512"/>
          </a:xfrm>
          <a:prstGeom prst="ellipse">
            <a:avLst/>
          </a:prstGeom>
          <a:solidFill>
            <a:srgbClr val="F4D9DC"/>
          </a:solidFill>
          <a:ln/>
        </p:spPr>
      </p:sp>
      <p:sp>
        <p:nvSpPr>
          <p:cNvPr id="42" name="Shape 40"/>
          <p:cNvSpPr/>
          <p:nvPr/>
        </p:nvSpPr>
        <p:spPr>
          <a:xfrm>
            <a:off x="810768" y="1045464"/>
            <a:ext cx="32512" cy="32512"/>
          </a:xfrm>
          <a:prstGeom prst="ellipse">
            <a:avLst/>
          </a:prstGeom>
          <a:solidFill>
            <a:srgbClr val="F4D9DC"/>
          </a:solidFill>
          <a:ln/>
        </p:spPr>
      </p:sp>
      <p:sp>
        <p:nvSpPr>
          <p:cNvPr id="43" name="Shape 41"/>
          <p:cNvSpPr/>
          <p:nvPr/>
        </p:nvSpPr>
        <p:spPr>
          <a:xfrm>
            <a:off x="734568" y="1001776"/>
            <a:ext cx="32512" cy="32512"/>
          </a:xfrm>
          <a:prstGeom prst="ellipse">
            <a:avLst/>
          </a:prstGeom>
          <a:solidFill>
            <a:srgbClr val="F4D9DC"/>
          </a:solidFill>
          <a:ln/>
        </p:spPr>
      </p:sp>
      <p:sp>
        <p:nvSpPr>
          <p:cNvPr id="44" name="Shape 42"/>
          <p:cNvSpPr/>
          <p:nvPr/>
        </p:nvSpPr>
        <p:spPr>
          <a:xfrm>
            <a:off x="677672" y="933704"/>
            <a:ext cx="32512" cy="32512"/>
          </a:xfrm>
          <a:prstGeom prst="ellipse">
            <a:avLst/>
          </a:prstGeom>
          <a:solidFill>
            <a:srgbClr val="F4D9DC"/>
          </a:solidFill>
          <a:ln/>
        </p:spPr>
      </p:sp>
      <p:sp>
        <p:nvSpPr>
          <p:cNvPr id="45" name="Shape 43"/>
          <p:cNvSpPr/>
          <p:nvPr/>
        </p:nvSpPr>
        <p:spPr>
          <a:xfrm>
            <a:off x="648208" y="850392"/>
            <a:ext cx="32512" cy="32512"/>
          </a:xfrm>
          <a:prstGeom prst="ellipse">
            <a:avLst/>
          </a:prstGeom>
          <a:solidFill>
            <a:srgbClr val="F4D9DC"/>
          </a:solidFill>
          <a:ln/>
        </p:spPr>
      </p:sp>
      <p:sp>
        <p:nvSpPr>
          <p:cNvPr id="46" name="Shape 44"/>
          <p:cNvSpPr/>
          <p:nvPr/>
        </p:nvSpPr>
        <p:spPr>
          <a:xfrm>
            <a:off x="648208" y="763016"/>
            <a:ext cx="32512" cy="32512"/>
          </a:xfrm>
          <a:prstGeom prst="ellipse">
            <a:avLst/>
          </a:prstGeom>
          <a:solidFill>
            <a:srgbClr val="F4D9DC"/>
          </a:solidFill>
          <a:ln/>
        </p:spPr>
      </p:sp>
      <p:sp>
        <p:nvSpPr>
          <p:cNvPr id="47" name="Shape 45"/>
          <p:cNvSpPr/>
          <p:nvPr/>
        </p:nvSpPr>
        <p:spPr>
          <a:xfrm>
            <a:off x="677672" y="679704"/>
            <a:ext cx="32512" cy="32512"/>
          </a:xfrm>
          <a:prstGeom prst="ellipse">
            <a:avLst/>
          </a:prstGeom>
          <a:solidFill>
            <a:srgbClr val="F4D9DC"/>
          </a:solidFill>
          <a:ln/>
        </p:spPr>
      </p:sp>
      <p:sp>
        <p:nvSpPr>
          <p:cNvPr id="48" name="Shape 46"/>
          <p:cNvSpPr/>
          <p:nvPr/>
        </p:nvSpPr>
        <p:spPr>
          <a:xfrm>
            <a:off x="734568" y="611632"/>
            <a:ext cx="32512" cy="32512"/>
          </a:xfrm>
          <a:prstGeom prst="ellipse">
            <a:avLst/>
          </a:prstGeom>
          <a:solidFill>
            <a:srgbClr val="F4D9DC"/>
          </a:solidFill>
          <a:ln/>
        </p:spPr>
      </p:sp>
      <p:sp>
        <p:nvSpPr>
          <p:cNvPr id="49" name="Shape 47"/>
          <p:cNvSpPr/>
          <p:nvPr/>
        </p:nvSpPr>
        <p:spPr>
          <a:xfrm>
            <a:off x="810768" y="567944"/>
            <a:ext cx="32512" cy="32512"/>
          </a:xfrm>
          <a:prstGeom prst="ellipse">
            <a:avLst/>
          </a:prstGeom>
          <a:solidFill>
            <a:srgbClr val="F4D9DC"/>
          </a:solidFill>
          <a:ln/>
        </p:spPr>
      </p:sp>
      <p:sp>
        <p:nvSpPr>
          <p:cNvPr id="50" name="Shape 48"/>
          <p:cNvSpPr/>
          <p:nvPr/>
        </p:nvSpPr>
        <p:spPr>
          <a:xfrm>
            <a:off x="902208" y="495808"/>
            <a:ext cx="24384" cy="24384"/>
          </a:xfrm>
          <a:prstGeom prst="ellipse">
            <a:avLst/>
          </a:prstGeom>
          <a:solidFill>
            <a:srgbClr val="F4D9DC"/>
          </a:solidFill>
          <a:ln/>
        </p:spPr>
      </p:sp>
      <p:sp>
        <p:nvSpPr>
          <p:cNvPr id="51" name="Shape 49"/>
          <p:cNvSpPr/>
          <p:nvPr/>
        </p:nvSpPr>
        <p:spPr>
          <a:xfrm>
            <a:off x="990600" y="509016"/>
            <a:ext cx="24384" cy="24384"/>
          </a:xfrm>
          <a:prstGeom prst="ellipse">
            <a:avLst/>
          </a:prstGeom>
          <a:solidFill>
            <a:srgbClr val="F4D9DC"/>
          </a:solidFill>
          <a:ln/>
        </p:spPr>
      </p:sp>
      <p:sp>
        <p:nvSpPr>
          <p:cNvPr id="52" name="Shape 50"/>
          <p:cNvSpPr/>
          <p:nvPr/>
        </p:nvSpPr>
        <p:spPr>
          <a:xfrm>
            <a:off x="1072896" y="545592"/>
            <a:ext cx="24384" cy="24384"/>
          </a:xfrm>
          <a:prstGeom prst="ellipse">
            <a:avLst/>
          </a:prstGeom>
          <a:solidFill>
            <a:srgbClr val="F4D9DC"/>
          </a:solidFill>
          <a:ln/>
        </p:spPr>
      </p:sp>
      <p:sp>
        <p:nvSpPr>
          <p:cNvPr id="53" name="Shape 51"/>
          <p:cNvSpPr/>
          <p:nvPr/>
        </p:nvSpPr>
        <p:spPr>
          <a:xfrm>
            <a:off x="1139952" y="604520"/>
            <a:ext cx="24384" cy="24384"/>
          </a:xfrm>
          <a:prstGeom prst="ellipse">
            <a:avLst/>
          </a:prstGeom>
          <a:solidFill>
            <a:srgbClr val="F4D9DC"/>
          </a:solidFill>
          <a:ln/>
        </p:spPr>
      </p:sp>
      <p:sp>
        <p:nvSpPr>
          <p:cNvPr id="54" name="Shape 52"/>
          <p:cNvSpPr/>
          <p:nvPr/>
        </p:nvSpPr>
        <p:spPr>
          <a:xfrm>
            <a:off x="1188720" y="679704"/>
            <a:ext cx="24384" cy="24384"/>
          </a:xfrm>
          <a:prstGeom prst="ellipse">
            <a:avLst/>
          </a:prstGeom>
          <a:solidFill>
            <a:srgbClr val="F4D9DC"/>
          </a:solidFill>
          <a:ln/>
        </p:spPr>
      </p:sp>
      <p:sp>
        <p:nvSpPr>
          <p:cNvPr id="55" name="Shape 53"/>
          <p:cNvSpPr/>
          <p:nvPr/>
        </p:nvSpPr>
        <p:spPr>
          <a:xfrm>
            <a:off x="1214120" y="766064"/>
            <a:ext cx="24384" cy="24384"/>
          </a:xfrm>
          <a:prstGeom prst="ellipse">
            <a:avLst/>
          </a:prstGeom>
          <a:solidFill>
            <a:srgbClr val="F4D9DC"/>
          </a:solidFill>
          <a:ln/>
        </p:spPr>
      </p:sp>
      <p:sp>
        <p:nvSpPr>
          <p:cNvPr id="56" name="Shape 54"/>
          <p:cNvSpPr/>
          <p:nvPr/>
        </p:nvSpPr>
        <p:spPr>
          <a:xfrm>
            <a:off x="1214120" y="855472"/>
            <a:ext cx="24384" cy="24384"/>
          </a:xfrm>
          <a:prstGeom prst="ellipse">
            <a:avLst/>
          </a:prstGeom>
          <a:solidFill>
            <a:srgbClr val="F4D9DC"/>
          </a:solidFill>
          <a:ln/>
        </p:spPr>
      </p:sp>
      <p:sp>
        <p:nvSpPr>
          <p:cNvPr id="57" name="Shape 55"/>
          <p:cNvSpPr/>
          <p:nvPr/>
        </p:nvSpPr>
        <p:spPr>
          <a:xfrm>
            <a:off x="1188720" y="941832"/>
            <a:ext cx="24384" cy="24384"/>
          </a:xfrm>
          <a:prstGeom prst="ellipse">
            <a:avLst/>
          </a:prstGeom>
          <a:solidFill>
            <a:srgbClr val="F4D9DC"/>
          </a:solidFill>
          <a:ln/>
        </p:spPr>
      </p:sp>
      <p:sp>
        <p:nvSpPr>
          <p:cNvPr id="58" name="Shape 56"/>
          <p:cNvSpPr/>
          <p:nvPr/>
        </p:nvSpPr>
        <p:spPr>
          <a:xfrm>
            <a:off x="1139952" y="1017016"/>
            <a:ext cx="24384" cy="24384"/>
          </a:xfrm>
          <a:prstGeom prst="ellipse">
            <a:avLst/>
          </a:prstGeom>
          <a:solidFill>
            <a:srgbClr val="F4D9DC"/>
          </a:solidFill>
          <a:ln/>
        </p:spPr>
      </p:sp>
      <p:sp>
        <p:nvSpPr>
          <p:cNvPr id="59" name="Shape 57"/>
          <p:cNvSpPr/>
          <p:nvPr/>
        </p:nvSpPr>
        <p:spPr>
          <a:xfrm>
            <a:off x="1072896" y="1075944"/>
            <a:ext cx="24384" cy="24384"/>
          </a:xfrm>
          <a:prstGeom prst="ellipse">
            <a:avLst/>
          </a:prstGeom>
          <a:solidFill>
            <a:srgbClr val="F4D9DC"/>
          </a:solidFill>
          <a:ln/>
        </p:spPr>
      </p:sp>
      <p:sp>
        <p:nvSpPr>
          <p:cNvPr id="60" name="Shape 58"/>
          <p:cNvSpPr/>
          <p:nvPr/>
        </p:nvSpPr>
        <p:spPr>
          <a:xfrm>
            <a:off x="990600" y="1112520"/>
            <a:ext cx="24384" cy="24384"/>
          </a:xfrm>
          <a:prstGeom prst="ellipse">
            <a:avLst/>
          </a:prstGeom>
          <a:solidFill>
            <a:srgbClr val="F4D9DC"/>
          </a:solidFill>
          <a:ln/>
        </p:spPr>
      </p:sp>
      <p:sp>
        <p:nvSpPr>
          <p:cNvPr id="61" name="Shape 59"/>
          <p:cNvSpPr/>
          <p:nvPr/>
        </p:nvSpPr>
        <p:spPr>
          <a:xfrm>
            <a:off x="902208" y="1125728"/>
            <a:ext cx="24384" cy="24384"/>
          </a:xfrm>
          <a:prstGeom prst="ellipse">
            <a:avLst/>
          </a:prstGeom>
          <a:solidFill>
            <a:srgbClr val="F4D9DC"/>
          </a:solidFill>
          <a:ln/>
        </p:spPr>
      </p:sp>
      <p:sp>
        <p:nvSpPr>
          <p:cNvPr id="62" name="Shape 60"/>
          <p:cNvSpPr/>
          <p:nvPr/>
        </p:nvSpPr>
        <p:spPr>
          <a:xfrm>
            <a:off x="813816" y="1112520"/>
            <a:ext cx="24384" cy="24384"/>
          </a:xfrm>
          <a:prstGeom prst="ellipse">
            <a:avLst/>
          </a:prstGeom>
          <a:solidFill>
            <a:srgbClr val="F4D9DC"/>
          </a:solidFill>
          <a:ln/>
        </p:spPr>
      </p:sp>
      <p:sp>
        <p:nvSpPr>
          <p:cNvPr id="63" name="Shape 61"/>
          <p:cNvSpPr/>
          <p:nvPr/>
        </p:nvSpPr>
        <p:spPr>
          <a:xfrm>
            <a:off x="731520" y="1075944"/>
            <a:ext cx="24384" cy="24384"/>
          </a:xfrm>
          <a:prstGeom prst="ellipse">
            <a:avLst/>
          </a:prstGeom>
          <a:solidFill>
            <a:srgbClr val="F4D9DC"/>
          </a:solidFill>
          <a:ln/>
        </p:spPr>
      </p:sp>
      <p:sp>
        <p:nvSpPr>
          <p:cNvPr id="64" name="Shape 62"/>
          <p:cNvSpPr/>
          <p:nvPr/>
        </p:nvSpPr>
        <p:spPr>
          <a:xfrm>
            <a:off x="664464" y="1017016"/>
            <a:ext cx="24384" cy="24384"/>
          </a:xfrm>
          <a:prstGeom prst="ellipse">
            <a:avLst/>
          </a:prstGeom>
          <a:solidFill>
            <a:srgbClr val="F4D9DC"/>
          </a:solidFill>
          <a:ln/>
        </p:spPr>
      </p:sp>
      <p:sp>
        <p:nvSpPr>
          <p:cNvPr id="65" name="Shape 63"/>
          <p:cNvSpPr/>
          <p:nvPr/>
        </p:nvSpPr>
        <p:spPr>
          <a:xfrm>
            <a:off x="615696" y="941832"/>
            <a:ext cx="24384" cy="24384"/>
          </a:xfrm>
          <a:prstGeom prst="ellipse">
            <a:avLst/>
          </a:prstGeom>
          <a:solidFill>
            <a:srgbClr val="F4D9DC"/>
          </a:solidFill>
          <a:ln/>
        </p:spPr>
      </p:sp>
      <p:sp>
        <p:nvSpPr>
          <p:cNvPr id="66" name="Shape 64"/>
          <p:cNvSpPr/>
          <p:nvPr/>
        </p:nvSpPr>
        <p:spPr>
          <a:xfrm>
            <a:off x="590296" y="855472"/>
            <a:ext cx="24384" cy="24384"/>
          </a:xfrm>
          <a:prstGeom prst="ellipse">
            <a:avLst/>
          </a:prstGeom>
          <a:solidFill>
            <a:srgbClr val="F4D9DC"/>
          </a:solidFill>
          <a:ln/>
        </p:spPr>
      </p:sp>
      <p:sp>
        <p:nvSpPr>
          <p:cNvPr id="67" name="Shape 65"/>
          <p:cNvSpPr/>
          <p:nvPr/>
        </p:nvSpPr>
        <p:spPr>
          <a:xfrm>
            <a:off x="590296" y="766064"/>
            <a:ext cx="24384" cy="24384"/>
          </a:xfrm>
          <a:prstGeom prst="ellipse">
            <a:avLst/>
          </a:prstGeom>
          <a:solidFill>
            <a:srgbClr val="F4D9DC"/>
          </a:solidFill>
          <a:ln/>
        </p:spPr>
      </p:sp>
      <p:sp>
        <p:nvSpPr>
          <p:cNvPr id="68" name="Shape 66"/>
          <p:cNvSpPr/>
          <p:nvPr/>
        </p:nvSpPr>
        <p:spPr>
          <a:xfrm>
            <a:off x="615696" y="679704"/>
            <a:ext cx="24384" cy="24384"/>
          </a:xfrm>
          <a:prstGeom prst="ellipse">
            <a:avLst/>
          </a:prstGeom>
          <a:solidFill>
            <a:srgbClr val="F4D9DC"/>
          </a:solidFill>
          <a:ln/>
        </p:spPr>
      </p:sp>
      <p:sp>
        <p:nvSpPr>
          <p:cNvPr id="69" name="Shape 67"/>
          <p:cNvSpPr/>
          <p:nvPr/>
        </p:nvSpPr>
        <p:spPr>
          <a:xfrm>
            <a:off x="664464" y="604520"/>
            <a:ext cx="24384" cy="24384"/>
          </a:xfrm>
          <a:prstGeom prst="ellipse">
            <a:avLst/>
          </a:prstGeom>
          <a:solidFill>
            <a:srgbClr val="F4D9DC"/>
          </a:solidFill>
          <a:ln/>
        </p:spPr>
      </p:sp>
      <p:sp>
        <p:nvSpPr>
          <p:cNvPr id="70" name="Shape 68"/>
          <p:cNvSpPr/>
          <p:nvPr/>
        </p:nvSpPr>
        <p:spPr>
          <a:xfrm>
            <a:off x="731520" y="545592"/>
            <a:ext cx="24384" cy="24384"/>
          </a:xfrm>
          <a:prstGeom prst="ellipse">
            <a:avLst/>
          </a:prstGeom>
          <a:solidFill>
            <a:srgbClr val="F4D9DC"/>
          </a:solidFill>
          <a:ln/>
        </p:spPr>
      </p:sp>
      <p:sp>
        <p:nvSpPr>
          <p:cNvPr id="71" name="Shape 69"/>
          <p:cNvSpPr/>
          <p:nvPr/>
        </p:nvSpPr>
        <p:spPr>
          <a:xfrm>
            <a:off x="813816" y="509016"/>
            <a:ext cx="24384" cy="24384"/>
          </a:xfrm>
          <a:prstGeom prst="ellipse">
            <a:avLst/>
          </a:prstGeom>
          <a:solidFill>
            <a:srgbClr val="F4D9DC"/>
          </a:solidFill>
          <a:ln/>
        </p:spPr>
      </p:sp>
      <p:sp>
        <p:nvSpPr>
          <p:cNvPr id="72" name="Shape 70"/>
          <p:cNvSpPr/>
          <p:nvPr/>
        </p:nvSpPr>
        <p:spPr>
          <a:xfrm>
            <a:off x="1508760" y="621792"/>
            <a:ext cx="3072384" cy="402336"/>
          </a:xfrm>
          <a:prstGeom prst="roundRect">
            <a:avLst>
              <a:gd name="adj" fmla="val 113636"/>
            </a:avLst>
          </a:prstGeom>
          <a:solidFill>
            <a:srgbClr val="F4D74B"/>
          </a:solidFill>
          <a:ln/>
        </p:spPr>
      </p:sp>
      <p:sp>
        <p:nvSpPr>
          <p:cNvPr id="73" name="Text 71"/>
          <p:cNvSpPr/>
          <p:nvPr/>
        </p:nvSpPr>
        <p:spPr>
          <a:xfrm>
            <a:off x="1600200" y="621792"/>
            <a:ext cx="2889504" cy="402336"/>
          </a:xfrm>
          <a:prstGeom prst="rect">
            <a:avLst/>
          </a:prstGeom>
          <a:noFill/>
          <a:ln/>
        </p:spPr>
        <p:txBody>
          <a:bodyPr wrap="square" lIns="0" tIns="0" rIns="0" bIns="0" rtlCol="0" anchor="ctr"/>
          <a:lstStyle/>
          <a:p>
            <a:pPr algn="ctr" indent="0" marL="0">
              <a:lnSpc>
                <a:spcPct val="105000"/>
              </a:lnSpc>
              <a:buNone/>
            </a:pPr>
            <a:r>
              <a:rPr lang="en-US" sz="1300" dirty="0">
                <a:solidFill>
                  <a:srgbClr val="3D68EC"/>
                </a:solidFill>
                <a:latin typeface="General Sans Semibold" pitchFamily="34" charset="0"/>
                <a:ea typeface="General Sans Semibold" pitchFamily="34" charset="-122"/>
                <a:cs typeface="General Sans Semibold" pitchFamily="34" charset="-120"/>
              </a:rPr>
              <a:t>CEDA · DAIR-bijeenkomst</a:t>
            </a:r>
            <a:endParaRPr lang="en-US" sz="1300" dirty="0"/>
          </a:p>
        </p:txBody>
      </p:sp>
      <p:sp>
        <p:nvSpPr>
          <p:cNvPr id="74" name="Text 72"/>
          <p:cNvSpPr/>
          <p:nvPr/>
        </p:nvSpPr>
        <p:spPr>
          <a:xfrm>
            <a:off x="548640" y="1691640"/>
            <a:ext cx="6766560" cy="1828800"/>
          </a:xfrm>
          <a:prstGeom prst="rect">
            <a:avLst/>
          </a:prstGeom>
          <a:noFill/>
          <a:ln/>
        </p:spPr>
        <p:txBody>
          <a:bodyPr wrap="square" lIns="0" tIns="0" rIns="0" bIns="0" rtlCol="0" anchor="b"/>
          <a:lstStyle/>
          <a:p>
            <a:pPr algn="l" indent="0" marL="0">
              <a:lnSpc>
                <a:spcPct val="105000"/>
              </a:lnSpc>
              <a:buNone/>
            </a:pPr>
            <a:r>
              <a:rPr lang="en-US" sz="4600" dirty="0">
                <a:solidFill>
                  <a:srgbClr val="F4D9DC"/>
                </a:solidFill>
                <a:latin typeface="General Sans Semibold" pitchFamily="34" charset="0"/>
                <a:ea typeface="General Sans Semibold" pitchFamily="34" charset="-122"/>
                <a:cs typeface="General Sans Semibold" pitchFamily="34" charset="-120"/>
              </a:rPr>
              <a:t>Jij stuurt, de agent bouwt</a:t>
            </a:r>
            <a:endParaRPr lang="en-US" sz="4600" dirty="0"/>
          </a:p>
        </p:txBody>
      </p:sp>
      <p:sp>
        <p:nvSpPr>
          <p:cNvPr id="75" name="Text 73"/>
          <p:cNvSpPr/>
          <p:nvPr/>
        </p:nvSpPr>
        <p:spPr>
          <a:xfrm>
            <a:off x="548640" y="3657600"/>
            <a:ext cx="6766560" cy="548640"/>
          </a:xfrm>
          <a:prstGeom prst="rect">
            <a:avLst/>
          </a:prstGeom>
          <a:noFill/>
          <a:ln/>
        </p:spPr>
        <p:txBody>
          <a:bodyPr wrap="square" lIns="0" tIns="0" rIns="0" bIns="0" rtlCol="0" anchor="t"/>
          <a:lstStyle/>
          <a:p>
            <a:pPr algn="l" indent="0" marL="0">
              <a:lnSpc>
                <a:spcPct val="105000"/>
              </a:lnSpc>
              <a:buNone/>
            </a:pPr>
            <a:r>
              <a:rPr lang="en-US" sz="2200" dirty="0">
                <a:solidFill>
                  <a:srgbClr val="F4D74B"/>
                </a:solidFill>
                <a:latin typeface="Cooper Lt BT" pitchFamily="34" charset="0"/>
                <a:ea typeface="Cooper Lt BT" pitchFamily="34" charset="-122"/>
                <a:cs typeface="Cooper Lt BT" pitchFamily="34" charset="-120"/>
              </a:rPr>
              <a:t>Agentic data science in het onderwijs</a:t>
            </a:r>
            <a:endParaRPr lang="en-US" sz="2200" dirty="0"/>
          </a:p>
        </p:txBody>
      </p:sp>
      <p:sp>
        <p:nvSpPr>
          <p:cNvPr id="76" name="Text 74"/>
          <p:cNvSpPr/>
          <p:nvPr/>
        </p:nvSpPr>
        <p:spPr>
          <a:xfrm>
            <a:off x="548640" y="4297680"/>
            <a:ext cx="6766560" cy="411480"/>
          </a:xfrm>
          <a:prstGeom prst="rect">
            <a:avLst/>
          </a:prstGeom>
          <a:noFill/>
          <a:ln/>
        </p:spPr>
        <p:txBody>
          <a:bodyPr wrap="square" lIns="0" tIns="0" rIns="0" bIns="0" rtlCol="0" anchor="t"/>
          <a:lstStyle/>
          <a:p>
            <a:pPr algn="l" indent="0" marL="0">
              <a:lnSpc>
                <a:spcPct val="105000"/>
              </a:lnSpc>
              <a:buNone/>
            </a:pPr>
            <a:r>
              <a:rPr lang="en-US" sz="1600" dirty="0">
                <a:solidFill>
                  <a:srgbClr val="F4D9DC"/>
                </a:solidFill>
                <a:latin typeface="General Sans" pitchFamily="34" charset="0"/>
                <a:ea typeface="General Sans" pitchFamily="34" charset="-122"/>
                <a:cs typeface="General Sans" pitchFamily="34" charset="-120"/>
              </a:rPr>
              <a:t>120 minuten · één casus · één dashboard</a:t>
            </a:r>
            <a:endParaRPr lang="en-US" sz="1600" dirty="0"/>
          </a:p>
        </p:txBody>
      </p:sp>
      <p:sp>
        <p:nvSpPr>
          <p:cNvPr id="77" name="Shape 75"/>
          <p:cNvSpPr/>
          <p:nvPr/>
        </p:nvSpPr>
        <p:spPr>
          <a:xfrm>
            <a:off x="8595360" y="2103120"/>
            <a:ext cx="0" cy="640080"/>
          </a:xfrm>
          <a:prstGeom prst="line">
            <a:avLst/>
          </a:prstGeom>
          <a:noFill/>
          <a:ln w="19050">
            <a:solidFill>
              <a:srgbClr val="F4D9DC"/>
            </a:solidFill>
            <a:prstDash val="dash"/>
          </a:ln>
        </p:spPr>
      </p:sp>
      <p:sp>
        <p:nvSpPr>
          <p:cNvPr id="78" name="Shape 76"/>
          <p:cNvSpPr/>
          <p:nvPr/>
        </p:nvSpPr>
        <p:spPr>
          <a:xfrm>
            <a:off x="8138160" y="1188720"/>
            <a:ext cx="914400" cy="914400"/>
          </a:xfrm>
          <a:prstGeom prst="ellipse">
            <a:avLst/>
          </a:prstGeom>
          <a:solidFill>
            <a:srgbClr val="F4D74B"/>
          </a:solidFill>
          <a:ln/>
        </p:spPr>
      </p:sp>
      <p:sp>
        <p:nvSpPr>
          <p:cNvPr id="79" name="Text 77"/>
          <p:cNvSpPr/>
          <p:nvPr/>
        </p:nvSpPr>
        <p:spPr>
          <a:xfrm>
            <a:off x="8138160" y="1188720"/>
            <a:ext cx="914400" cy="914400"/>
          </a:xfrm>
          <a:prstGeom prst="rect">
            <a:avLst/>
          </a:prstGeom>
          <a:noFill/>
          <a:ln/>
        </p:spPr>
        <p:txBody>
          <a:bodyPr wrap="square" lIns="0" tIns="0" rIns="0" bIns="0" rtlCol="0" anchor="ctr"/>
          <a:lstStyle/>
          <a:p>
            <a:pPr algn="ctr" indent="0" marL="0">
              <a:lnSpc>
                <a:spcPct val="105000"/>
              </a:lnSpc>
              <a:buNone/>
            </a:pPr>
            <a:r>
              <a:rPr lang="en-US" sz="2800" dirty="0">
                <a:solidFill>
                  <a:srgbClr val="3D68EC"/>
                </a:solidFill>
                <a:latin typeface="General Sans Semibold" pitchFamily="34" charset="0"/>
                <a:ea typeface="General Sans Semibold" pitchFamily="34" charset="-122"/>
                <a:cs typeface="General Sans Semibold" pitchFamily="34" charset="-120"/>
              </a:rPr>
              <a:t>1</a:t>
            </a:r>
            <a:endParaRPr lang="en-US" sz="2800" dirty="0"/>
          </a:p>
        </p:txBody>
      </p:sp>
      <p:sp>
        <p:nvSpPr>
          <p:cNvPr id="80" name="Text 78"/>
          <p:cNvSpPr/>
          <p:nvPr/>
        </p:nvSpPr>
        <p:spPr>
          <a:xfrm>
            <a:off x="9326880" y="1188720"/>
            <a:ext cx="2331720" cy="914400"/>
          </a:xfrm>
          <a:prstGeom prst="rect">
            <a:avLst/>
          </a:prstGeom>
          <a:noFill/>
          <a:ln/>
        </p:spPr>
        <p:txBody>
          <a:bodyPr wrap="square" lIns="0" tIns="0" rIns="0" bIns="0" rtlCol="0" anchor="ctr"/>
          <a:lstStyle/>
          <a:p>
            <a:pPr algn="l"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Data verkennen</a:t>
            </a:r>
            <a:endParaRPr lang="en-US" sz="2000" dirty="0"/>
          </a:p>
        </p:txBody>
      </p:sp>
      <p:sp>
        <p:nvSpPr>
          <p:cNvPr id="81" name="Shape 79"/>
          <p:cNvSpPr/>
          <p:nvPr/>
        </p:nvSpPr>
        <p:spPr>
          <a:xfrm>
            <a:off x="8595360" y="3657600"/>
            <a:ext cx="0" cy="640080"/>
          </a:xfrm>
          <a:prstGeom prst="line">
            <a:avLst/>
          </a:prstGeom>
          <a:noFill/>
          <a:ln w="19050">
            <a:solidFill>
              <a:srgbClr val="F4D9DC"/>
            </a:solidFill>
            <a:prstDash val="dash"/>
          </a:ln>
        </p:spPr>
      </p:sp>
      <p:sp>
        <p:nvSpPr>
          <p:cNvPr id="82" name="Shape 80"/>
          <p:cNvSpPr/>
          <p:nvPr/>
        </p:nvSpPr>
        <p:spPr>
          <a:xfrm>
            <a:off x="8138160" y="2743200"/>
            <a:ext cx="914400" cy="914400"/>
          </a:xfrm>
          <a:prstGeom prst="ellipse">
            <a:avLst/>
          </a:prstGeom>
          <a:solidFill>
            <a:srgbClr val="F4D9DC"/>
          </a:solidFill>
          <a:ln/>
        </p:spPr>
      </p:sp>
      <p:sp>
        <p:nvSpPr>
          <p:cNvPr id="83" name="Text 81"/>
          <p:cNvSpPr/>
          <p:nvPr/>
        </p:nvSpPr>
        <p:spPr>
          <a:xfrm>
            <a:off x="8138160" y="2743200"/>
            <a:ext cx="914400" cy="914400"/>
          </a:xfrm>
          <a:prstGeom prst="rect">
            <a:avLst/>
          </a:prstGeom>
          <a:noFill/>
          <a:ln/>
        </p:spPr>
        <p:txBody>
          <a:bodyPr wrap="square" lIns="0" tIns="0" rIns="0" bIns="0" rtlCol="0" anchor="ctr"/>
          <a:lstStyle/>
          <a:p>
            <a:pPr algn="ctr" indent="0" marL="0">
              <a:lnSpc>
                <a:spcPct val="105000"/>
              </a:lnSpc>
              <a:buNone/>
            </a:pPr>
            <a:r>
              <a:rPr lang="en-US" sz="2800" dirty="0">
                <a:solidFill>
                  <a:srgbClr val="3D68EC"/>
                </a:solidFill>
                <a:latin typeface="General Sans Semibold" pitchFamily="34" charset="0"/>
                <a:ea typeface="General Sans Semibold" pitchFamily="34" charset="-122"/>
                <a:cs typeface="General Sans Semibold" pitchFamily="34" charset="-120"/>
              </a:rPr>
              <a:t>2</a:t>
            </a:r>
            <a:endParaRPr lang="en-US" sz="2800" dirty="0"/>
          </a:p>
        </p:txBody>
      </p:sp>
      <p:sp>
        <p:nvSpPr>
          <p:cNvPr id="84" name="Text 82"/>
          <p:cNvSpPr/>
          <p:nvPr/>
        </p:nvSpPr>
        <p:spPr>
          <a:xfrm>
            <a:off x="9326880" y="2743200"/>
            <a:ext cx="2331720" cy="914400"/>
          </a:xfrm>
          <a:prstGeom prst="rect">
            <a:avLst/>
          </a:prstGeom>
          <a:noFill/>
          <a:ln/>
        </p:spPr>
        <p:txBody>
          <a:bodyPr wrap="square" lIns="0" tIns="0" rIns="0" bIns="0" rtlCol="0" anchor="ctr"/>
          <a:lstStyle/>
          <a:p>
            <a:pPr algn="l"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Dashboard bouwen</a:t>
            </a:r>
            <a:endParaRPr lang="en-US" sz="2000" dirty="0"/>
          </a:p>
        </p:txBody>
      </p:sp>
      <p:sp>
        <p:nvSpPr>
          <p:cNvPr id="85" name="Shape 83"/>
          <p:cNvSpPr/>
          <p:nvPr/>
        </p:nvSpPr>
        <p:spPr>
          <a:xfrm>
            <a:off x="8138160" y="4297680"/>
            <a:ext cx="914400" cy="914400"/>
          </a:xfrm>
          <a:prstGeom prst="ellipse">
            <a:avLst/>
          </a:prstGeom>
          <a:solidFill>
            <a:srgbClr val="F4D74B"/>
          </a:solidFill>
          <a:ln/>
        </p:spPr>
      </p:sp>
      <p:sp>
        <p:nvSpPr>
          <p:cNvPr id="86" name="Text 84"/>
          <p:cNvSpPr/>
          <p:nvPr/>
        </p:nvSpPr>
        <p:spPr>
          <a:xfrm>
            <a:off x="8138160" y="4297680"/>
            <a:ext cx="914400" cy="914400"/>
          </a:xfrm>
          <a:prstGeom prst="rect">
            <a:avLst/>
          </a:prstGeom>
          <a:noFill/>
          <a:ln/>
        </p:spPr>
        <p:txBody>
          <a:bodyPr wrap="square" lIns="0" tIns="0" rIns="0" bIns="0" rtlCol="0" anchor="ctr"/>
          <a:lstStyle/>
          <a:p>
            <a:pPr algn="ctr" indent="0" marL="0">
              <a:lnSpc>
                <a:spcPct val="105000"/>
              </a:lnSpc>
              <a:buNone/>
            </a:pPr>
            <a:r>
              <a:rPr lang="en-US" sz="2800" dirty="0">
                <a:solidFill>
                  <a:srgbClr val="3D68EC"/>
                </a:solidFill>
                <a:latin typeface="General Sans Semibold" pitchFamily="34" charset="0"/>
                <a:ea typeface="General Sans Semibold" pitchFamily="34" charset="-122"/>
                <a:cs typeface="General Sans Semibold" pitchFamily="34" charset="-120"/>
              </a:rPr>
              <a:t>3</a:t>
            </a:r>
            <a:endParaRPr lang="en-US" sz="2800" dirty="0"/>
          </a:p>
        </p:txBody>
      </p:sp>
      <p:sp>
        <p:nvSpPr>
          <p:cNvPr id="87" name="Text 85"/>
          <p:cNvSpPr/>
          <p:nvPr/>
        </p:nvSpPr>
        <p:spPr>
          <a:xfrm>
            <a:off x="9326880" y="4297680"/>
            <a:ext cx="2331720" cy="914400"/>
          </a:xfrm>
          <a:prstGeom prst="rect">
            <a:avLst/>
          </a:prstGeom>
          <a:noFill/>
          <a:ln/>
        </p:spPr>
        <p:txBody>
          <a:bodyPr wrap="square" lIns="0" tIns="0" rIns="0" bIns="0" rtlCol="0" anchor="ctr"/>
          <a:lstStyle/>
          <a:p>
            <a:pPr algn="l"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Evaluatie en vervolg</a:t>
            </a:r>
            <a:endParaRPr lang="en-US" sz="2000" dirty="0"/>
          </a:p>
        </p:txBody>
      </p:sp>
      <p:sp>
        <p:nvSpPr>
          <p:cNvPr id="88" name="Shape 86"/>
          <p:cNvSpPr/>
          <p:nvPr/>
        </p:nvSpPr>
        <p:spPr>
          <a:xfrm>
            <a:off x="548640" y="5257800"/>
            <a:ext cx="4023360" cy="960120"/>
          </a:xfrm>
          <a:custGeom>
            <a:avLst/>
            <a:gdLst/>
            <a:ahLst/>
            <a:cxnLst/>
            <a:rect l="l" t="t" r="r" b="b"/>
            <a:pathLst>
              <a:path w="4023360" h="960120">
                <a:moveTo>
                  <a:pt x="0" y="822960"/>
                </a:moveTo>
                <a:cubicBezTo>
                  <a:pt x="603504" y="-137160"/>
                  <a:pt x="1207008" y="137160"/>
                  <a:pt x="2011680" y="617220"/>
                </a:cubicBezTo>
                <a:cubicBezTo>
                  <a:pt x="2816352" y="1097280"/>
                  <a:pt x="3419856" y="685800"/>
                  <a:pt x="4023360" y="18288"/>
                </a:cubicBezTo>
              </a:path>
            </a:pathLst>
          </a:custGeom>
          <a:ln w="114300">
            <a:solidFill>
              <a:srgbClr val="F4D74B"/>
            </a:solidFill>
            <a:prstDash val="solid"/>
          </a:ln>
        </p:spPr>
      </p:sp>
      <p:sp>
        <p:nvSpPr>
          <p:cNvPr id="89" name="Shape 87"/>
          <p:cNvSpPr/>
          <p:nvPr/>
        </p:nvSpPr>
        <p:spPr>
          <a:xfrm>
            <a:off x="548640" y="5669280"/>
            <a:ext cx="4023360" cy="960120"/>
          </a:xfrm>
          <a:custGeom>
            <a:avLst/>
            <a:gdLst/>
            <a:ahLst/>
            <a:cxnLst/>
            <a:rect l="l" t="t" r="r" b="b"/>
            <a:pathLst>
              <a:path w="4023360" h="960120">
                <a:moveTo>
                  <a:pt x="0" y="822960"/>
                </a:moveTo>
                <a:cubicBezTo>
                  <a:pt x="603504" y="-137160"/>
                  <a:pt x="1207008" y="137160"/>
                  <a:pt x="2011680" y="617220"/>
                </a:cubicBezTo>
                <a:cubicBezTo>
                  <a:pt x="2816352" y="1097280"/>
                  <a:pt x="3419856" y="685800"/>
                  <a:pt x="4023360" y="18288"/>
                </a:cubicBezTo>
              </a:path>
            </a:pathLst>
          </a:custGeom>
          <a:ln w="114300">
            <a:solidFill>
              <a:srgbClr val="F4D9DC"/>
            </a:solidFill>
            <a:prstDash val="solid"/>
          </a:ln>
        </p:spPr>
      </p:sp>
      <p:sp>
        <p:nvSpPr>
          <p:cNvPr id="90" name="Text 88"/>
          <p:cNvSpPr/>
          <p:nvPr/>
        </p:nvSpPr>
        <p:spPr>
          <a:xfrm>
            <a:off x="7955280" y="6144768"/>
            <a:ext cx="3657600" cy="365760"/>
          </a:xfrm>
          <a:prstGeom prst="rect">
            <a:avLst/>
          </a:prstGeom>
          <a:noFill/>
          <a:ln/>
        </p:spPr>
        <p:txBody>
          <a:bodyPr wrap="square" lIns="0" tIns="0" rIns="0" bIns="0" rtlCol="0" anchor="t"/>
          <a:lstStyle/>
          <a:p>
            <a:pPr algn="r" indent="0" marL="0">
              <a:lnSpc>
                <a:spcPct val="105000"/>
              </a:lnSpc>
              <a:buNone/>
            </a:pPr>
            <a:r>
              <a:rPr lang="en-US" sz="1400" dirty="0">
                <a:solidFill>
                  <a:srgbClr val="F4D74B"/>
                </a:solidFill>
                <a:latin typeface="General Sans Semibold" pitchFamily="34" charset="0"/>
                <a:ea typeface="General Sans Semibold" pitchFamily="34" charset="-122"/>
                <a:cs typeface="General Sans Semibold" pitchFamily="34" charset="-120"/>
              </a:rPr>
              <a:t>Moving Education.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600200"/>
            <a:ext cx="5090008" cy="320040"/>
          </a:xfrm>
          <a:prstGeom prst="rect">
            <a:avLst/>
          </a:prstGeom>
          <a:noFill/>
          <a:ln/>
        </p:spPr>
        <p:txBody>
          <a:bodyPr wrap="square" lIns="0" tIns="0" rIns="0" bIns="0" rtlCol="0" anchor="t"/>
          <a:lstStyle/>
          <a:p>
            <a:pPr algn="l" indent="0" marL="0">
              <a:lnSpc>
                <a:spcPct val="105000"/>
              </a:lnSpc>
              <a:buNone/>
            </a:pPr>
            <a:r>
              <a:rPr lang="en-US" sz="1300" spc="300" kern="0" dirty="0">
                <a:solidFill>
                  <a:srgbClr val="DD784B"/>
                </a:solidFill>
                <a:latin typeface="General Sans Semibold" pitchFamily="34" charset="0"/>
                <a:ea typeface="General Sans Semibold" pitchFamily="34" charset="-122"/>
                <a:cs typeface="General Sans Semibold" pitchFamily="34" charset="-120"/>
              </a:rPr>
              <a:t>WIE IS CEDA</a:t>
            </a:r>
            <a:endParaRPr lang="en-US" sz="1300" dirty="0"/>
          </a:p>
        </p:txBody>
      </p:sp>
      <p:sp>
        <p:nvSpPr>
          <p:cNvPr id="3" name="Text 1"/>
          <p:cNvSpPr/>
          <p:nvPr/>
        </p:nvSpPr>
        <p:spPr>
          <a:xfrm>
            <a:off x="731520" y="1965960"/>
            <a:ext cx="5090008" cy="1188720"/>
          </a:xfrm>
          <a:prstGeom prst="rect">
            <a:avLst/>
          </a:prstGeom>
          <a:noFill/>
          <a:ln/>
        </p:spPr>
        <p:txBody>
          <a:bodyPr wrap="square" lIns="0" tIns="0" rIns="0" bIns="0" rtlCol="0" anchor="t"/>
          <a:lstStyle/>
          <a:p>
            <a:pPr algn="l"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Centre of Educational Data Analytics</a:t>
            </a:r>
            <a:endParaRPr lang="en-US" sz="3200" dirty="0"/>
          </a:p>
        </p:txBody>
      </p:sp>
      <p:sp>
        <p:nvSpPr>
          <p:cNvPr id="4" name="Text 2"/>
          <p:cNvSpPr/>
          <p:nvPr/>
        </p:nvSpPr>
        <p:spPr>
          <a:xfrm>
            <a:off x="731520" y="3200400"/>
            <a:ext cx="5090008" cy="822960"/>
          </a:xfrm>
          <a:prstGeom prst="rect">
            <a:avLst/>
          </a:prstGeom>
          <a:noFill/>
          <a:ln/>
        </p:spPr>
        <p:txBody>
          <a:bodyPr wrap="square" lIns="0" tIns="0" rIns="0" bIns="0" rtlCol="0" anchor="t"/>
          <a:lstStyle/>
          <a:p>
            <a:pPr algn="l" indent="0" marL="0">
              <a:lnSpc>
                <a:spcPct val="105000"/>
              </a:lnSpc>
              <a:buNone/>
            </a:pPr>
            <a:r>
              <a:rPr lang="en-US" sz="1800" dirty="0">
                <a:solidFill>
                  <a:srgbClr val="000000"/>
                </a:solidFill>
                <a:latin typeface="Cooper Lt BT" pitchFamily="34" charset="0"/>
                <a:ea typeface="Cooper Lt BT" pitchFamily="34" charset="-122"/>
                <a:cs typeface="Cooper Lt BT" pitchFamily="34" charset="-120"/>
              </a:rPr>
              <a:t>Eén team binnen Npuls. Van ruwe data tot AI-toepassing, open source.</a:t>
            </a:r>
            <a:endParaRPr lang="en-US" sz="1800" dirty="0"/>
          </a:p>
        </p:txBody>
      </p:sp>
      <p:sp>
        <p:nvSpPr>
          <p:cNvPr id="5" name="Shape 3"/>
          <p:cNvSpPr/>
          <p:nvPr/>
        </p:nvSpPr>
        <p:spPr>
          <a:xfrm>
            <a:off x="731520" y="4315968"/>
            <a:ext cx="155448" cy="155448"/>
          </a:xfrm>
          <a:prstGeom prst="ellipse">
            <a:avLst/>
          </a:prstGeom>
          <a:solidFill>
            <a:srgbClr val="3D68EC"/>
          </a:solidFill>
          <a:ln/>
        </p:spPr>
      </p:sp>
      <p:sp>
        <p:nvSpPr>
          <p:cNvPr id="6" name="Text 4"/>
          <p:cNvSpPr/>
          <p:nvPr/>
        </p:nvSpPr>
        <p:spPr>
          <a:xfrm>
            <a:off x="1051560" y="4206240"/>
            <a:ext cx="4769968" cy="50292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Data, analytics en generatieve AI in één keten</a:t>
            </a:r>
            <a:endParaRPr lang="en-US" sz="1600" dirty="0"/>
          </a:p>
        </p:txBody>
      </p:sp>
      <p:sp>
        <p:nvSpPr>
          <p:cNvPr id="7" name="Shape 5"/>
          <p:cNvSpPr/>
          <p:nvPr/>
        </p:nvSpPr>
        <p:spPr>
          <a:xfrm>
            <a:off x="731520" y="4818888"/>
            <a:ext cx="155448" cy="155448"/>
          </a:xfrm>
          <a:prstGeom prst="ellipse">
            <a:avLst/>
          </a:prstGeom>
          <a:solidFill>
            <a:srgbClr val="DD784B"/>
          </a:solidFill>
          <a:ln/>
        </p:spPr>
      </p:sp>
      <p:sp>
        <p:nvSpPr>
          <p:cNvPr id="8" name="Text 6"/>
          <p:cNvSpPr/>
          <p:nvPr/>
        </p:nvSpPr>
        <p:spPr>
          <a:xfrm>
            <a:off x="1051560" y="4709160"/>
            <a:ext cx="4769968" cy="50292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Altijd in co-creatie met mbo, hbo en wo</a:t>
            </a:r>
            <a:endParaRPr lang="en-US" sz="1600" dirty="0"/>
          </a:p>
        </p:txBody>
      </p:sp>
      <p:sp>
        <p:nvSpPr>
          <p:cNvPr id="9" name="Shape 7"/>
          <p:cNvSpPr/>
          <p:nvPr/>
        </p:nvSpPr>
        <p:spPr>
          <a:xfrm>
            <a:off x="731520" y="5321808"/>
            <a:ext cx="155448" cy="155448"/>
          </a:xfrm>
          <a:prstGeom prst="ellipse">
            <a:avLst/>
          </a:prstGeom>
          <a:solidFill>
            <a:srgbClr val="00AF81"/>
          </a:solidFill>
          <a:ln/>
        </p:spPr>
      </p:sp>
      <p:sp>
        <p:nvSpPr>
          <p:cNvPr id="10" name="Text 8"/>
          <p:cNvSpPr/>
          <p:nvPr/>
        </p:nvSpPr>
        <p:spPr>
          <a:xfrm>
            <a:off x="1051560" y="5212080"/>
            <a:ext cx="4769968" cy="50292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Open source, voor elke instelling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Zo loopt de middag</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64162"/>
                <a:gridCol w="7766091"/>
                <a:gridCol w="1664162"/>
              </a:tblGrid>
              <a:tr h="0">
                <a:tc>
                  <a:txBody>
                    <a:bodyPr/>
                    <a:lstStyle/>
                    <a:p>
                      <a:pPr indent="0" marL="0">
                        <a:buNone/>
                      </a:pPr>
                      <a:r>
                        <a:rPr lang="en-US" sz="1400" dirty="0">
                          <a:solidFill>
                            <a:srgbClr val="F4D9DC"/>
                          </a:solidFill>
                          <a:latin typeface="General Sans Semibold" pitchFamily="34" charset="0"/>
                          <a:ea typeface="General Sans Semibold" pitchFamily="34" charset="-122"/>
                          <a:cs typeface="General Sans Semibold" pitchFamily="34" charset="-120"/>
                        </a:rPr>
                        <a:t>Tijd</a:t>
                      </a:r>
                      <a:endParaRPr lang="en-US" sz="1400" dirty="0">
                        <a:latin typeface="General Sans Semibold" charset="0"/>
                        <a:ea typeface="General Sans Semibold" charset="0"/>
                        <a:cs typeface="General Sans Semibold"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3D68EC"/>
                    </a:solidFill>
                  </a:tcPr>
                </a:tc>
                <a:tc>
                  <a:txBody>
                    <a:bodyPr/>
                    <a:lstStyle/>
                    <a:p>
                      <a:pPr indent="0" marL="0">
                        <a:buNone/>
                      </a:pPr>
                      <a:r>
                        <a:rPr lang="en-US" sz="1400" dirty="0">
                          <a:solidFill>
                            <a:srgbClr val="F4D9DC"/>
                          </a:solidFill>
                          <a:latin typeface="General Sans Semibold" pitchFamily="34" charset="0"/>
                          <a:ea typeface="General Sans Semibold" pitchFamily="34" charset="-122"/>
                          <a:cs typeface="General Sans Semibold" pitchFamily="34" charset="-120"/>
                        </a:rPr>
                        <a:t>Blok</a:t>
                      </a:r>
                      <a:endParaRPr lang="en-US" sz="1400" dirty="0">
                        <a:latin typeface="General Sans Semibold" charset="0"/>
                        <a:ea typeface="General Sans Semibold" charset="0"/>
                        <a:cs typeface="General Sans Semibold"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3D68EC"/>
                    </a:solidFill>
                  </a:tcPr>
                </a:tc>
                <a:tc>
                  <a:txBody>
                    <a:bodyPr/>
                    <a:lstStyle/>
                    <a:p>
                      <a:pPr indent="0" marL="0">
                        <a:buNone/>
                      </a:pPr>
                      <a:r>
                        <a:rPr lang="en-US" sz="1400" dirty="0">
                          <a:solidFill>
                            <a:srgbClr val="F4D9DC"/>
                          </a:solidFill>
                          <a:latin typeface="General Sans Semibold" pitchFamily="34" charset="0"/>
                          <a:ea typeface="General Sans Semibold" pitchFamily="34" charset="-122"/>
                          <a:cs typeface="General Sans Semibold" pitchFamily="34" charset="-120"/>
                        </a:rPr>
                        <a:t>Duur</a:t>
                      </a:r>
                      <a:endParaRPr lang="en-US" sz="1400" dirty="0">
                        <a:latin typeface="General Sans Semibold" charset="0"/>
                        <a:ea typeface="General Sans Semibold" charset="0"/>
                        <a:cs typeface="General Sans Semibold"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3D68EC"/>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0:00</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Intro, synthetische data, casus</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17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0:17</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Skills, prompts en de devcontainer</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13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0:30</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Ronde 1: data verkennen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22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0:52</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Spiegelmoment 1</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15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1:07</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Ronde 2: dashboard bouwen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22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1:29</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Spiegelmoment 2</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15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1:44</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Evaluatie en vervolg</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8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AEAEA"/>
                    </a:solidFill>
                  </a:tcPr>
                </a:tc>
              </a:tr>
              <a:tr h="0">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1:52</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Afsluiting</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General Sans" pitchFamily="34" charset="0"/>
                          <a:ea typeface="General Sans" pitchFamily="34" charset="-122"/>
                          <a:cs typeface="General Sans" pitchFamily="34" charset="-120"/>
                        </a:rPr>
                        <a:t>8 min</a:t>
                      </a:r>
                      <a:endParaRPr lang="en-US" sz="1400" dirty="0">
                        <a:latin typeface="General Sans" charset="0"/>
                        <a:ea typeface="General Sans" charset="0"/>
                        <a:cs typeface="General Sans" charset="0"/>
                      </a:endParaRPr>
                    </a:p>
                  </a:txBody>
                  <a:tcPr marL="101600" marR="101600" marT="63500" marB="63500" anchor="ctr">
                    <a:lnL w="9525" cap="flat" cmpd="sng" algn="ctr">
                      <a:solidFill>
                        <a:srgbClr val="F4D9DC"/>
                      </a:solidFill>
                      <a:prstDash val="solid"/>
                      <a:round/>
                      <a:headEnd type="none" w="med" len="med"/>
                      <a:tailEnd type="none" w="med" len="med"/>
                    </a:lnL>
                    <a:lnR w="9525" cap="flat" cmpd="sng" algn="ctr">
                      <a:solidFill>
                        <a:srgbClr val="F4D9DC"/>
                      </a:solidFill>
                      <a:prstDash val="solid"/>
                      <a:round/>
                      <a:headEnd type="none" w="med" len="med"/>
                      <a:tailEnd type="none" w="med" len="med"/>
                    </a:lnR>
                    <a:lnT w="9525" cap="flat" cmpd="sng" algn="ctr">
                      <a:solidFill>
                        <a:srgbClr val="F4D9DC"/>
                      </a:solidFill>
                      <a:prstDash val="solid"/>
                      <a:round/>
                      <a:headEnd type="none" w="med" len="med"/>
                      <a:tailEnd type="none" w="med" len="med"/>
                    </a:lnT>
                    <a:lnB w="9525" cap="flat" cmpd="sng" algn="ctr">
                      <a:solidFill>
                        <a:srgbClr val="F4D9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D68EC"/>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F4D9DC"/>
          </a:solidFill>
          <a:ln/>
        </p:spPr>
      </p:sp>
      <p:sp>
        <p:nvSpPr>
          <p:cNvPr id="3" name="Shape 1"/>
          <p:cNvSpPr/>
          <p:nvPr/>
        </p:nvSpPr>
        <p:spPr>
          <a:xfrm>
            <a:off x="11350574" y="646303"/>
            <a:ext cx="53340" cy="53340"/>
          </a:xfrm>
          <a:prstGeom prst="ellipse">
            <a:avLst/>
          </a:prstGeom>
          <a:solidFill>
            <a:srgbClr val="F4D9DC"/>
          </a:solidFill>
          <a:ln/>
        </p:spPr>
      </p:sp>
      <p:sp>
        <p:nvSpPr>
          <p:cNvPr id="4" name="Shape 2"/>
          <p:cNvSpPr/>
          <p:nvPr/>
        </p:nvSpPr>
        <p:spPr>
          <a:xfrm>
            <a:off x="11350574" y="708533"/>
            <a:ext cx="53340" cy="53340"/>
          </a:xfrm>
          <a:prstGeom prst="ellipse">
            <a:avLst/>
          </a:prstGeom>
          <a:solidFill>
            <a:srgbClr val="F4D9DC"/>
          </a:solidFill>
          <a:ln/>
        </p:spPr>
      </p:sp>
      <p:sp>
        <p:nvSpPr>
          <p:cNvPr id="5" name="Shape 3"/>
          <p:cNvSpPr/>
          <p:nvPr/>
        </p:nvSpPr>
        <p:spPr>
          <a:xfrm>
            <a:off x="11296345" y="739648"/>
            <a:ext cx="53340" cy="53340"/>
          </a:xfrm>
          <a:prstGeom prst="ellipse">
            <a:avLst/>
          </a:prstGeom>
          <a:solidFill>
            <a:srgbClr val="F4D9DC"/>
          </a:solidFill>
          <a:ln/>
        </p:spPr>
      </p:sp>
      <p:sp>
        <p:nvSpPr>
          <p:cNvPr id="6" name="Shape 4"/>
          <p:cNvSpPr/>
          <p:nvPr/>
        </p:nvSpPr>
        <p:spPr>
          <a:xfrm>
            <a:off x="11242116" y="708533"/>
            <a:ext cx="53340" cy="53340"/>
          </a:xfrm>
          <a:prstGeom prst="ellipse">
            <a:avLst/>
          </a:prstGeom>
          <a:solidFill>
            <a:srgbClr val="F4D9DC"/>
          </a:solidFill>
          <a:ln/>
        </p:spPr>
      </p:sp>
      <p:sp>
        <p:nvSpPr>
          <p:cNvPr id="7" name="Shape 5"/>
          <p:cNvSpPr/>
          <p:nvPr/>
        </p:nvSpPr>
        <p:spPr>
          <a:xfrm>
            <a:off x="11242116" y="646303"/>
            <a:ext cx="53340" cy="53340"/>
          </a:xfrm>
          <a:prstGeom prst="ellipse">
            <a:avLst/>
          </a:prstGeom>
          <a:solidFill>
            <a:srgbClr val="F4D9DC"/>
          </a:solidFill>
          <a:ln/>
        </p:spPr>
      </p:sp>
      <p:sp>
        <p:nvSpPr>
          <p:cNvPr id="8" name="Shape 6"/>
          <p:cNvSpPr/>
          <p:nvPr/>
        </p:nvSpPr>
        <p:spPr>
          <a:xfrm>
            <a:off x="11300790" y="566293"/>
            <a:ext cx="44450" cy="44450"/>
          </a:xfrm>
          <a:prstGeom prst="ellipse">
            <a:avLst/>
          </a:prstGeom>
          <a:solidFill>
            <a:srgbClr val="F4D9DC"/>
          </a:solidFill>
          <a:ln/>
        </p:spPr>
      </p:sp>
      <p:sp>
        <p:nvSpPr>
          <p:cNvPr id="9" name="Shape 7"/>
          <p:cNvSpPr/>
          <p:nvPr/>
        </p:nvSpPr>
        <p:spPr>
          <a:xfrm>
            <a:off x="11368354" y="588518"/>
            <a:ext cx="44450" cy="44450"/>
          </a:xfrm>
          <a:prstGeom prst="ellipse">
            <a:avLst/>
          </a:prstGeom>
          <a:solidFill>
            <a:srgbClr val="F4D9DC"/>
          </a:solidFill>
          <a:ln/>
        </p:spPr>
      </p:sp>
      <p:sp>
        <p:nvSpPr>
          <p:cNvPr id="10" name="Shape 8"/>
          <p:cNvSpPr/>
          <p:nvPr/>
        </p:nvSpPr>
        <p:spPr>
          <a:xfrm>
            <a:off x="11411026" y="646303"/>
            <a:ext cx="44450" cy="44450"/>
          </a:xfrm>
          <a:prstGeom prst="ellipse">
            <a:avLst/>
          </a:prstGeom>
          <a:solidFill>
            <a:srgbClr val="F4D9DC"/>
          </a:solidFill>
          <a:ln/>
        </p:spPr>
      </p:sp>
      <p:sp>
        <p:nvSpPr>
          <p:cNvPr id="11" name="Shape 9"/>
          <p:cNvSpPr/>
          <p:nvPr/>
        </p:nvSpPr>
        <p:spPr>
          <a:xfrm>
            <a:off x="11411026" y="717423"/>
            <a:ext cx="44450" cy="44450"/>
          </a:xfrm>
          <a:prstGeom prst="ellipse">
            <a:avLst/>
          </a:prstGeom>
          <a:solidFill>
            <a:srgbClr val="F4D9DC"/>
          </a:solidFill>
          <a:ln/>
        </p:spPr>
      </p:sp>
      <p:sp>
        <p:nvSpPr>
          <p:cNvPr id="12" name="Shape 10"/>
          <p:cNvSpPr/>
          <p:nvPr/>
        </p:nvSpPr>
        <p:spPr>
          <a:xfrm>
            <a:off x="11368354" y="775208"/>
            <a:ext cx="44450" cy="44450"/>
          </a:xfrm>
          <a:prstGeom prst="ellipse">
            <a:avLst/>
          </a:prstGeom>
          <a:solidFill>
            <a:srgbClr val="F4D9DC"/>
          </a:solidFill>
          <a:ln/>
        </p:spPr>
      </p:sp>
      <p:sp>
        <p:nvSpPr>
          <p:cNvPr id="13" name="Shape 11"/>
          <p:cNvSpPr/>
          <p:nvPr/>
        </p:nvSpPr>
        <p:spPr>
          <a:xfrm>
            <a:off x="11300790" y="797433"/>
            <a:ext cx="44450" cy="44450"/>
          </a:xfrm>
          <a:prstGeom prst="ellipse">
            <a:avLst/>
          </a:prstGeom>
          <a:solidFill>
            <a:srgbClr val="F4D9DC"/>
          </a:solidFill>
          <a:ln/>
        </p:spPr>
      </p:sp>
      <p:sp>
        <p:nvSpPr>
          <p:cNvPr id="14" name="Shape 12"/>
          <p:cNvSpPr/>
          <p:nvPr/>
        </p:nvSpPr>
        <p:spPr>
          <a:xfrm>
            <a:off x="11233226" y="775208"/>
            <a:ext cx="44450" cy="44450"/>
          </a:xfrm>
          <a:prstGeom prst="ellipse">
            <a:avLst/>
          </a:prstGeom>
          <a:solidFill>
            <a:srgbClr val="F4D9DC"/>
          </a:solidFill>
          <a:ln/>
        </p:spPr>
      </p:sp>
      <p:sp>
        <p:nvSpPr>
          <p:cNvPr id="15" name="Shape 13"/>
          <p:cNvSpPr/>
          <p:nvPr/>
        </p:nvSpPr>
        <p:spPr>
          <a:xfrm>
            <a:off x="11190554" y="717423"/>
            <a:ext cx="44450" cy="44450"/>
          </a:xfrm>
          <a:prstGeom prst="ellipse">
            <a:avLst/>
          </a:prstGeom>
          <a:solidFill>
            <a:srgbClr val="F4D9DC"/>
          </a:solidFill>
          <a:ln/>
        </p:spPr>
      </p:sp>
      <p:sp>
        <p:nvSpPr>
          <p:cNvPr id="16" name="Shape 14"/>
          <p:cNvSpPr/>
          <p:nvPr/>
        </p:nvSpPr>
        <p:spPr>
          <a:xfrm>
            <a:off x="11190554" y="646303"/>
            <a:ext cx="44450" cy="44450"/>
          </a:xfrm>
          <a:prstGeom prst="ellipse">
            <a:avLst/>
          </a:prstGeom>
          <a:solidFill>
            <a:srgbClr val="F4D9DC"/>
          </a:solidFill>
          <a:ln/>
        </p:spPr>
      </p:sp>
      <p:sp>
        <p:nvSpPr>
          <p:cNvPr id="17" name="Shape 15"/>
          <p:cNvSpPr/>
          <p:nvPr/>
        </p:nvSpPr>
        <p:spPr>
          <a:xfrm>
            <a:off x="11233226" y="588518"/>
            <a:ext cx="44450" cy="44450"/>
          </a:xfrm>
          <a:prstGeom prst="ellipse">
            <a:avLst/>
          </a:prstGeom>
          <a:solidFill>
            <a:srgbClr val="F4D9DC"/>
          </a:solidFill>
          <a:ln/>
        </p:spPr>
      </p:sp>
      <p:sp>
        <p:nvSpPr>
          <p:cNvPr id="18" name="Shape 16"/>
          <p:cNvSpPr/>
          <p:nvPr/>
        </p:nvSpPr>
        <p:spPr>
          <a:xfrm>
            <a:off x="11305235" y="517398"/>
            <a:ext cx="35560" cy="35560"/>
          </a:xfrm>
          <a:prstGeom prst="ellipse">
            <a:avLst/>
          </a:prstGeom>
          <a:solidFill>
            <a:srgbClr val="F4D9DC"/>
          </a:solidFill>
          <a:ln/>
        </p:spPr>
      </p:sp>
      <p:sp>
        <p:nvSpPr>
          <p:cNvPr id="19" name="Shape 17"/>
          <p:cNvSpPr/>
          <p:nvPr/>
        </p:nvSpPr>
        <p:spPr>
          <a:xfrm>
            <a:off x="11378133" y="534289"/>
            <a:ext cx="35560" cy="35560"/>
          </a:xfrm>
          <a:prstGeom prst="ellipse">
            <a:avLst/>
          </a:prstGeom>
          <a:solidFill>
            <a:srgbClr val="F4D9DC"/>
          </a:solidFill>
          <a:ln/>
        </p:spPr>
      </p:sp>
      <p:sp>
        <p:nvSpPr>
          <p:cNvPr id="20" name="Shape 18"/>
          <p:cNvSpPr/>
          <p:nvPr/>
        </p:nvSpPr>
        <p:spPr>
          <a:xfrm>
            <a:off x="11437696" y="581406"/>
            <a:ext cx="35560" cy="35560"/>
          </a:xfrm>
          <a:prstGeom prst="ellipse">
            <a:avLst/>
          </a:prstGeom>
          <a:solidFill>
            <a:srgbClr val="F4D9DC"/>
          </a:solidFill>
          <a:ln/>
        </p:spPr>
      </p:sp>
      <p:sp>
        <p:nvSpPr>
          <p:cNvPr id="21" name="Shape 19"/>
          <p:cNvSpPr/>
          <p:nvPr/>
        </p:nvSpPr>
        <p:spPr>
          <a:xfrm>
            <a:off x="11469700" y="648970"/>
            <a:ext cx="35560" cy="35560"/>
          </a:xfrm>
          <a:prstGeom prst="ellipse">
            <a:avLst/>
          </a:prstGeom>
          <a:solidFill>
            <a:srgbClr val="F4D9DC"/>
          </a:solidFill>
          <a:ln/>
        </p:spPr>
      </p:sp>
      <p:sp>
        <p:nvSpPr>
          <p:cNvPr id="22" name="Shape 20"/>
          <p:cNvSpPr/>
          <p:nvPr/>
        </p:nvSpPr>
        <p:spPr>
          <a:xfrm>
            <a:off x="11469700" y="723646"/>
            <a:ext cx="35560" cy="35560"/>
          </a:xfrm>
          <a:prstGeom prst="ellipse">
            <a:avLst/>
          </a:prstGeom>
          <a:solidFill>
            <a:srgbClr val="F4D9DC"/>
          </a:solidFill>
          <a:ln/>
        </p:spPr>
      </p:sp>
      <p:sp>
        <p:nvSpPr>
          <p:cNvPr id="23" name="Shape 21"/>
          <p:cNvSpPr/>
          <p:nvPr/>
        </p:nvSpPr>
        <p:spPr>
          <a:xfrm>
            <a:off x="11437696" y="791210"/>
            <a:ext cx="35560" cy="35560"/>
          </a:xfrm>
          <a:prstGeom prst="ellipse">
            <a:avLst/>
          </a:prstGeom>
          <a:solidFill>
            <a:srgbClr val="F4D9DC"/>
          </a:solidFill>
          <a:ln/>
        </p:spPr>
      </p:sp>
      <p:sp>
        <p:nvSpPr>
          <p:cNvPr id="24" name="Shape 22"/>
          <p:cNvSpPr/>
          <p:nvPr/>
        </p:nvSpPr>
        <p:spPr>
          <a:xfrm>
            <a:off x="11378133" y="838327"/>
            <a:ext cx="35560" cy="35560"/>
          </a:xfrm>
          <a:prstGeom prst="ellipse">
            <a:avLst/>
          </a:prstGeom>
          <a:solidFill>
            <a:srgbClr val="F4D9DC"/>
          </a:solidFill>
          <a:ln/>
        </p:spPr>
      </p:sp>
      <p:sp>
        <p:nvSpPr>
          <p:cNvPr id="25" name="Shape 23"/>
          <p:cNvSpPr/>
          <p:nvPr/>
        </p:nvSpPr>
        <p:spPr>
          <a:xfrm>
            <a:off x="11305235" y="855218"/>
            <a:ext cx="35560" cy="35560"/>
          </a:xfrm>
          <a:prstGeom prst="ellipse">
            <a:avLst/>
          </a:prstGeom>
          <a:solidFill>
            <a:srgbClr val="F4D9DC"/>
          </a:solidFill>
          <a:ln/>
        </p:spPr>
      </p:sp>
      <p:sp>
        <p:nvSpPr>
          <p:cNvPr id="26" name="Shape 24"/>
          <p:cNvSpPr/>
          <p:nvPr/>
        </p:nvSpPr>
        <p:spPr>
          <a:xfrm>
            <a:off x="11232337" y="838327"/>
            <a:ext cx="35560" cy="35560"/>
          </a:xfrm>
          <a:prstGeom prst="ellipse">
            <a:avLst/>
          </a:prstGeom>
          <a:solidFill>
            <a:srgbClr val="F4D9DC"/>
          </a:solidFill>
          <a:ln/>
        </p:spPr>
      </p:sp>
      <p:sp>
        <p:nvSpPr>
          <p:cNvPr id="27" name="Shape 25"/>
          <p:cNvSpPr/>
          <p:nvPr/>
        </p:nvSpPr>
        <p:spPr>
          <a:xfrm>
            <a:off x="11172774" y="791210"/>
            <a:ext cx="35560" cy="35560"/>
          </a:xfrm>
          <a:prstGeom prst="ellipse">
            <a:avLst/>
          </a:prstGeom>
          <a:solidFill>
            <a:srgbClr val="F4D9DC"/>
          </a:solidFill>
          <a:ln/>
        </p:spPr>
      </p:sp>
      <p:sp>
        <p:nvSpPr>
          <p:cNvPr id="28" name="Shape 26"/>
          <p:cNvSpPr/>
          <p:nvPr/>
        </p:nvSpPr>
        <p:spPr>
          <a:xfrm>
            <a:off x="11140770" y="723646"/>
            <a:ext cx="35560" cy="35560"/>
          </a:xfrm>
          <a:prstGeom prst="ellipse">
            <a:avLst/>
          </a:prstGeom>
          <a:solidFill>
            <a:srgbClr val="F4D9DC"/>
          </a:solidFill>
          <a:ln/>
        </p:spPr>
      </p:sp>
      <p:sp>
        <p:nvSpPr>
          <p:cNvPr id="29" name="Shape 27"/>
          <p:cNvSpPr/>
          <p:nvPr/>
        </p:nvSpPr>
        <p:spPr>
          <a:xfrm>
            <a:off x="11140770" y="648970"/>
            <a:ext cx="35560" cy="35560"/>
          </a:xfrm>
          <a:prstGeom prst="ellipse">
            <a:avLst/>
          </a:prstGeom>
          <a:solidFill>
            <a:srgbClr val="F4D9DC"/>
          </a:solidFill>
          <a:ln/>
        </p:spPr>
      </p:sp>
      <p:sp>
        <p:nvSpPr>
          <p:cNvPr id="30" name="Shape 28"/>
          <p:cNvSpPr/>
          <p:nvPr/>
        </p:nvSpPr>
        <p:spPr>
          <a:xfrm>
            <a:off x="11172774" y="581406"/>
            <a:ext cx="35560" cy="35560"/>
          </a:xfrm>
          <a:prstGeom prst="ellipse">
            <a:avLst/>
          </a:prstGeom>
          <a:solidFill>
            <a:srgbClr val="F4D9DC"/>
          </a:solidFill>
          <a:ln/>
        </p:spPr>
      </p:sp>
      <p:sp>
        <p:nvSpPr>
          <p:cNvPr id="31" name="Shape 29"/>
          <p:cNvSpPr/>
          <p:nvPr/>
        </p:nvSpPr>
        <p:spPr>
          <a:xfrm>
            <a:off x="11232337" y="534289"/>
            <a:ext cx="35560" cy="35560"/>
          </a:xfrm>
          <a:prstGeom prst="ellipse">
            <a:avLst/>
          </a:prstGeom>
          <a:solidFill>
            <a:srgbClr val="F4D9DC"/>
          </a:solidFill>
          <a:ln/>
        </p:spPr>
      </p:sp>
      <p:sp>
        <p:nvSpPr>
          <p:cNvPr id="32" name="Shape 30"/>
          <p:cNvSpPr/>
          <p:nvPr/>
        </p:nvSpPr>
        <p:spPr>
          <a:xfrm>
            <a:off x="11308791" y="467614"/>
            <a:ext cx="28448" cy="28448"/>
          </a:xfrm>
          <a:prstGeom prst="ellipse">
            <a:avLst/>
          </a:prstGeom>
          <a:solidFill>
            <a:srgbClr val="F4D9DC"/>
          </a:solidFill>
          <a:ln/>
        </p:spPr>
      </p:sp>
      <p:sp>
        <p:nvSpPr>
          <p:cNvPr id="33" name="Shape 31"/>
          <p:cNvSpPr/>
          <p:nvPr/>
        </p:nvSpPr>
        <p:spPr>
          <a:xfrm>
            <a:off x="11385245" y="480949"/>
            <a:ext cx="28448" cy="28448"/>
          </a:xfrm>
          <a:prstGeom prst="ellipse">
            <a:avLst/>
          </a:prstGeom>
          <a:solidFill>
            <a:srgbClr val="F4D9DC"/>
          </a:solidFill>
          <a:ln/>
        </p:spPr>
      </p:sp>
      <p:sp>
        <p:nvSpPr>
          <p:cNvPr id="34" name="Shape 32"/>
          <p:cNvSpPr/>
          <p:nvPr/>
        </p:nvSpPr>
        <p:spPr>
          <a:xfrm>
            <a:off x="11451920" y="519176"/>
            <a:ext cx="28448" cy="28448"/>
          </a:xfrm>
          <a:prstGeom prst="ellipse">
            <a:avLst/>
          </a:prstGeom>
          <a:solidFill>
            <a:srgbClr val="F4D9DC"/>
          </a:solidFill>
          <a:ln/>
        </p:spPr>
      </p:sp>
      <p:sp>
        <p:nvSpPr>
          <p:cNvPr id="35" name="Shape 33"/>
          <p:cNvSpPr/>
          <p:nvPr/>
        </p:nvSpPr>
        <p:spPr>
          <a:xfrm>
            <a:off x="11501704" y="578739"/>
            <a:ext cx="28448" cy="28448"/>
          </a:xfrm>
          <a:prstGeom prst="ellipse">
            <a:avLst/>
          </a:prstGeom>
          <a:solidFill>
            <a:srgbClr val="F4D9DC"/>
          </a:solidFill>
          <a:ln/>
        </p:spPr>
      </p:sp>
      <p:sp>
        <p:nvSpPr>
          <p:cNvPr id="36" name="Shape 34"/>
          <p:cNvSpPr/>
          <p:nvPr/>
        </p:nvSpPr>
        <p:spPr>
          <a:xfrm>
            <a:off x="11527485" y="651637"/>
            <a:ext cx="28448" cy="28448"/>
          </a:xfrm>
          <a:prstGeom prst="ellipse">
            <a:avLst/>
          </a:prstGeom>
          <a:solidFill>
            <a:srgbClr val="F4D9DC"/>
          </a:solidFill>
          <a:ln/>
        </p:spPr>
      </p:sp>
      <p:sp>
        <p:nvSpPr>
          <p:cNvPr id="37" name="Shape 35"/>
          <p:cNvSpPr/>
          <p:nvPr/>
        </p:nvSpPr>
        <p:spPr>
          <a:xfrm>
            <a:off x="11527485" y="728091"/>
            <a:ext cx="28448" cy="28448"/>
          </a:xfrm>
          <a:prstGeom prst="ellipse">
            <a:avLst/>
          </a:prstGeom>
          <a:solidFill>
            <a:srgbClr val="F4D9DC"/>
          </a:solidFill>
          <a:ln/>
        </p:spPr>
      </p:sp>
      <p:sp>
        <p:nvSpPr>
          <p:cNvPr id="38" name="Shape 36"/>
          <p:cNvSpPr/>
          <p:nvPr/>
        </p:nvSpPr>
        <p:spPr>
          <a:xfrm>
            <a:off x="11501704" y="800989"/>
            <a:ext cx="28448" cy="28448"/>
          </a:xfrm>
          <a:prstGeom prst="ellipse">
            <a:avLst/>
          </a:prstGeom>
          <a:solidFill>
            <a:srgbClr val="F4D9DC"/>
          </a:solidFill>
          <a:ln/>
        </p:spPr>
      </p:sp>
      <p:sp>
        <p:nvSpPr>
          <p:cNvPr id="39" name="Shape 37"/>
          <p:cNvSpPr/>
          <p:nvPr/>
        </p:nvSpPr>
        <p:spPr>
          <a:xfrm>
            <a:off x="11451920" y="860552"/>
            <a:ext cx="28448" cy="28448"/>
          </a:xfrm>
          <a:prstGeom prst="ellipse">
            <a:avLst/>
          </a:prstGeom>
          <a:solidFill>
            <a:srgbClr val="F4D9DC"/>
          </a:solidFill>
          <a:ln/>
        </p:spPr>
      </p:sp>
      <p:sp>
        <p:nvSpPr>
          <p:cNvPr id="40" name="Shape 38"/>
          <p:cNvSpPr/>
          <p:nvPr/>
        </p:nvSpPr>
        <p:spPr>
          <a:xfrm>
            <a:off x="11385245" y="898779"/>
            <a:ext cx="28448" cy="28448"/>
          </a:xfrm>
          <a:prstGeom prst="ellipse">
            <a:avLst/>
          </a:prstGeom>
          <a:solidFill>
            <a:srgbClr val="F4D9DC"/>
          </a:solidFill>
          <a:ln/>
        </p:spPr>
      </p:sp>
      <p:sp>
        <p:nvSpPr>
          <p:cNvPr id="41" name="Shape 39"/>
          <p:cNvSpPr/>
          <p:nvPr/>
        </p:nvSpPr>
        <p:spPr>
          <a:xfrm>
            <a:off x="11308791" y="912114"/>
            <a:ext cx="28448" cy="28448"/>
          </a:xfrm>
          <a:prstGeom prst="ellipse">
            <a:avLst/>
          </a:prstGeom>
          <a:solidFill>
            <a:srgbClr val="F4D9DC"/>
          </a:solidFill>
          <a:ln/>
        </p:spPr>
      </p:sp>
      <p:sp>
        <p:nvSpPr>
          <p:cNvPr id="42" name="Shape 40"/>
          <p:cNvSpPr/>
          <p:nvPr/>
        </p:nvSpPr>
        <p:spPr>
          <a:xfrm>
            <a:off x="11232337" y="898779"/>
            <a:ext cx="28448" cy="28448"/>
          </a:xfrm>
          <a:prstGeom prst="ellipse">
            <a:avLst/>
          </a:prstGeom>
          <a:solidFill>
            <a:srgbClr val="F4D9DC"/>
          </a:solidFill>
          <a:ln/>
        </p:spPr>
      </p:sp>
      <p:sp>
        <p:nvSpPr>
          <p:cNvPr id="43" name="Shape 41"/>
          <p:cNvSpPr/>
          <p:nvPr/>
        </p:nvSpPr>
        <p:spPr>
          <a:xfrm>
            <a:off x="11165662" y="860552"/>
            <a:ext cx="28448" cy="28448"/>
          </a:xfrm>
          <a:prstGeom prst="ellipse">
            <a:avLst/>
          </a:prstGeom>
          <a:solidFill>
            <a:srgbClr val="F4D9DC"/>
          </a:solidFill>
          <a:ln/>
        </p:spPr>
      </p:sp>
      <p:sp>
        <p:nvSpPr>
          <p:cNvPr id="44" name="Shape 42"/>
          <p:cNvSpPr/>
          <p:nvPr/>
        </p:nvSpPr>
        <p:spPr>
          <a:xfrm>
            <a:off x="11115878" y="800989"/>
            <a:ext cx="28448" cy="28448"/>
          </a:xfrm>
          <a:prstGeom prst="ellipse">
            <a:avLst/>
          </a:prstGeom>
          <a:solidFill>
            <a:srgbClr val="F4D9DC"/>
          </a:solidFill>
          <a:ln/>
        </p:spPr>
      </p:sp>
      <p:sp>
        <p:nvSpPr>
          <p:cNvPr id="45" name="Shape 43"/>
          <p:cNvSpPr/>
          <p:nvPr/>
        </p:nvSpPr>
        <p:spPr>
          <a:xfrm>
            <a:off x="11090097" y="728091"/>
            <a:ext cx="28448" cy="28448"/>
          </a:xfrm>
          <a:prstGeom prst="ellipse">
            <a:avLst/>
          </a:prstGeom>
          <a:solidFill>
            <a:srgbClr val="F4D9DC"/>
          </a:solidFill>
          <a:ln/>
        </p:spPr>
      </p:sp>
      <p:sp>
        <p:nvSpPr>
          <p:cNvPr id="46" name="Shape 44"/>
          <p:cNvSpPr/>
          <p:nvPr/>
        </p:nvSpPr>
        <p:spPr>
          <a:xfrm>
            <a:off x="11090097" y="651637"/>
            <a:ext cx="28448" cy="28448"/>
          </a:xfrm>
          <a:prstGeom prst="ellipse">
            <a:avLst/>
          </a:prstGeom>
          <a:solidFill>
            <a:srgbClr val="F4D9DC"/>
          </a:solidFill>
          <a:ln/>
        </p:spPr>
      </p:sp>
      <p:sp>
        <p:nvSpPr>
          <p:cNvPr id="47" name="Shape 45"/>
          <p:cNvSpPr/>
          <p:nvPr/>
        </p:nvSpPr>
        <p:spPr>
          <a:xfrm>
            <a:off x="11115878" y="578739"/>
            <a:ext cx="28448" cy="28448"/>
          </a:xfrm>
          <a:prstGeom prst="ellipse">
            <a:avLst/>
          </a:prstGeom>
          <a:solidFill>
            <a:srgbClr val="F4D9DC"/>
          </a:solidFill>
          <a:ln/>
        </p:spPr>
      </p:sp>
      <p:sp>
        <p:nvSpPr>
          <p:cNvPr id="48" name="Shape 46"/>
          <p:cNvSpPr/>
          <p:nvPr/>
        </p:nvSpPr>
        <p:spPr>
          <a:xfrm>
            <a:off x="11165662" y="519176"/>
            <a:ext cx="28448" cy="28448"/>
          </a:xfrm>
          <a:prstGeom prst="ellipse">
            <a:avLst/>
          </a:prstGeom>
          <a:solidFill>
            <a:srgbClr val="F4D9DC"/>
          </a:solidFill>
          <a:ln/>
        </p:spPr>
      </p:sp>
      <p:sp>
        <p:nvSpPr>
          <p:cNvPr id="49" name="Shape 47"/>
          <p:cNvSpPr/>
          <p:nvPr/>
        </p:nvSpPr>
        <p:spPr>
          <a:xfrm>
            <a:off x="11232337" y="480949"/>
            <a:ext cx="28448" cy="28448"/>
          </a:xfrm>
          <a:prstGeom prst="ellipse">
            <a:avLst/>
          </a:prstGeom>
          <a:solidFill>
            <a:srgbClr val="F4D9DC"/>
          </a:solidFill>
          <a:ln/>
        </p:spPr>
      </p:sp>
      <p:sp>
        <p:nvSpPr>
          <p:cNvPr id="50" name="Shape 48"/>
          <p:cNvSpPr/>
          <p:nvPr/>
        </p:nvSpPr>
        <p:spPr>
          <a:xfrm>
            <a:off x="11312347" y="417830"/>
            <a:ext cx="21336" cy="21336"/>
          </a:xfrm>
          <a:prstGeom prst="ellipse">
            <a:avLst/>
          </a:prstGeom>
          <a:solidFill>
            <a:srgbClr val="F4D9DC"/>
          </a:solidFill>
          <a:ln/>
        </p:spPr>
      </p:sp>
      <p:sp>
        <p:nvSpPr>
          <p:cNvPr id="51" name="Shape 49"/>
          <p:cNvSpPr/>
          <p:nvPr/>
        </p:nvSpPr>
        <p:spPr>
          <a:xfrm>
            <a:off x="11389690" y="429387"/>
            <a:ext cx="21336" cy="21336"/>
          </a:xfrm>
          <a:prstGeom prst="ellipse">
            <a:avLst/>
          </a:prstGeom>
          <a:solidFill>
            <a:srgbClr val="F4D9DC"/>
          </a:solidFill>
          <a:ln/>
        </p:spPr>
      </p:sp>
      <p:sp>
        <p:nvSpPr>
          <p:cNvPr id="52" name="Shape 50"/>
          <p:cNvSpPr/>
          <p:nvPr/>
        </p:nvSpPr>
        <p:spPr>
          <a:xfrm>
            <a:off x="11461699" y="461391"/>
            <a:ext cx="21336" cy="21336"/>
          </a:xfrm>
          <a:prstGeom prst="ellipse">
            <a:avLst/>
          </a:prstGeom>
          <a:solidFill>
            <a:srgbClr val="F4D9DC"/>
          </a:solidFill>
          <a:ln/>
        </p:spPr>
      </p:sp>
      <p:sp>
        <p:nvSpPr>
          <p:cNvPr id="53" name="Shape 51"/>
          <p:cNvSpPr/>
          <p:nvPr/>
        </p:nvSpPr>
        <p:spPr>
          <a:xfrm>
            <a:off x="11520373" y="512953"/>
            <a:ext cx="21336" cy="21336"/>
          </a:xfrm>
          <a:prstGeom prst="ellipse">
            <a:avLst/>
          </a:prstGeom>
          <a:solidFill>
            <a:srgbClr val="F4D9DC"/>
          </a:solidFill>
          <a:ln/>
        </p:spPr>
      </p:sp>
      <p:sp>
        <p:nvSpPr>
          <p:cNvPr id="54" name="Shape 52"/>
          <p:cNvSpPr/>
          <p:nvPr/>
        </p:nvSpPr>
        <p:spPr>
          <a:xfrm>
            <a:off x="11563045" y="578739"/>
            <a:ext cx="21336" cy="21336"/>
          </a:xfrm>
          <a:prstGeom prst="ellipse">
            <a:avLst/>
          </a:prstGeom>
          <a:solidFill>
            <a:srgbClr val="F4D9DC"/>
          </a:solidFill>
          <a:ln/>
        </p:spPr>
      </p:sp>
      <p:sp>
        <p:nvSpPr>
          <p:cNvPr id="55" name="Shape 53"/>
          <p:cNvSpPr/>
          <p:nvPr/>
        </p:nvSpPr>
        <p:spPr>
          <a:xfrm>
            <a:off x="11585270" y="654304"/>
            <a:ext cx="21336" cy="21336"/>
          </a:xfrm>
          <a:prstGeom prst="ellipse">
            <a:avLst/>
          </a:prstGeom>
          <a:solidFill>
            <a:srgbClr val="F4D9DC"/>
          </a:solidFill>
          <a:ln/>
        </p:spPr>
      </p:sp>
      <p:sp>
        <p:nvSpPr>
          <p:cNvPr id="56" name="Shape 54"/>
          <p:cNvSpPr/>
          <p:nvPr/>
        </p:nvSpPr>
        <p:spPr>
          <a:xfrm>
            <a:off x="11585270" y="732536"/>
            <a:ext cx="21336" cy="21336"/>
          </a:xfrm>
          <a:prstGeom prst="ellipse">
            <a:avLst/>
          </a:prstGeom>
          <a:solidFill>
            <a:srgbClr val="F4D9DC"/>
          </a:solidFill>
          <a:ln/>
        </p:spPr>
      </p:sp>
      <p:sp>
        <p:nvSpPr>
          <p:cNvPr id="57" name="Shape 55"/>
          <p:cNvSpPr/>
          <p:nvPr/>
        </p:nvSpPr>
        <p:spPr>
          <a:xfrm>
            <a:off x="11563045" y="808101"/>
            <a:ext cx="21336" cy="21336"/>
          </a:xfrm>
          <a:prstGeom prst="ellipse">
            <a:avLst/>
          </a:prstGeom>
          <a:solidFill>
            <a:srgbClr val="F4D9DC"/>
          </a:solidFill>
          <a:ln/>
        </p:spPr>
      </p:sp>
      <p:sp>
        <p:nvSpPr>
          <p:cNvPr id="58" name="Shape 56"/>
          <p:cNvSpPr/>
          <p:nvPr/>
        </p:nvSpPr>
        <p:spPr>
          <a:xfrm>
            <a:off x="11520373" y="873887"/>
            <a:ext cx="21336" cy="21336"/>
          </a:xfrm>
          <a:prstGeom prst="ellipse">
            <a:avLst/>
          </a:prstGeom>
          <a:solidFill>
            <a:srgbClr val="F4D9DC"/>
          </a:solidFill>
          <a:ln/>
        </p:spPr>
      </p:sp>
      <p:sp>
        <p:nvSpPr>
          <p:cNvPr id="59" name="Shape 57"/>
          <p:cNvSpPr/>
          <p:nvPr/>
        </p:nvSpPr>
        <p:spPr>
          <a:xfrm>
            <a:off x="11461699" y="925449"/>
            <a:ext cx="21336" cy="21336"/>
          </a:xfrm>
          <a:prstGeom prst="ellipse">
            <a:avLst/>
          </a:prstGeom>
          <a:solidFill>
            <a:srgbClr val="F4D9DC"/>
          </a:solidFill>
          <a:ln/>
        </p:spPr>
      </p:sp>
      <p:sp>
        <p:nvSpPr>
          <p:cNvPr id="60" name="Shape 58"/>
          <p:cNvSpPr/>
          <p:nvPr/>
        </p:nvSpPr>
        <p:spPr>
          <a:xfrm>
            <a:off x="11389690" y="957453"/>
            <a:ext cx="21336" cy="21336"/>
          </a:xfrm>
          <a:prstGeom prst="ellipse">
            <a:avLst/>
          </a:prstGeom>
          <a:solidFill>
            <a:srgbClr val="F4D9DC"/>
          </a:solidFill>
          <a:ln/>
        </p:spPr>
      </p:sp>
      <p:sp>
        <p:nvSpPr>
          <p:cNvPr id="61" name="Shape 59"/>
          <p:cNvSpPr/>
          <p:nvPr/>
        </p:nvSpPr>
        <p:spPr>
          <a:xfrm>
            <a:off x="11312347" y="969010"/>
            <a:ext cx="21336" cy="21336"/>
          </a:xfrm>
          <a:prstGeom prst="ellipse">
            <a:avLst/>
          </a:prstGeom>
          <a:solidFill>
            <a:srgbClr val="F4D9DC"/>
          </a:solidFill>
          <a:ln/>
        </p:spPr>
      </p:sp>
      <p:sp>
        <p:nvSpPr>
          <p:cNvPr id="62" name="Shape 60"/>
          <p:cNvSpPr/>
          <p:nvPr/>
        </p:nvSpPr>
        <p:spPr>
          <a:xfrm>
            <a:off x="11235004" y="957453"/>
            <a:ext cx="21336" cy="21336"/>
          </a:xfrm>
          <a:prstGeom prst="ellipse">
            <a:avLst/>
          </a:prstGeom>
          <a:solidFill>
            <a:srgbClr val="F4D9DC"/>
          </a:solidFill>
          <a:ln/>
        </p:spPr>
      </p:sp>
      <p:sp>
        <p:nvSpPr>
          <p:cNvPr id="63" name="Shape 61"/>
          <p:cNvSpPr/>
          <p:nvPr/>
        </p:nvSpPr>
        <p:spPr>
          <a:xfrm>
            <a:off x="11162995" y="925449"/>
            <a:ext cx="21336" cy="21336"/>
          </a:xfrm>
          <a:prstGeom prst="ellipse">
            <a:avLst/>
          </a:prstGeom>
          <a:solidFill>
            <a:srgbClr val="F4D9DC"/>
          </a:solidFill>
          <a:ln/>
        </p:spPr>
      </p:sp>
      <p:sp>
        <p:nvSpPr>
          <p:cNvPr id="64" name="Shape 62"/>
          <p:cNvSpPr/>
          <p:nvPr/>
        </p:nvSpPr>
        <p:spPr>
          <a:xfrm>
            <a:off x="11104321" y="873887"/>
            <a:ext cx="21336" cy="21336"/>
          </a:xfrm>
          <a:prstGeom prst="ellipse">
            <a:avLst/>
          </a:prstGeom>
          <a:solidFill>
            <a:srgbClr val="F4D9DC"/>
          </a:solidFill>
          <a:ln/>
        </p:spPr>
      </p:sp>
      <p:sp>
        <p:nvSpPr>
          <p:cNvPr id="65" name="Shape 63"/>
          <p:cNvSpPr/>
          <p:nvPr/>
        </p:nvSpPr>
        <p:spPr>
          <a:xfrm>
            <a:off x="11061649" y="808101"/>
            <a:ext cx="21336" cy="21336"/>
          </a:xfrm>
          <a:prstGeom prst="ellipse">
            <a:avLst/>
          </a:prstGeom>
          <a:solidFill>
            <a:srgbClr val="F4D9DC"/>
          </a:solidFill>
          <a:ln/>
        </p:spPr>
      </p:sp>
      <p:sp>
        <p:nvSpPr>
          <p:cNvPr id="66" name="Shape 64"/>
          <p:cNvSpPr/>
          <p:nvPr/>
        </p:nvSpPr>
        <p:spPr>
          <a:xfrm>
            <a:off x="11039424" y="732536"/>
            <a:ext cx="21336" cy="21336"/>
          </a:xfrm>
          <a:prstGeom prst="ellipse">
            <a:avLst/>
          </a:prstGeom>
          <a:solidFill>
            <a:srgbClr val="F4D9DC"/>
          </a:solidFill>
          <a:ln/>
        </p:spPr>
      </p:sp>
      <p:sp>
        <p:nvSpPr>
          <p:cNvPr id="67" name="Shape 65"/>
          <p:cNvSpPr/>
          <p:nvPr/>
        </p:nvSpPr>
        <p:spPr>
          <a:xfrm>
            <a:off x="11039424" y="654304"/>
            <a:ext cx="21336" cy="21336"/>
          </a:xfrm>
          <a:prstGeom prst="ellipse">
            <a:avLst/>
          </a:prstGeom>
          <a:solidFill>
            <a:srgbClr val="F4D9DC"/>
          </a:solidFill>
          <a:ln/>
        </p:spPr>
      </p:sp>
      <p:sp>
        <p:nvSpPr>
          <p:cNvPr id="68" name="Shape 66"/>
          <p:cNvSpPr/>
          <p:nvPr/>
        </p:nvSpPr>
        <p:spPr>
          <a:xfrm>
            <a:off x="11061649" y="578739"/>
            <a:ext cx="21336" cy="21336"/>
          </a:xfrm>
          <a:prstGeom prst="ellipse">
            <a:avLst/>
          </a:prstGeom>
          <a:solidFill>
            <a:srgbClr val="F4D9DC"/>
          </a:solidFill>
          <a:ln/>
        </p:spPr>
      </p:sp>
      <p:sp>
        <p:nvSpPr>
          <p:cNvPr id="69" name="Shape 67"/>
          <p:cNvSpPr/>
          <p:nvPr/>
        </p:nvSpPr>
        <p:spPr>
          <a:xfrm>
            <a:off x="11104321" y="512953"/>
            <a:ext cx="21336" cy="21336"/>
          </a:xfrm>
          <a:prstGeom prst="ellipse">
            <a:avLst/>
          </a:prstGeom>
          <a:solidFill>
            <a:srgbClr val="F4D9DC"/>
          </a:solidFill>
          <a:ln/>
        </p:spPr>
      </p:sp>
      <p:sp>
        <p:nvSpPr>
          <p:cNvPr id="70" name="Shape 68"/>
          <p:cNvSpPr/>
          <p:nvPr/>
        </p:nvSpPr>
        <p:spPr>
          <a:xfrm>
            <a:off x="11162995" y="461391"/>
            <a:ext cx="21336" cy="21336"/>
          </a:xfrm>
          <a:prstGeom prst="ellipse">
            <a:avLst/>
          </a:prstGeom>
          <a:solidFill>
            <a:srgbClr val="F4D9DC"/>
          </a:solidFill>
          <a:ln/>
        </p:spPr>
      </p:sp>
      <p:sp>
        <p:nvSpPr>
          <p:cNvPr id="71" name="Shape 69"/>
          <p:cNvSpPr/>
          <p:nvPr/>
        </p:nvSpPr>
        <p:spPr>
          <a:xfrm>
            <a:off x="11235004" y="429387"/>
            <a:ext cx="21336" cy="21336"/>
          </a:xfrm>
          <a:prstGeom prst="ellipse">
            <a:avLst/>
          </a:prstGeom>
          <a:solidFill>
            <a:srgbClr val="F4D9DC"/>
          </a:solidFill>
          <a:ln/>
        </p:spPr>
      </p:sp>
      <p:sp>
        <p:nvSpPr>
          <p:cNvPr id="72" name="Text 70"/>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Jij stuurt, de agent programmeert</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F4D74B"/>
                </a:solidFill>
                <a:latin typeface="Cooper Lt BT" pitchFamily="34" charset="0"/>
                <a:ea typeface="Cooper Lt BT" pitchFamily="34" charset="-122"/>
                <a:cs typeface="Cooper Lt BT" pitchFamily="34" charset="-120"/>
              </a:rPr>
              <a:t>Er is geen goed of fout dashboard, alleen keuzes die je kunt uitleggen.</a:t>
            </a:r>
            <a:endParaRPr lang="en-US" sz="2200" dirty="0"/>
          </a:p>
        </p:txBody>
      </p:sp>
      <p:pic>
        <p:nvPicPr>
          <p:cNvPr id="74" name="Image 0" descr="exports\261005_workshop_rad_uitvoering\img\kunstmatigeintelligentie.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EAEA"/>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2700" dirty="0">
                <a:solidFill>
                  <a:srgbClr val="3D68EC"/>
                </a:solidFill>
                <a:latin typeface="General Sans Semibold" pitchFamily="34" charset="0"/>
                <a:ea typeface="General Sans Semibold" pitchFamily="34" charset="-122"/>
                <a:cs typeface="General Sans Semibold" pitchFamily="34" charset="-120"/>
              </a:rPr>
              <a:t>De data is synthetisch, het patroon is ingebouwd</a:t>
            </a:r>
            <a:endParaRPr lang="en-US" sz="2700" dirty="0"/>
          </a:p>
        </p:txBody>
      </p:sp>
      <p:sp>
        <p:nvSpPr>
          <p:cNvPr id="73" name="Shape 71"/>
          <p:cNvSpPr/>
          <p:nvPr/>
        </p:nvSpPr>
        <p:spPr>
          <a:xfrm>
            <a:off x="548640" y="1572768"/>
            <a:ext cx="201168" cy="201168"/>
          </a:xfrm>
          <a:prstGeom prst="ellipse">
            <a:avLst/>
          </a:prstGeom>
          <a:solidFill>
            <a:srgbClr val="3D68EC"/>
          </a:solidFill>
          <a:ln/>
        </p:spPr>
      </p:sp>
      <p:sp>
        <p:nvSpPr>
          <p:cNvPr id="74" name="Text 72"/>
          <p:cNvSpPr/>
          <p:nvPr/>
        </p:nvSpPr>
        <p:spPr>
          <a:xfrm>
            <a:off x="960120" y="14630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Fictief:</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zelfde kolommen en codes als 1CHO, maar geen echte personen</a:t>
            </a:r>
            <a:endParaRPr lang="en-US" sz="1900" dirty="0"/>
          </a:p>
        </p:txBody>
      </p:sp>
      <p:sp>
        <p:nvSpPr>
          <p:cNvPr id="75" name="Shape 73"/>
          <p:cNvSpPr/>
          <p:nvPr/>
        </p:nvSpPr>
        <p:spPr>
          <a:xfrm>
            <a:off x="548640" y="2487168"/>
            <a:ext cx="201168" cy="201168"/>
          </a:xfrm>
          <a:prstGeom prst="ellipse">
            <a:avLst/>
          </a:prstGeom>
          <a:solidFill>
            <a:srgbClr val="DD784B"/>
          </a:solidFill>
          <a:ln/>
        </p:spPr>
      </p:sp>
      <p:sp>
        <p:nvSpPr>
          <p:cNvPr id="76" name="Text 74"/>
          <p:cNvSpPr/>
          <p:nvPr/>
        </p:nvSpPr>
        <p:spPr>
          <a:xfrm>
            <a:off x="960120" y="23774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Mag de agent in:</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geen AVG-toets of verwerkersovereenkomst nodig</a:t>
            </a:r>
            <a:endParaRPr lang="en-US" sz="1900" dirty="0"/>
          </a:p>
        </p:txBody>
      </p:sp>
      <p:sp>
        <p:nvSpPr>
          <p:cNvPr id="77" name="Shape 75"/>
          <p:cNvSpPr/>
          <p:nvPr/>
        </p:nvSpPr>
        <p:spPr>
          <a:xfrm>
            <a:off x="548640" y="3401568"/>
            <a:ext cx="201168" cy="201168"/>
          </a:xfrm>
          <a:prstGeom prst="ellipse">
            <a:avLst/>
          </a:prstGeom>
          <a:solidFill>
            <a:srgbClr val="00AF81"/>
          </a:solidFill>
          <a:ln/>
        </p:spPr>
      </p:sp>
      <p:sp>
        <p:nvSpPr>
          <p:cNvPr id="78" name="Text 76"/>
          <p:cNvSpPr/>
          <p:nvPr/>
        </p:nvSpPr>
        <p:spPr>
          <a:xfrm>
            <a:off x="960120" y="32918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Bewust gemaakt:</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er zit een echt verschil én een nep-verschil in</a:t>
            </a:r>
            <a:endParaRPr lang="en-US" sz="1900" dirty="0"/>
          </a:p>
        </p:txBody>
      </p:sp>
      <p:sp>
        <p:nvSpPr>
          <p:cNvPr id="79" name="Shape 77"/>
          <p:cNvSpPr/>
          <p:nvPr/>
        </p:nvSpPr>
        <p:spPr>
          <a:xfrm>
            <a:off x="548640" y="4315968"/>
            <a:ext cx="201168" cy="201168"/>
          </a:xfrm>
          <a:prstGeom prst="ellipse">
            <a:avLst/>
          </a:prstGeom>
          <a:solidFill>
            <a:srgbClr val="F4D74B"/>
          </a:solidFill>
          <a:ln/>
        </p:spPr>
      </p:sp>
      <p:sp>
        <p:nvSpPr>
          <p:cNvPr id="80" name="Text 78"/>
          <p:cNvSpPr/>
          <p:nvPr/>
        </p:nvSpPr>
        <p:spPr>
          <a:xfrm>
            <a:off x="960120" y="42062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DD784B"/>
                </a:solidFill>
                <a:latin typeface="General Sans Semibold" pitchFamily="34" charset="0"/>
                <a:ea typeface="General Sans Semibold" pitchFamily="34" charset="-122"/>
                <a:cs typeface="General Sans Semibold" pitchFamily="34" charset="-120"/>
              </a:rPr>
              <a:t>Alleen oefenen:</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de kansen zijn onze keuze, geen werkelijkheid</a:t>
            </a:r>
            <a:endParaRPr lang="en-US" sz="1900" dirty="0"/>
          </a:p>
        </p:txBody>
      </p:sp>
      <p:pic>
        <p:nvPicPr>
          <p:cNvPr id="81" name="Image 0" descr="exports\261005_workshop_rad_uitvoering\img\Slot.png">    </p:cNvPr>
          <p:cNvPicPr>
            <a:picLocks noChangeAspect="1"/>
          </p:cNvPicPr>
          <p:nvPr/>
        </p:nvPicPr>
        <p:blipFill>
          <a:blip r:embed="rId1"/>
          <a:stretch>
            <a:fillRect/>
          </a:stretch>
        </p:blipFill>
        <p:spPr>
          <a:xfrm>
            <a:off x="7498080" y="1417320"/>
            <a:ext cx="4206240" cy="4206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5D4"/>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Onze casus: eerstejaarsuitval</a:t>
            </a:r>
            <a:endParaRPr lang="en-US" sz="3400" dirty="0"/>
          </a:p>
        </p:txBody>
      </p:sp>
      <p:sp>
        <p:nvSpPr>
          <p:cNvPr id="73" name="Shape 71"/>
          <p:cNvSpPr/>
          <p:nvPr/>
        </p:nvSpPr>
        <p:spPr>
          <a:xfrm>
            <a:off x="548640" y="1371600"/>
            <a:ext cx="3515258" cy="3145536"/>
          </a:xfrm>
          <a:prstGeom prst="roundRect">
            <a:avLst>
              <a:gd name="adj" fmla="val 2366"/>
            </a:avLst>
          </a:prstGeom>
          <a:solidFill>
            <a:srgbClr val="3D68EC"/>
          </a:solidFill>
          <a:ln/>
        </p:spPr>
      </p:sp>
      <p:sp>
        <p:nvSpPr>
          <p:cNvPr id="74" name="Shape 72"/>
          <p:cNvSpPr/>
          <p:nvPr/>
        </p:nvSpPr>
        <p:spPr>
          <a:xfrm>
            <a:off x="822960" y="1645920"/>
            <a:ext cx="548640" cy="548640"/>
          </a:xfrm>
          <a:prstGeom prst="ellipse">
            <a:avLst/>
          </a:prstGeom>
          <a:solidFill>
            <a:srgbClr val="F4D74B"/>
          </a:solidFill>
          <a:ln/>
        </p:spPr>
      </p:sp>
      <p:sp>
        <p:nvSpPr>
          <p:cNvPr id="75" name="Text 73"/>
          <p:cNvSpPr/>
          <p:nvPr/>
        </p:nvSpPr>
        <p:spPr>
          <a:xfrm>
            <a:off x="822960"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3D68EC"/>
                </a:solidFill>
                <a:latin typeface="General Sans Semibold" pitchFamily="34" charset="0"/>
                <a:ea typeface="General Sans Semibold" pitchFamily="34" charset="-122"/>
                <a:cs typeface="General Sans Semibold" pitchFamily="34" charset="-120"/>
              </a:rPr>
              <a:t>A</a:t>
            </a:r>
            <a:endParaRPr lang="en-US" sz="2000" dirty="0"/>
          </a:p>
        </p:txBody>
      </p:sp>
      <p:sp>
        <p:nvSpPr>
          <p:cNvPr id="76" name="Shape 74"/>
          <p:cNvSpPr/>
          <p:nvPr/>
        </p:nvSpPr>
        <p:spPr>
          <a:xfrm>
            <a:off x="1508760" y="1719072"/>
            <a:ext cx="2280818" cy="402336"/>
          </a:xfrm>
          <a:prstGeom prst="roundRect">
            <a:avLst>
              <a:gd name="adj" fmla="val 113636"/>
            </a:avLst>
          </a:prstGeom>
          <a:solidFill>
            <a:srgbClr val="F4D74B"/>
          </a:solidFill>
          <a:ln/>
        </p:spPr>
      </p:sp>
      <p:sp>
        <p:nvSpPr>
          <p:cNvPr id="77" name="Text 75"/>
          <p:cNvSpPr/>
          <p:nvPr/>
        </p:nvSpPr>
        <p:spPr>
          <a:xfrm>
            <a:off x="1600200"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3D68EC"/>
                </a:solidFill>
                <a:latin typeface="General Sans Semibold" pitchFamily="34" charset="0"/>
                <a:ea typeface="General Sans Semibold" pitchFamily="34" charset="-122"/>
                <a:cs typeface="General Sans Semibold" pitchFamily="34" charset="-120"/>
              </a:rPr>
              <a:t>De vraag</a:t>
            </a:r>
            <a:endParaRPr lang="en-US" sz="1200" dirty="0"/>
          </a:p>
        </p:txBody>
      </p:sp>
      <p:sp>
        <p:nvSpPr>
          <p:cNvPr id="78" name="Text 76"/>
          <p:cNvSpPr/>
          <p:nvPr/>
        </p:nvSpPr>
        <p:spPr>
          <a:xfrm>
            <a:off x="822960" y="242316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F4D9DC"/>
                </a:solidFill>
                <a:latin typeface="General Sans Semibold" pitchFamily="34" charset="0"/>
                <a:ea typeface="General Sans Semibold" pitchFamily="34" charset="-122"/>
                <a:cs typeface="General Sans Semibold" pitchFamily="34" charset="-120"/>
              </a:rPr>
              <a:t>Wie stopt na jaar 1?</a:t>
            </a:r>
            <a:endParaRPr lang="en-US" sz="2300" dirty="0"/>
          </a:p>
        </p:txBody>
      </p:sp>
      <p:sp>
        <p:nvSpPr>
          <p:cNvPr id="79" name="Text 77"/>
          <p:cNvSpPr/>
          <p:nvPr/>
        </p:nvSpPr>
        <p:spPr>
          <a:xfrm>
            <a:off x="822960" y="3389376"/>
            <a:ext cx="2966618" cy="99060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Welke eerstejaars stoppen binnen een jaar, en verschilt dat per sector en opleidingsvorm?</a:t>
            </a:r>
            <a:endParaRPr lang="en-US" sz="1500" dirty="0"/>
          </a:p>
        </p:txBody>
      </p:sp>
      <p:sp>
        <p:nvSpPr>
          <p:cNvPr id="80" name="Shape 78"/>
          <p:cNvSpPr/>
          <p:nvPr/>
        </p:nvSpPr>
        <p:spPr>
          <a:xfrm>
            <a:off x="4338218" y="1371600"/>
            <a:ext cx="3515258" cy="3145536"/>
          </a:xfrm>
          <a:prstGeom prst="roundRect">
            <a:avLst>
              <a:gd name="adj" fmla="val 2366"/>
            </a:avLst>
          </a:prstGeom>
          <a:solidFill>
            <a:srgbClr val="DD784B"/>
          </a:solidFill>
          <a:ln/>
        </p:spPr>
      </p:sp>
      <p:sp>
        <p:nvSpPr>
          <p:cNvPr id="81" name="Shape 79"/>
          <p:cNvSpPr/>
          <p:nvPr/>
        </p:nvSpPr>
        <p:spPr>
          <a:xfrm>
            <a:off x="4612538" y="1645920"/>
            <a:ext cx="548640" cy="548640"/>
          </a:xfrm>
          <a:prstGeom prst="ellipse">
            <a:avLst/>
          </a:prstGeom>
          <a:solidFill>
            <a:srgbClr val="F4D9DC"/>
          </a:solidFill>
          <a:ln/>
        </p:spPr>
      </p:sp>
      <p:sp>
        <p:nvSpPr>
          <p:cNvPr id="82" name="Text 80"/>
          <p:cNvSpPr/>
          <p:nvPr/>
        </p:nvSpPr>
        <p:spPr>
          <a:xfrm>
            <a:off x="4612538"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a:t>
            </a:r>
            <a:endParaRPr lang="en-US" sz="2000" dirty="0"/>
          </a:p>
        </p:txBody>
      </p:sp>
      <p:sp>
        <p:nvSpPr>
          <p:cNvPr id="83" name="Shape 81"/>
          <p:cNvSpPr/>
          <p:nvPr/>
        </p:nvSpPr>
        <p:spPr>
          <a:xfrm>
            <a:off x="5298338" y="1719072"/>
            <a:ext cx="2280818" cy="402336"/>
          </a:xfrm>
          <a:prstGeom prst="roundRect">
            <a:avLst>
              <a:gd name="adj" fmla="val 113636"/>
            </a:avLst>
          </a:prstGeom>
          <a:solidFill>
            <a:srgbClr val="F4D9DC"/>
          </a:solidFill>
          <a:ln/>
        </p:spPr>
      </p:sp>
      <p:sp>
        <p:nvSpPr>
          <p:cNvPr id="84" name="Text 82"/>
          <p:cNvSpPr/>
          <p:nvPr/>
        </p:nvSpPr>
        <p:spPr>
          <a:xfrm>
            <a:off x="5389778"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De AI-taak</a:t>
            </a:r>
            <a:endParaRPr lang="en-US" sz="1200" dirty="0"/>
          </a:p>
        </p:txBody>
      </p:sp>
      <p:sp>
        <p:nvSpPr>
          <p:cNvPr id="85" name="Text 83"/>
          <p:cNvSpPr/>
          <p:nvPr/>
        </p:nvSpPr>
        <p:spPr>
          <a:xfrm>
            <a:off x="4612538" y="242316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Uitval per cohort</a:t>
            </a:r>
            <a:endParaRPr lang="en-US" sz="2300" dirty="0"/>
          </a:p>
        </p:txBody>
      </p:sp>
      <p:sp>
        <p:nvSpPr>
          <p:cNvPr id="86" name="Text 84"/>
          <p:cNvSpPr/>
          <p:nvPr/>
        </p:nvSpPr>
        <p:spPr>
          <a:xfrm>
            <a:off x="4612538" y="3389376"/>
            <a:ext cx="2966618"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Uitval binnen 1 jaar per cohort berekenen en vergelijken naar sector, geslacht en opleiding.</a:t>
            </a:r>
            <a:endParaRPr lang="en-US" sz="1500" dirty="0"/>
          </a:p>
        </p:txBody>
      </p:sp>
      <p:sp>
        <p:nvSpPr>
          <p:cNvPr id="87" name="Shape 85"/>
          <p:cNvSpPr/>
          <p:nvPr/>
        </p:nvSpPr>
        <p:spPr>
          <a:xfrm>
            <a:off x="8127797" y="1371600"/>
            <a:ext cx="3515258" cy="3145536"/>
          </a:xfrm>
          <a:prstGeom prst="roundRect">
            <a:avLst>
              <a:gd name="adj" fmla="val 2366"/>
            </a:avLst>
          </a:prstGeom>
          <a:solidFill>
            <a:srgbClr val="00AF81"/>
          </a:solidFill>
          <a:ln/>
        </p:spPr>
      </p:sp>
      <p:sp>
        <p:nvSpPr>
          <p:cNvPr id="88" name="Shape 86"/>
          <p:cNvSpPr/>
          <p:nvPr/>
        </p:nvSpPr>
        <p:spPr>
          <a:xfrm>
            <a:off x="8402117" y="1645920"/>
            <a:ext cx="548640" cy="548640"/>
          </a:xfrm>
          <a:prstGeom prst="ellipse">
            <a:avLst/>
          </a:prstGeom>
          <a:solidFill>
            <a:srgbClr val="F4D9DC"/>
          </a:solidFill>
          <a:ln/>
        </p:spPr>
      </p:sp>
      <p:sp>
        <p:nvSpPr>
          <p:cNvPr id="89" name="Text 87"/>
          <p:cNvSpPr/>
          <p:nvPr/>
        </p:nvSpPr>
        <p:spPr>
          <a:xfrm>
            <a:off x="8402117"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a:t>
            </a:r>
            <a:endParaRPr lang="en-US" sz="2000" dirty="0"/>
          </a:p>
        </p:txBody>
      </p:sp>
      <p:sp>
        <p:nvSpPr>
          <p:cNvPr id="90" name="Shape 88"/>
          <p:cNvSpPr/>
          <p:nvPr/>
        </p:nvSpPr>
        <p:spPr>
          <a:xfrm>
            <a:off x="9087917" y="1719072"/>
            <a:ext cx="2280818" cy="402336"/>
          </a:xfrm>
          <a:prstGeom prst="roundRect">
            <a:avLst>
              <a:gd name="adj" fmla="val 113636"/>
            </a:avLst>
          </a:prstGeom>
          <a:solidFill>
            <a:srgbClr val="F4D9DC"/>
          </a:solidFill>
          <a:ln/>
        </p:spPr>
      </p:sp>
      <p:sp>
        <p:nvSpPr>
          <p:cNvPr id="91" name="Text 89"/>
          <p:cNvSpPr/>
          <p:nvPr/>
        </p:nvSpPr>
        <p:spPr>
          <a:xfrm>
            <a:off x="9179357"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Het product</a:t>
            </a:r>
            <a:endParaRPr lang="en-US" sz="1200" dirty="0"/>
          </a:p>
        </p:txBody>
      </p:sp>
      <p:sp>
        <p:nvSpPr>
          <p:cNvPr id="92" name="Text 90"/>
          <p:cNvSpPr/>
          <p:nvPr/>
        </p:nvSpPr>
        <p:spPr>
          <a:xfrm>
            <a:off x="8402117" y="2423160"/>
            <a:ext cx="2966618" cy="691896"/>
          </a:xfrm>
          <a:prstGeom prst="rect">
            <a:avLst/>
          </a:prstGeom>
          <a:noFill/>
          <a:ln/>
        </p:spPr>
        <p:txBody>
          <a:bodyPr wrap="square" lIns="0" tIns="0" rIns="0" bIns="0" rtlCol="0" anchor="t"/>
          <a:lstStyle/>
          <a:p>
            <a:pPr algn="l" indent="0" marL="0">
              <a:lnSpc>
                <a:spcPct val="105000"/>
              </a:lnSpc>
              <a:buNone/>
            </a:pPr>
            <a:r>
              <a:rPr lang="en-US" sz="2400" dirty="0">
                <a:solidFill>
                  <a:srgbClr val="000000"/>
                </a:solidFill>
                <a:latin typeface="General Sans Semibold" pitchFamily="34" charset="0"/>
                <a:ea typeface="General Sans Semibold" pitchFamily="34" charset="-122"/>
                <a:cs typeface="General Sans Semibold" pitchFamily="34" charset="-120"/>
              </a:rPr>
              <a:t>Eén dashboard</a:t>
            </a:r>
            <a:endParaRPr lang="en-US" sz="2400" dirty="0"/>
          </a:p>
        </p:txBody>
      </p:sp>
      <p:sp>
        <p:nvSpPr>
          <p:cNvPr id="93" name="Text 91"/>
          <p:cNvSpPr/>
          <p:nvPr/>
        </p:nvSpPr>
        <p:spPr>
          <a:xfrm>
            <a:off x="8402117" y="3389376"/>
            <a:ext cx="2966618"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Een dashboard dat de vraag beantwoordt, met de conclusie als titel.</a:t>
            </a:r>
            <a:endParaRPr lang="en-US" sz="1500" dirty="0"/>
          </a:p>
        </p:txBody>
      </p:sp>
      <p:sp>
        <p:nvSpPr>
          <p:cNvPr id="94" name="Text 92"/>
          <p:cNvSpPr/>
          <p:nvPr/>
        </p:nvSpPr>
        <p:spPr>
          <a:xfrm>
            <a:off x="548640" y="4700016"/>
            <a:ext cx="11094415" cy="457200"/>
          </a:xfrm>
          <a:prstGeom prst="rect">
            <a:avLst/>
          </a:prstGeom>
          <a:noFill/>
          <a:ln/>
        </p:spPr>
        <p:txBody>
          <a:bodyPr wrap="square" lIns="0" tIns="0" rIns="0" bIns="0" rtlCol="0" anchor="t"/>
          <a:lstStyle/>
          <a:p>
            <a:pPr algn="l" indent="0" marL="0">
              <a:lnSpc>
                <a:spcPct val="105000"/>
              </a:lnSpc>
              <a:buNone/>
            </a:pPr>
            <a:r>
              <a:rPr lang="en-US" sz="1700" dirty="0">
                <a:solidFill>
                  <a:srgbClr val="000000"/>
                </a:solidFill>
                <a:latin typeface="General Sans" pitchFamily="34" charset="0"/>
                <a:ea typeface="General Sans" pitchFamily="34" charset="-122"/>
                <a:cs typeface="General Sans" pitchFamily="34" charset="-120"/>
              </a:rPr>
              <a:t>Data: 3070 fictieve studenten, cohorten 2012-2023, één bestand: data/synthetisch_1cho.csv.</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Werk in tweetallen, wissel per ronde</a:t>
            </a:r>
            <a:endParaRPr lang="en-US" sz="3400" dirty="0"/>
          </a:p>
        </p:txBody>
      </p:sp>
      <p:sp>
        <p:nvSpPr>
          <p:cNvPr id="73" name="Shape 71"/>
          <p:cNvSpPr/>
          <p:nvPr/>
        </p:nvSpPr>
        <p:spPr>
          <a:xfrm>
            <a:off x="548640" y="1572768"/>
            <a:ext cx="201168" cy="201168"/>
          </a:xfrm>
          <a:prstGeom prst="ellipse">
            <a:avLst/>
          </a:prstGeom>
          <a:solidFill>
            <a:srgbClr val="3D68EC"/>
          </a:solidFill>
          <a:ln/>
        </p:spPr>
      </p:sp>
      <p:sp>
        <p:nvSpPr>
          <p:cNvPr id="74" name="Text 72"/>
          <p:cNvSpPr/>
          <p:nvPr/>
        </p:nvSpPr>
        <p:spPr>
          <a:xfrm>
            <a:off x="960120" y="14630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Bestuurder:</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typt de instructies aan de agent</a:t>
            </a:r>
            <a:endParaRPr lang="en-US" sz="1900" dirty="0"/>
          </a:p>
        </p:txBody>
      </p:sp>
      <p:sp>
        <p:nvSpPr>
          <p:cNvPr id="75" name="Shape 73"/>
          <p:cNvSpPr/>
          <p:nvPr/>
        </p:nvSpPr>
        <p:spPr>
          <a:xfrm>
            <a:off x="548640" y="2487168"/>
            <a:ext cx="201168" cy="201168"/>
          </a:xfrm>
          <a:prstGeom prst="ellipse">
            <a:avLst/>
          </a:prstGeom>
          <a:solidFill>
            <a:srgbClr val="DD784B"/>
          </a:solidFill>
          <a:ln/>
        </p:spPr>
      </p:sp>
      <p:sp>
        <p:nvSpPr>
          <p:cNvPr id="76" name="Text 74"/>
          <p:cNvSpPr/>
          <p:nvPr/>
        </p:nvSpPr>
        <p:spPr>
          <a:xfrm>
            <a:off x="960120" y="23774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Navigator:</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leest de code en controleert de uitkomst</a:t>
            </a:r>
            <a:endParaRPr lang="en-US" sz="1900" dirty="0"/>
          </a:p>
        </p:txBody>
      </p:sp>
      <p:sp>
        <p:nvSpPr>
          <p:cNvPr id="77" name="Shape 75"/>
          <p:cNvSpPr/>
          <p:nvPr/>
        </p:nvSpPr>
        <p:spPr>
          <a:xfrm>
            <a:off x="548640" y="3401568"/>
            <a:ext cx="201168" cy="201168"/>
          </a:xfrm>
          <a:prstGeom prst="ellipse">
            <a:avLst/>
          </a:prstGeom>
          <a:solidFill>
            <a:srgbClr val="00AF81"/>
          </a:solidFill>
          <a:ln/>
        </p:spPr>
      </p:sp>
      <p:sp>
        <p:nvSpPr>
          <p:cNvPr id="78" name="Text 76"/>
          <p:cNvSpPr/>
          <p:nvPr/>
        </p:nvSpPr>
        <p:spPr>
          <a:xfrm>
            <a:off x="960120" y="32918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Wissel</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na ronde 1, zodat beiden beide rollen doen</a:t>
            </a:r>
            <a:endParaRPr lang="en-US" sz="1900" dirty="0"/>
          </a:p>
        </p:txBody>
      </p:sp>
      <p:sp>
        <p:nvSpPr>
          <p:cNvPr id="79" name="Shape 77"/>
          <p:cNvSpPr/>
          <p:nvPr/>
        </p:nvSpPr>
        <p:spPr>
          <a:xfrm>
            <a:off x="548640" y="4315968"/>
            <a:ext cx="201168" cy="201168"/>
          </a:xfrm>
          <a:prstGeom prst="ellipse">
            <a:avLst/>
          </a:prstGeom>
          <a:solidFill>
            <a:srgbClr val="F4D74B"/>
          </a:solidFill>
          <a:ln/>
        </p:spPr>
      </p:sp>
      <p:sp>
        <p:nvSpPr>
          <p:cNvPr id="80" name="Text 78"/>
          <p:cNvSpPr/>
          <p:nvPr/>
        </p:nvSpPr>
        <p:spPr>
          <a:xfrm>
            <a:off x="960120" y="42062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Vraag je iets?</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Dan stel ik een wedervraag: wat zou de agent hier doen?</a:t>
            </a:r>
            <a:endParaRPr lang="en-US" sz="1900" dirty="0"/>
          </a:p>
        </p:txBody>
      </p:sp>
      <p:pic>
        <p:nvPicPr>
          <p:cNvPr id="81" name="Image 0" descr="exports\261005_workshop_rad_uitvoering\img\gesprek.png">    </p:cNvPr>
          <p:cNvPicPr>
            <a:picLocks noChangeAspect="1"/>
          </p:cNvPicPr>
          <p:nvPr/>
        </p:nvPicPr>
        <p:blipFill>
          <a:blip r:embed="rId1"/>
          <a:stretch>
            <a:fillRect/>
          </a:stretch>
        </p:blipFill>
        <p:spPr>
          <a:xfrm>
            <a:off x="7498080" y="1417320"/>
            <a:ext cx="4206240" cy="4206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D68EC"/>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F4D9DC"/>
          </a:solidFill>
          <a:ln/>
        </p:spPr>
      </p:sp>
      <p:sp>
        <p:nvSpPr>
          <p:cNvPr id="3" name="Shape 1"/>
          <p:cNvSpPr/>
          <p:nvPr/>
        </p:nvSpPr>
        <p:spPr>
          <a:xfrm>
            <a:off x="11350574" y="646303"/>
            <a:ext cx="53340" cy="53340"/>
          </a:xfrm>
          <a:prstGeom prst="ellipse">
            <a:avLst/>
          </a:prstGeom>
          <a:solidFill>
            <a:srgbClr val="F4D9DC"/>
          </a:solidFill>
          <a:ln/>
        </p:spPr>
      </p:sp>
      <p:sp>
        <p:nvSpPr>
          <p:cNvPr id="4" name="Shape 2"/>
          <p:cNvSpPr/>
          <p:nvPr/>
        </p:nvSpPr>
        <p:spPr>
          <a:xfrm>
            <a:off x="11350574" y="708533"/>
            <a:ext cx="53340" cy="53340"/>
          </a:xfrm>
          <a:prstGeom prst="ellipse">
            <a:avLst/>
          </a:prstGeom>
          <a:solidFill>
            <a:srgbClr val="F4D9DC"/>
          </a:solidFill>
          <a:ln/>
        </p:spPr>
      </p:sp>
      <p:sp>
        <p:nvSpPr>
          <p:cNvPr id="5" name="Shape 3"/>
          <p:cNvSpPr/>
          <p:nvPr/>
        </p:nvSpPr>
        <p:spPr>
          <a:xfrm>
            <a:off x="11296345" y="739648"/>
            <a:ext cx="53340" cy="53340"/>
          </a:xfrm>
          <a:prstGeom prst="ellipse">
            <a:avLst/>
          </a:prstGeom>
          <a:solidFill>
            <a:srgbClr val="F4D9DC"/>
          </a:solidFill>
          <a:ln/>
        </p:spPr>
      </p:sp>
      <p:sp>
        <p:nvSpPr>
          <p:cNvPr id="6" name="Shape 4"/>
          <p:cNvSpPr/>
          <p:nvPr/>
        </p:nvSpPr>
        <p:spPr>
          <a:xfrm>
            <a:off x="11242116" y="708533"/>
            <a:ext cx="53340" cy="53340"/>
          </a:xfrm>
          <a:prstGeom prst="ellipse">
            <a:avLst/>
          </a:prstGeom>
          <a:solidFill>
            <a:srgbClr val="F4D9DC"/>
          </a:solidFill>
          <a:ln/>
        </p:spPr>
      </p:sp>
      <p:sp>
        <p:nvSpPr>
          <p:cNvPr id="7" name="Shape 5"/>
          <p:cNvSpPr/>
          <p:nvPr/>
        </p:nvSpPr>
        <p:spPr>
          <a:xfrm>
            <a:off x="11242116" y="646303"/>
            <a:ext cx="53340" cy="53340"/>
          </a:xfrm>
          <a:prstGeom prst="ellipse">
            <a:avLst/>
          </a:prstGeom>
          <a:solidFill>
            <a:srgbClr val="F4D9DC"/>
          </a:solidFill>
          <a:ln/>
        </p:spPr>
      </p:sp>
      <p:sp>
        <p:nvSpPr>
          <p:cNvPr id="8" name="Shape 6"/>
          <p:cNvSpPr/>
          <p:nvPr/>
        </p:nvSpPr>
        <p:spPr>
          <a:xfrm>
            <a:off x="11300790" y="566293"/>
            <a:ext cx="44450" cy="44450"/>
          </a:xfrm>
          <a:prstGeom prst="ellipse">
            <a:avLst/>
          </a:prstGeom>
          <a:solidFill>
            <a:srgbClr val="F4D9DC"/>
          </a:solidFill>
          <a:ln/>
        </p:spPr>
      </p:sp>
      <p:sp>
        <p:nvSpPr>
          <p:cNvPr id="9" name="Shape 7"/>
          <p:cNvSpPr/>
          <p:nvPr/>
        </p:nvSpPr>
        <p:spPr>
          <a:xfrm>
            <a:off x="11368354" y="588518"/>
            <a:ext cx="44450" cy="44450"/>
          </a:xfrm>
          <a:prstGeom prst="ellipse">
            <a:avLst/>
          </a:prstGeom>
          <a:solidFill>
            <a:srgbClr val="F4D9DC"/>
          </a:solidFill>
          <a:ln/>
        </p:spPr>
      </p:sp>
      <p:sp>
        <p:nvSpPr>
          <p:cNvPr id="10" name="Shape 8"/>
          <p:cNvSpPr/>
          <p:nvPr/>
        </p:nvSpPr>
        <p:spPr>
          <a:xfrm>
            <a:off x="11411026" y="646303"/>
            <a:ext cx="44450" cy="44450"/>
          </a:xfrm>
          <a:prstGeom prst="ellipse">
            <a:avLst/>
          </a:prstGeom>
          <a:solidFill>
            <a:srgbClr val="F4D9DC"/>
          </a:solidFill>
          <a:ln/>
        </p:spPr>
      </p:sp>
      <p:sp>
        <p:nvSpPr>
          <p:cNvPr id="11" name="Shape 9"/>
          <p:cNvSpPr/>
          <p:nvPr/>
        </p:nvSpPr>
        <p:spPr>
          <a:xfrm>
            <a:off x="11411026" y="717423"/>
            <a:ext cx="44450" cy="44450"/>
          </a:xfrm>
          <a:prstGeom prst="ellipse">
            <a:avLst/>
          </a:prstGeom>
          <a:solidFill>
            <a:srgbClr val="F4D9DC"/>
          </a:solidFill>
          <a:ln/>
        </p:spPr>
      </p:sp>
      <p:sp>
        <p:nvSpPr>
          <p:cNvPr id="12" name="Shape 10"/>
          <p:cNvSpPr/>
          <p:nvPr/>
        </p:nvSpPr>
        <p:spPr>
          <a:xfrm>
            <a:off x="11368354" y="775208"/>
            <a:ext cx="44450" cy="44450"/>
          </a:xfrm>
          <a:prstGeom prst="ellipse">
            <a:avLst/>
          </a:prstGeom>
          <a:solidFill>
            <a:srgbClr val="F4D9DC"/>
          </a:solidFill>
          <a:ln/>
        </p:spPr>
      </p:sp>
      <p:sp>
        <p:nvSpPr>
          <p:cNvPr id="13" name="Shape 11"/>
          <p:cNvSpPr/>
          <p:nvPr/>
        </p:nvSpPr>
        <p:spPr>
          <a:xfrm>
            <a:off x="11300790" y="797433"/>
            <a:ext cx="44450" cy="44450"/>
          </a:xfrm>
          <a:prstGeom prst="ellipse">
            <a:avLst/>
          </a:prstGeom>
          <a:solidFill>
            <a:srgbClr val="F4D9DC"/>
          </a:solidFill>
          <a:ln/>
        </p:spPr>
      </p:sp>
      <p:sp>
        <p:nvSpPr>
          <p:cNvPr id="14" name="Shape 12"/>
          <p:cNvSpPr/>
          <p:nvPr/>
        </p:nvSpPr>
        <p:spPr>
          <a:xfrm>
            <a:off x="11233226" y="775208"/>
            <a:ext cx="44450" cy="44450"/>
          </a:xfrm>
          <a:prstGeom prst="ellipse">
            <a:avLst/>
          </a:prstGeom>
          <a:solidFill>
            <a:srgbClr val="F4D9DC"/>
          </a:solidFill>
          <a:ln/>
        </p:spPr>
      </p:sp>
      <p:sp>
        <p:nvSpPr>
          <p:cNvPr id="15" name="Shape 13"/>
          <p:cNvSpPr/>
          <p:nvPr/>
        </p:nvSpPr>
        <p:spPr>
          <a:xfrm>
            <a:off x="11190554" y="717423"/>
            <a:ext cx="44450" cy="44450"/>
          </a:xfrm>
          <a:prstGeom prst="ellipse">
            <a:avLst/>
          </a:prstGeom>
          <a:solidFill>
            <a:srgbClr val="F4D9DC"/>
          </a:solidFill>
          <a:ln/>
        </p:spPr>
      </p:sp>
      <p:sp>
        <p:nvSpPr>
          <p:cNvPr id="16" name="Shape 14"/>
          <p:cNvSpPr/>
          <p:nvPr/>
        </p:nvSpPr>
        <p:spPr>
          <a:xfrm>
            <a:off x="11190554" y="646303"/>
            <a:ext cx="44450" cy="44450"/>
          </a:xfrm>
          <a:prstGeom prst="ellipse">
            <a:avLst/>
          </a:prstGeom>
          <a:solidFill>
            <a:srgbClr val="F4D9DC"/>
          </a:solidFill>
          <a:ln/>
        </p:spPr>
      </p:sp>
      <p:sp>
        <p:nvSpPr>
          <p:cNvPr id="17" name="Shape 15"/>
          <p:cNvSpPr/>
          <p:nvPr/>
        </p:nvSpPr>
        <p:spPr>
          <a:xfrm>
            <a:off x="11233226" y="588518"/>
            <a:ext cx="44450" cy="44450"/>
          </a:xfrm>
          <a:prstGeom prst="ellipse">
            <a:avLst/>
          </a:prstGeom>
          <a:solidFill>
            <a:srgbClr val="F4D9DC"/>
          </a:solidFill>
          <a:ln/>
        </p:spPr>
      </p:sp>
      <p:sp>
        <p:nvSpPr>
          <p:cNvPr id="18" name="Shape 16"/>
          <p:cNvSpPr/>
          <p:nvPr/>
        </p:nvSpPr>
        <p:spPr>
          <a:xfrm>
            <a:off x="11305235" y="517398"/>
            <a:ext cx="35560" cy="35560"/>
          </a:xfrm>
          <a:prstGeom prst="ellipse">
            <a:avLst/>
          </a:prstGeom>
          <a:solidFill>
            <a:srgbClr val="F4D9DC"/>
          </a:solidFill>
          <a:ln/>
        </p:spPr>
      </p:sp>
      <p:sp>
        <p:nvSpPr>
          <p:cNvPr id="19" name="Shape 17"/>
          <p:cNvSpPr/>
          <p:nvPr/>
        </p:nvSpPr>
        <p:spPr>
          <a:xfrm>
            <a:off x="11378133" y="534289"/>
            <a:ext cx="35560" cy="35560"/>
          </a:xfrm>
          <a:prstGeom prst="ellipse">
            <a:avLst/>
          </a:prstGeom>
          <a:solidFill>
            <a:srgbClr val="F4D9DC"/>
          </a:solidFill>
          <a:ln/>
        </p:spPr>
      </p:sp>
      <p:sp>
        <p:nvSpPr>
          <p:cNvPr id="20" name="Shape 18"/>
          <p:cNvSpPr/>
          <p:nvPr/>
        </p:nvSpPr>
        <p:spPr>
          <a:xfrm>
            <a:off x="11437696" y="581406"/>
            <a:ext cx="35560" cy="35560"/>
          </a:xfrm>
          <a:prstGeom prst="ellipse">
            <a:avLst/>
          </a:prstGeom>
          <a:solidFill>
            <a:srgbClr val="F4D9DC"/>
          </a:solidFill>
          <a:ln/>
        </p:spPr>
      </p:sp>
      <p:sp>
        <p:nvSpPr>
          <p:cNvPr id="21" name="Shape 19"/>
          <p:cNvSpPr/>
          <p:nvPr/>
        </p:nvSpPr>
        <p:spPr>
          <a:xfrm>
            <a:off x="11469700" y="648970"/>
            <a:ext cx="35560" cy="35560"/>
          </a:xfrm>
          <a:prstGeom prst="ellipse">
            <a:avLst/>
          </a:prstGeom>
          <a:solidFill>
            <a:srgbClr val="F4D9DC"/>
          </a:solidFill>
          <a:ln/>
        </p:spPr>
      </p:sp>
      <p:sp>
        <p:nvSpPr>
          <p:cNvPr id="22" name="Shape 20"/>
          <p:cNvSpPr/>
          <p:nvPr/>
        </p:nvSpPr>
        <p:spPr>
          <a:xfrm>
            <a:off x="11469700" y="723646"/>
            <a:ext cx="35560" cy="35560"/>
          </a:xfrm>
          <a:prstGeom prst="ellipse">
            <a:avLst/>
          </a:prstGeom>
          <a:solidFill>
            <a:srgbClr val="F4D9DC"/>
          </a:solidFill>
          <a:ln/>
        </p:spPr>
      </p:sp>
      <p:sp>
        <p:nvSpPr>
          <p:cNvPr id="23" name="Shape 21"/>
          <p:cNvSpPr/>
          <p:nvPr/>
        </p:nvSpPr>
        <p:spPr>
          <a:xfrm>
            <a:off x="11437696" y="791210"/>
            <a:ext cx="35560" cy="35560"/>
          </a:xfrm>
          <a:prstGeom prst="ellipse">
            <a:avLst/>
          </a:prstGeom>
          <a:solidFill>
            <a:srgbClr val="F4D9DC"/>
          </a:solidFill>
          <a:ln/>
        </p:spPr>
      </p:sp>
      <p:sp>
        <p:nvSpPr>
          <p:cNvPr id="24" name="Shape 22"/>
          <p:cNvSpPr/>
          <p:nvPr/>
        </p:nvSpPr>
        <p:spPr>
          <a:xfrm>
            <a:off x="11378133" y="838327"/>
            <a:ext cx="35560" cy="35560"/>
          </a:xfrm>
          <a:prstGeom prst="ellipse">
            <a:avLst/>
          </a:prstGeom>
          <a:solidFill>
            <a:srgbClr val="F4D9DC"/>
          </a:solidFill>
          <a:ln/>
        </p:spPr>
      </p:sp>
      <p:sp>
        <p:nvSpPr>
          <p:cNvPr id="25" name="Shape 23"/>
          <p:cNvSpPr/>
          <p:nvPr/>
        </p:nvSpPr>
        <p:spPr>
          <a:xfrm>
            <a:off x="11305235" y="855218"/>
            <a:ext cx="35560" cy="35560"/>
          </a:xfrm>
          <a:prstGeom prst="ellipse">
            <a:avLst/>
          </a:prstGeom>
          <a:solidFill>
            <a:srgbClr val="F4D9DC"/>
          </a:solidFill>
          <a:ln/>
        </p:spPr>
      </p:sp>
      <p:sp>
        <p:nvSpPr>
          <p:cNvPr id="26" name="Shape 24"/>
          <p:cNvSpPr/>
          <p:nvPr/>
        </p:nvSpPr>
        <p:spPr>
          <a:xfrm>
            <a:off x="11232337" y="838327"/>
            <a:ext cx="35560" cy="35560"/>
          </a:xfrm>
          <a:prstGeom prst="ellipse">
            <a:avLst/>
          </a:prstGeom>
          <a:solidFill>
            <a:srgbClr val="F4D9DC"/>
          </a:solidFill>
          <a:ln/>
        </p:spPr>
      </p:sp>
      <p:sp>
        <p:nvSpPr>
          <p:cNvPr id="27" name="Shape 25"/>
          <p:cNvSpPr/>
          <p:nvPr/>
        </p:nvSpPr>
        <p:spPr>
          <a:xfrm>
            <a:off x="11172774" y="791210"/>
            <a:ext cx="35560" cy="35560"/>
          </a:xfrm>
          <a:prstGeom prst="ellipse">
            <a:avLst/>
          </a:prstGeom>
          <a:solidFill>
            <a:srgbClr val="F4D9DC"/>
          </a:solidFill>
          <a:ln/>
        </p:spPr>
      </p:sp>
      <p:sp>
        <p:nvSpPr>
          <p:cNvPr id="28" name="Shape 26"/>
          <p:cNvSpPr/>
          <p:nvPr/>
        </p:nvSpPr>
        <p:spPr>
          <a:xfrm>
            <a:off x="11140770" y="723646"/>
            <a:ext cx="35560" cy="35560"/>
          </a:xfrm>
          <a:prstGeom prst="ellipse">
            <a:avLst/>
          </a:prstGeom>
          <a:solidFill>
            <a:srgbClr val="F4D9DC"/>
          </a:solidFill>
          <a:ln/>
        </p:spPr>
      </p:sp>
      <p:sp>
        <p:nvSpPr>
          <p:cNvPr id="29" name="Shape 27"/>
          <p:cNvSpPr/>
          <p:nvPr/>
        </p:nvSpPr>
        <p:spPr>
          <a:xfrm>
            <a:off x="11140770" y="648970"/>
            <a:ext cx="35560" cy="35560"/>
          </a:xfrm>
          <a:prstGeom prst="ellipse">
            <a:avLst/>
          </a:prstGeom>
          <a:solidFill>
            <a:srgbClr val="F4D9DC"/>
          </a:solidFill>
          <a:ln/>
        </p:spPr>
      </p:sp>
      <p:sp>
        <p:nvSpPr>
          <p:cNvPr id="30" name="Shape 28"/>
          <p:cNvSpPr/>
          <p:nvPr/>
        </p:nvSpPr>
        <p:spPr>
          <a:xfrm>
            <a:off x="11172774" y="581406"/>
            <a:ext cx="35560" cy="35560"/>
          </a:xfrm>
          <a:prstGeom prst="ellipse">
            <a:avLst/>
          </a:prstGeom>
          <a:solidFill>
            <a:srgbClr val="F4D9DC"/>
          </a:solidFill>
          <a:ln/>
        </p:spPr>
      </p:sp>
      <p:sp>
        <p:nvSpPr>
          <p:cNvPr id="31" name="Shape 29"/>
          <p:cNvSpPr/>
          <p:nvPr/>
        </p:nvSpPr>
        <p:spPr>
          <a:xfrm>
            <a:off x="11232337" y="534289"/>
            <a:ext cx="35560" cy="35560"/>
          </a:xfrm>
          <a:prstGeom prst="ellipse">
            <a:avLst/>
          </a:prstGeom>
          <a:solidFill>
            <a:srgbClr val="F4D9DC"/>
          </a:solidFill>
          <a:ln/>
        </p:spPr>
      </p:sp>
      <p:sp>
        <p:nvSpPr>
          <p:cNvPr id="32" name="Shape 30"/>
          <p:cNvSpPr/>
          <p:nvPr/>
        </p:nvSpPr>
        <p:spPr>
          <a:xfrm>
            <a:off x="11308791" y="467614"/>
            <a:ext cx="28448" cy="28448"/>
          </a:xfrm>
          <a:prstGeom prst="ellipse">
            <a:avLst/>
          </a:prstGeom>
          <a:solidFill>
            <a:srgbClr val="F4D9DC"/>
          </a:solidFill>
          <a:ln/>
        </p:spPr>
      </p:sp>
      <p:sp>
        <p:nvSpPr>
          <p:cNvPr id="33" name="Shape 31"/>
          <p:cNvSpPr/>
          <p:nvPr/>
        </p:nvSpPr>
        <p:spPr>
          <a:xfrm>
            <a:off x="11385245" y="480949"/>
            <a:ext cx="28448" cy="28448"/>
          </a:xfrm>
          <a:prstGeom prst="ellipse">
            <a:avLst/>
          </a:prstGeom>
          <a:solidFill>
            <a:srgbClr val="F4D9DC"/>
          </a:solidFill>
          <a:ln/>
        </p:spPr>
      </p:sp>
      <p:sp>
        <p:nvSpPr>
          <p:cNvPr id="34" name="Shape 32"/>
          <p:cNvSpPr/>
          <p:nvPr/>
        </p:nvSpPr>
        <p:spPr>
          <a:xfrm>
            <a:off x="11451920" y="519176"/>
            <a:ext cx="28448" cy="28448"/>
          </a:xfrm>
          <a:prstGeom prst="ellipse">
            <a:avLst/>
          </a:prstGeom>
          <a:solidFill>
            <a:srgbClr val="F4D9DC"/>
          </a:solidFill>
          <a:ln/>
        </p:spPr>
      </p:sp>
      <p:sp>
        <p:nvSpPr>
          <p:cNvPr id="35" name="Shape 33"/>
          <p:cNvSpPr/>
          <p:nvPr/>
        </p:nvSpPr>
        <p:spPr>
          <a:xfrm>
            <a:off x="11501704" y="578739"/>
            <a:ext cx="28448" cy="28448"/>
          </a:xfrm>
          <a:prstGeom prst="ellipse">
            <a:avLst/>
          </a:prstGeom>
          <a:solidFill>
            <a:srgbClr val="F4D9DC"/>
          </a:solidFill>
          <a:ln/>
        </p:spPr>
      </p:sp>
      <p:sp>
        <p:nvSpPr>
          <p:cNvPr id="36" name="Shape 34"/>
          <p:cNvSpPr/>
          <p:nvPr/>
        </p:nvSpPr>
        <p:spPr>
          <a:xfrm>
            <a:off x="11527485" y="651637"/>
            <a:ext cx="28448" cy="28448"/>
          </a:xfrm>
          <a:prstGeom prst="ellipse">
            <a:avLst/>
          </a:prstGeom>
          <a:solidFill>
            <a:srgbClr val="F4D9DC"/>
          </a:solidFill>
          <a:ln/>
        </p:spPr>
      </p:sp>
      <p:sp>
        <p:nvSpPr>
          <p:cNvPr id="37" name="Shape 35"/>
          <p:cNvSpPr/>
          <p:nvPr/>
        </p:nvSpPr>
        <p:spPr>
          <a:xfrm>
            <a:off x="11527485" y="728091"/>
            <a:ext cx="28448" cy="28448"/>
          </a:xfrm>
          <a:prstGeom prst="ellipse">
            <a:avLst/>
          </a:prstGeom>
          <a:solidFill>
            <a:srgbClr val="F4D9DC"/>
          </a:solidFill>
          <a:ln/>
        </p:spPr>
      </p:sp>
      <p:sp>
        <p:nvSpPr>
          <p:cNvPr id="38" name="Shape 36"/>
          <p:cNvSpPr/>
          <p:nvPr/>
        </p:nvSpPr>
        <p:spPr>
          <a:xfrm>
            <a:off x="11501704" y="800989"/>
            <a:ext cx="28448" cy="28448"/>
          </a:xfrm>
          <a:prstGeom prst="ellipse">
            <a:avLst/>
          </a:prstGeom>
          <a:solidFill>
            <a:srgbClr val="F4D9DC"/>
          </a:solidFill>
          <a:ln/>
        </p:spPr>
      </p:sp>
      <p:sp>
        <p:nvSpPr>
          <p:cNvPr id="39" name="Shape 37"/>
          <p:cNvSpPr/>
          <p:nvPr/>
        </p:nvSpPr>
        <p:spPr>
          <a:xfrm>
            <a:off x="11451920" y="860552"/>
            <a:ext cx="28448" cy="28448"/>
          </a:xfrm>
          <a:prstGeom prst="ellipse">
            <a:avLst/>
          </a:prstGeom>
          <a:solidFill>
            <a:srgbClr val="F4D9DC"/>
          </a:solidFill>
          <a:ln/>
        </p:spPr>
      </p:sp>
      <p:sp>
        <p:nvSpPr>
          <p:cNvPr id="40" name="Shape 38"/>
          <p:cNvSpPr/>
          <p:nvPr/>
        </p:nvSpPr>
        <p:spPr>
          <a:xfrm>
            <a:off x="11385245" y="898779"/>
            <a:ext cx="28448" cy="28448"/>
          </a:xfrm>
          <a:prstGeom prst="ellipse">
            <a:avLst/>
          </a:prstGeom>
          <a:solidFill>
            <a:srgbClr val="F4D9DC"/>
          </a:solidFill>
          <a:ln/>
        </p:spPr>
      </p:sp>
      <p:sp>
        <p:nvSpPr>
          <p:cNvPr id="41" name="Shape 39"/>
          <p:cNvSpPr/>
          <p:nvPr/>
        </p:nvSpPr>
        <p:spPr>
          <a:xfrm>
            <a:off x="11308791" y="912114"/>
            <a:ext cx="28448" cy="28448"/>
          </a:xfrm>
          <a:prstGeom prst="ellipse">
            <a:avLst/>
          </a:prstGeom>
          <a:solidFill>
            <a:srgbClr val="F4D9DC"/>
          </a:solidFill>
          <a:ln/>
        </p:spPr>
      </p:sp>
      <p:sp>
        <p:nvSpPr>
          <p:cNvPr id="42" name="Shape 40"/>
          <p:cNvSpPr/>
          <p:nvPr/>
        </p:nvSpPr>
        <p:spPr>
          <a:xfrm>
            <a:off x="11232337" y="898779"/>
            <a:ext cx="28448" cy="28448"/>
          </a:xfrm>
          <a:prstGeom prst="ellipse">
            <a:avLst/>
          </a:prstGeom>
          <a:solidFill>
            <a:srgbClr val="F4D9DC"/>
          </a:solidFill>
          <a:ln/>
        </p:spPr>
      </p:sp>
      <p:sp>
        <p:nvSpPr>
          <p:cNvPr id="43" name="Shape 41"/>
          <p:cNvSpPr/>
          <p:nvPr/>
        </p:nvSpPr>
        <p:spPr>
          <a:xfrm>
            <a:off x="11165662" y="860552"/>
            <a:ext cx="28448" cy="28448"/>
          </a:xfrm>
          <a:prstGeom prst="ellipse">
            <a:avLst/>
          </a:prstGeom>
          <a:solidFill>
            <a:srgbClr val="F4D9DC"/>
          </a:solidFill>
          <a:ln/>
        </p:spPr>
      </p:sp>
      <p:sp>
        <p:nvSpPr>
          <p:cNvPr id="44" name="Shape 42"/>
          <p:cNvSpPr/>
          <p:nvPr/>
        </p:nvSpPr>
        <p:spPr>
          <a:xfrm>
            <a:off x="11115878" y="800989"/>
            <a:ext cx="28448" cy="28448"/>
          </a:xfrm>
          <a:prstGeom prst="ellipse">
            <a:avLst/>
          </a:prstGeom>
          <a:solidFill>
            <a:srgbClr val="F4D9DC"/>
          </a:solidFill>
          <a:ln/>
        </p:spPr>
      </p:sp>
      <p:sp>
        <p:nvSpPr>
          <p:cNvPr id="45" name="Shape 43"/>
          <p:cNvSpPr/>
          <p:nvPr/>
        </p:nvSpPr>
        <p:spPr>
          <a:xfrm>
            <a:off x="11090097" y="728091"/>
            <a:ext cx="28448" cy="28448"/>
          </a:xfrm>
          <a:prstGeom prst="ellipse">
            <a:avLst/>
          </a:prstGeom>
          <a:solidFill>
            <a:srgbClr val="F4D9DC"/>
          </a:solidFill>
          <a:ln/>
        </p:spPr>
      </p:sp>
      <p:sp>
        <p:nvSpPr>
          <p:cNvPr id="46" name="Shape 44"/>
          <p:cNvSpPr/>
          <p:nvPr/>
        </p:nvSpPr>
        <p:spPr>
          <a:xfrm>
            <a:off x="11090097" y="651637"/>
            <a:ext cx="28448" cy="28448"/>
          </a:xfrm>
          <a:prstGeom prst="ellipse">
            <a:avLst/>
          </a:prstGeom>
          <a:solidFill>
            <a:srgbClr val="F4D9DC"/>
          </a:solidFill>
          <a:ln/>
        </p:spPr>
      </p:sp>
      <p:sp>
        <p:nvSpPr>
          <p:cNvPr id="47" name="Shape 45"/>
          <p:cNvSpPr/>
          <p:nvPr/>
        </p:nvSpPr>
        <p:spPr>
          <a:xfrm>
            <a:off x="11115878" y="578739"/>
            <a:ext cx="28448" cy="28448"/>
          </a:xfrm>
          <a:prstGeom prst="ellipse">
            <a:avLst/>
          </a:prstGeom>
          <a:solidFill>
            <a:srgbClr val="F4D9DC"/>
          </a:solidFill>
          <a:ln/>
        </p:spPr>
      </p:sp>
      <p:sp>
        <p:nvSpPr>
          <p:cNvPr id="48" name="Shape 46"/>
          <p:cNvSpPr/>
          <p:nvPr/>
        </p:nvSpPr>
        <p:spPr>
          <a:xfrm>
            <a:off x="11165662" y="519176"/>
            <a:ext cx="28448" cy="28448"/>
          </a:xfrm>
          <a:prstGeom prst="ellipse">
            <a:avLst/>
          </a:prstGeom>
          <a:solidFill>
            <a:srgbClr val="F4D9DC"/>
          </a:solidFill>
          <a:ln/>
        </p:spPr>
      </p:sp>
      <p:sp>
        <p:nvSpPr>
          <p:cNvPr id="49" name="Shape 47"/>
          <p:cNvSpPr/>
          <p:nvPr/>
        </p:nvSpPr>
        <p:spPr>
          <a:xfrm>
            <a:off x="11232337" y="480949"/>
            <a:ext cx="28448" cy="28448"/>
          </a:xfrm>
          <a:prstGeom prst="ellipse">
            <a:avLst/>
          </a:prstGeom>
          <a:solidFill>
            <a:srgbClr val="F4D9DC"/>
          </a:solidFill>
          <a:ln/>
        </p:spPr>
      </p:sp>
      <p:sp>
        <p:nvSpPr>
          <p:cNvPr id="50" name="Shape 48"/>
          <p:cNvSpPr/>
          <p:nvPr/>
        </p:nvSpPr>
        <p:spPr>
          <a:xfrm>
            <a:off x="11312347" y="417830"/>
            <a:ext cx="21336" cy="21336"/>
          </a:xfrm>
          <a:prstGeom prst="ellipse">
            <a:avLst/>
          </a:prstGeom>
          <a:solidFill>
            <a:srgbClr val="F4D9DC"/>
          </a:solidFill>
          <a:ln/>
        </p:spPr>
      </p:sp>
      <p:sp>
        <p:nvSpPr>
          <p:cNvPr id="51" name="Shape 49"/>
          <p:cNvSpPr/>
          <p:nvPr/>
        </p:nvSpPr>
        <p:spPr>
          <a:xfrm>
            <a:off x="11389690" y="429387"/>
            <a:ext cx="21336" cy="21336"/>
          </a:xfrm>
          <a:prstGeom prst="ellipse">
            <a:avLst/>
          </a:prstGeom>
          <a:solidFill>
            <a:srgbClr val="F4D9DC"/>
          </a:solidFill>
          <a:ln/>
        </p:spPr>
      </p:sp>
      <p:sp>
        <p:nvSpPr>
          <p:cNvPr id="52" name="Shape 50"/>
          <p:cNvSpPr/>
          <p:nvPr/>
        </p:nvSpPr>
        <p:spPr>
          <a:xfrm>
            <a:off x="11461699" y="461391"/>
            <a:ext cx="21336" cy="21336"/>
          </a:xfrm>
          <a:prstGeom prst="ellipse">
            <a:avLst/>
          </a:prstGeom>
          <a:solidFill>
            <a:srgbClr val="F4D9DC"/>
          </a:solidFill>
          <a:ln/>
        </p:spPr>
      </p:sp>
      <p:sp>
        <p:nvSpPr>
          <p:cNvPr id="53" name="Shape 51"/>
          <p:cNvSpPr/>
          <p:nvPr/>
        </p:nvSpPr>
        <p:spPr>
          <a:xfrm>
            <a:off x="11520373" y="512953"/>
            <a:ext cx="21336" cy="21336"/>
          </a:xfrm>
          <a:prstGeom prst="ellipse">
            <a:avLst/>
          </a:prstGeom>
          <a:solidFill>
            <a:srgbClr val="F4D9DC"/>
          </a:solidFill>
          <a:ln/>
        </p:spPr>
      </p:sp>
      <p:sp>
        <p:nvSpPr>
          <p:cNvPr id="54" name="Shape 52"/>
          <p:cNvSpPr/>
          <p:nvPr/>
        </p:nvSpPr>
        <p:spPr>
          <a:xfrm>
            <a:off x="11563045" y="578739"/>
            <a:ext cx="21336" cy="21336"/>
          </a:xfrm>
          <a:prstGeom prst="ellipse">
            <a:avLst/>
          </a:prstGeom>
          <a:solidFill>
            <a:srgbClr val="F4D9DC"/>
          </a:solidFill>
          <a:ln/>
        </p:spPr>
      </p:sp>
      <p:sp>
        <p:nvSpPr>
          <p:cNvPr id="55" name="Shape 53"/>
          <p:cNvSpPr/>
          <p:nvPr/>
        </p:nvSpPr>
        <p:spPr>
          <a:xfrm>
            <a:off x="11585270" y="654304"/>
            <a:ext cx="21336" cy="21336"/>
          </a:xfrm>
          <a:prstGeom prst="ellipse">
            <a:avLst/>
          </a:prstGeom>
          <a:solidFill>
            <a:srgbClr val="F4D9DC"/>
          </a:solidFill>
          <a:ln/>
        </p:spPr>
      </p:sp>
      <p:sp>
        <p:nvSpPr>
          <p:cNvPr id="56" name="Shape 54"/>
          <p:cNvSpPr/>
          <p:nvPr/>
        </p:nvSpPr>
        <p:spPr>
          <a:xfrm>
            <a:off x="11585270" y="732536"/>
            <a:ext cx="21336" cy="21336"/>
          </a:xfrm>
          <a:prstGeom prst="ellipse">
            <a:avLst/>
          </a:prstGeom>
          <a:solidFill>
            <a:srgbClr val="F4D9DC"/>
          </a:solidFill>
          <a:ln/>
        </p:spPr>
      </p:sp>
      <p:sp>
        <p:nvSpPr>
          <p:cNvPr id="57" name="Shape 55"/>
          <p:cNvSpPr/>
          <p:nvPr/>
        </p:nvSpPr>
        <p:spPr>
          <a:xfrm>
            <a:off x="11563045" y="808101"/>
            <a:ext cx="21336" cy="21336"/>
          </a:xfrm>
          <a:prstGeom prst="ellipse">
            <a:avLst/>
          </a:prstGeom>
          <a:solidFill>
            <a:srgbClr val="F4D9DC"/>
          </a:solidFill>
          <a:ln/>
        </p:spPr>
      </p:sp>
      <p:sp>
        <p:nvSpPr>
          <p:cNvPr id="58" name="Shape 56"/>
          <p:cNvSpPr/>
          <p:nvPr/>
        </p:nvSpPr>
        <p:spPr>
          <a:xfrm>
            <a:off x="11520373" y="873887"/>
            <a:ext cx="21336" cy="21336"/>
          </a:xfrm>
          <a:prstGeom prst="ellipse">
            <a:avLst/>
          </a:prstGeom>
          <a:solidFill>
            <a:srgbClr val="F4D9DC"/>
          </a:solidFill>
          <a:ln/>
        </p:spPr>
      </p:sp>
      <p:sp>
        <p:nvSpPr>
          <p:cNvPr id="59" name="Shape 57"/>
          <p:cNvSpPr/>
          <p:nvPr/>
        </p:nvSpPr>
        <p:spPr>
          <a:xfrm>
            <a:off x="11461699" y="925449"/>
            <a:ext cx="21336" cy="21336"/>
          </a:xfrm>
          <a:prstGeom prst="ellipse">
            <a:avLst/>
          </a:prstGeom>
          <a:solidFill>
            <a:srgbClr val="F4D9DC"/>
          </a:solidFill>
          <a:ln/>
        </p:spPr>
      </p:sp>
      <p:sp>
        <p:nvSpPr>
          <p:cNvPr id="60" name="Shape 58"/>
          <p:cNvSpPr/>
          <p:nvPr/>
        </p:nvSpPr>
        <p:spPr>
          <a:xfrm>
            <a:off x="11389690" y="957453"/>
            <a:ext cx="21336" cy="21336"/>
          </a:xfrm>
          <a:prstGeom prst="ellipse">
            <a:avLst/>
          </a:prstGeom>
          <a:solidFill>
            <a:srgbClr val="F4D9DC"/>
          </a:solidFill>
          <a:ln/>
        </p:spPr>
      </p:sp>
      <p:sp>
        <p:nvSpPr>
          <p:cNvPr id="61" name="Shape 59"/>
          <p:cNvSpPr/>
          <p:nvPr/>
        </p:nvSpPr>
        <p:spPr>
          <a:xfrm>
            <a:off x="11312347" y="969010"/>
            <a:ext cx="21336" cy="21336"/>
          </a:xfrm>
          <a:prstGeom prst="ellipse">
            <a:avLst/>
          </a:prstGeom>
          <a:solidFill>
            <a:srgbClr val="F4D9DC"/>
          </a:solidFill>
          <a:ln/>
        </p:spPr>
      </p:sp>
      <p:sp>
        <p:nvSpPr>
          <p:cNvPr id="62" name="Shape 60"/>
          <p:cNvSpPr/>
          <p:nvPr/>
        </p:nvSpPr>
        <p:spPr>
          <a:xfrm>
            <a:off x="11235004" y="957453"/>
            <a:ext cx="21336" cy="21336"/>
          </a:xfrm>
          <a:prstGeom prst="ellipse">
            <a:avLst/>
          </a:prstGeom>
          <a:solidFill>
            <a:srgbClr val="F4D9DC"/>
          </a:solidFill>
          <a:ln/>
        </p:spPr>
      </p:sp>
      <p:sp>
        <p:nvSpPr>
          <p:cNvPr id="63" name="Shape 61"/>
          <p:cNvSpPr/>
          <p:nvPr/>
        </p:nvSpPr>
        <p:spPr>
          <a:xfrm>
            <a:off x="11162995" y="925449"/>
            <a:ext cx="21336" cy="21336"/>
          </a:xfrm>
          <a:prstGeom prst="ellipse">
            <a:avLst/>
          </a:prstGeom>
          <a:solidFill>
            <a:srgbClr val="F4D9DC"/>
          </a:solidFill>
          <a:ln/>
        </p:spPr>
      </p:sp>
      <p:sp>
        <p:nvSpPr>
          <p:cNvPr id="64" name="Shape 62"/>
          <p:cNvSpPr/>
          <p:nvPr/>
        </p:nvSpPr>
        <p:spPr>
          <a:xfrm>
            <a:off x="11104321" y="873887"/>
            <a:ext cx="21336" cy="21336"/>
          </a:xfrm>
          <a:prstGeom prst="ellipse">
            <a:avLst/>
          </a:prstGeom>
          <a:solidFill>
            <a:srgbClr val="F4D9DC"/>
          </a:solidFill>
          <a:ln/>
        </p:spPr>
      </p:sp>
      <p:sp>
        <p:nvSpPr>
          <p:cNvPr id="65" name="Shape 63"/>
          <p:cNvSpPr/>
          <p:nvPr/>
        </p:nvSpPr>
        <p:spPr>
          <a:xfrm>
            <a:off x="11061649" y="808101"/>
            <a:ext cx="21336" cy="21336"/>
          </a:xfrm>
          <a:prstGeom prst="ellipse">
            <a:avLst/>
          </a:prstGeom>
          <a:solidFill>
            <a:srgbClr val="F4D9DC"/>
          </a:solidFill>
          <a:ln/>
        </p:spPr>
      </p:sp>
      <p:sp>
        <p:nvSpPr>
          <p:cNvPr id="66" name="Shape 64"/>
          <p:cNvSpPr/>
          <p:nvPr/>
        </p:nvSpPr>
        <p:spPr>
          <a:xfrm>
            <a:off x="11039424" y="732536"/>
            <a:ext cx="21336" cy="21336"/>
          </a:xfrm>
          <a:prstGeom prst="ellipse">
            <a:avLst/>
          </a:prstGeom>
          <a:solidFill>
            <a:srgbClr val="F4D9DC"/>
          </a:solidFill>
          <a:ln/>
        </p:spPr>
      </p:sp>
      <p:sp>
        <p:nvSpPr>
          <p:cNvPr id="67" name="Shape 65"/>
          <p:cNvSpPr/>
          <p:nvPr/>
        </p:nvSpPr>
        <p:spPr>
          <a:xfrm>
            <a:off x="11039424" y="654304"/>
            <a:ext cx="21336" cy="21336"/>
          </a:xfrm>
          <a:prstGeom prst="ellipse">
            <a:avLst/>
          </a:prstGeom>
          <a:solidFill>
            <a:srgbClr val="F4D9DC"/>
          </a:solidFill>
          <a:ln/>
        </p:spPr>
      </p:sp>
      <p:sp>
        <p:nvSpPr>
          <p:cNvPr id="68" name="Shape 66"/>
          <p:cNvSpPr/>
          <p:nvPr/>
        </p:nvSpPr>
        <p:spPr>
          <a:xfrm>
            <a:off x="11061649" y="578739"/>
            <a:ext cx="21336" cy="21336"/>
          </a:xfrm>
          <a:prstGeom prst="ellipse">
            <a:avLst/>
          </a:prstGeom>
          <a:solidFill>
            <a:srgbClr val="F4D9DC"/>
          </a:solidFill>
          <a:ln/>
        </p:spPr>
      </p:sp>
      <p:sp>
        <p:nvSpPr>
          <p:cNvPr id="69" name="Shape 67"/>
          <p:cNvSpPr/>
          <p:nvPr/>
        </p:nvSpPr>
        <p:spPr>
          <a:xfrm>
            <a:off x="11104321" y="512953"/>
            <a:ext cx="21336" cy="21336"/>
          </a:xfrm>
          <a:prstGeom prst="ellipse">
            <a:avLst/>
          </a:prstGeom>
          <a:solidFill>
            <a:srgbClr val="F4D9DC"/>
          </a:solidFill>
          <a:ln/>
        </p:spPr>
      </p:sp>
      <p:sp>
        <p:nvSpPr>
          <p:cNvPr id="70" name="Shape 68"/>
          <p:cNvSpPr/>
          <p:nvPr/>
        </p:nvSpPr>
        <p:spPr>
          <a:xfrm>
            <a:off x="11162995" y="461391"/>
            <a:ext cx="21336" cy="21336"/>
          </a:xfrm>
          <a:prstGeom prst="ellipse">
            <a:avLst/>
          </a:prstGeom>
          <a:solidFill>
            <a:srgbClr val="F4D9DC"/>
          </a:solidFill>
          <a:ln/>
        </p:spPr>
      </p:sp>
      <p:sp>
        <p:nvSpPr>
          <p:cNvPr id="71" name="Shape 69"/>
          <p:cNvSpPr/>
          <p:nvPr/>
        </p:nvSpPr>
        <p:spPr>
          <a:xfrm>
            <a:off x="11235004" y="429387"/>
            <a:ext cx="21336" cy="21336"/>
          </a:xfrm>
          <a:prstGeom prst="ellipse">
            <a:avLst/>
          </a:prstGeom>
          <a:solidFill>
            <a:srgbClr val="F4D9DC"/>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F4D9DC"/>
                </a:solidFill>
                <a:latin typeface="General Sans Semibold" pitchFamily="34" charset="0"/>
                <a:ea typeface="General Sans Semibold" pitchFamily="34" charset="-122"/>
                <a:cs typeface="General Sans Semibold" pitchFamily="34" charset="-120"/>
              </a:rPr>
              <a:t>Prompt, skill, agent</a:t>
            </a:r>
            <a:endParaRPr lang="en-US" sz="3400" dirty="0"/>
          </a:p>
        </p:txBody>
      </p:sp>
      <p:sp>
        <p:nvSpPr>
          <p:cNvPr id="73" name="Shape 71"/>
          <p:cNvSpPr/>
          <p:nvPr/>
        </p:nvSpPr>
        <p:spPr>
          <a:xfrm>
            <a:off x="548640" y="1371600"/>
            <a:ext cx="3393338" cy="3817620"/>
          </a:xfrm>
          <a:prstGeom prst="roundRect">
            <a:avLst>
              <a:gd name="adj" fmla="val 2033"/>
            </a:avLst>
          </a:prstGeom>
          <a:solidFill>
            <a:srgbClr val="F4D74B"/>
          </a:solidFill>
          <a:ln/>
        </p:spPr>
      </p:sp>
      <p:sp>
        <p:nvSpPr>
          <p:cNvPr id="74" name="Shape 72"/>
          <p:cNvSpPr/>
          <p:nvPr/>
        </p:nvSpPr>
        <p:spPr>
          <a:xfrm>
            <a:off x="822960" y="1719072"/>
            <a:ext cx="2844698" cy="402336"/>
          </a:xfrm>
          <a:prstGeom prst="roundRect">
            <a:avLst>
              <a:gd name="adj" fmla="val 113636"/>
            </a:avLst>
          </a:prstGeom>
          <a:solidFill>
            <a:srgbClr val="3D68EC"/>
          </a:solidFill>
          <a:ln/>
        </p:spPr>
      </p:sp>
      <p:sp>
        <p:nvSpPr>
          <p:cNvPr id="75" name="Text 73"/>
          <p:cNvSpPr/>
          <p:nvPr/>
        </p:nvSpPr>
        <p:spPr>
          <a:xfrm>
            <a:off x="914400" y="1719072"/>
            <a:ext cx="2661818"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74B"/>
                </a:solidFill>
                <a:latin typeface="General Sans Semibold" pitchFamily="34" charset="0"/>
                <a:ea typeface="General Sans Semibold" pitchFamily="34" charset="-122"/>
                <a:cs typeface="General Sans Semibold" pitchFamily="34" charset="-120"/>
              </a:rPr>
              <a:t>Losse vraag</a:t>
            </a:r>
            <a:endParaRPr lang="en-US" sz="1200" dirty="0"/>
          </a:p>
        </p:txBody>
      </p:sp>
      <p:sp>
        <p:nvSpPr>
          <p:cNvPr id="76" name="Text 74"/>
          <p:cNvSpPr/>
          <p:nvPr/>
        </p:nvSpPr>
        <p:spPr>
          <a:xfrm>
            <a:off x="822960" y="2423160"/>
            <a:ext cx="2844698" cy="338328"/>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Prompt</a:t>
            </a:r>
            <a:endParaRPr lang="en-US" sz="2200" dirty="0"/>
          </a:p>
        </p:txBody>
      </p:sp>
      <p:sp>
        <p:nvSpPr>
          <p:cNvPr id="77" name="Text 75"/>
          <p:cNvSpPr/>
          <p:nvPr/>
        </p:nvSpPr>
        <p:spPr>
          <a:xfrm>
            <a:off x="822960" y="3035808"/>
            <a:ext cx="2844698"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Je typt wat je wilt. Elke keer anders, de kennis zit in jouw hoofd.</a:t>
            </a:r>
            <a:endParaRPr lang="en-US" sz="1500" dirty="0"/>
          </a:p>
        </p:txBody>
      </p:sp>
      <p:sp>
        <p:nvSpPr>
          <p:cNvPr id="78" name="Text 76"/>
          <p:cNvSpPr/>
          <p:nvPr/>
        </p:nvSpPr>
        <p:spPr>
          <a:xfrm>
            <a:off x="822960" y="4163568"/>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3D68EC"/>
                </a:solidFill>
                <a:latin typeface="General Sans Semibold" pitchFamily="34" charset="0"/>
                <a:ea typeface="General Sans Semibold" pitchFamily="34" charset="-122"/>
                <a:cs typeface="General Sans Semibold" pitchFamily="34" charset="-120"/>
              </a:rPr>
              <a:t>LEVERT</a:t>
            </a:r>
            <a:endParaRPr lang="en-US" sz="1100" dirty="0"/>
          </a:p>
        </p:txBody>
      </p:sp>
      <p:sp>
        <p:nvSpPr>
          <p:cNvPr id="79" name="Text 77"/>
          <p:cNvSpPr/>
          <p:nvPr/>
        </p:nvSpPr>
        <p:spPr>
          <a:xfrm>
            <a:off x="822960" y="4511040"/>
            <a:ext cx="284469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Semibold" pitchFamily="34" charset="0"/>
                <a:ea typeface="General Sans Semibold" pitchFamily="34" charset="-122"/>
                <a:cs typeface="General Sans Semibold" pitchFamily="34" charset="-120"/>
              </a:rPr>
              <a:t>Eén antwoord</a:t>
            </a:r>
            <a:endParaRPr lang="en-US" sz="1500" dirty="0"/>
          </a:p>
        </p:txBody>
      </p:sp>
      <p:sp>
        <p:nvSpPr>
          <p:cNvPr id="80" name="Shape 78"/>
          <p:cNvSpPr/>
          <p:nvPr/>
        </p:nvSpPr>
        <p:spPr>
          <a:xfrm>
            <a:off x="4051706" y="3006090"/>
            <a:ext cx="237744" cy="548640"/>
          </a:xfrm>
          <a:prstGeom prst="chevron">
            <a:avLst/>
          </a:prstGeom>
          <a:solidFill>
            <a:srgbClr val="F4D9DC"/>
          </a:solidFill>
          <a:ln/>
        </p:spPr>
      </p:sp>
      <p:sp>
        <p:nvSpPr>
          <p:cNvPr id="81" name="Shape 79"/>
          <p:cNvSpPr/>
          <p:nvPr/>
        </p:nvSpPr>
        <p:spPr>
          <a:xfrm>
            <a:off x="4399178" y="1371600"/>
            <a:ext cx="3393338" cy="3817620"/>
          </a:xfrm>
          <a:prstGeom prst="roundRect">
            <a:avLst>
              <a:gd name="adj" fmla="val 2033"/>
            </a:avLst>
          </a:prstGeom>
          <a:solidFill>
            <a:srgbClr val="F4D9DC"/>
          </a:solidFill>
          <a:ln/>
        </p:spPr>
      </p:sp>
      <p:sp>
        <p:nvSpPr>
          <p:cNvPr id="82" name="Shape 80"/>
          <p:cNvSpPr/>
          <p:nvPr/>
        </p:nvSpPr>
        <p:spPr>
          <a:xfrm>
            <a:off x="4673498" y="1719072"/>
            <a:ext cx="2844698" cy="402336"/>
          </a:xfrm>
          <a:prstGeom prst="roundRect">
            <a:avLst>
              <a:gd name="adj" fmla="val 113636"/>
            </a:avLst>
          </a:prstGeom>
          <a:solidFill>
            <a:srgbClr val="3D68EC"/>
          </a:solidFill>
          <a:ln/>
        </p:spPr>
      </p:sp>
      <p:sp>
        <p:nvSpPr>
          <p:cNvPr id="83" name="Text 81"/>
          <p:cNvSpPr/>
          <p:nvPr/>
        </p:nvSpPr>
        <p:spPr>
          <a:xfrm>
            <a:off x="4764938" y="1719072"/>
            <a:ext cx="2661818"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9DC"/>
                </a:solidFill>
                <a:latin typeface="General Sans Semibold" pitchFamily="34" charset="0"/>
                <a:ea typeface="General Sans Semibold" pitchFamily="34" charset="-122"/>
                <a:cs typeface="General Sans Semibold" pitchFamily="34" charset="-120"/>
              </a:rPr>
              <a:t>Vastgelegd recept</a:t>
            </a:r>
            <a:endParaRPr lang="en-US" sz="1200" dirty="0"/>
          </a:p>
        </p:txBody>
      </p:sp>
      <p:sp>
        <p:nvSpPr>
          <p:cNvPr id="84" name="Text 82"/>
          <p:cNvSpPr/>
          <p:nvPr/>
        </p:nvSpPr>
        <p:spPr>
          <a:xfrm>
            <a:off x="4673498" y="2423160"/>
            <a:ext cx="2844698" cy="338328"/>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Skill</a:t>
            </a:r>
            <a:endParaRPr lang="en-US" sz="2200" dirty="0"/>
          </a:p>
        </p:txBody>
      </p:sp>
      <p:sp>
        <p:nvSpPr>
          <p:cNvPr id="85" name="Text 83"/>
          <p:cNvSpPr/>
          <p:nvPr/>
        </p:nvSpPr>
        <p:spPr>
          <a:xfrm>
            <a:off x="4673498" y="3035808"/>
            <a:ext cx="2844698"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Een map met een SKILL.md: instructies, voorbeelden, checks. Leesbaar en deelbaar.</a:t>
            </a:r>
            <a:endParaRPr lang="en-US" sz="1500" dirty="0"/>
          </a:p>
        </p:txBody>
      </p:sp>
      <p:sp>
        <p:nvSpPr>
          <p:cNvPr id="86" name="Text 84"/>
          <p:cNvSpPr/>
          <p:nvPr/>
        </p:nvSpPr>
        <p:spPr>
          <a:xfrm>
            <a:off x="4673498" y="4163568"/>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3D68EC"/>
                </a:solidFill>
                <a:latin typeface="General Sans Semibold" pitchFamily="34" charset="0"/>
                <a:ea typeface="General Sans Semibold" pitchFamily="34" charset="-122"/>
                <a:cs typeface="General Sans Semibold" pitchFamily="34" charset="-120"/>
              </a:rPr>
              <a:t>LEVERT</a:t>
            </a:r>
            <a:endParaRPr lang="en-US" sz="1100" dirty="0"/>
          </a:p>
        </p:txBody>
      </p:sp>
      <p:sp>
        <p:nvSpPr>
          <p:cNvPr id="87" name="Text 85"/>
          <p:cNvSpPr/>
          <p:nvPr/>
        </p:nvSpPr>
        <p:spPr>
          <a:xfrm>
            <a:off x="4673498" y="4511040"/>
            <a:ext cx="284469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Semibold" pitchFamily="34" charset="0"/>
                <a:ea typeface="General Sans Semibold" pitchFamily="34" charset="-122"/>
                <a:cs typeface="General Sans Semibold" pitchFamily="34" charset="-120"/>
              </a:rPr>
              <a:t>Herhaalbare werkwijze</a:t>
            </a:r>
            <a:endParaRPr lang="en-US" sz="1500" dirty="0"/>
          </a:p>
        </p:txBody>
      </p:sp>
      <p:sp>
        <p:nvSpPr>
          <p:cNvPr id="88" name="Shape 86"/>
          <p:cNvSpPr/>
          <p:nvPr/>
        </p:nvSpPr>
        <p:spPr>
          <a:xfrm>
            <a:off x="7902245" y="3006090"/>
            <a:ext cx="237744" cy="548640"/>
          </a:xfrm>
          <a:prstGeom prst="chevron">
            <a:avLst/>
          </a:prstGeom>
          <a:solidFill>
            <a:srgbClr val="F4D9DC"/>
          </a:solidFill>
          <a:ln/>
        </p:spPr>
      </p:sp>
      <p:sp>
        <p:nvSpPr>
          <p:cNvPr id="89" name="Shape 87"/>
          <p:cNvSpPr/>
          <p:nvPr/>
        </p:nvSpPr>
        <p:spPr>
          <a:xfrm>
            <a:off x="8249717" y="1371600"/>
            <a:ext cx="3393338" cy="3817620"/>
          </a:xfrm>
          <a:prstGeom prst="roundRect">
            <a:avLst>
              <a:gd name="adj" fmla="val 2033"/>
            </a:avLst>
          </a:prstGeom>
          <a:solidFill>
            <a:srgbClr val="F4D74B"/>
          </a:solidFill>
          <a:ln/>
        </p:spPr>
      </p:sp>
      <p:sp>
        <p:nvSpPr>
          <p:cNvPr id="90" name="Shape 88"/>
          <p:cNvSpPr/>
          <p:nvPr/>
        </p:nvSpPr>
        <p:spPr>
          <a:xfrm>
            <a:off x="8524037" y="1719072"/>
            <a:ext cx="2844698" cy="402336"/>
          </a:xfrm>
          <a:prstGeom prst="roundRect">
            <a:avLst>
              <a:gd name="adj" fmla="val 113636"/>
            </a:avLst>
          </a:prstGeom>
          <a:solidFill>
            <a:srgbClr val="3D68EC"/>
          </a:solidFill>
          <a:ln/>
        </p:spPr>
      </p:sp>
      <p:sp>
        <p:nvSpPr>
          <p:cNvPr id="91" name="Text 89"/>
          <p:cNvSpPr/>
          <p:nvPr/>
        </p:nvSpPr>
        <p:spPr>
          <a:xfrm>
            <a:off x="8615477" y="1719072"/>
            <a:ext cx="2661818"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74B"/>
                </a:solidFill>
                <a:latin typeface="General Sans Semibold" pitchFamily="34" charset="0"/>
                <a:ea typeface="General Sans Semibold" pitchFamily="34" charset="-122"/>
                <a:cs typeface="General Sans Semibold" pitchFamily="34" charset="-120"/>
              </a:rPr>
              <a:t>Voert uit</a:t>
            </a:r>
            <a:endParaRPr lang="en-US" sz="1200" dirty="0"/>
          </a:p>
        </p:txBody>
      </p:sp>
      <p:sp>
        <p:nvSpPr>
          <p:cNvPr id="92" name="Text 90"/>
          <p:cNvSpPr/>
          <p:nvPr/>
        </p:nvSpPr>
        <p:spPr>
          <a:xfrm>
            <a:off x="8524037" y="2423160"/>
            <a:ext cx="2844698" cy="338328"/>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Agent</a:t>
            </a:r>
            <a:endParaRPr lang="en-US" sz="2200" dirty="0"/>
          </a:p>
        </p:txBody>
      </p:sp>
      <p:sp>
        <p:nvSpPr>
          <p:cNvPr id="93" name="Text 91"/>
          <p:cNvSpPr/>
          <p:nvPr/>
        </p:nvSpPr>
        <p:spPr>
          <a:xfrm>
            <a:off x="8524037" y="3035808"/>
            <a:ext cx="2844698"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Claude Code leest de skill, draait de code en toetst aan de checks.</a:t>
            </a:r>
            <a:endParaRPr lang="en-US" sz="1500" dirty="0"/>
          </a:p>
        </p:txBody>
      </p:sp>
      <p:sp>
        <p:nvSpPr>
          <p:cNvPr id="94" name="Text 92"/>
          <p:cNvSpPr/>
          <p:nvPr/>
        </p:nvSpPr>
        <p:spPr>
          <a:xfrm>
            <a:off x="8524037" y="4163568"/>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3D68EC"/>
                </a:solidFill>
                <a:latin typeface="General Sans Semibold" pitchFamily="34" charset="0"/>
                <a:ea typeface="General Sans Semibold" pitchFamily="34" charset="-122"/>
                <a:cs typeface="General Sans Semibold" pitchFamily="34" charset="-120"/>
              </a:rPr>
              <a:t>LEVERT</a:t>
            </a:r>
            <a:endParaRPr lang="en-US" sz="1100" dirty="0"/>
          </a:p>
        </p:txBody>
      </p:sp>
      <p:sp>
        <p:nvSpPr>
          <p:cNvPr id="95" name="Text 93"/>
          <p:cNvSpPr/>
          <p:nvPr/>
        </p:nvSpPr>
        <p:spPr>
          <a:xfrm>
            <a:off x="8524037" y="4511040"/>
            <a:ext cx="284469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Semibold" pitchFamily="34" charset="0"/>
                <a:ea typeface="General Sans Semibold" pitchFamily="34" charset="-122"/>
                <a:cs typeface="General Sans Semibold" pitchFamily="34" charset="-120"/>
              </a:rPr>
              <a:t>Resultaat dat je kunt nalopen</a:t>
            </a:r>
            <a:endParaRPr lang="en-US" sz="1500" dirty="0"/>
          </a:p>
        </p:txBody>
      </p:sp>
      <p:sp>
        <p:nvSpPr>
          <p:cNvPr id="96" name="Text 94"/>
          <p:cNvSpPr/>
          <p:nvPr/>
        </p:nvSpPr>
        <p:spPr>
          <a:xfrm>
            <a:off x="548640" y="5372100"/>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F4D9DC"/>
                </a:solidFill>
                <a:latin typeface="General Sans" pitchFamily="34" charset="0"/>
                <a:ea typeface="General Sans" pitchFamily="34" charset="-122"/>
                <a:cs typeface="General Sans" pitchFamily="34" charset="-120"/>
              </a:rPr>
              <a:t>Vuistregel: elke prompt die je drie keer typt, is een skill in wording.</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CEEE6"/>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Zo start je met de agent</a:t>
            </a:r>
            <a:endParaRPr lang="en-US" sz="3400" dirty="0"/>
          </a:p>
        </p:txBody>
      </p:sp>
      <p:sp>
        <p:nvSpPr>
          <p:cNvPr id="73" name="Shape 71"/>
          <p:cNvSpPr/>
          <p:nvPr/>
        </p:nvSpPr>
        <p:spPr>
          <a:xfrm>
            <a:off x="548640" y="1417320"/>
            <a:ext cx="11094415" cy="868680"/>
          </a:xfrm>
          <a:prstGeom prst="roundRect">
            <a:avLst>
              <a:gd name="adj" fmla="val 15512"/>
            </a:avLst>
          </a:prstGeom>
          <a:solidFill>
            <a:srgbClr val="FFFFFF"/>
          </a:solidFill>
          <a:ln/>
        </p:spPr>
      </p:sp>
      <p:sp>
        <p:nvSpPr>
          <p:cNvPr id="74" name="Text 72"/>
          <p:cNvSpPr/>
          <p:nvPr/>
        </p:nvSpPr>
        <p:spPr>
          <a:xfrm>
            <a:off x="822960" y="147218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Open de devcontainer</a:t>
            </a:r>
            <a:endParaRPr lang="en-US" sz="1600" dirty="0"/>
          </a:p>
        </p:txBody>
      </p:sp>
      <p:sp>
        <p:nvSpPr>
          <p:cNvPr id="75" name="Text 73"/>
          <p:cNvSpPr/>
          <p:nvPr/>
        </p:nvSpPr>
        <p:spPr>
          <a:xfrm>
            <a:off x="4754880" y="147218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Alles staat klaar: Python, DuckDB, Streamlit, de data en de skills</a:t>
            </a:r>
            <a:endParaRPr lang="en-US" sz="1400" dirty="0"/>
          </a:p>
        </p:txBody>
      </p:sp>
      <p:sp>
        <p:nvSpPr>
          <p:cNvPr id="76" name="Shape 74"/>
          <p:cNvSpPr/>
          <p:nvPr/>
        </p:nvSpPr>
        <p:spPr>
          <a:xfrm>
            <a:off x="9859975" y="1687068"/>
            <a:ext cx="1554480" cy="329184"/>
          </a:xfrm>
          <a:prstGeom prst="roundRect">
            <a:avLst>
              <a:gd name="adj" fmla="val 138889"/>
            </a:avLst>
          </a:prstGeom>
          <a:solidFill>
            <a:srgbClr val="00AF81"/>
          </a:solidFill>
          <a:ln/>
        </p:spPr>
      </p:sp>
      <p:sp>
        <p:nvSpPr>
          <p:cNvPr id="77" name="Text 75"/>
          <p:cNvSpPr/>
          <p:nvPr/>
        </p:nvSpPr>
        <p:spPr>
          <a:xfrm>
            <a:off x="9951415" y="168706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Stap 1</a:t>
            </a:r>
            <a:endParaRPr lang="en-US" sz="1100" dirty="0"/>
          </a:p>
        </p:txBody>
      </p:sp>
      <p:sp>
        <p:nvSpPr>
          <p:cNvPr id="78" name="Shape 76"/>
          <p:cNvSpPr/>
          <p:nvPr/>
        </p:nvSpPr>
        <p:spPr>
          <a:xfrm>
            <a:off x="548640" y="2377440"/>
            <a:ext cx="11094415" cy="868680"/>
          </a:xfrm>
          <a:prstGeom prst="roundRect">
            <a:avLst>
              <a:gd name="adj" fmla="val 15512"/>
            </a:avLst>
          </a:prstGeom>
          <a:solidFill>
            <a:srgbClr val="FFFFFF"/>
          </a:solidFill>
          <a:ln/>
        </p:spPr>
      </p:sp>
      <p:sp>
        <p:nvSpPr>
          <p:cNvPr id="79" name="Text 77"/>
          <p:cNvSpPr/>
          <p:nvPr/>
        </p:nvSpPr>
        <p:spPr>
          <a:xfrm>
            <a:off x="822960" y="243230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Start Claude Code</a:t>
            </a:r>
            <a:endParaRPr lang="en-US" sz="1600" dirty="0"/>
          </a:p>
        </p:txBody>
      </p:sp>
      <p:sp>
        <p:nvSpPr>
          <p:cNvPr id="80" name="Text 78"/>
          <p:cNvSpPr/>
          <p:nvPr/>
        </p:nvSpPr>
        <p:spPr>
          <a:xfrm>
            <a:off x="4754880" y="243230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Typ claude in de terminal</a:t>
            </a:r>
            <a:endParaRPr lang="en-US" sz="1400" dirty="0"/>
          </a:p>
        </p:txBody>
      </p:sp>
      <p:sp>
        <p:nvSpPr>
          <p:cNvPr id="81" name="Shape 79"/>
          <p:cNvSpPr/>
          <p:nvPr/>
        </p:nvSpPr>
        <p:spPr>
          <a:xfrm>
            <a:off x="9859975" y="2647188"/>
            <a:ext cx="1554480" cy="329184"/>
          </a:xfrm>
          <a:prstGeom prst="roundRect">
            <a:avLst>
              <a:gd name="adj" fmla="val 138889"/>
            </a:avLst>
          </a:prstGeom>
          <a:solidFill>
            <a:srgbClr val="00AF81"/>
          </a:solidFill>
          <a:ln/>
        </p:spPr>
      </p:sp>
      <p:sp>
        <p:nvSpPr>
          <p:cNvPr id="82" name="Text 80"/>
          <p:cNvSpPr/>
          <p:nvPr/>
        </p:nvSpPr>
        <p:spPr>
          <a:xfrm>
            <a:off x="9951415" y="264718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Stap 2</a:t>
            </a:r>
            <a:endParaRPr lang="en-US" sz="1100" dirty="0"/>
          </a:p>
        </p:txBody>
      </p:sp>
      <p:sp>
        <p:nvSpPr>
          <p:cNvPr id="83" name="Shape 81"/>
          <p:cNvSpPr/>
          <p:nvPr/>
        </p:nvSpPr>
        <p:spPr>
          <a:xfrm>
            <a:off x="548640" y="3337560"/>
            <a:ext cx="11094415" cy="868680"/>
          </a:xfrm>
          <a:prstGeom prst="roundRect">
            <a:avLst>
              <a:gd name="adj" fmla="val 15512"/>
            </a:avLst>
          </a:prstGeom>
          <a:solidFill>
            <a:srgbClr val="FFFFFF"/>
          </a:solidFill>
          <a:ln/>
        </p:spPr>
      </p:sp>
      <p:sp>
        <p:nvSpPr>
          <p:cNvPr id="84" name="Text 82"/>
          <p:cNvSpPr/>
          <p:nvPr/>
        </p:nvSpPr>
        <p:spPr>
          <a:xfrm>
            <a:off x="822960" y="339242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Probeer een eerste instructie</a:t>
            </a:r>
            <a:endParaRPr lang="en-US" sz="1600" dirty="0"/>
          </a:p>
        </p:txBody>
      </p:sp>
      <p:sp>
        <p:nvSpPr>
          <p:cNvPr id="85" name="Text 83"/>
          <p:cNvSpPr/>
          <p:nvPr/>
        </p:nvSpPr>
        <p:spPr>
          <a:xfrm>
            <a:off x="4754880" y="339242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Lees data/synthetisch_1cho.csv en vertel in gewone taal wat erin zit</a:t>
            </a:r>
            <a:endParaRPr lang="en-US" sz="1400" dirty="0"/>
          </a:p>
        </p:txBody>
      </p:sp>
      <p:sp>
        <p:nvSpPr>
          <p:cNvPr id="86" name="Shape 84"/>
          <p:cNvSpPr/>
          <p:nvPr/>
        </p:nvSpPr>
        <p:spPr>
          <a:xfrm>
            <a:off x="9859975" y="3607308"/>
            <a:ext cx="1554480" cy="329184"/>
          </a:xfrm>
          <a:prstGeom prst="roundRect">
            <a:avLst>
              <a:gd name="adj" fmla="val 138889"/>
            </a:avLst>
          </a:prstGeom>
          <a:solidFill>
            <a:srgbClr val="3D68EC"/>
          </a:solidFill>
          <a:ln/>
        </p:spPr>
      </p:sp>
      <p:sp>
        <p:nvSpPr>
          <p:cNvPr id="87" name="Text 85"/>
          <p:cNvSpPr/>
          <p:nvPr/>
        </p:nvSpPr>
        <p:spPr>
          <a:xfrm>
            <a:off x="9951415" y="360730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F4D9DC"/>
                </a:solidFill>
                <a:latin typeface="General Sans Semibold" pitchFamily="34" charset="0"/>
                <a:ea typeface="General Sans Semibold" pitchFamily="34" charset="-122"/>
                <a:cs typeface="General Sans Semibold" pitchFamily="34" charset="-120"/>
              </a:rPr>
              <a:t>Stap 3</a:t>
            </a:r>
            <a:endParaRPr lang="en-US" sz="1100" dirty="0"/>
          </a:p>
        </p:txBody>
      </p:sp>
      <p:sp>
        <p:nvSpPr>
          <p:cNvPr id="88" name="Shape 86"/>
          <p:cNvSpPr/>
          <p:nvPr/>
        </p:nvSpPr>
        <p:spPr>
          <a:xfrm>
            <a:off x="548640" y="4297680"/>
            <a:ext cx="11094415" cy="868680"/>
          </a:xfrm>
          <a:prstGeom prst="roundRect">
            <a:avLst>
              <a:gd name="adj" fmla="val 15512"/>
            </a:avLst>
          </a:prstGeom>
          <a:solidFill>
            <a:srgbClr val="FFFFFF"/>
          </a:solidFill>
          <a:ln/>
        </p:spPr>
      </p:sp>
      <p:sp>
        <p:nvSpPr>
          <p:cNvPr id="89" name="Text 87"/>
          <p:cNvSpPr/>
          <p:nvPr/>
        </p:nvSpPr>
        <p:spPr>
          <a:xfrm>
            <a:off x="822960" y="435254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Activeer skill 1</a:t>
            </a:r>
            <a:endParaRPr lang="en-US" sz="1600" dirty="0"/>
          </a:p>
        </p:txBody>
      </p:sp>
      <p:sp>
        <p:nvSpPr>
          <p:cNvPr id="90" name="Text 88"/>
          <p:cNvSpPr/>
          <p:nvPr/>
        </p:nvSpPr>
        <p:spPr>
          <a:xfrm>
            <a:off x="4754880" y="435254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/workshop-verkennen: dat doen we straks bij het spiegelmoment</a:t>
            </a:r>
            <a:endParaRPr lang="en-US" sz="1400" dirty="0"/>
          </a:p>
        </p:txBody>
      </p:sp>
      <p:sp>
        <p:nvSpPr>
          <p:cNvPr id="91" name="Shape 89"/>
          <p:cNvSpPr/>
          <p:nvPr/>
        </p:nvSpPr>
        <p:spPr>
          <a:xfrm>
            <a:off x="9859975" y="4567428"/>
            <a:ext cx="1554480" cy="329184"/>
          </a:xfrm>
          <a:prstGeom prst="roundRect">
            <a:avLst>
              <a:gd name="adj" fmla="val 138889"/>
            </a:avLst>
          </a:prstGeom>
          <a:solidFill>
            <a:srgbClr val="DD784B"/>
          </a:solidFill>
          <a:ln/>
        </p:spPr>
      </p:sp>
      <p:sp>
        <p:nvSpPr>
          <p:cNvPr id="92" name="Text 90"/>
          <p:cNvSpPr/>
          <p:nvPr/>
        </p:nvSpPr>
        <p:spPr>
          <a:xfrm>
            <a:off x="9951415" y="456742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Later</a:t>
            </a:r>
            <a:endParaRPr lang="en-US" sz="1100" dirty="0"/>
          </a:p>
        </p:txBody>
      </p:sp>
      <p:sp>
        <p:nvSpPr>
          <p:cNvPr id="93" name="Text 91"/>
          <p:cNvSpPr/>
          <p:nvPr/>
        </p:nvSpPr>
        <p:spPr>
          <a:xfrm>
            <a:off x="548640" y="6291072"/>
            <a:ext cx="11094415" cy="274320"/>
          </a:xfrm>
          <a:prstGeom prst="rect">
            <a:avLst/>
          </a:prstGeom>
          <a:noFill/>
          <a:ln/>
        </p:spPr>
        <p:txBody>
          <a:bodyPr wrap="square" lIns="0" tIns="0" rIns="0" bIns="0" rtlCol="0" anchor="t"/>
          <a:lstStyle/>
          <a:p>
            <a:pPr algn="l" indent="0" marL="0">
              <a:lnSpc>
                <a:spcPct val="105000"/>
              </a:lnSpc>
              <a:buNone/>
            </a:pPr>
            <a:r>
              <a:rPr lang="en-US" sz="1100" dirty="0">
                <a:solidFill>
                  <a:srgbClr val="3D68EC"/>
                </a:solidFill>
                <a:latin typeface="General Sans" pitchFamily="34" charset="0"/>
                <a:ea typeface="General Sans" pitchFamily="34" charset="-122"/>
                <a:cs typeface="General Sans" pitchFamily="34" charset="-120"/>
              </a:rPr>
              <a:t>Duurt het starten langer dan een minuut? Roep iemand, dan zoeken we het samen uit.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AF81"/>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Shape 70"/>
          <p:cNvSpPr/>
          <p:nvPr/>
        </p:nvSpPr>
        <p:spPr>
          <a:xfrm>
            <a:off x="548640" y="1280160"/>
            <a:ext cx="1005840" cy="1005840"/>
          </a:xfrm>
          <a:prstGeom prst="ellipse">
            <a:avLst/>
          </a:prstGeom>
          <a:solidFill>
            <a:srgbClr val="F4D9DC"/>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1</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Ronde 1: ken je data</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22 minuten. Verken data en codebook voor je iets bouwt.</a:t>
            </a:r>
            <a:endParaRPr lang="en-US" sz="2200" dirty="0"/>
          </a:p>
        </p:txBody>
      </p:sp>
      <p:pic>
        <p:nvPicPr>
          <p:cNvPr id="76" name="Image 0" descr="exports\261005_workshop_rad_uitvoering\img\data.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5D4"/>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Ronde 1: wat je doet en oplevert</a:t>
            </a:r>
            <a:endParaRPr lang="en-US" sz="3400" dirty="0"/>
          </a:p>
        </p:txBody>
      </p:sp>
      <p:sp>
        <p:nvSpPr>
          <p:cNvPr id="73" name="Shape 71"/>
          <p:cNvSpPr/>
          <p:nvPr/>
        </p:nvSpPr>
        <p:spPr>
          <a:xfrm>
            <a:off x="548640" y="1371600"/>
            <a:ext cx="3515258" cy="3145536"/>
          </a:xfrm>
          <a:prstGeom prst="roundRect">
            <a:avLst>
              <a:gd name="adj" fmla="val 2366"/>
            </a:avLst>
          </a:prstGeom>
          <a:solidFill>
            <a:srgbClr val="3D68EC"/>
          </a:solidFill>
          <a:ln/>
        </p:spPr>
      </p:sp>
      <p:sp>
        <p:nvSpPr>
          <p:cNvPr id="74" name="Shape 72"/>
          <p:cNvSpPr/>
          <p:nvPr/>
        </p:nvSpPr>
        <p:spPr>
          <a:xfrm>
            <a:off x="822960" y="1645920"/>
            <a:ext cx="548640" cy="548640"/>
          </a:xfrm>
          <a:prstGeom prst="ellipse">
            <a:avLst/>
          </a:prstGeom>
          <a:solidFill>
            <a:srgbClr val="F4D74B"/>
          </a:solidFill>
          <a:ln/>
        </p:spPr>
      </p:sp>
      <p:sp>
        <p:nvSpPr>
          <p:cNvPr id="75" name="Text 73"/>
          <p:cNvSpPr/>
          <p:nvPr/>
        </p:nvSpPr>
        <p:spPr>
          <a:xfrm>
            <a:off x="822960"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3D68EC"/>
                </a:solidFill>
                <a:latin typeface="General Sans Semibold" pitchFamily="34" charset="0"/>
                <a:ea typeface="General Sans Semibold" pitchFamily="34" charset="-122"/>
                <a:cs typeface="General Sans Semibold" pitchFamily="34" charset="-120"/>
              </a:rPr>
              <a:t>1</a:t>
            </a:r>
            <a:endParaRPr lang="en-US" sz="2000" dirty="0"/>
          </a:p>
        </p:txBody>
      </p:sp>
      <p:sp>
        <p:nvSpPr>
          <p:cNvPr id="76" name="Shape 74"/>
          <p:cNvSpPr/>
          <p:nvPr/>
        </p:nvSpPr>
        <p:spPr>
          <a:xfrm>
            <a:off x="1508760" y="1719072"/>
            <a:ext cx="2280818" cy="402336"/>
          </a:xfrm>
          <a:prstGeom prst="roundRect">
            <a:avLst>
              <a:gd name="adj" fmla="val 113636"/>
            </a:avLst>
          </a:prstGeom>
          <a:solidFill>
            <a:srgbClr val="F4D74B"/>
          </a:solidFill>
          <a:ln/>
        </p:spPr>
      </p:sp>
      <p:sp>
        <p:nvSpPr>
          <p:cNvPr id="77" name="Text 75"/>
          <p:cNvSpPr/>
          <p:nvPr/>
        </p:nvSpPr>
        <p:spPr>
          <a:xfrm>
            <a:off x="1600200"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3D68EC"/>
                </a:solidFill>
                <a:latin typeface="General Sans Semibold" pitchFamily="34" charset="0"/>
                <a:ea typeface="General Sans Semibold" pitchFamily="34" charset="-122"/>
                <a:cs typeface="General Sans Semibold" pitchFamily="34" charset="-120"/>
              </a:rPr>
              <a:t>Verken</a:t>
            </a:r>
            <a:endParaRPr lang="en-US" sz="1200" dirty="0"/>
          </a:p>
        </p:txBody>
      </p:sp>
      <p:sp>
        <p:nvSpPr>
          <p:cNvPr id="78" name="Text 76"/>
          <p:cNvSpPr/>
          <p:nvPr/>
        </p:nvSpPr>
        <p:spPr>
          <a:xfrm>
            <a:off x="822960" y="2423160"/>
            <a:ext cx="2966618" cy="691896"/>
          </a:xfrm>
          <a:prstGeom prst="rect">
            <a:avLst/>
          </a:prstGeom>
          <a:noFill/>
          <a:ln/>
        </p:spPr>
        <p:txBody>
          <a:bodyPr wrap="square" lIns="0" tIns="0" rIns="0" bIns="0" rtlCol="0" anchor="t"/>
          <a:lstStyle/>
          <a:p>
            <a:pPr algn="l" indent="0" marL="0">
              <a:lnSpc>
                <a:spcPct val="105000"/>
              </a:lnSpc>
              <a:buNone/>
            </a:pPr>
            <a:r>
              <a:rPr lang="en-US" sz="2400" dirty="0">
                <a:solidFill>
                  <a:srgbClr val="F4D9DC"/>
                </a:solidFill>
                <a:latin typeface="General Sans Semibold" pitchFamily="34" charset="0"/>
                <a:ea typeface="General Sans Semibold" pitchFamily="34" charset="-122"/>
                <a:cs typeface="General Sans Semibold" pitchFamily="34" charset="-120"/>
              </a:rPr>
              <a:t>Wat zit erin?</a:t>
            </a:r>
            <a:endParaRPr lang="en-US" sz="2400" dirty="0"/>
          </a:p>
        </p:txBody>
      </p:sp>
      <p:sp>
        <p:nvSpPr>
          <p:cNvPr id="79" name="Text 77"/>
          <p:cNvSpPr/>
          <p:nvPr/>
        </p:nvSpPr>
        <p:spPr>
          <a:xfrm>
            <a:off x="822960" y="3389376"/>
            <a:ext cx="2966618" cy="99060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Rijen, studenten, jaren, ontbrekende waarden, de definitie van uitval en instroom.</a:t>
            </a:r>
            <a:endParaRPr lang="en-US" sz="1500" dirty="0"/>
          </a:p>
        </p:txBody>
      </p:sp>
      <p:sp>
        <p:nvSpPr>
          <p:cNvPr id="80" name="Shape 78"/>
          <p:cNvSpPr/>
          <p:nvPr/>
        </p:nvSpPr>
        <p:spPr>
          <a:xfrm>
            <a:off x="4338218" y="1371600"/>
            <a:ext cx="3515258" cy="3145536"/>
          </a:xfrm>
          <a:prstGeom prst="roundRect">
            <a:avLst>
              <a:gd name="adj" fmla="val 2366"/>
            </a:avLst>
          </a:prstGeom>
          <a:solidFill>
            <a:srgbClr val="DD784B"/>
          </a:solidFill>
          <a:ln/>
        </p:spPr>
      </p:sp>
      <p:sp>
        <p:nvSpPr>
          <p:cNvPr id="81" name="Shape 79"/>
          <p:cNvSpPr/>
          <p:nvPr/>
        </p:nvSpPr>
        <p:spPr>
          <a:xfrm>
            <a:off x="4612538" y="1645920"/>
            <a:ext cx="548640" cy="548640"/>
          </a:xfrm>
          <a:prstGeom prst="ellipse">
            <a:avLst/>
          </a:prstGeom>
          <a:solidFill>
            <a:srgbClr val="F4D9DC"/>
          </a:solidFill>
          <a:ln/>
        </p:spPr>
      </p:sp>
      <p:sp>
        <p:nvSpPr>
          <p:cNvPr id="82" name="Text 80"/>
          <p:cNvSpPr/>
          <p:nvPr/>
        </p:nvSpPr>
        <p:spPr>
          <a:xfrm>
            <a:off x="4612538"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2</a:t>
            </a:r>
            <a:endParaRPr lang="en-US" sz="2000" dirty="0"/>
          </a:p>
        </p:txBody>
      </p:sp>
      <p:sp>
        <p:nvSpPr>
          <p:cNvPr id="83" name="Shape 81"/>
          <p:cNvSpPr/>
          <p:nvPr/>
        </p:nvSpPr>
        <p:spPr>
          <a:xfrm>
            <a:off x="5298338" y="1719072"/>
            <a:ext cx="2280818" cy="402336"/>
          </a:xfrm>
          <a:prstGeom prst="roundRect">
            <a:avLst>
              <a:gd name="adj" fmla="val 113636"/>
            </a:avLst>
          </a:prstGeom>
          <a:solidFill>
            <a:srgbClr val="F4D9DC"/>
          </a:solidFill>
          <a:ln/>
        </p:spPr>
      </p:sp>
      <p:sp>
        <p:nvSpPr>
          <p:cNvPr id="84" name="Text 82"/>
          <p:cNvSpPr/>
          <p:nvPr/>
        </p:nvSpPr>
        <p:spPr>
          <a:xfrm>
            <a:off x="5389778"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Controleer</a:t>
            </a:r>
            <a:endParaRPr lang="en-US" sz="1200" dirty="0"/>
          </a:p>
        </p:txBody>
      </p:sp>
      <p:sp>
        <p:nvSpPr>
          <p:cNvPr id="85" name="Text 83"/>
          <p:cNvSpPr/>
          <p:nvPr/>
        </p:nvSpPr>
        <p:spPr>
          <a:xfrm>
            <a:off x="4612538" y="242316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Wat mag je laten zien?</a:t>
            </a:r>
            <a:endParaRPr lang="en-US" sz="2300" dirty="0"/>
          </a:p>
        </p:txBody>
      </p:sp>
      <p:sp>
        <p:nvSpPr>
          <p:cNvPr id="86" name="Text 84"/>
          <p:cNvSpPr/>
          <p:nvPr/>
        </p:nvSpPr>
        <p:spPr>
          <a:xfrm>
            <a:off x="4612538" y="3389376"/>
            <a:ext cx="2966618"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Kleine groepen en cohorten die nog niet afgelopen zijn. Wat telt wel en niet mee?</a:t>
            </a:r>
            <a:endParaRPr lang="en-US" sz="1500" dirty="0"/>
          </a:p>
        </p:txBody>
      </p:sp>
      <p:sp>
        <p:nvSpPr>
          <p:cNvPr id="87" name="Shape 85"/>
          <p:cNvSpPr/>
          <p:nvPr/>
        </p:nvSpPr>
        <p:spPr>
          <a:xfrm>
            <a:off x="8127797" y="1371600"/>
            <a:ext cx="3515258" cy="3145536"/>
          </a:xfrm>
          <a:prstGeom prst="roundRect">
            <a:avLst>
              <a:gd name="adj" fmla="val 2366"/>
            </a:avLst>
          </a:prstGeom>
          <a:solidFill>
            <a:srgbClr val="00AF81"/>
          </a:solidFill>
          <a:ln/>
        </p:spPr>
      </p:sp>
      <p:sp>
        <p:nvSpPr>
          <p:cNvPr id="88" name="Shape 86"/>
          <p:cNvSpPr/>
          <p:nvPr/>
        </p:nvSpPr>
        <p:spPr>
          <a:xfrm>
            <a:off x="8402117" y="1645920"/>
            <a:ext cx="548640" cy="548640"/>
          </a:xfrm>
          <a:prstGeom prst="ellipse">
            <a:avLst/>
          </a:prstGeom>
          <a:solidFill>
            <a:srgbClr val="F4D9DC"/>
          </a:solidFill>
          <a:ln/>
        </p:spPr>
      </p:sp>
      <p:sp>
        <p:nvSpPr>
          <p:cNvPr id="89" name="Text 87"/>
          <p:cNvSpPr/>
          <p:nvPr/>
        </p:nvSpPr>
        <p:spPr>
          <a:xfrm>
            <a:off x="8402117"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3</a:t>
            </a:r>
            <a:endParaRPr lang="en-US" sz="2000" dirty="0"/>
          </a:p>
        </p:txBody>
      </p:sp>
      <p:sp>
        <p:nvSpPr>
          <p:cNvPr id="90" name="Shape 88"/>
          <p:cNvSpPr/>
          <p:nvPr/>
        </p:nvSpPr>
        <p:spPr>
          <a:xfrm>
            <a:off x="9087917" y="1719072"/>
            <a:ext cx="2280818" cy="402336"/>
          </a:xfrm>
          <a:prstGeom prst="roundRect">
            <a:avLst>
              <a:gd name="adj" fmla="val 113636"/>
            </a:avLst>
          </a:prstGeom>
          <a:solidFill>
            <a:srgbClr val="F4D9DC"/>
          </a:solidFill>
          <a:ln/>
        </p:spPr>
      </p:sp>
      <p:sp>
        <p:nvSpPr>
          <p:cNvPr id="91" name="Text 89"/>
          <p:cNvSpPr/>
          <p:nvPr/>
        </p:nvSpPr>
        <p:spPr>
          <a:xfrm>
            <a:off x="9179357"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Schets</a:t>
            </a:r>
            <a:endParaRPr lang="en-US" sz="1200" dirty="0"/>
          </a:p>
        </p:txBody>
      </p:sp>
      <p:sp>
        <p:nvSpPr>
          <p:cNvPr id="92" name="Text 90"/>
          <p:cNvSpPr/>
          <p:nvPr/>
        </p:nvSpPr>
        <p:spPr>
          <a:xfrm>
            <a:off x="8402117" y="242316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Twee of drie views</a:t>
            </a:r>
            <a:endParaRPr lang="en-US" sz="2300" dirty="0"/>
          </a:p>
        </p:txBody>
      </p:sp>
      <p:sp>
        <p:nvSpPr>
          <p:cNvPr id="93" name="Text 91"/>
          <p:cNvSpPr/>
          <p:nvPr/>
        </p:nvSpPr>
        <p:spPr>
          <a:xfrm>
            <a:off x="8402117" y="3389376"/>
            <a:ext cx="2966618"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Een schets op papier of in tekst van wat je gaat bouwen, met een conclusie als titel.</a:t>
            </a:r>
            <a:endParaRPr lang="en-US" sz="1500" dirty="0"/>
          </a:p>
        </p:txBody>
      </p:sp>
      <p:sp>
        <p:nvSpPr>
          <p:cNvPr id="94" name="Text 92"/>
          <p:cNvSpPr/>
          <p:nvPr/>
        </p:nvSpPr>
        <p:spPr>
          <a:xfrm>
            <a:off x="548640" y="4700016"/>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DD784B"/>
                </a:solidFill>
                <a:latin typeface="General Sans Semibold" pitchFamily="34" charset="0"/>
                <a:ea typeface="General Sans Semibold" pitchFamily="34" charset="-122"/>
                <a:cs typeface="General Sans Semibold" pitchFamily="34" charset="-120"/>
              </a:rPr>
              <a:t>Oplevering:</a:t>
            </a:r>
            <a:pPr algn="l" indent="0" marL="0">
              <a:lnSpc>
                <a:spcPct val="105000"/>
              </a:lnSpc>
              <a:buNone/>
            </a:pPr>
            <a:r>
              <a:rPr lang="en-US" sz="1800" dirty="0">
                <a:solidFill>
                  <a:srgbClr val="000000"/>
                </a:solidFill>
                <a:latin typeface="General Sans" pitchFamily="34" charset="0"/>
                <a:ea typeface="General Sans" pitchFamily="34" charset="-122"/>
                <a:cs typeface="General Sans" pitchFamily="34" charset="-120"/>
              </a:rPr>
              <a:t> begrip van de data, een schets en een eerste privacy-check.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D784B"/>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Shape 70"/>
          <p:cNvSpPr/>
          <p:nvPr/>
        </p:nvSpPr>
        <p:spPr>
          <a:xfrm>
            <a:off x="548640" y="1280160"/>
            <a:ext cx="1005840" cy="1005840"/>
          </a:xfrm>
          <a:prstGeom prst="ellipse">
            <a:avLst/>
          </a:prstGeom>
          <a:solidFill>
            <a:srgbClr val="F4D9DC"/>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2</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000000"/>
                </a:solidFill>
                <a:latin typeface="General Sans Semibold" pitchFamily="34" charset="0"/>
                <a:ea typeface="General Sans Semibold" pitchFamily="34" charset="-122"/>
                <a:cs typeface="General Sans Semibold" pitchFamily="34" charset="-120"/>
              </a:rPr>
              <a:t>Spiegelmoment 1: wat deden jullie?</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Twee of drie tweetallen delen hun aanpak. Daarna doet skill 1 de ronde.</a:t>
            </a:r>
            <a:endParaRPr lang="en-US" sz="2200" dirty="0"/>
          </a:p>
        </p:txBody>
      </p:sp>
      <p:pic>
        <p:nvPicPr>
          <p:cNvPr id="76" name="Image 0" descr="exports\261005_workshop_rad_uitvoering\img\gesprek.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Skill 1 doet ronde 1 in één instructie</a:t>
            </a:r>
            <a:endParaRPr lang="en-US" sz="3400" dirty="0"/>
          </a:p>
        </p:txBody>
      </p:sp>
      <p:sp>
        <p:nvSpPr>
          <p:cNvPr id="73" name="Shape 71"/>
          <p:cNvSpPr/>
          <p:nvPr/>
        </p:nvSpPr>
        <p:spPr>
          <a:xfrm>
            <a:off x="548640" y="1572768"/>
            <a:ext cx="201168" cy="201168"/>
          </a:xfrm>
          <a:prstGeom prst="ellipse">
            <a:avLst/>
          </a:prstGeom>
          <a:solidFill>
            <a:srgbClr val="3D68EC"/>
          </a:solidFill>
          <a:ln/>
        </p:spPr>
      </p:sp>
      <p:sp>
        <p:nvSpPr>
          <p:cNvPr id="74" name="Text 72"/>
          <p:cNvSpPr/>
          <p:nvPr/>
        </p:nvSpPr>
        <p:spPr>
          <a:xfrm>
            <a:off x="960120" y="14630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Profiel:</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rijen, studenten, cohorten, ontbrekende waarden</a:t>
            </a:r>
            <a:endParaRPr lang="en-US" sz="1900" dirty="0"/>
          </a:p>
        </p:txBody>
      </p:sp>
      <p:sp>
        <p:nvSpPr>
          <p:cNvPr id="75" name="Shape 73"/>
          <p:cNvSpPr/>
          <p:nvPr/>
        </p:nvSpPr>
        <p:spPr>
          <a:xfrm>
            <a:off x="548640" y="2487168"/>
            <a:ext cx="201168" cy="201168"/>
          </a:xfrm>
          <a:prstGeom prst="ellipse">
            <a:avLst/>
          </a:prstGeom>
          <a:solidFill>
            <a:srgbClr val="DD784B"/>
          </a:solidFill>
          <a:ln/>
        </p:spPr>
      </p:sp>
      <p:sp>
        <p:nvSpPr>
          <p:cNvPr id="76" name="Text 74"/>
          <p:cNvSpPr/>
          <p:nvPr/>
        </p:nvSpPr>
        <p:spPr>
          <a:xfrm>
            <a:off x="960120" y="23774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Definities:</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staat1cho-definities van uitval, instroom en rendement</a:t>
            </a:r>
            <a:endParaRPr lang="en-US" sz="1900" dirty="0"/>
          </a:p>
        </p:txBody>
      </p:sp>
      <p:sp>
        <p:nvSpPr>
          <p:cNvPr id="77" name="Shape 75"/>
          <p:cNvSpPr/>
          <p:nvPr/>
        </p:nvSpPr>
        <p:spPr>
          <a:xfrm>
            <a:off x="548640" y="3401568"/>
            <a:ext cx="201168" cy="201168"/>
          </a:xfrm>
          <a:prstGeom prst="ellipse">
            <a:avLst/>
          </a:prstGeom>
          <a:solidFill>
            <a:srgbClr val="00AF81"/>
          </a:solidFill>
          <a:ln/>
        </p:spPr>
      </p:sp>
      <p:sp>
        <p:nvSpPr>
          <p:cNvPr id="78" name="Text 76"/>
          <p:cNvSpPr/>
          <p:nvPr/>
        </p:nvSpPr>
        <p:spPr>
          <a:xfrm>
            <a:off x="960120" y="32918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Kleine groepen:</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onder 30 studenten, met secundaire onderdrukking</a:t>
            </a:r>
            <a:endParaRPr lang="en-US" sz="1900" dirty="0"/>
          </a:p>
        </p:txBody>
      </p:sp>
      <p:sp>
        <p:nvSpPr>
          <p:cNvPr id="79" name="Shape 77"/>
          <p:cNvSpPr/>
          <p:nvPr/>
        </p:nvSpPr>
        <p:spPr>
          <a:xfrm>
            <a:off x="548640" y="4315968"/>
            <a:ext cx="201168" cy="201168"/>
          </a:xfrm>
          <a:prstGeom prst="ellipse">
            <a:avLst/>
          </a:prstGeom>
          <a:solidFill>
            <a:srgbClr val="F4D74B"/>
          </a:solidFill>
          <a:ln/>
        </p:spPr>
      </p:sp>
      <p:sp>
        <p:nvSpPr>
          <p:cNvPr id="80" name="Text 78"/>
          <p:cNvSpPr/>
          <p:nvPr/>
        </p:nvSpPr>
        <p:spPr>
          <a:xfrm>
            <a:off x="960120" y="42062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Schets:</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twee of drie views als tussenproduct (schets.md)</a:t>
            </a:r>
            <a:endParaRPr lang="en-US" sz="1900" dirty="0"/>
          </a:p>
        </p:txBody>
      </p:sp>
      <p:pic>
        <p:nvPicPr>
          <p:cNvPr id="81" name="Image 0" descr="exports\261005_workshop_rad_uitvoering\img\Lamp.png">    </p:cNvPr>
          <p:cNvPicPr>
            <a:picLocks noChangeAspect="1"/>
          </p:cNvPicPr>
          <p:nvPr/>
        </p:nvPicPr>
        <p:blipFill>
          <a:blip r:embed="rId1"/>
          <a:stretch>
            <a:fillRect/>
          </a:stretch>
        </p:blipFill>
        <p:spPr>
          <a:xfrm>
            <a:off x="7498080" y="1417320"/>
            <a:ext cx="4206240" cy="4206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D68EC"/>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F4D9DC"/>
          </a:solidFill>
          <a:ln/>
        </p:spPr>
      </p:sp>
      <p:sp>
        <p:nvSpPr>
          <p:cNvPr id="3" name="Shape 1"/>
          <p:cNvSpPr/>
          <p:nvPr/>
        </p:nvSpPr>
        <p:spPr>
          <a:xfrm>
            <a:off x="11350574" y="646303"/>
            <a:ext cx="53340" cy="53340"/>
          </a:xfrm>
          <a:prstGeom prst="ellipse">
            <a:avLst/>
          </a:prstGeom>
          <a:solidFill>
            <a:srgbClr val="F4D9DC"/>
          </a:solidFill>
          <a:ln/>
        </p:spPr>
      </p:sp>
      <p:sp>
        <p:nvSpPr>
          <p:cNvPr id="4" name="Shape 2"/>
          <p:cNvSpPr/>
          <p:nvPr/>
        </p:nvSpPr>
        <p:spPr>
          <a:xfrm>
            <a:off x="11350574" y="708533"/>
            <a:ext cx="53340" cy="53340"/>
          </a:xfrm>
          <a:prstGeom prst="ellipse">
            <a:avLst/>
          </a:prstGeom>
          <a:solidFill>
            <a:srgbClr val="F4D9DC"/>
          </a:solidFill>
          <a:ln/>
        </p:spPr>
      </p:sp>
      <p:sp>
        <p:nvSpPr>
          <p:cNvPr id="5" name="Shape 3"/>
          <p:cNvSpPr/>
          <p:nvPr/>
        </p:nvSpPr>
        <p:spPr>
          <a:xfrm>
            <a:off x="11296345" y="739648"/>
            <a:ext cx="53340" cy="53340"/>
          </a:xfrm>
          <a:prstGeom prst="ellipse">
            <a:avLst/>
          </a:prstGeom>
          <a:solidFill>
            <a:srgbClr val="F4D9DC"/>
          </a:solidFill>
          <a:ln/>
        </p:spPr>
      </p:sp>
      <p:sp>
        <p:nvSpPr>
          <p:cNvPr id="6" name="Shape 4"/>
          <p:cNvSpPr/>
          <p:nvPr/>
        </p:nvSpPr>
        <p:spPr>
          <a:xfrm>
            <a:off x="11242116" y="708533"/>
            <a:ext cx="53340" cy="53340"/>
          </a:xfrm>
          <a:prstGeom prst="ellipse">
            <a:avLst/>
          </a:prstGeom>
          <a:solidFill>
            <a:srgbClr val="F4D9DC"/>
          </a:solidFill>
          <a:ln/>
        </p:spPr>
      </p:sp>
      <p:sp>
        <p:nvSpPr>
          <p:cNvPr id="7" name="Shape 5"/>
          <p:cNvSpPr/>
          <p:nvPr/>
        </p:nvSpPr>
        <p:spPr>
          <a:xfrm>
            <a:off x="11242116" y="646303"/>
            <a:ext cx="53340" cy="53340"/>
          </a:xfrm>
          <a:prstGeom prst="ellipse">
            <a:avLst/>
          </a:prstGeom>
          <a:solidFill>
            <a:srgbClr val="F4D9DC"/>
          </a:solidFill>
          <a:ln/>
        </p:spPr>
      </p:sp>
      <p:sp>
        <p:nvSpPr>
          <p:cNvPr id="8" name="Shape 6"/>
          <p:cNvSpPr/>
          <p:nvPr/>
        </p:nvSpPr>
        <p:spPr>
          <a:xfrm>
            <a:off x="11300790" y="566293"/>
            <a:ext cx="44450" cy="44450"/>
          </a:xfrm>
          <a:prstGeom prst="ellipse">
            <a:avLst/>
          </a:prstGeom>
          <a:solidFill>
            <a:srgbClr val="F4D9DC"/>
          </a:solidFill>
          <a:ln/>
        </p:spPr>
      </p:sp>
      <p:sp>
        <p:nvSpPr>
          <p:cNvPr id="9" name="Shape 7"/>
          <p:cNvSpPr/>
          <p:nvPr/>
        </p:nvSpPr>
        <p:spPr>
          <a:xfrm>
            <a:off x="11368354" y="588518"/>
            <a:ext cx="44450" cy="44450"/>
          </a:xfrm>
          <a:prstGeom prst="ellipse">
            <a:avLst/>
          </a:prstGeom>
          <a:solidFill>
            <a:srgbClr val="F4D9DC"/>
          </a:solidFill>
          <a:ln/>
        </p:spPr>
      </p:sp>
      <p:sp>
        <p:nvSpPr>
          <p:cNvPr id="10" name="Shape 8"/>
          <p:cNvSpPr/>
          <p:nvPr/>
        </p:nvSpPr>
        <p:spPr>
          <a:xfrm>
            <a:off x="11411026" y="646303"/>
            <a:ext cx="44450" cy="44450"/>
          </a:xfrm>
          <a:prstGeom prst="ellipse">
            <a:avLst/>
          </a:prstGeom>
          <a:solidFill>
            <a:srgbClr val="F4D9DC"/>
          </a:solidFill>
          <a:ln/>
        </p:spPr>
      </p:sp>
      <p:sp>
        <p:nvSpPr>
          <p:cNvPr id="11" name="Shape 9"/>
          <p:cNvSpPr/>
          <p:nvPr/>
        </p:nvSpPr>
        <p:spPr>
          <a:xfrm>
            <a:off x="11411026" y="717423"/>
            <a:ext cx="44450" cy="44450"/>
          </a:xfrm>
          <a:prstGeom prst="ellipse">
            <a:avLst/>
          </a:prstGeom>
          <a:solidFill>
            <a:srgbClr val="F4D9DC"/>
          </a:solidFill>
          <a:ln/>
        </p:spPr>
      </p:sp>
      <p:sp>
        <p:nvSpPr>
          <p:cNvPr id="12" name="Shape 10"/>
          <p:cNvSpPr/>
          <p:nvPr/>
        </p:nvSpPr>
        <p:spPr>
          <a:xfrm>
            <a:off x="11368354" y="775208"/>
            <a:ext cx="44450" cy="44450"/>
          </a:xfrm>
          <a:prstGeom prst="ellipse">
            <a:avLst/>
          </a:prstGeom>
          <a:solidFill>
            <a:srgbClr val="F4D9DC"/>
          </a:solidFill>
          <a:ln/>
        </p:spPr>
      </p:sp>
      <p:sp>
        <p:nvSpPr>
          <p:cNvPr id="13" name="Shape 11"/>
          <p:cNvSpPr/>
          <p:nvPr/>
        </p:nvSpPr>
        <p:spPr>
          <a:xfrm>
            <a:off x="11300790" y="797433"/>
            <a:ext cx="44450" cy="44450"/>
          </a:xfrm>
          <a:prstGeom prst="ellipse">
            <a:avLst/>
          </a:prstGeom>
          <a:solidFill>
            <a:srgbClr val="F4D9DC"/>
          </a:solidFill>
          <a:ln/>
        </p:spPr>
      </p:sp>
      <p:sp>
        <p:nvSpPr>
          <p:cNvPr id="14" name="Shape 12"/>
          <p:cNvSpPr/>
          <p:nvPr/>
        </p:nvSpPr>
        <p:spPr>
          <a:xfrm>
            <a:off x="11233226" y="775208"/>
            <a:ext cx="44450" cy="44450"/>
          </a:xfrm>
          <a:prstGeom prst="ellipse">
            <a:avLst/>
          </a:prstGeom>
          <a:solidFill>
            <a:srgbClr val="F4D9DC"/>
          </a:solidFill>
          <a:ln/>
        </p:spPr>
      </p:sp>
      <p:sp>
        <p:nvSpPr>
          <p:cNvPr id="15" name="Shape 13"/>
          <p:cNvSpPr/>
          <p:nvPr/>
        </p:nvSpPr>
        <p:spPr>
          <a:xfrm>
            <a:off x="11190554" y="717423"/>
            <a:ext cx="44450" cy="44450"/>
          </a:xfrm>
          <a:prstGeom prst="ellipse">
            <a:avLst/>
          </a:prstGeom>
          <a:solidFill>
            <a:srgbClr val="F4D9DC"/>
          </a:solidFill>
          <a:ln/>
        </p:spPr>
      </p:sp>
      <p:sp>
        <p:nvSpPr>
          <p:cNvPr id="16" name="Shape 14"/>
          <p:cNvSpPr/>
          <p:nvPr/>
        </p:nvSpPr>
        <p:spPr>
          <a:xfrm>
            <a:off x="11190554" y="646303"/>
            <a:ext cx="44450" cy="44450"/>
          </a:xfrm>
          <a:prstGeom prst="ellipse">
            <a:avLst/>
          </a:prstGeom>
          <a:solidFill>
            <a:srgbClr val="F4D9DC"/>
          </a:solidFill>
          <a:ln/>
        </p:spPr>
      </p:sp>
      <p:sp>
        <p:nvSpPr>
          <p:cNvPr id="17" name="Shape 15"/>
          <p:cNvSpPr/>
          <p:nvPr/>
        </p:nvSpPr>
        <p:spPr>
          <a:xfrm>
            <a:off x="11233226" y="588518"/>
            <a:ext cx="44450" cy="44450"/>
          </a:xfrm>
          <a:prstGeom prst="ellipse">
            <a:avLst/>
          </a:prstGeom>
          <a:solidFill>
            <a:srgbClr val="F4D9DC"/>
          </a:solidFill>
          <a:ln/>
        </p:spPr>
      </p:sp>
      <p:sp>
        <p:nvSpPr>
          <p:cNvPr id="18" name="Shape 16"/>
          <p:cNvSpPr/>
          <p:nvPr/>
        </p:nvSpPr>
        <p:spPr>
          <a:xfrm>
            <a:off x="11305235" y="517398"/>
            <a:ext cx="35560" cy="35560"/>
          </a:xfrm>
          <a:prstGeom prst="ellipse">
            <a:avLst/>
          </a:prstGeom>
          <a:solidFill>
            <a:srgbClr val="F4D9DC"/>
          </a:solidFill>
          <a:ln/>
        </p:spPr>
      </p:sp>
      <p:sp>
        <p:nvSpPr>
          <p:cNvPr id="19" name="Shape 17"/>
          <p:cNvSpPr/>
          <p:nvPr/>
        </p:nvSpPr>
        <p:spPr>
          <a:xfrm>
            <a:off x="11378133" y="534289"/>
            <a:ext cx="35560" cy="35560"/>
          </a:xfrm>
          <a:prstGeom prst="ellipse">
            <a:avLst/>
          </a:prstGeom>
          <a:solidFill>
            <a:srgbClr val="F4D9DC"/>
          </a:solidFill>
          <a:ln/>
        </p:spPr>
      </p:sp>
      <p:sp>
        <p:nvSpPr>
          <p:cNvPr id="20" name="Shape 18"/>
          <p:cNvSpPr/>
          <p:nvPr/>
        </p:nvSpPr>
        <p:spPr>
          <a:xfrm>
            <a:off x="11437696" y="581406"/>
            <a:ext cx="35560" cy="35560"/>
          </a:xfrm>
          <a:prstGeom prst="ellipse">
            <a:avLst/>
          </a:prstGeom>
          <a:solidFill>
            <a:srgbClr val="F4D9DC"/>
          </a:solidFill>
          <a:ln/>
        </p:spPr>
      </p:sp>
      <p:sp>
        <p:nvSpPr>
          <p:cNvPr id="21" name="Shape 19"/>
          <p:cNvSpPr/>
          <p:nvPr/>
        </p:nvSpPr>
        <p:spPr>
          <a:xfrm>
            <a:off x="11469700" y="648970"/>
            <a:ext cx="35560" cy="35560"/>
          </a:xfrm>
          <a:prstGeom prst="ellipse">
            <a:avLst/>
          </a:prstGeom>
          <a:solidFill>
            <a:srgbClr val="F4D9DC"/>
          </a:solidFill>
          <a:ln/>
        </p:spPr>
      </p:sp>
      <p:sp>
        <p:nvSpPr>
          <p:cNvPr id="22" name="Shape 20"/>
          <p:cNvSpPr/>
          <p:nvPr/>
        </p:nvSpPr>
        <p:spPr>
          <a:xfrm>
            <a:off x="11469700" y="723646"/>
            <a:ext cx="35560" cy="35560"/>
          </a:xfrm>
          <a:prstGeom prst="ellipse">
            <a:avLst/>
          </a:prstGeom>
          <a:solidFill>
            <a:srgbClr val="F4D9DC"/>
          </a:solidFill>
          <a:ln/>
        </p:spPr>
      </p:sp>
      <p:sp>
        <p:nvSpPr>
          <p:cNvPr id="23" name="Shape 21"/>
          <p:cNvSpPr/>
          <p:nvPr/>
        </p:nvSpPr>
        <p:spPr>
          <a:xfrm>
            <a:off x="11437696" y="791210"/>
            <a:ext cx="35560" cy="35560"/>
          </a:xfrm>
          <a:prstGeom prst="ellipse">
            <a:avLst/>
          </a:prstGeom>
          <a:solidFill>
            <a:srgbClr val="F4D9DC"/>
          </a:solidFill>
          <a:ln/>
        </p:spPr>
      </p:sp>
      <p:sp>
        <p:nvSpPr>
          <p:cNvPr id="24" name="Shape 22"/>
          <p:cNvSpPr/>
          <p:nvPr/>
        </p:nvSpPr>
        <p:spPr>
          <a:xfrm>
            <a:off x="11378133" y="838327"/>
            <a:ext cx="35560" cy="35560"/>
          </a:xfrm>
          <a:prstGeom prst="ellipse">
            <a:avLst/>
          </a:prstGeom>
          <a:solidFill>
            <a:srgbClr val="F4D9DC"/>
          </a:solidFill>
          <a:ln/>
        </p:spPr>
      </p:sp>
      <p:sp>
        <p:nvSpPr>
          <p:cNvPr id="25" name="Shape 23"/>
          <p:cNvSpPr/>
          <p:nvPr/>
        </p:nvSpPr>
        <p:spPr>
          <a:xfrm>
            <a:off x="11305235" y="855218"/>
            <a:ext cx="35560" cy="35560"/>
          </a:xfrm>
          <a:prstGeom prst="ellipse">
            <a:avLst/>
          </a:prstGeom>
          <a:solidFill>
            <a:srgbClr val="F4D9DC"/>
          </a:solidFill>
          <a:ln/>
        </p:spPr>
      </p:sp>
      <p:sp>
        <p:nvSpPr>
          <p:cNvPr id="26" name="Shape 24"/>
          <p:cNvSpPr/>
          <p:nvPr/>
        </p:nvSpPr>
        <p:spPr>
          <a:xfrm>
            <a:off x="11232337" y="838327"/>
            <a:ext cx="35560" cy="35560"/>
          </a:xfrm>
          <a:prstGeom prst="ellipse">
            <a:avLst/>
          </a:prstGeom>
          <a:solidFill>
            <a:srgbClr val="F4D9DC"/>
          </a:solidFill>
          <a:ln/>
        </p:spPr>
      </p:sp>
      <p:sp>
        <p:nvSpPr>
          <p:cNvPr id="27" name="Shape 25"/>
          <p:cNvSpPr/>
          <p:nvPr/>
        </p:nvSpPr>
        <p:spPr>
          <a:xfrm>
            <a:off x="11172774" y="791210"/>
            <a:ext cx="35560" cy="35560"/>
          </a:xfrm>
          <a:prstGeom prst="ellipse">
            <a:avLst/>
          </a:prstGeom>
          <a:solidFill>
            <a:srgbClr val="F4D9DC"/>
          </a:solidFill>
          <a:ln/>
        </p:spPr>
      </p:sp>
      <p:sp>
        <p:nvSpPr>
          <p:cNvPr id="28" name="Shape 26"/>
          <p:cNvSpPr/>
          <p:nvPr/>
        </p:nvSpPr>
        <p:spPr>
          <a:xfrm>
            <a:off x="11140770" y="723646"/>
            <a:ext cx="35560" cy="35560"/>
          </a:xfrm>
          <a:prstGeom prst="ellipse">
            <a:avLst/>
          </a:prstGeom>
          <a:solidFill>
            <a:srgbClr val="F4D9DC"/>
          </a:solidFill>
          <a:ln/>
        </p:spPr>
      </p:sp>
      <p:sp>
        <p:nvSpPr>
          <p:cNvPr id="29" name="Shape 27"/>
          <p:cNvSpPr/>
          <p:nvPr/>
        </p:nvSpPr>
        <p:spPr>
          <a:xfrm>
            <a:off x="11140770" y="648970"/>
            <a:ext cx="35560" cy="35560"/>
          </a:xfrm>
          <a:prstGeom prst="ellipse">
            <a:avLst/>
          </a:prstGeom>
          <a:solidFill>
            <a:srgbClr val="F4D9DC"/>
          </a:solidFill>
          <a:ln/>
        </p:spPr>
      </p:sp>
      <p:sp>
        <p:nvSpPr>
          <p:cNvPr id="30" name="Shape 28"/>
          <p:cNvSpPr/>
          <p:nvPr/>
        </p:nvSpPr>
        <p:spPr>
          <a:xfrm>
            <a:off x="11172774" y="581406"/>
            <a:ext cx="35560" cy="35560"/>
          </a:xfrm>
          <a:prstGeom prst="ellipse">
            <a:avLst/>
          </a:prstGeom>
          <a:solidFill>
            <a:srgbClr val="F4D9DC"/>
          </a:solidFill>
          <a:ln/>
        </p:spPr>
      </p:sp>
      <p:sp>
        <p:nvSpPr>
          <p:cNvPr id="31" name="Shape 29"/>
          <p:cNvSpPr/>
          <p:nvPr/>
        </p:nvSpPr>
        <p:spPr>
          <a:xfrm>
            <a:off x="11232337" y="534289"/>
            <a:ext cx="35560" cy="35560"/>
          </a:xfrm>
          <a:prstGeom prst="ellipse">
            <a:avLst/>
          </a:prstGeom>
          <a:solidFill>
            <a:srgbClr val="F4D9DC"/>
          </a:solidFill>
          <a:ln/>
        </p:spPr>
      </p:sp>
      <p:sp>
        <p:nvSpPr>
          <p:cNvPr id="32" name="Shape 30"/>
          <p:cNvSpPr/>
          <p:nvPr/>
        </p:nvSpPr>
        <p:spPr>
          <a:xfrm>
            <a:off x="11308791" y="467614"/>
            <a:ext cx="28448" cy="28448"/>
          </a:xfrm>
          <a:prstGeom prst="ellipse">
            <a:avLst/>
          </a:prstGeom>
          <a:solidFill>
            <a:srgbClr val="F4D9DC"/>
          </a:solidFill>
          <a:ln/>
        </p:spPr>
      </p:sp>
      <p:sp>
        <p:nvSpPr>
          <p:cNvPr id="33" name="Shape 31"/>
          <p:cNvSpPr/>
          <p:nvPr/>
        </p:nvSpPr>
        <p:spPr>
          <a:xfrm>
            <a:off x="11385245" y="480949"/>
            <a:ext cx="28448" cy="28448"/>
          </a:xfrm>
          <a:prstGeom prst="ellipse">
            <a:avLst/>
          </a:prstGeom>
          <a:solidFill>
            <a:srgbClr val="F4D9DC"/>
          </a:solidFill>
          <a:ln/>
        </p:spPr>
      </p:sp>
      <p:sp>
        <p:nvSpPr>
          <p:cNvPr id="34" name="Shape 32"/>
          <p:cNvSpPr/>
          <p:nvPr/>
        </p:nvSpPr>
        <p:spPr>
          <a:xfrm>
            <a:off x="11451920" y="519176"/>
            <a:ext cx="28448" cy="28448"/>
          </a:xfrm>
          <a:prstGeom prst="ellipse">
            <a:avLst/>
          </a:prstGeom>
          <a:solidFill>
            <a:srgbClr val="F4D9DC"/>
          </a:solidFill>
          <a:ln/>
        </p:spPr>
      </p:sp>
      <p:sp>
        <p:nvSpPr>
          <p:cNvPr id="35" name="Shape 33"/>
          <p:cNvSpPr/>
          <p:nvPr/>
        </p:nvSpPr>
        <p:spPr>
          <a:xfrm>
            <a:off x="11501704" y="578739"/>
            <a:ext cx="28448" cy="28448"/>
          </a:xfrm>
          <a:prstGeom prst="ellipse">
            <a:avLst/>
          </a:prstGeom>
          <a:solidFill>
            <a:srgbClr val="F4D9DC"/>
          </a:solidFill>
          <a:ln/>
        </p:spPr>
      </p:sp>
      <p:sp>
        <p:nvSpPr>
          <p:cNvPr id="36" name="Shape 34"/>
          <p:cNvSpPr/>
          <p:nvPr/>
        </p:nvSpPr>
        <p:spPr>
          <a:xfrm>
            <a:off x="11527485" y="651637"/>
            <a:ext cx="28448" cy="28448"/>
          </a:xfrm>
          <a:prstGeom prst="ellipse">
            <a:avLst/>
          </a:prstGeom>
          <a:solidFill>
            <a:srgbClr val="F4D9DC"/>
          </a:solidFill>
          <a:ln/>
        </p:spPr>
      </p:sp>
      <p:sp>
        <p:nvSpPr>
          <p:cNvPr id="37" name="Shape 35"/>
          <p:cNvSpPr/>
          <p:nvPr/>
        </p:nvSpPr>
        <p:spPr>
          <a:xfrm>
            <a:off x="11527485" y="728091"/>
            <a:ext cx="28448" cy="28448"/>
          </a:xfrm>
          <a:prstGeom prst="ellipse">
            <a:avLst/>
          </a:prstGeom>
          <a:solidFill>
            <a:srgbClr val="F4D9DC"/>
          </a:solidFill>
          <a:ln/>
        </p:spPr>
      </p:sp>
      <p:sp>
        <p:nvSpPr>
          <p:cNvPr id="38" name="Shape 36"/>
          <p:cNvSpPr/>
          <p:nvPr/>
        </p:nvSpPr>
        <p:spPr>
          <a:xfrm>
            <a:off x="11501704" y="800989"/>
            <a:ext cx="28448" cy="28448"/>
          </a:xfrm>
          <a:prstGeom prst="ellipse">
            <a:avLst/>
          </a:prstGeom>
          <a:solidFill>
            <a:srgbClr val="F4D9DC"/>
          </a:solidFill>
          <a:ln/>
        </p:spPr>
      </p:sp>
      <p:sp>
        <p:nvSpPr>
          <p:cNvPr id="39" name="Shape 37"/>
          <p:cNvSpPr/>
          <p:nvPr/>
        </p:nvSpPr>
        <p:spPr>
          <a:xfrm>
            <a:off x="11451920" y="860552"/>
            <a:ext cx="28448" cy="28448"/>
          </a:xfrm>
          <a:prstGeom prst="ellipse">
            <a:avLst/>
          </a:prstGeom>
          <a:solidFill>
            <a:srgbClr val="F4D9DC"/>
          </a:solidFill>
          <a:ln/>
        </p:spPr>
      </p:sp>
      <p:sp>
        <p:nvSpPr>
          <p:cNvPr id="40" name="Shape 38"/>
          <p:cNvSpPr/>
          <p:nvPr/>
        </p:nvSpPr>
        <p:spPr>
          <a:xfrm>
            <a:off x="11385245" y="898779"/>
            <a:ext cx="28448" cy="28448"/>
          </a:xfrm>
          <a:prstGeom prst="ellipse">
            <a:avLst/>
          </a:prstGeom>
          <a:solidFill>
            <a:srgbClr val="F4D9DC"/>
          </a:solidFill>
          <a:ln/>
        </p:spPr>
      </p:sp>
      <p:sp>
        <p:nvSpPr>
          <p:cNvPr id="41" name="Shape 39"/>
          <p:cNvSpPr/>
          <p:nvPr/>
        </p:nvSpPr>
        <p:spPr>
          <a:xfrm>
            <a:off x="11308791" y="912114"/>
            <a:ext cx="28448" cy="28448"/>
          </a:xfrm>
          <a:prstGeom prst="ellipse">
            <a:avLst/>
          </a:prstGeom>
          <a:solidFill>
            <a:srgbClr val="F4D9DC"/>
          </a:solidFill>
          <a:ln/>
        </p:spPr>
      </p:sp>
      <p:sp>
        <p:nvSpPr>
          <p:cNvPr id="42" name="Shape 40"/>
          <p:cNvSpPr/>
          <p:nvPr/>
        </p:nvSpPr>
        <p:spPr>
          <a:xfrm>
            <a:off x="11232337" y="898779"/>
            <a:ext cx="28448" cy="28448"/>
          </a:xfrm>
          <a:prstGeom prst="ellipse">
            <a:avLst/>
          </a:prstGeom>
          <a:solidFill>
            <a:srgbClr val="F4D9DC"/>
          </a:solidFill>
          <a:ln/>
        </p:spPr>
      </p:sp>
      <p:sp>
        <p:nvSpPr>
          <p:cNvPr id="43" name="Shape 41"/>
          <p:cNvSpPr/>
          <p:nvPr/>
        </p:nvSpPr>
        <p:spPr>
          <a:xfrm>
            <a:off x="11165662" y="860552"/>
            <a:ext cx="28448" cy="28448"/>
          </a:xfrm>
          <a:prstGeom prst="ellipse">
            <a:avLst/>
          </a:prstGeom>
          <a:solidFill>
            <a:srgbClr val="F4D9DC"/>
          </a:solidFill>
          <a:ln/>
        </p:spPr>
      </p:sp>
      <p:sp>
        <p:nvSpPr>
          <p:cNvPr id="44" name="Shape 42"/>
          <p:cNvSpPr/>
          <p:nvPr/>
        </p:nvSpPr>
        <p:spPr>
          <a:xfrm>
            <a:off x="11115878" y="800989"/>
            <a:ext cx="28448" cy="28448"/>
          </a:xfrm>
          <a:prstGeom prst="ellipse">
            <a:avLst/>
          </a:prstGeom>
          <a:solidFill>
            <a:srgbClr val="F4D9DC"/>
          </a:solidFill>
          <a:ln/>
        </p:spPr>
      </p:sp>
      <p:sp>
        <p:nvSpPr>
          <p:cNvPr id="45" name="Shape 43"/>
          <p:cNvSpPr/>
          <p:nvPr/>
        </p:nvSpPr>
        <p:spPr>
          <a:xfrm>
            <a:off x="11090097" y="728091"/>
            <a:ext cx="28448" cy="28448"/>
          </a:xfrm>
          <a:prstGeom prst="ellipse">
            <a:avLst/>
          </a:prstGeom>
          <a:solidFill>
            <a:srgbClr val="F4D9DC"/>
          </a:solidFill>
          <a:ln/>
        </p:spPr>
      </p:sp>
      <p:sp>
        <p:nvSpPr>
          <p:cNvPr id="46" name="Shape 44"/>
          <p:cNvSpPr/>
          <p:nvPr/>
        </p:nvSpPr>
        <p:spPr>
          <a:xfrm>
            <a:off x="11090097" y="651637"/>
            <a:ext cx="28448" cy="28448"/>
          </a:xfrm>
          <a:prstGeom prst="ellipse">
            <a:avLst/>
          </a:prstGeom>
          <a:solidFill>
            <a:srgbClr val="F4D9DC"/>
          </a:solidFill>
          <a:ln/>
        </p:spPr>
      </p:sp>
      <p:sp>
        <p:nvSpPr>
          <p:cNvPr id="47" name="Shape 45"/>
          <p:cNvSpPr/>
          <p:nvPr/>
        </p:nvSpPr>
        <p:spPr>
          <a:xfrm>
            <a:off x="11115878" y="578739"/>
            <a:ext cx="28448" cy="28448"/>
          </a:xfrm>
          <a:prstGeom prst="ellipse">
            <a:avLst/>
          </a:prstGeom>
          <a:solidFill>
            <a:srgbClr val="F4D9DC"/>
          </a:solidFill>
          <a:ln/>
        </p:spPr>
      </p:sp>
      <p:sp>
        <p:nvSpPr>
          <p:cNvPr id="48" name="Shape 46"/>
          <p:cNvSpPr/>
          <p:nvPr/>
        </p:nvSpPr>
        <p:spPr>
          <a:xfrm>
            <a:off x="11165662" y="519176"/>
            <a:ext cx="28448" cy="28448"/>
          </a:xfrm>
          <a:prstGeom prst="ellipse">
            <a:avLst/>
          </a:prstGeom>
          <a:solidFill>
            <a:srgbClr val="F4D9DC"/>
          </a:solidFill>
          <a:ln/>
        </p:spPr>
      </p:sp>
      <p:sp>
        <p:nvSpPr>
          <p:cNvPr id="49" name="Shape 47"/>
          <p:cNvSpPr/>
          <p:nvPr/>
        </p:nvSpPr>
        <p:spPr>
          <a:xfrm>
            <a:off x="11232337" y="480949"/>
            <a:ext cx="28448" cy="28448"/>
          </a:xfrm>
          <a:prstGeom prst="ellipse">
            <a:avLst/>
          </a:prstGeom>
          <a:solidFill>
            <a:srgbClr val="F4D9DC"/>
          </a:solidFill>
          <a:ln/>
        </p:spPr>
      </p:sp>
      <p:sp>
        <p:nvSpPr>
          <p:cNvPr id="50" name="Shape 48"/>
          <p:cNvSpPr/>
          <p:nvPr/>
        </p:nvSpPr>
        <p:spPr>
          <a:xfrm>
            <a:off x="11312347" y="417830"/>
            <a:ext cx="21336" cy="21336"/>
          </a:xfrm>
          <a:prstGeom prst="ellipse">
            <a:avLst/>
          </a:prstGeom>
          <a:solidFill>
            <a:srgbClr val="F4D9DC"/>
          </a:solidFill>
          <a:ln/>
        </p:spPr>
      </p:sp>
      <p:sp>
        <p:nvSpPr>
          <p:cNvPr id="51" name="Shape 49"/>
          <p:cNvSpPr/>
          <p:nvPr/>
        </p:nvSpPr>
        <p:spPr>
          <a:xfrm>
            <a:off x="11389690" y="429387"/>
            <a:ext cx="21336" cy="21336"/>
          </a:xfrm>
          <a:prstGeom prst="ellipse">
            <a:avLst/>
          </a:prstGeom>
          <a:solidFill>
            <a:srgbClr val="F4D9DC"/>
          </a:solidFill>
          <a:ln/>
        </p:spPr>
      </p:sp>
      <p:sp>
        <p:nvSpPr>
          <p:cNvPr id="52" name="Shape 50"/>
          <p:cNvSpPr/>
          <p:nvPr/>
        </p:nvSpPr>
        <p:spPr>
          <a:xfrm>
            <a:off x="11461699" y="461391"/>
            <a:ext cx="21336" cy="21336"/>
          </a:xfrm>
          <a:prstGeom prst="ellipse">
            <a:avLst/>
          </a:prstGeom>
          <a:solidFill>
            <a:srgbClr val="F4D9DC"/>
          </a:solidFill>
          <a:ln/>
        </p:spPr>
      </p:sp>
      <p:sp>
        <p:nvSpPr>
          <p:cNvPr id="53" name="Shape 51"/>
          <p:cNvSpPr/>
          <p:nvPr/>
        </p:nvSpPr>
        <p:spPr>
          <a:xfrm>
            <a:off x="11520373" y="512953"/>
            <a:ext cx="21336" cy="21336"/>
          </a:xfrm>
          <a:prstGeom prst="ellipse">
            <a:avLst/>
          </a:prstGeom>
          <a:solidFill>
            <a:srgbClr val="F4D9DC"/>
          </a:solidFill>
          <a:ln/>
        </p:spPr>
      </p:sp>
      <p:sp>
        <p:nvSpPr>
          <p:cNvPr id="54" name="Shape 52"/>
          <p:cNvSpPr/>
          <p:nvPr/>
        </p:nvSpPr>
        <p:spPr>
          <a:xfrm>
            <a:off x="11563045" y="578739"/>
            <a:ext cx="21336" cy="21336"/>
          </a:xfrm>
          <a:prstGeom prst="ellipse">
            <a:avLst/>
          </a:prstGeom>
          <a:solidFill>
            <a:srgbClr val="F4D9DC"/>
          </a:solidFill>
          <a:ln/>
        </p:spPr>
      </p:sp>
      <p:sp>
        <p:nvSpPr>
          <p:cNvPr id="55" name="Shape 53"/>
          <p:cNvSpPr/>
          <p:nvPr/>
        </p:nvSpPr>
        <p:spPr>
          <a:xfrm>
            <a:off x="11585270" y="654304"/>
            <a:ext cx="21336" cy="21336"/>
          </a:xfrm>
          <a:prstGeom prst="ellipse">
            <a:avLst/>
          </a:prstGeom>
          <a:solidFill>
            <a:srgbClr val="F4D9DC"/>
          </a:solidFill>
          <a:ln/>
        </p:spPr>
      </p:sp>
      <p:sp>
        <p:nvSpPr>
          <p:cNvPr id="56" name="Shape 54"/>
          <p:cNvSpPr/>
          <p:nvPr/>
        </p:nvSpPr>
        <p:spPr>
          <a:xfrm>
            <a:off x="11585270" y="732536"/>
            <a:ext cx="21336" cy="21336"/>
          </a:xfrm>
          <a:prstGeom prst="ellipse">
            <a:avLst/>
          </a:prstGeom>
          <a:solidFill>
            <a:srgbClr val="F4D9DC"/>
          </a:solidFill>
          <a:ln/>
        </p:spPr>
      </p:sp>
      <p:sp>
        <p:nvSpPr>
          <p:cNvPr id="57" name="Shape 55"/>
          <p:cNvSpPr/>
          <p:nvPr/>
        </p:nvSpPr>
        <p:spPr>
          <a:xfrm>
            <a:off x="11563045" y="808101"/>
            <a:ext cx="21336" cy="21336"/>
          </a:xfrm>
          <a:prstGeom prst="ellipse">
            <a:avLst/>
          </a:prstGeom>
          <a:solidFill>
            <a:srgbClr val="F4D9DC"/>
          </a:solidFill>
          <a:ln/>
        </p:spPr>
      </p:sp>
      <p:sp>
        <p:nvSpPr>
          <p:cNvPr id="58" name="Shape 56"/>
          <p:cNvSpPr/>
          <p:nvPr/>
        </p:nvSpPr>
        <p:spPr>
          <a:xfrm>
            <a:off x="11520373" y="873887"/>
            <a:ext cx="21336" cy="21336"/>
          </a:xfrm>
          <a:prstGeom prst="ellipse">
            <a:avLst/>
          </a:prstGeom>
          <a:solidFill>
            <a:srgbClr val="F4D9DC"/>
          </a:solidFill>
          <a:ln/>
        </p:spPr>
      </p:sp>
      <p:sp>
        <p:nvSpPr>
          <p:cNvPr id="59" name="Shape 57"/>
          <p:cNvSpPr/>
          <p:nvPr/>
        </p:nvSpPr>
        <p:spPr>
          <a:xfrm>
            <a:off x="11461699" y="925449"/>
            <a:ext cx="21336" cy="21336"/>
          </a:xfrm>
          <a:prstGeom prst="ellipse">
            <a:avLst/>
          </a:prstGeom>
          <a:solidFill>
            <a:srgbClr val="F4D9DC"/>
          </a:solidFill>
          <a:ln/>
        </p:spPr>
      </p:sp>
      <p:sp>
        <p:nvSpPr>
          <p:cNvPr id="60" name="Shape 58"/>
          <p:cNvSpPr/>
          <p:nvPr/>
        </p:nvSpPr>
        <p:spPr>
          <a:xfrm>
            <a:off x="11389690" y="957453"/>
            <a:ext cx="21336" cy="21336"/>
          </a:xfrm>
          <a:prstGeom prst="ellipse">
            <a:avLst/>
          </a:prstGeom>
          <a:solidFill>
            <a:srgbClr val="F4D9DC"/>
          </a:solidFill>
          <a:ln/>
        </p:spPr>
      </p:sp>
      <p:sp>
        <p:nvSpPr>
          <p:cNvPr id="61" name="Shape 59"/>
          <p:cNvSpPr/>
          <p:nvPr/>
        </p:nvSpPr>
        <p:spPr>
          <a:xfrm>
            <a:off x="11312347" y="969010"/>
            <a:ext cx="21336" cy="21336"/>
          </a:xfrm>
          <a:prstGeom prst="ellipse">
            <a:avLst/>
          </a:prstGeom>
          <a:solidFill>
            <a:srgbClr val="F4D9DC"/>
          </a:solidFill>
          <a:ln/>
        </p:spPr>
      </p:sp>
      <p:sp>
        <p:nvSpPr>
          <p:cNvPr id="62" name="Shape 60"/>
          <p:cNvSpPr/>
          <p:nvPr/>
        </p:nvSpPr>
        <p:spPr>
          <a:xfrm>
            <a:off x="11235004" y="957453"/>
            <a:ext cx="21336" cy="21336"/>
          </a:xfrm>
          <a:prstGeom prst="ellipse">
            <a:avLst/>
          </a:prstGeom>
          <a:solidFill>
            <a:srgbClr val="F4D9DC"/>
          </a:solidFill>
          <a:ln/>
        </p:spPr>
      </p:sp>
      <p:sp>
        <p:nvSpPr>
          <p:cNvPr id="63" name="Shape 61"/>
          <p:cNvSpPr/>
          <p:nvPr/>
        </p:nvSpPr>
        <p:spPr>
          <a:xfrm>
            <a:off x="11162995" y="925449"/>
            <a:ext cx="21336" cy="21336"/>
          </a:xfrm>
          <a:prstGeom prst="ellipse">
            <a:avLst/>
          </a:prstGeom>
          <a:solidFill>
            <a:srgbClr val="F4D9DC"/>
          </a:solidFill>
          <a:ln/>
        </p:spPr>
      </p:sp>
      <p:sp>
        <p:nvSpPr>
          <p:cNvPr id="64" name="Shape 62"/>
          <p:cNvSpPr/>
          <p:nvPr/>
        </p:nvSpPr>
        <p:spPr>
          <a:xfrm>
            <a:off x="11104321" y="873887"/>
            <a:ext cx="21336" cy="21336"/>
          </a:xfrm>
          <a:prstGeom prst="ellipse">
            <a:avLst/>
          </a:prstGeom>
          <a:solidFill>
            <a:srgbClr val="F4D9DC"/>
          </a:solidFill>
          <a:ln/>
        </p:spPr>
      </p:sp>
      <p:sp>
        <p:nvSpPr>
          <p:cNvPr id="65" name="Shape 63"/>
          <p:cNvSpPr/>
          <p:nvPr/>
        </p:nvSpPr>
        <p:spPr>
          <a:xfrm>
            <a:off x="11061649" y="808101"/>
            <a:ext cx="21336" cy="21336"/>
          </a:xfrm>
          <a:prstGeom prst="ellipse">
            <a:avLst/>
          </a:prstGeom>
          <a:solidFill>
            <a:srgbClr val="F4D9DC"/>
          </a:solidFill>
          <a:ln/>
        </p:spPr>
      </p:sp>
      <p:sp>
        <p:nvSpPr>
          <p:cNvPr id="66" name="Shape 64"/>
          <p:cNvSpPr/>
          <p:nvPr/>
        </p:nvSpPr>
        <p:spPr>
          <a:xfrm>
            <a:off x="11039424" y="732536"/>
            <a:ext cx="21336" cy="21336"/>
          </a:xfrm>
          <a:prstGeom prst="ellipse">
            <a:avLst/>
          </a:prstGeom>
          <a:solidFill>
            <a:srgbClr val="F4D9DC"/>
          </a:solidFill>
          <a:ln/>
        </p:spPr>
      </p:sp>
      <p:sp>
        <p:nvSpPr>
          <p:cNvPr id="67" name="Shape 65"/>
          <p:cNvSpPr/>
          <p:nvPr/>
        </p:nvSpPr>
        <p:spPr>
          <a:xfrm>
            <a:off x="11039424" y="654304"/>
            <a:ext cx="21336" cy="21336"/>
          </a:xfrm>
          <a:prstGeom prst="ellipse">
            <a:avLst/>
          </a:prstGeom>
          <a:solidFill>
            <a:srgbClr val="F4D9DC"/>
          </a:solidFill>
          <a:ln/>
        </p:spPr>
      </p:sp>
      <p:sp>
        <p:nvSpPr>
          <p:cNvPr id="68" name="Shape 66"/>
          <p:cNvSpPr/>
          <p:nvPr/>
        </p:nvSpPr>
        <p:spPr>
          <a:xfrm>
            <a:off x="11061649" y="578739"/>
            <a:ext cx="21336" cy="21336"/>
          </a:xfrm>
          <a:prstGeom prst="ellipse">
            <a:avLst/>
          </a:prstGeom>
          <a:solidFill>
            <a:srgbClr val="F4D9DC"/>
          </a:solidFill>
          <a:ln/>
        </p:spPr>
      </p:sp>
      <p:sp>
        <p:nvSpPr>
          <p:cNvPr id="69" name="Shape 67"/>
          <p:cNvSpPr/>
          <p:nvPr/>
        </p:nvSpPr>
        <p:spPr>
          <a:xfrm>
            <a:off x="11104321" y="512953"/>
            <a:ext cx="21336" cy="21336"/>
          </a:xfrm>
          <a:prstGeom prst="ellipse">
            <a:avLst/>
          </a:prstGeom>
          <a:solidFill>
            <a:srgbClr val="F4D9DC"/>
          </a:solidFill>
          <a:ln/>
        </p:spPr>
      </p:sp>
      <p:sp>
        <p:nvSpPr>
          <p:cNvPr id="70" name="Shape 68"/>
          <p:cNvSpPr/>
          <p:nvPr/>
        </p:nvSpPr>
        <p:spPr>
          <a:xfrm>
            <a:off x="11162995" y="461391"/>
            <a:ext cx="21336" cy="21336"/>
          </a:xfrm>
          <a:prstGeom prst="ellipse">
            <a:avLst/>
          </a:prstGeom>
          <a:solidFill>
            <a:srgbClr val="F4D9DC"/>
          </a:solidFill>
          <a:ln/>
        </p:spPr>
      </p:sp>
      <p:sp>
        <p:nvSpPr>
          <p:cNvPr id="71" name="Shape 69"/>
          <p:cNvSpPr/>
          <p:nvPr/>
        </p:nvSpPr>
        <p:spPr>
          <a:xfrm>
            <a:off x="11235004" y="429387"/>
            <a:ext cx="21336" cy="21336"/>
          </a:xfrm>
          <a:prstGeom prst="ellipse">
            <a:avLst/>
          </a:prstGeom>
          <a:solidFill>
            <a:srgbClr val="F4D9DC"/>
          </a:solidFill>
          <a:ln/>
        </p:spPr>
      </p:sp>
      <p:sp>
        <p:nvSpPr>
          <p:cNvPr id="72" name="Shape 70"/>
          <p:cNvSpPr/>
          <p:nvPr/>
        </p:nvSpPr>
        <p:spPr>
          <a:xfrm>
            <a:off x="548640" y="1280160"/>
            <a:ext cx="1005840" cy="1005840"/>
          </a:xfrm>
          <a:prstGeom prst="ellipse">
            <a:avLst/>
          </a:prstGeom>
          <a:solidFill>
            <a:srgbClr val="F4D74B"/>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3</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Ronde 2: bouw het dashboard</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F4D74B"/>
                </a:solidFill>
                <a:latin typeface="Cooper Lt BT" pitchFamily="34" charset="0"/>
                <a:ea typeface="Cooper Lt BT" pitchFamily="34" charset="-122"/>
                <a:cs typeface="Cooper Lt BT" pitchFamily="34" charset="-120"/>
              </a:rPr>
              <a:t>22 minuten. Wissel van rol en maak de conclusie zichtbaar.</a:t>
            </a:r>
            <a:endParaRPr lang="en-US" sz="2200" dirty="0"/>
          </a:p>
        </p:txBody>
      </p:sp>
      <p:pic>
        <p:nvPicPr>
          <p:cNvPr id="76" name="Image 0" descr="exports\261005_workshop_rad_uitvoering\img\Laptopman.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CEEE6"/>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Wat je dashboard minimaal heeft</a:t>
            </a:r>
            <a:endParaRPr lang="en-US" sz="3400" dirty="0"/>
          </a:p>
        </p:txBody>
      </p:sp>
      <p:sp>
        <p:nvSpPr>
          <p:cNvPr id="73" name="Shape 71"/>
          <p:cNvSpPr/>
          <p:nvPr/>
        </p:nvSpPr>
        <p:spPr>
          <a:xfrm>
            <a:off x="548640" y="1371600"/>
            <a:ext cx="2567864" cy="3025648"/>
          </a:xfrm>
          <a:prstGeom prst="roundRect">
            <a:avLst>
              <a:gd name="adj" fmla="val 3550"/>
            </a:avLst>
          </a:prstGeom>
          <a:solidFill>
            <a:srgbClr val="3D68EC"/>
          </a:solidFill>
          <a:ln/>
        </p:spPr>
      </p:sp>
      <p:sp>
        <p:nvSpPr>
          <p:cNvPr id="74" name="Shape 72"/>
          <p:cNvSpPr/>
          <p:nvPr/>
        </p:nvSpPr>
        <p:spPr>
          <a:xfrm>
            <a:off x="822960" y="1645920"/>
            <a:ext cx="548640" cy="548640"/>
          </a:xfrm>
          <a:prstGeom prst="ellipse">
            <a:avLst/>
          </a:prstGeom>
          <a:solidFill>
            <a:srgbClr val="F4D74B"/>
          </a:solidFill>
          <a:ln/>
        </p:spPr>
      </p:sp>
      <p:sp>
        <p:nvSpPr>
          <p:cNvPr id="75" name="Text 73"/>
          <p:cNvSpPr/>
          <p:nvPr/>
        </p:nvSpPr>
        <p:spPr>
          <a:xfrm>
            <a:off x="822960"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3D68EC"/>
                </a:solidFill>
                <a:latin typeface="General Sans Semibold" pitchFamily="34" charset="0"/>
                <a:ea typeface="General Sans Semibold" pitchFamily="34" charset="-122"/>
                <a:cs typeface="General Sans Semibold" pitchFamily="34" charset="-120"/>
              </a:rPr>
              <a:t>1</a:t>
            </a:r>
            <a:endParaRPr lang="en-US" sz="2000" dirty="0"/>
          </a:p>
        </p:txBody>
      </p:sp>
      <p:sp>
        <p:nvSpPr>
          <p:cNvPr id="76" name="Shape 74"/>
          <p:cNvSpPr/>
          <p:nvPr/>
        </p:nvSpPr>
        <p:spPr>
          <a:xfrm>
            <a:off x="1508760" y="1719072"/>
            <a:ext cx="1333424" cy="402336"/>
          </a:xfrm>
          <a:prstGeom prst="roundRect">
            <a:avLst>
              <a:gd name="adj" fmla="val 113636"/>
            </a:avLst>
          </a:prstGeom>
          <a:solidFill>
            <a:srgbClr val="F4D74B"/>
          </a:solidFill>
          <a:ln/>
        </p:spPr>
      </p:sp>
      <p:sp>
        <p:nvSpPr>
          <p:cNvPr id="77" name="Text 75"/>
          <p:cNvSpPr/>
          <p:nvPr/>
        </p:nvSpPr>
        <p:spPr>
          <a:xfrm>
            <a:off x="1600200" y="1719072"/>
            <a:ext cx="11505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3D68EC"/>
                </a:solidFill>
                <a:latin typeface="General Sans Semibold" pitchFamily="34" charset="0"/>
                <a:ea typeface="General Sans Semibold" pitchFamily="34" charset="-122"/>
                <a:cs typeface="General Sans Semibold" pitchFamily="34" charset="-120"/>
              </a:rPr>
              <a:t>Grafiek</a:t>
            </a:r>
            <a:endParaRPr lang="en-US" sz="1200" dirty="0"/>
          </a:p>
        </p:txBody>
      </p:sp>
      <p:sp>
        <p:nvSpPr>
          <p:cNvPr id="78" name="Text 76"/>
          <p:cNvSpPr/>
          <p:nvPr/>
        </p:nvSpPr>
        <p:spPr>
          <a:xfrm>
            <a:off x="822960" y="2423160"/>
            <a:ext cx="2019224" cy="572008"/>
          </a:xfrm>
          <a:prstGeom prst="rect">
            <a:avLst/>
          </a:prstGeom>
          <a:noFill/>
          <a:ln/>
        </p:spPr>
        <p:txBody>
          <a:bodyPr wrap="square" lIns="0" tIns="0" rIns="0" bIns="0" rtlCol="0" anchor="t"/>
          <a:lstStyle/>
          <a:p>
            <a:pPr algn="l" indent="0" marL="0">
              <a:lnSpc>
                <a:spcPct val="105000"/>
              </a:lnSpc>
              <a:buNone/>
            </a:pPr>
            <a:r>
              <a:rPr lang="en-US" sz="1900" dirty="0">
                <a:solidFill>
                  <a:srgbClr val="F4D9DC"/>
                </a:solidFill>
                <a:latin typeface="General Sans Semibold" pitchFamily="34" charset="0"/>
                <a:ea typeface="General Sans Semibold" pitchFamily="34" charset="-122"/>
                <a:cs typeface="General Sans Semibold" pitchFamily="34" charset="-120"/>
              </a:rPr>
              <a:t>Conclusie als titel</a:t>
            </a:r>
            <a:endParaRPr lang="en-US" sz="1900" dirty="0"/>
          </a:p>
        </p:txBody>
      </p:sp>
      <p:sp>
        <p:nvSpPr>
          <p:cNvPr id="79" name="Text 77"/>
          <p:cNvSpPr/>
          <p:nvPr/>
        </p:nvSpPr>
        <p:spPr>
          <a:xfrm>
            <a:off x="822960" y="3269488"/>
            <a:ext cx="2019224" cy="99060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"Uitval is het hoogst in techniek" in plaats van "Uitval per sector".</a:t>
            </a:r>
            <a:endParaRPr lang="en-US" sz="1500" dirty="0"/>
          </a:p>
        </p:txBody>
      </p:sp>
      <p:sp>
        <p:nvSpPr>
          <p:cNvPr id="80" name="Shape 78"/>
          <p:cNvSpPr/>
          <p:nvPr/>
        </p:nvSpPr>
        <p:spPr>
          <a:xfrm>
            <a:off x="3390824" y="1371600"/>
            <a:ext cx="2567864" cy="3025648"/>
          </a:xfrm>
          <a:prstGeom prst="roundRect">
            <a:avLst>
              <a:gd name="adj" fmla="val 3550"/>
            </a:avLst>
          </a:prstGeom>
          <a:solidFill>
            <a:srgbClr val="DD784B"/>
          </a:solidFill>
          <a:ln/>
        </p:spPr>
      </p:sp>
      <p:sp>
        <p:nvSpPr>
          <p:cNvPr id="81" name="Shape 79"/>
          <p:cNvSpPr/>
          <p:nvPr/>
        </p:nvSpPr>
        <p:spPr>
          <a:xfrm>
            <a:off x="3665144" y="1645920"/>
            <a:ext cx="548640" cy="548640"/>
          </a:xfrm>
          <a:prstGeom prst="ellipse">
            <a:avLst/>
          </a:prstGeom>
          <a:solidFill>
            <a:srgbClr val="F4D9DC"/>
          </a:solidFill>
          <a:ln/>
        </p:spPr>
      </p:sp>
      <p:sp>
        <p:nvSpPr>
          <p:cNvPr id="82" name="Text 80"/>
          <p:cNvSpPr/>
          <p:nvPr/>
        </p:nvSpPr>
        <p:spPr>
          <a:xfrm>
            <a:off x="3665144"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2</a:t>
            </a:r>
            <a:endParaRPr lang="en-US" sz="2000" dirty="0"/>
          </a:p>
        </p:txBody>
      </p:sp>
      <p:sp>
        <p:nvSpPr>
          <p:cNvPr id="83" name="Shape 81"/>
          <p:cNvSpPr/>
          <p:nvPr/>
        </p:nvSpPr>
        <p:spPr>
          <a:xfrm>
            <a:off x="4350944" y="1719072"/>
            <a:ext cx="1333424" cy="402336"/>
          </a:xfrm>
          <a:prstGeom prst="roundRect">
            <a:avLst>
              <a:gd name="adj" fmla="val 113636"/>
            </a:avLst>
          </a:prstGeom>
          <a:solidFill>
            <a:srgbClr val="F4D9DC"/>
          </a:solidFill>
          <a:ln/>
        </p:spPr>
      </p:sp>
      <p:sp>
        <p:nvSpPr>
          <p:cNvPr id="84" name="Text 82"/>
          <p:cNvSpPr/>
          <p:nvPr/>
        </p:nvSpPr>
        <p:spPr>
          <a:xfrm>
            <a:off x="4442384" y="1719072"/>
            <a:ext cx="11505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Vergelijking</a:t>
            </a:r>
            <a:endParaRPr lang="en-US" sz="1200" dirty="0"/>
          </a:p>
        </p:txBody>
      </p:sp>
      <p:sp>
        <p:nvSpPr>
          <p:cNvPr id="85" name="Text 83"/>
          <p:cNvSpPr/>
          <p:nvPr/>
        </p:nvSpPr>
        <p:spPr>
          <a:xfrm>
            <a:off x="3665144" y="2423160"/>
            <a:ext cx="2019224" cy="572008"/>
          </a:xfrm>
          <a:prstGeom prst="rect">
            <a:avLst/>
          </a:prstGeom>
          <a:noFill/>
          <a:ln/>
        </p:spPr>
        <p:txBody>
          <a:bodyPr wrap="square" lIns="0" tIns="0" rIns="0" bIns="0" rtlCol="0" anchor="t"/>
          <a:lstStyle/>
          <a:p>
            <a:pPr algn="l"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Eén nul-as</a:t>
            </a:r>
            <a:endParaRPr lang="en-US" sz="2000" dirty="0"/>
          </a:p>
        </p:txBody>
      </p:sp>
      <p:sp>
        <p:nvSpPr>
          <p:cNvPr id="86" name="Text 84"/>
          <p:cNvSpPr/>
          <p:nvPr/>
        </p:nvSpPr>
        <p:spPr>
          <a:xfrm>
            <a:off x="3665144" y="3269488"/>
            <a:ext cx="2019224"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Groepen of cohorten naast elkaar, vergelijkbaar en eerlijk.</a:t>
            </a:r>
            <a:endParaRPr lang="en-US" sz="1500" dirty="0"/>
          </a:p>
        </p:txBody>
      </p:sp>
      <p:sp>
        <p:nvSpPr>
          <p:cNvPr id="87" name="Shape 85"/>
          <p:cNvSpPr/>
          <p:nvPr/>
        </p:nvSpPr>
        <p:spPr>
          <a:xfrm>
            <a:off x="6233008" y="1371600"/>
            <a:ext cx="2567864" cy="3025648"/>
          </a:xfrm>
          <a:prstGeom prst="roundRect">
            <a:avLst>
              <a:gd name="adj" fmla="val 3550"/>
            </a:avLst>
          </a:prstGeom>
          <a:solidFill>
            <a:srgbClr val="00AF81"/>
          </a:solidFill>
          <a:ln/>
        </p:spPr>
      </p:sp>
      <p:sp>
        <p:nvSpPr>
          <p:cNvPr id="88" name="Shape 86"/>
          <p:cNvSpPr/>
          <p:nvPr/>
        </p:nvSpPr>
        <p:spPr>
          <a:xfrm>
            <a:off x="6507328" y="1645920"/>
            <a:ext cx="548640" cy="548640"/>
          </a:xfrm>
          <a:prstGeom prst="ellipse">
            <a:avLst/>
          </a:prstGeom>
          <a:solidFill>
            <a:srgbClr val="F4D9DC"/>
          </a:solidFill>
          <a:ln/>
        </p:spPr>
      </p:sp>
      <p:sp>
        <p:nvSpPr>
          <p:cNvPr id="89" name="Text 87"/>
          <p:cNvSpPr/>
          <p:nvPr/>
        </p:nvSpPr>
        <p:spPr>
          <a:xfrm>
            <a:off x="6507328"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3</a:t>
            </a:r>
            <a:endParaRPr lang="en-US" sz="2000" dirty="0"/>
          </a:p>
        </p:txBody>
      </p:sp>
      <p:sp>
        <p:nvSpPr>
          <p:cNvPr id="90" name="Shape 88"/>
          <p:cNvSpPr/>
          <p:nvPr/>
        </p:nvSpPr>
        <p:spPr>
          <a:xfrm>
            <a:off x="7193128" y="1719072"/>
            <a:ext cx="1333424" cy="402336"/>
          </a:xfrm>
          <a:prstGeom prst="roundRect">
            <a:avLst>
              <a:gd name="adj" fmla="val 113636"/>
            </a:avLst>
          </a:prstGeom>
          <a:solidFill>
            <a:srgbClr val="F4D9DC"/>
          </a:solidFill>
          <a:ln/>
        </p:spPr>
      </p:sp>
      <p:sp>
        <p:nvSpPr>
          <p:cNvPr id="91" name="Text 89"/>
          <p:cNvSpPr/>
          <p:nvPr/>
        </p:nvSpPr>
        <p:spPr>
          <a:xfrm>
            <a:off x="7284568" y="1719072"/>
            <a:ext cx="11505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Filter</a:t>
            </a:r>
            <a:endParaRPr lang="en-US" sz="1200" dirty="0"/>
          </a:p>
        </p:txBody>
      </p:sp>
      <p:sp>
        <p:nvSpPr>
          <p:cNvPr id="92" name="Text 90"/>
          <p:cNvSpPr/>
          <p:nvPr/>
        </p:nvSpPr>
        <p:spPr>
          <a:xfrm>
            <a:off x="6507328" y="2423160"/>
            <a:ext cx="2019224" cy="572008"/>
          </a:xfrm>
          <a:prstGeom prst="rect">
            <a:avLst/>
          </a:prstGeom>
          <a:noFill/>
          <a:ln/>
        </p:spPr>
        <p:txBody>
          <a:bodyPr wrap="square" lIns="0" tIns="0" rIns="0" bIns="0" rtlCol="0" anchor="t"/>
          <a:lstStyle/>
          <a:p>
            <a:pPr algn="l" indent="0" marL="0">
              <a:lnSpc>
                <a:spcPct val="105000"/>
              </a:lnSpc>
              <a:buNone/>
            </a:pPr>
            <a:r>
              <a:rPr lang="en-US" sz="1900" dirty="0">
                <a:solidFill>
                  <a:srgbClr val="000000"/>
                </a:solidFill>
                <a:latin typeface="General Sans Semibold" pitchFamily="34" charset="0"/>
                <a:ea typeface="General Sans Semibold" pitchFamily="34" charset="-122"/>
                <a:cs typeface="General Sans Semibold" pitchFamily="34" charset="-120"/>
              </a:rPr>
              <a:t>Sector of cohort</a:t>
            </a:r>
            <a:endParaRPr lang="en-US" sz="1900" dirty="0"/>
          </a:p>
        </p:txBody>
      </p:sp>
      <p:sp>
        <p:nvSpPr>
          <p:cNvPr id="93" name="Text 91"/>
          <p:cNvSpPr/>
          <p:nvPr/>
        </p:nvSpPr>
        <p:spPr>
          <a:xfrm>
            <a:off x="6507328" y="3269488"/>
            <a:ext cx="2019224"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Ook na het filteren worden kleine groepen niet getoond.</a:t>
            </a:r>
            <a:endParaRPr lang="en-US" sz="1500" dirty="0"/>
          </a:p>
        </p:txBody>
      </p:sp>
      <p:sp>
        <p:nvSpPr>
          <p:cNvPr id="94" name="Shape 92"/>
          <p:cNvSpPr/>
          <p:nvPr/>
        </p:nvSpPr>
        <p:spPr>
          <a:xfrm>
            <a:off x="9075191" y="1371600"/>
            <a:ext cx="2567864" cy="3025648"/>
          </a:xfrm>
          <a:prstGeom prst="roundRect">
            <a:avLst>
              <a:gd name="adj" fmla="val 3550"/>
            </a:avLst>
          </a:prstGeom>
          <a:solidFill>
            <a:srgbClr val="F4D74B"/>
          </a:solidFill>
          <a:ln/>
        </p:spPr>
      </p:sp>
      <p:sp>
        <p:nvSpPr>
          <p:cNvPr id="95" name="Shape 93"/>
          <p:cNvSpPr/>
          <p:nvPr/>
        </p:nvSpPr>
        <p:spPr>
          <a:xfrm>
            <a:off x="9349511" y="1645920"/>
            <a:ext cx="548640" cy="548640"/>
          </a:xfrm>
          <a:prstGeom prst="ellipse">
            <a:avLst/>
          </a:prstGeom>
          <a:solidFill>
            <a:srgbClr val="3D68EC"/>
          </a:solidFill>
          <a:ln/>
        </p:spPr>
      </p:sp>
      <p:sp>
        <p:nvSpPr>
          <p:cNvPr id="96" name="Text 94"/>
          <p:cNvSpPr/>
          <p:nvPr/>
        </p:nvSpPr>
        <p:spPr>
          <a:xfrm>
            <a:off x="9349511"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F4D74B"/>
                </a:solidFill>
                <a:latin typeface="General Sans Semibold" pitchFamily="34" charset="0"/>
                <a:ea typeface="General Sans Semibold" pitchFamily="34" charset="-122"/>
                <a:cs typeface="General Sans Semibold" pitchFamily="34" charset="-120"/>
              </a:rPr>
              <a:t>4</a:t>
            </a:r>
            <a:endParaRPr lang="en-US" sz="2000" dirty="0"/>
          </a:p>
        </p:txBody>
      </p:sp>
      <p:sp>
        <p:nvSpPr>
          <p:cNvPr id="97" name="Shape 95"/>
          <p:cNvSpPr/>
          <p:nvPr/>
        </p:nvSpPr>
        <p:spPr>
          <a:xfrm>
            <a:off x="10035311" y="1719072"/>
            <a:ext cx="1333424" cy="402336"/>
          </a:xfrm>
          <a:prstGeom prst="roundRect">
            <a:avLst>
              <a:gd name="adj" fmla="val 113636"/>
            </a:avLst>
          </a:prstGeom>
          <a:solidFill>
            <a:srgbClr val="3D68EC"/>
          </a:solidFill>
          <a:ln/>
        </p:spPr>
      </p:sp>
      <p:sp>
        <p:nvSpPr>
          <p:cNvPr id="98" name="Text 96"/>
          <p:cNvSpPr/>
          <p:nvPr/>
        </p:nvSpPr>
        <p:spPr>
          <a:xfrm>
            <a:off x="10126751" y="1719072"/>
            <a:ext cx="11505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74B"/>
                </a:solidFill>
                <a:latin typeface="General Sans Semibold" pitchFamily="34" charset="0"/>
                <a:ea typeface="General Sans Semibold" pitchFamily="34" charset="-122"/>
                <a:cs typeface="General Sans Semibold" pitchFamily="34" charset="-120"/>
              </a:rPr>
              <a:t>Uitleg</a:t>
            </a:r>
            <a:endParaRPr lang="en-US" sz="1200" dirty="0"/>
          </a:p>
        </p:txBody>
      </p:sp>
      <p:sp>
        <p:nvSpPr>
          <p:cNvPr id="99" name="Text 97"/>
          <p:cNvSpPr/>
          <p:nvPr/>
        </p:nvSpPr>
        <p:spPr>
          <a:xfrm>
            <a:off x="9349511" y="2423160"/>
            <a:ext cx="2019224" cy="572008"/>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Zo lees je dit</a:t>
            </a:r>
            <a:endParaRPr lang="en-US" sz="1900" dirty="0"/>
          </a:p>
        </p:txBody>
      </p:sp>
      <p:sp>
        <p:nvSpPr>
          <p:cNvPr id="100" name="Text 98"/>
          <p:cNvSpPr/>
          <p:nvPr/>
        </p:nvSpPr>
        <p:spPr>
          <a:xfrm>
            <a:off x="9349511" y="3269488"/>
            <a:ext cx="2019224" cy="99060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Definities, bron en wat het dashboard niet kan zeggen.</a:t>
            </a:r>
            <a:endParaRPr lang="en-US" sz="1500" dirty="0"/>
          </a:p>
        </p:txBody>
      </p:sp>
      <p:sp>
        <p:nvSpPr>
          <p:cNvPr id="101" name="Text 99"/>
          <p:cNvSpPr/>
          <p:nvPr/>
        </p:nvSpPr>
        <p:spPr>
          <a:xfrm>
            <a:off x="548640" y="4580128"/>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000000"/>
                </a:solidFill>
                <a:latin typeface="General Sans" pitchFamily="34" charset="0"/>
                <a:ea typeface="General Sans" pitchFamily="34" charset="-122"/>
                <a:cs typeface="General Sans" pitchFamily="34" charset="-120"/>
              </a:rPr>
              <a:t>Het dashboard is het middel, de casusvraag het doel.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EAEA"/>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Responsible zit in het bouwen</a:t>
            </a:r>
            <a:endParaRPr lang="en-US" sz="3400" dirty="0"/>
          </a:p>
        </p:txBody>
      </p:sp>
      <p:sp>
        <p:nvSpPr>
          <p:cNvPr id="73" name="Shape 71"/>
          <p:cNvSpPr/>
          <p:nvPr/>
        </p:nvSpPr>
        <p:spPr>
          <a:xfrm>
            <a:off x="548640" y="1371600"/>
            <a:ext cx="2567864" cy="3016758"/>
          </a:xfrm>
          <a:prstGeom prst="roundRect">
            <a:avLst>
              <a:gd name="adj" fmla="val 3550"/>
            </a:avLst>
          </a:prstGeom>
          <a:solidFill>
            <a:srgbClr val="3D68EC"/>
          </a:solidFill>
          <a:ln/>
        </p:spPr>
      </p:sp>
      <p:sp>
        <p:nvSpPr>
          <p:cNvPr id="74" name="Shape 72"/>
          <p:cNvSpPr/>
          <p:nvPr/>
        </p:nvSpPr>
        <p:spPr>
          <a:xfrm>
            <a:off x="822960" y="1719072"/>
            <a:ext cx="2019224" cy="402336"/>
          </a:xfrm>
          <a:prstGeom prst="roundRect">
            <a:avLst>
              <a:gd name="adj" fmla="val 113636"/>
            </a:avLst>
          </a:prstGeom>
          <a:solidFill>
            <a:srgbClr val="F4D74B"/>
          </a:solidFill>
          <a:ln/>
        </p:spPr>
      </p:sp>
      <p:sp>
        <p:nvSpPr>
          <p:cNvPr id="75" name="Text 73"/>
          <p:cNvSpPr/>
          <p:nvPr/>
        </p:nvSpPr>
        <p:spPr>
          <a:xfrm>
            <a:off x="914400" y="1719072"/>
            <a:ext cx="18363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3D68EC"/>
                </a:solidFill>
                <a:latin typeface="General Sans Semibold" pitchFamily="34" charset="0"/>
                <a:ea typeface="General Sans Semibold" pitchFamily="34" charset="-122"/>
                <a:cs typeface="General Sans Semibold" pitchFamily="34" charset="-120"/>
              </a:rPr>
              <a:t>Privacy</a:t>
            </a:r>
            <a:endParaRPr lang="en-US" sz="1200" dirty="0"/>
          </a:p>
        </p:txBody>
      </p:sp>
      <p:sp>
        <p:nvSpPr>
          <p:cNvPr id="76" name="Text 74"/>
          <p:cNvSpPr/>
          <p:nvPr/>
        </p:nvSpPr>
        <p:spPr>
          <a:xfrm>
            <a:off x="822960" y="2423160"/>
            <a:ext cx="2019224" cy="338328"/>
          </a:xfrm>
          <a:prstGeom prst="rect">
            <a:avLst/>
          </a:prstGeom>
          <a:noFill/>
          <a:ln/>
        </p:spPr>
        <p:txBody>
          <a:bodyPr wrap="square" lIns="0" tIns="0" rIns="0" bIns="0" rtlCol="0" anchor="t"/>
          <a:lstStyle/>
          <a:p>
            <a:pPr algn="l"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Drempel</a:t>
            </a:r>
            <a:endParaRPr lang="en-US" sz="2000" dirty="0"/>
          </a:p>
        </p:txBody>
      </p:sp>
      <p:sp>
        <p:nvSpPr>
          <p:cNvPr id="77" name="Text 75"/>
          <p:cNvSpPr/>
          <p:nvPr/>
        </p:nvSpPr>
        <p:spPr>
          <a:xfrm>
            <a:off x="822960" y="3035808"/>
            <a:ext cx="2019224" cy="121539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Geen groepen onder de 30 studenten, geen percentages onder 5.</a:t>
            </a:r>
            <a:endParaRPr lang="en-US" sz="1500" dirty="0"/>
          </a:p>
        </p:txBody>
      </p:sp>
      <p:sp>
        <p:nvSpPr>
          <p:cNvPr id="78" name="Shape 76"/>
          <p:cNvSpPr/>
          <p:nvPr/>
        </p:nvSpPr>
        <p:spPr>
          <a:xfrm>
            <a:off x="3390824" y="1371600"/>
            <a:ext cx="2567864" cy="3016758"/>
          </a:xfrm>
          <a:prstGeom prst="roundRect">
            <a:avLst>
              <a:gd name="adj" fmla="val 3550"/>
            </a:avLst>
          </a:prstGeom>
          <a:solidFill>
            <a:srgbClr val="DD784B"/>
          </a:solidFill>
          <a:ln/>
        </p:spPr>
      </p:sp>
      <p:sp>
        <p:nvSpPr>
          <p:cNvPr id="79" name="Shape 77"/>
          <p:cNvSpPr/>
          <p:nvPr/>
        </p:nvSpPr>
        <p:spPr>
          <a:xfrm>
            <a:off x="3665144" y="1719072"/>
            <a:ext cx="2019224" cy="402336"/>
          </a:xfrm>
          <a:prstGeom prst="roundRect">
            <a:avLst>
              <a:gd name="adj" fmla="val 113636"/>
            </a:avLst>
          </a:prstGeom>
          <a:solidFill>
            <a:srgbClr val="F4D9DC"/>
          </a:solidFill>
          <a:ln/>
        </p:spPr>
      </p:sp>
      <p:sp>
        <p:nvSpPr>
          <p:cNvPr id="80" name="Text 78"/>
          <p:cNvSpPr/>
          <p:nvPr/>
        </p:nvSpPr>
        <p:spPr>
          <a:xfrm>
            <a:off x="3756584" y="1719072"/>
            <a:ext cx="18363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Eerlijk</a:t>
            </a:r>
            <a:endParaRPr lang="en-US" sz="1200" dirty="0"/>
          </a:p>
        </p:txBody>
      </p:sp>
      <p:sp>
        <p:nvSpPr>
          <p:cNvPr id="81" name="Text 79"/>
          <p:cNvSpPr/>
          <p:nvPr/>
        </p:nvSpPr>
        <p:spPr>
          <a:xfrm>
            <a:off x="3665144" y="2423160"/>
            <a:ext cx="2019224" cy="338328"/>
          </a:xfrm>
          <a:prstGeom prst="rect">
            <a:avLst/>
          </a:prstGeom>
          <a:noFill/>
          <a:ln/>
        </p:spPr>
        <p:txBody>
          <a:bodyPr wrap="square" lIns="0" tIns="0" rIns="0" bIns="0" rtlCol="0" anchor="t"/>
          <a:lstStyle/>
          <a:p>
            <a:pPr algn="l"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Geen oorzaak</a:t>
            </a:r>
            <a:endParaRPr lang="en-US" sz="2000" dirty="0"/>
          </a:p>
        </p:txBody>
      </p:sp>
      <p:sp>
        <p:nvSpPr>
          <p:cNvPr id="82" name="Text 80"/>
          <p:cNvSpPr/>
          <p:nvPr/>
        </p:nvSpPr>
        <p:spPr>
          <a:xfrm>
            <a:off x="3665144" y="3035808"/>
            <a:ext cx="2019224" cy="121539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Een verschil is nog geen oorzaak, en groepen worden niet gestigmatiseerd.</a:t>
            </a:r>
            <a:endParaRPr lang="en-US" sz="1500" dirty="0"/>
          </a:p>
        </p:txBody>
      </p:sp>
      <p:sp>
        <p:nvSpPr>
          <p:cNvPr id="83" name="Shape 81"/>
          <p:cNvSpPr/>
          <p:nvPr/>
        </p:nvSpPr>
        <p:spPr>
          <a:xfrm>
            <a:off x="6233008" y="1371600"/>
            <a:ext cx="2567864" cy="3016758"/>
          </a:xfrm>
          <a:prstGeom prst="roundRect">
            <a:avLst>
              <a:gd name="adj" fmla="val 3550"/>
            </a:avLst>
          </a:prstGeom>
          <a:solidFill>
            <a:srgbClr val="00AF81"/>
          </a:solidFill>
          <a:ln/>
        </p:spPr>
      </p:sp>
      <p:sp>
        <p:nvSpPr>
          <p:cNvPr id="84" name="Shape 82"/>
          <p:cNvSpPr/>
          <p:nvPr/>
        </p:nvSpPr>
        <p:spPr>
          <a:xfrm>
            <a:off x="6507328" y="1719072"/>
            <a:ext cx="2019224" cy="402336"/>
          </a:xfrm>
          <a:prstGeom prst="roundRect">
            <a:avLst>
              <a:gd name="adj" fmla="val 113636"/>
            </a:avLst>
          </a:prstGeom>
          <a:solidFill>
            <a:srgbClr val="F4D9DC"/>
          </a:solidFill>
          <a:ln/>
        </p:spPr>
      </p:sp>
      <p:sp>
        <p:nvSpPr>
          <p:cNvPr id="85" name="Text 83"/>
          <p:cNvSpPr/>
          <p:nvPr/>
        </p:nvSpPr>
        <p:spPr>
          <a:xfrm>
            <a:off x="6598768" y="1719072"/>
            <a:ext cx="18363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Toegankelijk</a:t>
            </a:r>
            <a:endParaRPr lang="en-US" sz="1200" dirty="0"/>
          </a:p>
        </p:txBody>
      </p:sp>
      <p:sp>
        <p:nvSpPr>
          <p:cNvPr id="86" name="Text 84"/>
          <p:cNvSpPr/>
          <p:nvPr/>
        </p:nvSpPr>
        <p:spPr>
          <a:xfrm>
            <a:off x="6507328" y="2423160"/>
            <a:ext cx="2019224" cy="338328"/>
          </a:xfrm>
          <a:prstGeom prst="rect">
            <a:avLst/>
          </a:prstGeom>
          <a:noFill/>
          <a:ln/>
        </p:spPr>
        <p:txBody>
          <a:bodyPr wrap="square" lIns="0" tIns="0" rIns="0" bIns="0" rtlCol="0" anchor="t"/>
          <a:lstStyle/>
          <a:p>
            <a:pPr algn="l"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Leesbaar</a:t>
            </a:r>
            <a:endParaRPr lang="en-US" sz="2000" dirty="0"/>
          </a:p>
        </p:txBody>
      </p:sp>
      <p:sp>
        <p:nvSpPr>
          <p:cNvPr id="87" name="Text 85"/>
          <p:cNvSpPr/>
          <p:nvPr/>
        </p:nvSpPr>
        <p:spPr>
          <a:xfrm>
            <a:off x="6507328" y="3035808"/>
            <a:ext cx="2019224" cy="121539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Kleurcontrast, alt-tekst en kleuren die ook zonder rood-groen werken.</a:t>
            </a:r>
            <a:endParaRPr lang="en-US" sz="1500" dirty="0"/>
          </a:p>
        </p:txBody>
      </p:sp>
      <p:sp>
        <p:nvSpPr>
          <p:cNvPr id="88" name="Shape 86"/>
          <p:cNvSpPr/>
          <p:nvPr/>
        </p:nvSpPr>
        <p:spPr>
          <a:xfrm>
            <a:off x="9075191" y="1371600"/>
            <a:ext cx="2567864" cy="3016758"/>
          </a:xfrm>
          <a:prstGeom prst="roundRect">
            <a:avLst>
              <a:gd name="adj" fmla="val 3550"/>
            </a:avLst>
          </a:prstGeom>
          <a:solidFill>
            <a:srgbClr val="F4D74B"/>
          </a:solidFill>
          <a:ln/>
        </p:spPr>
      </p:sp>
      <p:sp>
        <p:nvSpPr>
          <p:cNvPr id="89" name="Shape 87"/>
          <p:cNvSpPr/>
          <p:nvPr/>
        </p:nvSpPr>
        <p:spPr>
          <a:xfrm>
            <a:off x="9349511" y="1719072"/>
            <a:ext cx="2019224" cy="402336"/>
          </a:xfrm>
          <a:prstGeom prst="roundRect">
            <a:avLst>
              <a:gd name="adj" fmla="val 113636"/>
            </a:avLst>
          </a:prstGeom>
          <a:solidFill>
            <a:srgbClr val="3D68EC"/>
          </a:solidFill>
          <a:ln/>
        </p:spPr>
      </p:sp>
      <p:sp>
        <p:nvSpPr>
          <p:cNvPr id="90" name="Text 88"/>
          <p:cNvSpPr/>
          <p:nvPr/>
        </p:nvSpPr>
        <p:spPr>
          <a:xfrm>
            <a:off x="9440951" y="1719072"/>
            <a:ext cx="1836344"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74B"/>
                </a:solidFill>
                <a:latin typeface="General Sans Semibold" pitchFamily="34" charset="0"/>
                <a:ea typeface="General Sans Semibold" pitchFamily="34" charset="-122"/>
                <a:cs typeface="General Sans Semibold" pitchFamily="34" charset="-120"/>
              </a:rPr>
              <a:t>Bron</a:t>
            </a:r>
            <a:endParaRPr lang="en-US" sz="1200" dirty="0"/>
          </a:p>
        </p:txBody>
      </p:sp>
      <p:sp>
        <p:nvSpPr>
          <p:cNvPr id="91" name="Text 89"/>
          <p:cNvSpPr/>
          <p:nvPr/>
        </p:nvSpPr>
        <p:spPr>
          <a:xfrm>
            <a:off x="9349511" y="2423160"/>
            <a:ext cx="2019224" cy="338328"/>
          </a:xfrm>
          <a:prstGeom prst="rect">
            <a:avLst/>
          </a:prstGeom>
          <a:noFill/>
          <a:ln/>
        </p:spPr>
        <p:txBody>
          <a:bodyPr wrap="square" lIns="0" tIns="0" rIns="0" bIns="0" rtlCol="0" anchor="t"/>
          <a:lstStyle/>
          <a:p>
            <a:pPr algn="l" indent="0" marL="0">
              <a:lnSpc>
                <a:spcPct val="105000"/>
              </a:lnSpc>
              <a:buNone/>
            </a:pPr>
            <a:r>
              <a:rPr lang="en-US" sz="2000" dirty="0">
                <a:solidFill>
                  <a:srgbClr val="3D68EC"/>
                </a:solidFill>
                <a:latin typeface="General Sans Semibold" pitchFamily="34" charset="0"/>
                <a:ea typeface="General Sans Semibold" pitchFamily="34" charset="-122"/>
                <a:cs typeface="General Sans Semibold" pitchFamily="34" charset="-120"/>
              </a:rPr>
              <a:t>Uitleg</a:t>
            </a:r>
            <a:endParaRPr lang="en-US" sz="2000" dirty="0"/>
          </a:p>
        </p:txBody>
      </p:sp>
      <p:sp>
        <p:nvSpPr>
          <p:cNvPr id="92" name="Text 90"/>
          <p:cNvSpPr/>
          <p:nvPr/>
        </p:nvSpPr>
        <p:spPr>
          <a:xfrm>
            <a:off x="9349511" y="3035808"/>
            <a:ext cx="2019224" cy="121539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Bron, definities en peildatum bij elke grafiek.</a:t>
            </a:r>
            <a:endParaRPr lang="en-US" sz="1500" dirty="0"/>
          </a:p>
        </p:txBody>
      </p:sp>
      <p:sp>
        <p:nvSpPr>
          <p:cNvPr id="93" name="Text 91"/>
          <p:cNvSpPr/>
          <p:nvPr/>
        </p:nvSpPr>
        <p:spPr>
          <a:xfrm>
            <a:off x="548640" y="4571238"/>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000000"/>
                </a:solidFill>
                <a:latin typeface="General Sans" pitchFamily="34" charset="0"/>
                <a:ea typeface="General Sans" pitchFamily="34" charset="-122"/>
                <a:cs typeface="General Sans" pitchFamily="34" charset="-120"/>
              </a:rPr>
              <a:t>Geen aparte stap achteraf: de skill past deze checks toe tijdens het bouwen.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D784B"/>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Shape 70"/>
          <p:cNvSpPr/>
          <p:nvPr/>
        </p:nvSpPr>
        <p:spPr>
          <a:xfrm>
            <a:off x="548640" y="1280160"/>
            <a:ext cx="1005840" cy="1005840"/>
          </a:xfrm>
          <a:prstGeom prst="ellipse">
            <a:avLst/>
          </a:prstGeom>
          <a:solidFill>
            <a:srgbClr val="F4D9DC"/>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4</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000000"/>
                </a:solidFill>
                <a:latin typeface="General Sans Semibold" pitchFamily="34" charset="0"/>
                <a:ea typeface="General Sans Semibold" pitchFamily="34" charset="-122"/>
                <a:cs typeface="General Sans Semibold" pitchFamily="34" charset="-120"/>
              </a:rPr>
              <a:t>Spiegelmoment 2: wat bouwden jullie?</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Toon twee of drie dashboards. Wat deed je anders, wat miste de agent?</a:t>
            </a:r>
            <a:endParaRPr lang="en-US" sz="2200" dirty="0"/>
          </a:p>
        </p:txBody>
      </p:sp>
      <p:pic>
        <p:nvPicPr>
          <p:cNvPr id="76" name="Image 0" descr="exports\261005_workshop_rad_uitvoering\img\gesprek.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5D4"/>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2500" dirty="0">
                <a:solidFill>
                  <a:srgbClr val="3D68EC"/>
                </a:solidFill>
                <a:latin typeface="General Sans Semibold" pitchFamily="34" charset="0"/>
                <a:ea typeface="General Sans Semibold" pitchFamily="34" charset="-122"/>
                <a:cs typeface="General Sans Semibold" pitchFamily="34" charset="-120"/>
              </a:rPr>
              <a:t>Techniek valt het vaakst uit, geslacht laat geen verschil zien</a:t>
            </a:r>
            <a:endParaRPr lang="en-US" sz="2500" dirty="0"/>
          </a:p>
        </p:txBody>
      </p:sp>
      <p:graphicFrame>
        <p:nvGraphicFramePr>
          <p:cNvPr id="73" name="Chart 0" descr=""/>
          <p:cNvGraphicFramePr/>
          <p:nvPr/>
        </p:nvGraphicFramePr>
        <p:xfrm>
          <a:off x="731520" y="1554480"/>
          <a:ext cx="6796735" cy="4206240"/>
        </p:xfrm>
        <a:graphic xmlns:a="http://schemas.openxmlformats.org/drawingml/2006/main">
          <a:graphicData uri="http://schemas.openxmlformats.org/drawingml/2006/chart">
            <c:chart xmlns:c="http://schemas.openxmlformats.org/drawingml/2006/chart" r:id="rId1"/>
          </a:graphicData>
        </a:graphic>
      </p:graphicFrame>
      <p:sp>
        <p:nvSpPr>
          <p:cNvPr id="74" name="Shape 71"/>
          <p:cNvSpPr/>
          <p:nvPr/>
        </p:nvSpPr>
        <p:spPr>
          <a:xfrm>
            <a:off x="7985455" y="1371600"/>
            <a:ext cx="3657600" cy="2895600"/>
          </a:xfrm>
          <a:prstGeom prst="roundRect">
            <a:avLst>
              <a:gd name="adj" fmla="val 2792"/>
            </a:avLst>
          </a:prstGeom>
          <a:solidFill>
            <a:srgbClr val="3D68EC"/>
          </a:solidFill>
          <a:ln/>
        </p:spPr>
      </p:sp>
      <p:sp>
        <p:nvSpPr>
          <p:cNvPr id="75" name="Text 72"/>
          <p:cNvSpPr/>
          <p:nvPr/>
        </p:nvSpPr>
        <p:spPr>
          <a:xfrm>
            <a:off x="8259775" y="1691640"/>
            <a:ext cx="3108960"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F4D74B"/>
                </a:solidFill>
                <a:latin typeface="General Sans Semibold" pitchFamily="34" charset="0"/>
                <a:ea typeface="General Sans Semibold" pitchFamily="34" charset="-122"/>
                <a:cs typeface="General Sans Semibold" pitchFamily="34" charset="-120"/>
              </a:rPr>
              <a:t>WAT VALT OP</a:t>
            </a:r>
            <a:endParaRPr lang="en-US" sz="1100" dirty="0"/>
          </a:p>
        </p:txBody>
      </p:sp>
      <p:sp>
        <p:nvSpPr>
          <p:cNvPr id="76" name="Text 73"/>
          <p:cNvSpPr/>
          <p:nvPr/>
        </p:nvSpPr>
        <p:spPr>
          <a:xfrm>
            <a:off x="8259775" y="2103120"/>
            <a:ext cx="3108960" cy="1981200"/>
          </a:xfrm>
          <a:prstGeom prst="rect">
            <a:avLst/>
          </a:prstGeom>
          <a:noFill/>
          <a:ln/>
        </p:spPr>
        <p:txBody>
          <a:bodyPr wrap="square" lIns="0" tIns="0" rIns="0" bIns="0" rtlCol="0" anchor="t"/>
          <a:lstStyle/>
          <a:p>
            <a:pPr algn="l"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Het verschil tussen sectoren hebben wij ingebouwd. Man (16,1%) en vrouw (17,3%) verschillen niet echt: dat is toeval.</a:t>
            </a:r>
            <a:endParaRPr lang="en-US" sz="2000" dirty="0"/>
          </a:p>
        </p:txBody>
      </p:sp>
      <p:sp>
        <p:nvSpPr>
          <p:cNvPr id="77" name="Text 74"/>
          <p:cNvSpPr/>
          <p:nvPr/>
        </p:nvSpPr>
        <p:spPr>
          <a:xfrm>
            <a:off x="548640" y="6291072"/>
            <a:ext cx="11094415" cy="274320"/>
          </a:xfrm>
          <a:prstGeom prst="rect">
            <a:avLst/>
          </a:prstGeom>
          <a:noFill/>
          <a:ln/>
        </p:spPr>
        <p:txBody>
          <a:bodyPr wrap="square" lIns="0" tIns="0" rIns="0" bIns="0" rtlCol="0" anchor="t"/>
          <a:lstStyle/>
          <a:p>
            <a:pPr algn="l" indent="0" marL="0">
              <a:lnSpc>
                <a:spcPct val="105000"/>
              </a:lnSpc>
              <a:buNone/>
            </a:pPr>
            <a:r>
              <a:rPr lang="en-US" sz="1100" dirty="0">
                <a:solidFill>
                  <a:srgbClr val="3D68EC"/>
                </a:solidFill>
                <a:latin typeface="General Sans" pitchFamily="34" charset="0"/>
                <a:ea typeface="General Sans" pitchFamily="34" charset="-122"/>
                <a:cs typeface="General Sans" pitchFamily="34" charset="-120"/>
              </a:rPr>
              <a:t>Bron: synthetische data, cohorten 2012-2022 (2023 is nog niet waarneembaar)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2800" dirty="0">
                <a:solidFill>
                  <a:srgbClr val="3D68EC"/>
                </a:solidFill>
                <a:latin typeface="General Sans Semibold" pitchFamily="34" charset="0"/>
                <a:ea typeface="General Sans Semibold" pitchFamily="34" charset="-122"/>
                <a:cs typeface="General Sans Semibold" pitchFamily="34" charset="-120"/>
              </a:rPr>
              <a:t>Skill 2 bouwt het dashboard met de checks erin</a:t>
            </a:r>
            <a:endParaRPr lang="en-US" sz="2800" dirty="0"/>
          </a:p>
        </p:txBody>
      </p:sp>
      <p:sp>
        <p:nvSpPr>
          <p:cNvPr id="73" name="Shape 71"/>
          <p:cNvSpPr/>
          <p:nvPr/>
        </p:nvSpPr>
        <p:spPr>
          <a:xfrm>
            <a:off x="548640" y="1572768"/>
            <a:ext cx="201168" cy="201168"/>
          </a:xfrm>
          <a:prstGeom prst="ellipse">
            <a:avLst/>
          </a:prstGeom>
          <a:solidFill>
            <a:srgbClr val="3D68EC"/>
          </a:solidFill>
          <a:ln/>
        </p:spPr>
      </p:sp>
      <p:sp>
        <p:nvSpPr>
          <p:cNvPr id="74" name="Text 72"/>
          <p:cNvSpPr/>
          <p:nvPr/>
        </p:nvSpPr>
        <p:spPr>
          <a:xfrm>
            <a:off x="960120" y="14630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Bouwt:</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grafiek, vergelijking en filter uit schets.md</a:t>
            </a:r>
            <a:endParaRPr lang="en-US" sz="1900" dirty="0"/>
          </a:p>
        </p:txBody>
      </p:sp>
      <p:sp>
        <p:nvSpPr>
          <p:cNvPr id="75" name="Shape 73"/>
          <p:cNvSpPr/>
          <p:nvPr/>
        </p:nvSpPr>
        <p:spPr>
          <a:xfrm>
            <a:off x="548640" y="2487168"/>
            <a:ext cx="201168" cy="201168"/>
          </a:xfrm>
          <a:prstGeom prst="ellipse">
            <a:avLst/>
          </a:prstGeom>
          <a:solidFill>
            <a:srgbClr val="DD784B"/>
          </a:solidFill>
          <a:ln/>
        </p:spPr>
      </p:sp>
      <p:sp>
        <p:nvSpPr>
          <p:cNvPr id="76" name="Text 74"/>
          <p:cNvSpPr/>
          <p:nvPr/>
        </p:nvSpPr>
        <p:spPr>
          <a:xfrm>
            <a:off x="960120" y="23774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Past toe:</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drempel, waarneembaarheid, eerlijke framing, toegankelijkheid</a:t>
            </a:r>
            <a:endParaRPr lang="en-US" sz="1900" dirty="0"/>
          </a:p>
        </p:txBody>
      </p:sp>
      <p:sp>
        <p:nvSpPr>
          <p:cNvPr id="77" name="Shape 75"/>
          <p:cNvSpPr/>
          <p:nvPr/>
        </p:nvSpPr>
        <p:spPr>
          <a:xfrm>
            <a:off x="548640" y="3401568"/>
            <a:ext cx="201168" cy="201168"/>
          </a:xfrm>
          <a:prstGeom prst="ellipse">
            <a:avLst/>
          </a:prstGeom>
          <a:solidFill>
            <a:srgbClr val="00AF81"/>
          </a:solidFill>
          <a:ln/>
        </p:spPr>
      </p:sp>
      <p:sp>
        <p:nvSpPr>
          <p:cNvPr id="78" name="Text 76"/>
          <p:cNvSpPr/>
          <p:nvPr/>
        </p:nvSpPr>
        <p:spPr>
          <a:xfrm>
            <a:off x="960120" y="32918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Legt uit:</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bron, definities en wat het dashboard niet kan zeggen</a:t>
            </a:r>
            <a:endParaRPr lang="en-US" sz="1900" dirty="0"/>
          </a:p>
        </p:txBody>
      </p:sp>
      <p:sp>
        <p:nvSpPr>
          <p:cNvPr id="79" name="Shape 77"/>
          <p:cNvSpPr/>
          <p:nvPr/>
        </p:nvSpPr>
        <p:spPr>
          <a:xfrm>
            <a:off x="548640" y="4315968"/>
            <a:ext cx="201168" cy="201168"/>
          </a:xfrm>
          <a:prstGeom prst="ellipse">
            <a:avLst/>
          </a:prstGeom>
          <a:solidFill>
            <a:srgbClr val="F4D74B"/>
          </a:solidFill>
          <a:ln/>
        </p:spPr>
      </p:sp>
      <p:sp>
        <p:nvSpPr>
          <p:cNvPr id="80" name="Text 78"/>
          <p:cNvSpPr/>
          <p:nvPr/>
        </p:nvSpPr>
        <p:spPr>
          <a:xfrm>
            <a:off x="960120" y="4206240"/>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3D68EC"/>
                </a:solidFill>
                <a:latin typeface="General Sans Semibold" pitchFamily="34" charset="0"/>
                <a:ea typeface="General Sans Semibold" pitchFamily="34" charset="-122"/>
                <a:cs typeface="General Sans Semibold" pitchFamily="34" charset="-120"/>
              </a:rPr>
              <a:t>Jij bepaalt:</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wat je mag concluderen en hoe je het presenteert</a:t>
            </a:r>
            <a:endParaRPr lang="en-US" sz="1900" dirty="0"/>
          </a:p>
        </p:txBody>
      </p:sp>
      <p:pic>
        <p:nvPicPr>
          <p:cNvPr id="81" name="Image 0" descr="exports\261005_workshop_rad_uitvoering\img\Vaantje geel met vink.png">    </p:cNvPr>
          <p:cNvPicPr>
            <a:picLocks noChangeAspect="1"/>
          </p:cNvPicPr>
          <p:nvPr/>
        </p:nvPicPr>
        <p:blipFill>
          <a:blip r:embed="rId1"/>
          <a:stretch>
            <a:fillRect/>
          </a:stretch>
        </p:blipFill>
        <p:spPr>
          <a:xfrm>
            <a:off x="7498080" y="1417320"/>
            <a:ext cx="4206240" cy="42062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AF81"/>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F4D9DC"/>
                </a:solidFill>
                <a:latin typeface="General Sans Semibold" pitchFamily="34" charset="0"/>
                <a:ea typeface="General Sans Semibold" pitchFamily="34" charset="-122"/>
                <a:cs typeface="General Sans Semibold" pitchFamily="34" charset="-120"/>
              </a:rPr>
              <a:t>Evaluatie en vervolg: 8 minuten</a:t>
            </a:r>
            <a:endParaRPr lang="en-US" sz="3400" dirty="0"/>
          </a:p>
        </p:txBody>
      </p:sp>
      <p:sp>
        <p:nvSpPr>
          <p:cNvPr id="73" name="Shape 71"/>
          <p:cNvSpPr/>
          <p:nvPr/>
        </p:nvSpPr>
        <p:spPr>
          <a:xfrm>
            <a:off x="548640" y="1371600"/>
            <a:ext cx="3515258" cy="2560320"/>
          </a:xfrm>
          <a:prstGeom prst="roundRect">
            <a:avLst>
              <a:gd name="adj" fmla="val 3571"/>
            </a:avLst>
          </a:prstGeom>
          <a:solidFill>
            <a:srgbClr val="F4D9DC"/>
          </a:solidFill>
          <a:ln/>
        </p:spPr>
      </p:sp>
      <p:sp>
        <p:nvSpPr>
          <p:cNvPr id="74" name="Shape 72"/>
          <p:cNvSpPr/>
          <p:nvPr/>
        </p:nvSpPr>
        <p:spPr>
          <a:xfrm>
            <a:off x="822960" y="1645920"/>
            <a:ext cx="548640" cy="548640"/>
          </a:xfrm>
          <a:prstGeom prst="ellipse">
            <a:avLst/>
          </a:prstGeom>
          <a:solidFill>
            <a:srgbClr val="3D68EC"/>
          </a:solidFill>
          <a:ln/>
        </p:spPr>
      </p:sp>
      <p:sp>
        <p:nvSpPr>
          <p:cNvPr id="75" name="Text 73"/>
          <p:cNvSpPr/>
          <p:nvPr/>
        </p:nvSpPr>
        <p:spPr>
          <a:xfrm>
            <a:off x="822960"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1</a:t>
            </a:r>
            <a:endParaRPr lang="en-US" sz="2000" dirty="0"/>
          </a:p>
        </p:txBody>
      </p:sp>
      <p:sp>
        <p:nvSpPr>
          <p:cNvPr id="76" name="Shape 74"/>
          <p:cNvSpPr/>
          <p:nvPr/>
        </p:nvSpPr>
        <p:spPr>
          <a:xfrm>
            <a:off x="1508760" y="1719072"/>
            <a:ext cx="2280818" cy="402336"/>
          </a:xfrm>
          <a:prstGeom prst="roundRect">
            <a:avLst>
              <a:gd name="adj" fmla="val 113636"/>
            </a:avLst>
          </a:prstGeom>
          <a:solidFill>
            <a:srgbClr val="3D68EC"/>
          </a:solidFill>
          <a:ln/>
        </p:spPr>
      </p:sp>
      <p:sp>
        <p:nvSpPr>
          <p:cNvPr id="77" name="Text 75"/>
          <p:cNvSpPr/>
          <p:nvPr/>
        </p:nvSpPr>
        <p:spPr>
          <a:xfrm>
            <a:off x="1600200"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9DC"/>
                </a:solidFill>
                <a:latin typeface="General Sans Semibold" pitchFamily="34" charset="0"/>
                <a:ea typeface="General Sans Semibold" pitchFamily="34" charset="-122"/>
                <a:cs typeface="General Sans Semibold" pitchFamily="34" charset="-120"/>
              </a:rPr>
              <a:t>3 min</a:t>
            </a:r>
            <a:endParaRPr lang="en-US" sz="1200" dirty="0"/>
          </a:p>
        </p:txBody>
      </p:sp>
      <p:sp>
        <p:nvSpPr>
          <p:cNvPr id="78" name="Text 76"/>
          <p:cNvSpPr/>
          <p:nvPr/>
        </p:nvSpPr>
        <p:spPr>
          <a:xfrm>
            <a:off x="822960" y="2423160"/>
            <a:ext cx="2966618" cy="338328"/>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Terugblik</a:t>
            </a:r>
            <a:endParaRPr lang="en-US" sz="2200" dirty="0"/>
          </a:p>
        </p:txBody>
      </p:sp>
      <p:sp>
        <p:nvSpPr>
          <p:cNvPr id="79" name="Text 77"/>
          <p:cNvSpPr/>
          <p:nvPr/>
        </p:nvSpPr>
        <p:spPr>
          <a:xfrm>
            <a:off x="822960" y="3035808"/>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Wat vond je ervan? Wat ging goed, wat zag je nu pas?</a:t>
            </a:r>
            <a:endParaRPr lang="en-US" sz="1500" dirty="0"/>
          </a:p>
        </p:txBody>
      </p:sp>
      <p:sp>
        <p:nvSpPr>
          <p:cNvPr id="80" name="Shape 78"/>
          <p:cNvSpPr/>
          <p:nvPr/>
        </p:nvSpPr>
        <p:spPr>
          <a:xfrm>
            <a:off x="4338218" y="1371600"/>
            <a:ext cx="3515258" cy="2560320"/>
          </a:xfrm>
          <a:prstGeom prst="roundRect">
            <a:avLst>
              <a:gd name="adj" fmla="val 3571"/>
            </a:avLst>
          </a:prstGeom>
          <a:solidFill>
            <a:srgbClr val="F4D9DC"/>
          </a:solidFill>
          <a:ln/>
        </p:spPr>
      </p:sp>
      <p:sp>
        <p:nvSpPr>
          <p:cNvPr id="81" name="Shape 79"/>
          <p:cNvSpPr/>
          <p:nvPr/>
        </p:nvSpPr>
        <p:spPr>
          <a:xfrm>
            <a:off x="4612538" y="1645920"/>
            <a:ext cx="548640" cy="548640"/>
          </a:xfrm>
          <a:prstGeom prst="ellipse">
            <a:avLst/>
          </a:prstGeom>
          <a:solidFill>
            <a:srgbClr val="3D68EC"/>
          </a:solidFill>
          <a:ln/>
        </p:spPr>
      </p:sp>
      <p:sp>
        <p:nvSpPr>
          <p:cNvPr id="82" name="Text 80"/>
          <p:cNvSpPr/>
          <p:nvPr/>
        </p:nvSpPr>
        <p:spPr>
          <a:xfrm>
            <a:off x="4612538"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2</a:t>
            </a:r>
            <a:endParaRPr lang="en-US" sz="2000" dirty="0"/>
          </a:p>
        </p:txBody>
      </p:sp>
      <p:sp>
        <p:nvSpPr>
          <p:cNvPr id="83" name="Shape 81"/>
          <p:cNvSpPr/>
          <p:nvPr/>
        </p:nvSpPr>
        <p:spPr>
          <a:xfrm>
            <a:off x="5298338" y="1719072"/>
            <a:ext cx="2280818" cy="402336"/>
          </a:xfrm>
          <a:prstGeom prst="roundRect">
            <a:avLst>
              <a:gd name="adj" fmla="val 113636"/>
            </a:avLst>
          </a:prstGeom>
          <a:solidFill>
            <a:srgbClr val="3D68EC"/>
          </a:solidFill>
          <a:ln/>
        </p:spPr>
      </p:sp>
      <p:sp>
        <p:nvSpPr>
          <p:cNvPr id="84" name="Text 82"/>
          <p:cNvSpPr/>
          <p:nvPr/>
        </p:nvSpPr>
        <p:spPr>
          <a:xfrm>
            <a:off x="5389778"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9DC"/>
                </a:solidFill>
                <a:latin typeface="General Sans Semibold" pitchFamily="34" charset="0"/>
                <a:ea typeface="General Sans Semibold" pitchFamily="34" charset="-122"/>
                <a:cs typeface="General Sans Semibold" pitchFamily="34" charset="-120"/>
              </a:rPr>
              <a:t>2 min</a:t>
            </a:r>
            <a:endParaRPr lang="en-US" sz="1200" dirty="0"/>
          </a:p>
        </p:txBody>
      </p:sp>
      <p:sp>
        <p:nvSpPr>
          <p:cNvPr id="85" name="Text 83"/>
          <p:cNvSpPr/>
          <p:nvPr/>
        </p:nvSpPr>
        <p:spPr>
          <a:xfrm>
            <a:off x="4612538" y="2423160"/>
            <a:ext cx="2966618" cy="338328"/>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Meerkeuzevraag</a:t>
            </a:r>
            <a:endParaRPr lang="en-US" sz="2200" dirty="0"/>
          </a:p>
        </p:txBody>
      </p:sp>
      <p:sp>
        <p:nvSpPr>
          <p:cNvPr id="86" name="Text 84"/>
          <p:cNvSpPr/>
          <p:nvPr/>
        </p:nvSpPr>
        <p:spPr>
          <a:xfrm>
            <a:off x="4612538" y="3035808"/>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Zou je een vervolg willen, en hoe groot?</a:t>
            </a:r>
            <a:endParaRPr lang="en-US" sz="1500" dirty="0"/>
          </a:p>
        </p:txBody>
      </p:sp>
      <p:sp>
        <p:nvSpPr>
          <p:cNvPr id="87" name="Shape 85"/>
          <p:cNvSpPr/>
          <p:nvPr/>
        </p:nvSpPr>
        <p:spPr>
          <a:xfrm>
            <a:off x="8127797" y="1371600"/>
            <a:ext cx="3515258" cy="2560320"/>
          </a:xfrm>
          <a:prstGeom prst="roundRect">
            <a:avLst>
              <a:gd name="adj" fmla="val 3571"/>
            </a:avLst>
          </a:prstGeom>
          <a:solidFill>
            <a:srgbClr val="F4D9DC"/>
          </a:solidFill>
          <a:ln/>
        </p:spPr>
      </p:sp>
      <p:sp>
        <p:nvSpPr>
          <p:cNvPr id="88" name="Shape 86"/>
          <p:cNvSpPr/>
          <p:nvPr/>
        </p:nvSpPr>
        <p:spPr>
          <a:xfrm>
            <a:off x="8402117" y="1645920"/>
            <a:ext cx="548640" cy="548640"/>
          </a:xfrm>
          <a:prstGeom prst="ellipse">
            <a:avLst/>
          </a:prstGeom>
          <a:solidFill>
            <a:srgbClr val="3D68EC"/>
          </a:solidFill>
          <a:ln/>
        </p:spPr>
      </p:sp>
      <p:sp>
        <p:nvSpPr>
          <p:cNvPr id="89" name="Text 87"/>
          <p:cNvSpPr/>
          <p:nvPr/>
        </p:nvSpPr>
        <p:spPr>
          <a:xfrm>
            <a:off x="8402117"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F4D9DC"/>
                </a:solidFill>
                <a:latin typeface="General Sans Semibold" pitchFamily="34" charset="0"/>
                <a:ea typeface="General Sans Semibold" pitchFamily="34" charset="-122"/>
                <a:cs typeface="General Sans Semibold" pitchFamily="34" charset="-120"/>
              </a:rPr>
              <a:t>3</a:t>
            </a:r>
            <a:endParaRPr lang="en-US" sz="2000" dirty="0"/>
          </a:p>
        </p:txBody>
      </p:sp>
      <p:sp>
        <p:nvSpPr>
          <p:cNvPr id="90" name="Shape 88"/>
          <p:cNvSpPr/>
          <p:nvPr/>
        </p:nvSpPr>
        <p:spPr>
          <a:xfrm>
            <a:off x="9087917" y="1719072"/>
            <a:ext cx="2280818" cy="402336"/>
          </a:xfrm>
          <a:prstGeom prst="roundRect">
            <a:avLst>
              <a:gd name="adj" fmla="val 113636"/>
            </a:avLst>
          </a:prstGeom>
          <a:solidFill>
            <a:srgbClr val="3D68EC"/>
          </a:solidFill>
          <a:ln/>
        </p:spPr>
      </p:sp>
      <p:sp>
        <p:nvSpPr>
          <p:cNvPr id="91" name="Text 89"/>
          <p:cNvSpPr/>
          <p:nvPr/>
        </p:nvSpPr>
        <p:spPr>
          <a:xfrm>
            <a:off x="9179357" y="1719072"/>
            <a:ext cx="2097938" cy="402336"/>
          </a:xfrm>
          <a:prstGeom prst="rect">
            <a:avLst/>
          </a:prstGeom>
          <a:noFill/>
          <a:ln/>
        </p:spPr>
        <p:txBody>
          <a:bodyPr wrap="square" lIns="0" tIns="0" rIns="0" bIns="0" rtlCol="0" anchor="ctr"/>
          <a:lstStyle/>
          <a:p>
            <a:pPr algn="ctr" indent="0" marL="0">
              <a:lnSpc>
                <a:spcPct val="105000"/>
              </a:lnSpc>
              <a:buNone/>
            </a:pPr>
            <a:r>
              <a:rPr lang="en-US" sz="1200" dirty="0">
                <a:solidFill>
                  <a:srgbClr val="F4D9DC"/>
                </a:solidFill>
                <a:latin typeface="General Sans Semibold" pitchFamily="34" charset="0"/>
                <a:ea typeface="General Sans Semibold" pitchFamily="34" charset="-122"/>
                <a:cs typeface="General Sans Semibold" pitchFamily="34" charset="-120"/>
              </a:rPr>
              <a:t>3 min</a:t>
            </a:r>
            <a:endParaRPr lang="en-US" sz="1200" dirty="0"/>
          </a:p>
        </p:txBody>
      </p:sp>
      <p:sp>
        <p:nvSpPr>
          <p:cNvPr id="92" name="Text 90"/>
          <p:cNvSpPr/>
          <p:nvPr/>
        </p:nvSpPr>
        <p:spPr>
          <a:xfrm>
            <a:off x="8402117" y="2423160"/>
            <a:ext cx="2966618" cy="338328"/>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Open vraag</a:t>
            </a:r>
            <a:endParaRPr lang="en-US" sz="2200" dirty="0"/>
          </a:p>
        </p:txBody>
      </p:sp>
      <p:sp>
        <p:nvSpPr>
          <p:cNvPr id="93" name="Text 91"/>
          <p:cNvSpPr/>
          <p:nvPr/>
        </p:nvSpPr>
        <p:spPr>
          <a:xfrm>
            <a:off x="8402117" y="3035808"/>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Wat wil je precies leren in zo’n training?</a:t>
            </a:r>
            <a:endParaRPr lang="en-US" sz="1500" dirty="0"/>
          </a:p>
        </p:txBody>
      </p:sp>
      <p:sp>
        <p:nvSpPr>
          <p:cNvPr id="94" name="Text 92"/>
          <p:cNvSpPr/>
          <p:nvPr/>
        </p:nvSpPr>
        <p:spPr>
          <a:xfrm>
            <a:off x="548640" y="4114800"/>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000000"/>
                </a:solidFill>
                <a:latin typeface="General Sans" pitchFamily="34" charset="0"/>
                <a:ea typeface="General Sans" pitchFamily="34" charset="-122"/>
                <a:cs typeface="General Sans" pitchFamily="34" charset="-120"/>
              </a:rPr>
              <a:t>Anoniem en vrijwillig. De antwoorden bepalen of en hoe CEDA een vervolg inricht.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000" dirty="0">
                <a:solidFill>
                  <a:srgbClr val="3D68EC"/>
                </a:solidFill>
                <a:latin typeface="General Sans Semibold" pitchFamily="34" charset="0"/>
                <a:ea typeface="General Sans Semibold" pitchFamily="34" charset="-122"/>
                <a:cs typeface="General Sans Semibold" pitchFamily="34" charset="-120"/>
              </a:rPr>
              <a:t>Zou je een vervolg op deze workshop willen?</a:t>
            </a:r>
            <a:endParaRPr lang="en-US" sz="3000" dirty="0"/>
          </a:p>
        </p:txBody>
      </p:sp>
      <p:sp>
        <p:nvSpPr>
          <p:cNvPr id="73" name="Shape 71"/>
          <p:cNvSpPr/>
          <p:nvPr/>
        </p:nvSpPr>
        <p:spPr>
          <a:xfrm>
            <a:off x="548640" y="1417320"/>
            <a:ext cx="11094415" cy="868680"/>
          </a:xfrm>
          <a:prstGeom prst="roundRect">
            <a:avLst>
              <a:gd name="adj" fmla="val 15512"/>
            </a:avLst>
          </a:prstGeom>
          <a:solidFill>
            <a:srgbClr val="FFFFFF"/>
          </a:solidFill>
          <a:ln/>
        </p:spPr>
      </p:sp>
      <p:sp>
        <p:nvSpPr>
          <p:cNvPr id="74" name="Text 72"/>
          <p:cNvSpPr/>
          <p:nvPr/>
        </p:nvSpPr>
        <p:spPr>
          <a:xfrm>
            <a:off x="822960" y="147218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Nee, niet nodig</a:t>
            </a:r>
            <a:endParaRPr lang="en-US" sz="1600" dirty="0"/>
          </a:p>
        </p:txBody>
      </p:sp>
      <p:sp>
        <p:nvSpPr>
          <p:cNvPr id="75" name="Text 73"/>
          <p:cNvSpPr/>
          <p:nvPr/>
        </p:nvSpPr>
        <p:spPr>
          <a:xfrm>
            <a:off x="4754880" y="147218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Deze workshop was genoeg</a:t>
            </a:r>
            <a:endParaRPr lang="en-US" sz="1400" dirty="0"/>
          </a:p>
        </p:txBody>
      </p:sp>
      <p:sp>
        <p:nvSpPr>
          <p:cNvPr id="76" name="Shape 74"/>
          <p:cNvSpPr/>
          <p:nvPr/>
        </p:nvSpPr>
        <p:spPr>
          <a:xfrm>
            <a:off x="9859975" y="1687068"/>
            <a:ext cx="1554480" cy="329184"/>
          </a:xfrm>
          <a:prstGeom prst="roundRect">
            <a:avLst>
              <a:gd name="adj" fmla="val 138889"/>
            </a:avLst>
          </a:prstGeom>
          <a:solidFill>
            <a:srgbClr val="3D68EC"/>
          </a:solidFill>
          <a:ln/>
        </p:spPr>
      </p:sp>
      <p:sp>
        <p:nvSpPr>
          <p:cNvPr id="77" name="Text 75"/>
          <p:cNvSpPr/>
          <p:nvPr/>
        </p:nvSpPr>
        <p:spPr>
          <a:xfrm>
            <a:off x="9951415" y="168706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F4D9DC"/>
                </a:solidFill>
                <a:latin typeface="General Sans Semibold" pitchFamily="34" charset="0"/>
                <a:ea typeface="General Sans Semibold" pitchFamily="34" charset="-122"/>
                <a:cs typeface="General Sans Semibold" pitchFamily="34" charset="-120"/>
              </a:rPr>
              <a:t>A</a:t>
            </a:r>
            <a:endParaRPr lang="en-US" sz="1100" dirty="0"/>
          </a:p>
        </p:txBody>
      </p:sp>
      <p:sp>
        <p:nvSpPr>
          <p:cNvPr id="78" name="Shape 76"/>
          <p:cNvSpPr/>
          <p:nvPr/>
        </p:nvSpPr>
        <p:spPr>
          <a:xfrm>
            <a:off x="548640" y="2377440"/>
            <a:ext cx="11094415" cy="868680"/>
          </a:xfrm>
          <a:prstGeom prst="roundRect">
            <a:avLst>
              <a:gd name="adj" fmla="val 15512"/>
            </a:avLst>
          </a:prstGeom>
          <a:solidFill>
            <a:srgbClr val="FFFFFF"/>
          </a:solidFill>
          <a:ln/>
        </p:spPr>
      </p:sp>
      <p:sp>
        <p:nvSpPr>
          <p:cNvPr id="79" name="Text 77"/>
          <p:cNvSpPr/>
          <p:nvPr/>
        </p:nvSpPr>
        <p:spPr>
          <a:xfrm>
            <a:off x="822960" y="243230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Een losse sessie van een paar uur</a:t>
            </a:r>
            <a:endParaRPr lang="en-US" sz="1600" dirty="0"/>
          </a:p>
        </p:txBody>
      </p:sp>
      <p:sp>
        <p:nvSpPr>
          <p:cNvPr id="80" name="Text 78"/>
          <p:cNvSpPr/>
          <p:nvPr/>
        </p:nvSpPr>
        <p:spPr>
          <a:xfrm>
            <a:off x="4754880" y="243230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Een vervolgworkshop, bijvoorbeeld met eigen data</a:t>
            </a:r>
            <a:endParaRPr lang="en-US" sz="1400" dirty="0"/>
          </a:p>
        </p:txBody>
      </p:sp>
      <p:sp>
        <p:nvSpPr>
          <p:cNvPr id="81" name="Shape 79"/>
          <p:cNvSpPr/>
          <p:nvPr/>
        </p:nvSpPr>
        <p:spPr>
          <a:xfrm>
            <a:off x="9859975" y="2647188"/>
            <a:ext cx="1554480" cy="329184"/>
          </a:xfrm>
          <a:prstGeom prst="roundRect">
            <a:avLst>
              <a:gd name="adj" fmla="val 138889"/>
            </a:avLst>
          </a:prstGeom>
          <a:solidFill>
            <a:srgbClr val="3D68EC"/>
          </a:solidFill>
          <a:ln/>
        </p:spPr>
      </p:sp>
      <p:sp>
        <p:nvSpPr>
          <p:cNvPr id="82" name="Text 80"/>
          <p:cNvSpPr/>
          <p:nvPr/>
        </p:nvSpPr>
        <p:spPr>
          <a:xfrm>
            <a:off x="9951415" y="264718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F4D9DC"/>
                </a:solidFill>
                <a:latin typeface="General Sans Semibold" pitchFamily="34" charset="0"/>
                <a:ea typeface="General Sans Semibold" pitchFamily="34" charset="-122"/>
                <a:cs typeface="General Sans Semibold" pitchFamily="34" charset="-120"/>
              </a:rPr>
              <a:t>B</a:t>
            </a:r>
            <a:endParaRPr lang="en-US" sz="1100" dirty="0"/>
          </a:p>
        </p:txBody>
      </p:sp>
      <p:sp>
        <p:nvSpPr>
          <p:cNvPr id="83" name="Shape 81"/>
          <p:cNvSpPr/>
          <p:nvPr/>
        </p:nvSpPr>
        <p:spPr>
          <a:xfrm>
            <a:off x="548640" y="3337560"/>
            <a:ext cx="11094415" cy="868680"/>
          </a:xfrm>
          <a:prstGeom prst="roundRect">
            <a:avLst>
              <a:gd name="adj" fmla="val 15512"/>
            </a:avLst>
          </a:prstGeom>
          <a:solidFill>
            <a:srgbClr val="FFFFFF"/>
          </a:solidFill>
          <a:ln/>
        </p:spPr>
      </p:sp>
      <p:sp>
        <p:nvSpPr>
          <p:cNvPr id="84" name="Text 82"/>
          <p:cNvSpPr/>
          <p:nvPr/>
        </p:nvSpPr>
        <p:spPr>
          <a:xfrm>
            <a:off x="822960" y="339242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Een paar dagdelen over enkele weken</a:t>
            </a:r>
            <a:endParaRPr lang="en-US" sz="1600" dirty="0"/>
          </a:p>
        </p:txBody>
      </p:sp>
      <p:sp>
        <p:nvSpPr>
          <p:cNvPr id="85" name="Text 83"/>
          <p:cNvSpPr/>
          <p:nvPr/>
        </p:nvSpPr>
        <p:spPr>
          <a:xfrm>
            <a:off x="4754880" y="339242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Verdieping verspreid over meerdere dagen</a:t>
            </a:r>
            <a:endParaRPr lang="en-US" sz="1400" dirty="0"/>
          </a:p>
        </p:txBody>
      </p:sp>
      <p:sp>
        <p:nvSpPr>
          <p:cNvPr id="86" name="Shape 84"/>
          <p:cNvSpPr/>
          <p:nvPr/>
        </p:nvSpPr>
        <p:spPr>
          <a:xfrm>
            <a:off x="9859975" y="3607308"/>
            <a:ext cx="1554480" cy="329184"/>
          </a:xfrm>
          <a:prstGeom prst="roundRect">
            <a:avLst>
              <a:gd name="adj" fmla="val 138889"/>
            </a:avLst>
          </a:prstGeom>
          <a:solidFill>
            <a:srgbClr val="3D68EC"/>
          </a:solidFill>
          <a:ln/>
        </p:spPr>
      </p:sp>
      <p:sp>
        <p:nvSpPr>
          <p:cNvPr id="87" name="Text 85"/>
          <p:cNvSpPr/>
          <p:nvPr/>
        </p:nvSpPr>
        <p:spPr>
          <a:xfrm>
            <a:off x="9951415" y="360730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F4D9DC"/>
                </a:solidFill>
                <a:latin typeface="General Sans Semibold" pitchFamily="34" charset="0"/>
                <a:ea typeface="General Sans Semibold" pitchFamily="34" charset="-122"/>
                <a:cs typeface="General Sans Semibold" pitchFamily="34" charset="-120"/>
              </a:rPr>
              <a:t>C</a:t>
            </a:r>
            <a:endParaRPr lang="en-US" sz="1100" dirty="0"/>
          </a:p>
        </p:txBody>
      </p:sp>
      <p:sp>
        <p:nvSpPr>
          <p:cNvPr id="88" name="Shape 86"/>
          <p:cNvSpPr/>
          <p:nvPr/>
        </p:nvSpPr>
        <p:spPr>
          <a:xfrm>
            <a:off x="548640" y="4297680"/>
            <a:ext cx="11094415" cy="868680"/>
          </a:xfrm>
          <a:prstGeom prst="roundRect">
            <a:avLst>
              <a:gd name="adj" fmla="val 15512"/>
            </a:avLst>
          </a:prstGeom>
          <a:solidFill>
            <a:srgbClr val="FFFFFF"/>
          </a:solidFill>
          <a:ln/>
        </p:spPr>
      </p:sp>
      <p:sp>
        <p:nvSpPr>
          <p:cNvPr id="89" name="Text 87"/>
          <p:cNvSpPr/>
          <p:nvPr/>
        </p:nvSpPr>
        <p:spPr>
          <a:xfrm>
            <a:off x="822960" y="4352544"/>
            <a:ext cx="3840480" cy="75895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4 uur per week, één semester</a:t>
            </a:r>
            <a:endParaRPr lang="en-US" sz="1600" dirty="0"/>
          </a:p>
        </p:txBody>
      </p:sp>
      <p:sp>
        <p:nvSpPr>
          <p:cNvPr id="90" name="Text 88"/>
          <p:cNvSpPr/>
          <p:nvPr/>
        </p:nvSpPr>
        <p:spPr>
          <a:xfrm>
            <a:off x="4754880" y="4352544"/>
            <a:ext cx="4572000" cy="75895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Een volledig trainingsprogramma</a:t>
            </a:r>
            <a:endParaRPr lang="en-US" sz="1400" dirty="0"/>
          </a:p>
        </p:txBody>
      </p:sp>
      <p:sp>
        <p:nvSpPr>
          <p:cNvPr id="91" name="Shape 89"/>
          <p:cNvSpPr/>
          <p:nvPr/>
        </p:nvSpPr>
        <p:spPr>
          <a:xfrm>
            <a:off x="9859975" y="4567428"/>
            <a:ext cx="1554480" cy="329184"/>
          </a:xfrm>
          <a:prstGeom prst="roundRect">
            <a:avLst>
              <a:gd name="adj" fmla="val 138889"/>
            </a:avLst>
          </a:prstGeom>
          <a:solidFill>
            <a:srgbClr val="3D68EC"/>
          </a:solidFill>
          <a:ln/>
        </p:spPr>
      </p:sp>
      <p:sp>
        <p:nvSpPr>
          <p:cNvPr id="92" name="Text 90"/>
          <p:cNvSpPr/>
          <p:nvPr/>
        </p:nvSpPr>
        <p:spPr>
          <a:xfrm>
            <a:off x="9951415" y="4567428"/>
            <a:ext cx="1371600" cy="329184"/>
          </a:xfrm>
          <a:prstGeom prst="rect">
            <a:avLst/>
          </a:prstGeom>
          <a:noFill/>
          <a:ln/>
        </p:spPr>
        <p:txBody>
          <a:bodyPr wrap="square" lIns="0" tIns="0" rIns="0" bIns="0" rtlCol="0" anchor="ctr"/>
          <a:lstStyle/>
          <a:p>
            <a:pPr algn="ctr" indent="0" marL="0">
              <a:lnSpc>
                <a:spcPct val="105000"/>
              </a:lnSpc>
              <a:buNone/>
            </a:pPr>
            <a:r>
              <a:rPr lang="en-US" sz="1100" dirty="0">
                <a:solidFill>
                  <a:srgbClr val="F4D9DC"/>
                </a:solidFill>
                <a:latin typeface="General Sans Semibold" pitchFamily="34" charset="0"/>
                <a:ea typeface="General Sans Semibold" pitchFamily="34" charset="-122"/>
                <a:cs typeface="General Sans Semibold" pitchFamily="34" charset="-120"/>
              </a:rPr>
              <a:t>D</a:t>
            </a:r>
            <a:endParaRPr lang="en-US" sz="1100" dirty="0"/>
          </a:p>
        </p:txBody>
      </p:sp>
      <p:sp>
        <p:nvSpPr>
          <p:cNvPr id="93" name="Text 91"/>
          <p:cNvSpPr/>
          <p:nvPr/>
        </p:nvSpPr>
        <p:spPr>
          <a:xfrm>
            <a:off x="548640" y="6291072"/>
            <a:ext cx="11094415" cy="274320"/>
          </a:xfrm>
          <a:prstGeom prst="rect">
            <a:avLst/>
          </a:prstGeom>
          <a:noFill/>
          <a:ln/>
        </p:spPr>
        <p:txBody>
          <a:bodyPr wrap="square" lIns="0" tIns="0" rIns="0" bIns="0" rtlCol="0" anchor="t"/>
          <a:lstStyle/>
          <a:p>
            <a:pPr algn="l" indent="0" marL="0">
              <a:lnSpc>
                <a:spcPct val="105000"/>
              </a:lnSpc>
              <a:buNone/>
            </a:pPr>
            <a:r>
              <a:rPr lang="en-US" sz="1100" dirty="0">
                <a:solidFill>
                  <a:srgbClr val="3D68EC"/>
                </a:solidFill>
                <a:latin typeface="General Sans" pitchFamily="34" charset="0"/>
                <a:ea typeface="General Sans" pitchFamily="34" charset="-122"/>
                <a:cs typeface="General Sans" pitchFamily="34" charset="-120"/>
              </a:rPr>
              <a:t>Kies wat het best past. Scan de QR-code of steek je hand op.</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D74B"/>
        </a:solidFill>
      </p:bgPr>
    </p:bg>
    <p:spTree>
      <p:nvGrpSpPr>
        <p:cNvPr id="1" name=""/>
        <p:cNvGrpSpPr/>
        <p:nvPr/>
      </p:nvGrpSpPr>
      <p:grpSpPr>
        <a:xfrm>
          <a:off x="0" y="0"/>
          <a:ext cx="0" cy="0"/>
          <a:chOff x="0" y="0"/>
          <a:chExt cx="0" cy="0"/>
        </a:xfrm>
      </p:grpSpPr>
      <p:sp>
        <p:nvSpPr>
          <p:cNvPr id="2" name="Shape 0"/>
          <p:cNvSpPr/>
          <p:nvPr/>
        </p:nvSpPr>
        <p:spPr>
          <a:xfrm>
            <a:off x="11296345" y="615188"/>
            <a:ext cx="53340" cy="53340"/>
          </a:xfrm>
          <a:prstGeom prst="ellipse">
            <a:avLst/>
          </a:prstGeom>
          <a:solidFill>
            <a:srgbClr val="000000"/>
          </a:solidFill>
          <a:ln/>
        </p:spPr>
      </p:sp>
      <p:sp>
        <p:nvSpPr>
          <p:cNvPr id="3" name="Shape 1"/>
          <p:cNvSpPr/>
          <p:nvPr/>
        </p:nvSpPr>
        <p:spPr>
          <a:xfrm>
            <a:off x="11350574" y="646303"/>
            <a:ext cx="53340" cy="53340"/>
          </a:xfrm>
          <a:prstGeom prst="ellipse">
            <a:avLst/>
          </a:prstGeom>
          <a:solidFill>
            <a:srgbClr val="000000"/>
          </a:solidFill>
          <a:ln/>
        </p:spPr>
      </p:sp>
      <p:sp>
        <p:nvSpPr>
          <p:cNvPr id="4" name="Shape 2"/>
          <p:cNvSpPr/>
          <p:nvPr/>
        </p:nvSpPr>
        <p:spPr>
          <a:xfrm>
            <a:off x="11350574" y="708533"/>
            <a:ext cx="53340" cy="53340"/>
          </a:xfrm>
          <a:prstGeom prst="ellipse">
            <a:avLst/>
          </a:prstGeom>
          <a:solidFill>
            <a:srgbClr val="000000"/>
          </a:solidFill>
          <a:ln/>
        </p:spPr>
      </p:sp>
      <p:sp>
        <p:nvSpPr>
          <p:cNvPr id="5" name="Shape 3"/>
          <p:cNvSpPr/>
          <p:nvPr/>
        </p:nvSpPr>
        <p:spPr>
          <a:xfrm>
            <a:off x="11296345" y="739648"/>
            <a:ext cx="53340" cy="53340"/>
          </a:xfrm>
          <a:prstGeom prst="ellipse">
            <a:avLst/>
          </a:prstGeom>
          <a:solidFill>
            <a:srgbClr val="000000"/>
          </a:solidFill>
          <a:ln/>
        </p:spPr>
      </p:sp>
      <p:sp>
        <p:nvSpPr>
          <p:cNvPr id="6" name="Shape 4"/>
          <p:cNvSpPr/>
          <p:nvPr/>
        </p:nvSpPr>
        <p:spPr>
          <a:xfrm>
            <a:off x="11242116" y="708533"/>
            <a:ext cx="53340" cy="53340"/>
          </a:xfrm>
          <a:prstGeom prst="ellipse">
            <a:avLst/>
          </a:prstGeom>
          <a:solidFill>
            <a:srgbClr val="000000"/>
          </a:solidFill>
          <a:ln/>
        </p:spPr>
      </p:sp>
      <p:sp>
        <p:nvSpPr>
          <p:cNvPr id="7" name="Shape 5"/>
          <p:cNvSpPr/>
          <p:nvPr/>
        </p:nvSpPr>
        <p:spPr>
          <a:xfrm>
            <a:off x="11242116" y="646303"/>
            <a:ext cx="53340" cy="53340"/>
          </a:xfrm>
          <a:prstGeom prst="ellipse">
            <a:avLst/>
          </a:prstGeom>
          <a:solidFill>
            <a:srgbClr val="000000"/>
          </a:solidFill>
          <a:ln/>
        </p:spPr>
      </p:sp>
      <p:sp>
        <p:nvSpPr>
          <p:cNvPr id="8" name="Shape 6"/>
          <p:cNvSpPr/>
          <p:nvPr/>
        </p:nvSpPr>
        <p:spPr>
          <a:xfrm>
            <a:off x="11300790" y="566293"/>
            <a:ext cx="44450" cy="44450"/>
          </a:xfrm>
          <a:prstGeom prst="ellipse">
            <a:avLst/>
          </a:prstGeom>
          <a:solidFill>
            <a:srgbClr val="000000"/>
          </a:solidFill>
          <a:ln/>
        </p:spPr>
      </p:sp>
      <p:sp>
        <p:nvSpPr>
          <p:cNvPr id="9" name="Shape 7"/>
          <p:cNvSpPr/>
          <p:nvPr/>
        </p:nvSpPr>
        <p:spPr>
          <a:xfrm>
            <a:off x="11368354" y="588518"/>
            <a:ext cx="44450" cy="44450"/>
          </a:xfrm>
          <a:prstGeom prst="ellipse">
            <a:avLst/>
          </a:prstGeom>
          <a:solidFill>
            <a:srgbClr val="000000"/>
          </a:solidFill>
          <a:ln/>
        </p:spPr>
      </p:sp>
      <p:sp>
        <p:nvSpPr>
          <p:cNvPr id="10" name="Shape 8"/>
          <p:cNvSpPr/>
          <p:nvPr/>
        </p:nvSpPr>
        <p:spPr>
          <a:xfrm>
            <a:off x="11411026" y="646303"/>
            <a:ext cx="44450" cy="44450"/>
          </a:xfrm>
          <a:prstGeom prst="ellipse">
            <a:avLst/>
          </a:prstGeom>
          <a:solidFill>
            <a:srgbClr val="000000"/>
          </a:solidFill>
          <a:ln/>
        </p:spPr>
      </p:sp>
      <p:sp>
        <p:nvSpPr>
          <p:cNvPr id="11" name="Shape 9"/>
          <p:cNvSpPr/>
          <p:nvPr/>
        </p:nvSpPr>
        <p:spPr>
          <a:xfrm>
            <a:off x="11411026" y="717423"/>
            <a:ext cx="44450" cy="44450"/>
          </a:xfrm>
          <a:prstGeom prst="ellipse">
            <a:avLst/>
          </a:prstGeom>
          <a:solidFill>
            <a:srgbClr val="000000"/>
          </a:solidFill>
          <a:ln/>
        </p:spPr>
      </p:sp>
      <p:sp>
        <p:nvSpPr>
          <p:cNvPr id="12" name="Shape 10"/>
          <p:cNvSpPr/>
          <p:nvPr/>
        </p:nvSpPr>
        <p:spPr>
          <a:xfrm>
            <a:off x="11368354" y="775208"/>
            <a:ext cx="44450" cy="44450"/>
          </a:xfrm>
          <a:prstGeom prst="ellipse">
            <a:avLst/>
          </a:prstGeom>
          <a:solidFill>
            <a:srgbClr val="000000"/>
          </a:solidFill>
          <a:ln/>
        </p:spPr>
      </p:sp>
      <p:sp>
        <p:nvSpPr>
          <p:cNvPr id="13" name="Shape 11"/>
          <p:cNvSpPr/>
          <p:nvPr/>
        </p:nvSpPr>
        <p:spPr>
          <a:xfrm>
            <a:off x="11300790" y="797433"/>
            <a:ext cx="44450" cy="44450"/>
          </a:xfrm>
          <a:prstGeom prst="ellipse">
            <a:avLst/>
          </a:prstGeom>
          <a:solidFill>
            <a:srgbClr val="000000"/>
          </a:solidFill>
          <a:ln/>
        </p:spPr>
      </p:sp>
      <p:sp>
        <p:nvSpPr>
          <p:cNvPr id="14" name="Shape 12"/>
          <p:cNvSpPr/>
          <p:nvPr/>
        </p:nvSpPr>
        <p:spPr>
          <a:xfrm>
            <a:off x="11233226" y="775208"/>
            <a:ext cx="44450" cy="44450"/>
          </a:xfrm>
          <a:prstGeom prst="ellipse">
            <a:avLst/>
          </a:prstGeom>
          <a:solidFill>
            <a:srgbClr val="000000"/>
          </a:solidFill>
          <a:ln/>
        </p:spPr>
      </p:sp>
      <p:sp>
        <p:nvSpPr>
          <p:cNvPr id="15" name="Shape 13"/>
          <p:cNvSpPr/>
          <p:nvPr/>
        </p:nvSpPr>
        <p:spPr>
          <a:xfrm>
            <a:off x="11190554" y="717423"/>
            <a:ext cx="44450" cy="44450"/>
          </a:xfrm>
          <a:prstGeom prst="ellipse">
            <a:avLst/>
          </a:prstGeom>
          <a:solidFill>
            <a:srgbClr val="000000"/>
          </a:solidFill>
          <a:ln/>
        </p:spPr>
      </p:sp>
      <p:sp>
        <p:nvSpPr>
          <p:cNvPr id="16" name="Shape 14"/>
          <p:cNvSpPr/>
          <p:nvPr/>
        </p:nvSpPr>
        <p:spPr>
          <a:xfrm>
            <a:off x="11190554" y="646303"/>
            <a:ext cx="44450" cy="44450"/>
          </a:xfrm>
          <a:prstGeom prst="ellipse">
            <a:avLst/>
          </a:prstGeom>
          <a:solidFill>
            <a:srgbClr val="000000"/>
          </a:solidFill>
          <a:ln/>
        </p:spPr>
      </p:sp>
      <p:sp>
        <p:nvSpPr>
          <p:cNvPr id="17" name="Shape 15"/>
          <p:cNvSpPr/>
          <p:nvPr/>
        </p:nvSpPr>
        <p:spPr>
          <a:xfrm>
            <a:off x="11233226" y="588518"/>
            <a:ext cx="44450" cy="44450"/>
          </a:xfrm>
          <a:prstGeom prst="ellipse">
            <a:avLst/>
          </a:prstGeom>
          <a:solidFill>
            <a:srgbClr val="000000"/>
          </a:solidFill>
          <a:ln/>
        </p:spPr>
      </p:sp>
      <p:sp>
        <p:nvSpPr>
          <p:cNvPr id="18" name="Shape 16"/>
          <p:cNvSpPr/>
          <p:nvPr/>
        </p:nvSpPr>
        <p:spPr>
          <a:xfrm>
            <a:off x="11305235" y="517398"/>
            <a:ext cx="35560" cy="35560"/>
          </a:xfrm>
          <a:prstGeom prst="ellipse">
            <a:avLst/>
          </a:prstGeom>
          <a:solidFill>
            <a:srgbClr val="000000"/>
          </a:solidFill>
          <a:ln/>
        </p:spPr>
      </p:sp>
      <p:sp>
        <p:nvSpPr>
          <p:cNvPr id="19" name="Shape 17"/>
          <p:cNvSpPr/>
          <p:nvPr/>
        </p:nvSpPr>
        <p:spPr>
          <a:xfrm>
            <a:off x="11378133" y="534289"/>
            <a:ext cx="35560" cy="35560"/>
          </a:xfrm>
          <a:prstGeom prst="ellipse">
            <a:avLst/>
          </a:prstGeom>
          <a:solidFill>
            <a:srgbClr val="000000"/>
          </a:solidFill>
          <a:ln/>
        </p:spPr>
      </p:sp>
      <p:sp>
        <p:nvSpPr>
          <p:cNvPr id="20" name="Shape 18"/>
          <p:cNvSpPr/>
          <p:nvPr/>
        </p:nvSpPr>
        <p:spPr>
          <a:xfrm>
            <a:off x="11437696" y="581406"/>
            <a:ext cx="35560" cy="35560"/>
          </a:xfrm>
          <a:prstGeom prst="ellipse">
            <a:avLst/>
          </a:prstGeom>
          <a:solidFill>
            <a:srgbClr val="000000"/>
          </a:solidFill>
          <a:ln/>
        </p:spPr>
      </p:sp>
      <p:sp>
        <p:nvSpPr>
          <p:cNvPr id="21" name="Shape 19"/>
          <p:cNvSpPr/>
          <p:nvPr/>
        </p:nvSpPr>
        <p:spPr>
          <a:xfrm>
            <a:off x="11469700" y="648970"/>
            <a:ext cx="35560" cy="35560"/>
          </a:xfrm>
          <a:prstGeom prst="ellipse">
            <a:avLst/>
          </a:prstGeom>
          <a:solidFill>
            <a:srgbClr val="000000"/>
          </a:solidFill>
          <a:ln/>
        </p:spPr>
      </p:sp>
      <p:sp>
        <p:nvSpPr>
          <p:cNvPr id="22" name="Shape 20"/>
          <p:cNvSpPr/>
          <p:nvPr/>
        </p:nvSpPr>
        <p:spPr>
          <a:xfrm>
            <a:off x="11469700" y="723646"/>
            <a:ext cx="35560" cy="35560"/>
          </a:xfrm>
          <a:prstGeom prst="ellipse">
            <a:avLst/>
          </a:prstGeom>
          <a:solidFill>
            <a:srgbClr val="000000"/>
          </a:solidFill>
          <a:ln/>
        </p:spPr>
      </p:sp>
      <p:sp>
        <p:nvSpPr>
          <p:cNvPr id="23" name="Shape 21"/>
          <p:cNvSpPr/>
          <p:nvPr/>
        </p:nvSpPr>
        <p:spPr>
          <a:xfrm>
            <a:off x="11437696" y="791210"/>
            <a:ext cx="35560" cy="35560"/>
          </a:xfrm>
          <a:prstGeom prst="ellipse">
            <a:avLst/>
          </a:prstGeom>
          <a:solidFill>
            <a:srgbClr val="000000"/>
          </a:solidFill>
          <a:ln/>
        </p:spPr>
      </p:sp>
      <p:sp>
        <p:nvSpPr>
          <p:cNvPr id="24" name="Shape 22"/>
          <p:cNvSpPr/>
          <p:nvPr/>
        </p:nvSpPr>
        <p:spPr>
          <a:xfrm>
            <a:off x="11378133" y="838327"/>
            <a:ext cx="35560" cy="35560"/>
          </a:xfrm>
          <a:prstGeom prst="ellipse">
            <a:avLst/>
          </a:prstGeom>
          <a:solidFill>
            <a:srgbClr val="000000"/>
          </a:solidFill>
          <a:ln/>
        </p:spPr>
      </p:sp>
      <p:sp>
        <p:nvSpPr>
          <p:cNvPr id="25" name="Shape 23"/>
          <p:cNvSpPr/>
          <p:nvPr/>
        </p:nvSpPr>
        <p:spPr>
          <a:xfrm>
            <a:off x="11305235" y="855218"/>
            <a:ext cx="35560" cy="35560"/>
          </a:xfrm>
          <a:prstGeom prst="ellipse">
            <a:avLst/>
          </a:prstGeom>
          <a:solidFill>
            <a:srgbClr val="000000"/>
          </a:solidFill>
          <a:ln/>
        </p:spPr>
      </p:sp>
      <p:sp>
        <p:nvSpPr>
          <p:cNvPr id="26" name="Shape 24"/>
          <p:cNvSpPr/>
          <p:nvPr/>
        </p:nvSpPr>
        <p:spPr>
          <a:xfrm>
            <a:off x="11232337" y="838327"/>
            <a:ext cx="35560" cy="35560"/>
          </a:xfrm>
          <a:prstGeom prst="ellipse">
            <a:avLst/>
          </a:prstGeom>
          <a:solidFill>
            <a:srgbClr val="000000"/>
          </a:solidFill>
          <a:ln/>
        </p:spPr>
      </p:sp>
      <p:sp>
        <p:nvSpPr>
          <p:cNvPr id="27" name="Shape 25"/>
          <p:cNvSpPr/>
          <p:nvPr/>
        </p:nvSpPr>
        <p:spPr>
          <a:xfrm>
            <a:off x="11172774" y="791210"/>
            <a:ext cx="35560" cy="35560"/>
          </a:xfrm>
          <a:prstGeom prst="ellipse">
            <a:avLst/>
          </a:prstGeom>
          <a:solidFill>
            <a:srgbClr val="000000"/>
          </a:solidFill>
          <a:ln/>
        </p:spPr>
      </p:sp>
      <p:sp>
        <p:nvSpPr>
          <p:cNvPr id="28" name="Shape 26"/>
          <p:cNvSpPr/>
          <p:nvPr/>
        </p:nvSpPr>
        <p:spPr>
          <a:xfrm>
            <a:off x="11140770" y="723646"/>
            <a:ext cx="35560" cy="35560"/>
          </a:xfrm>
          <a:prstGeom prst="ellipse">
            <a:avLst/>
          </a:prstGeom>
          <a:solidFill>
            <a:srgbClr val="000000"/>
          </a:solidFill>
          <a:ln/>
        </p:spPr>
      </p:sp>
      <p:sp>
        <p:nvSpPr>
          <p:cNvPr id="29" name="Shape 27"/>
          <p:cNvSpPr/>
          <p:nvPr/>
        </p:nvSpPr>
        <p:spPr>
          <a:xfrm>
            <a:off x="11140770" y="648970"/>
            <a:ext cx="35560" cy="35560"/>
          </a:xfrm>
          <a:prstGeom prst="ellipse">
            <a:avLst/>
          </a:prstGeom>
          <a:solidFill>
            <a:srgbClr val="000000"/>
          </a:solidFill>
          <a:ln/>
        </p:spPr>
      </p:sp>
      <p:sp>
        <p:nvSpPr>
          <p:cNvPr id="30" name="Shape 28"/>
          <p:cNvSpPr/>
          <p:nvPr/>
        </p:nvSpPr>
        <p:spPr>
          <a:xfrm>
            <a:off x="11172774" y="581406"/>
            <a:ext cx="35560" cy="35560"/>
          </a:xfrm>
          <a:prstGeom prst="ellipse">
            <a:avLst/>
          </a:prstGeom>
          <a:solidFill>
            <a:srgbClr val="000000"/>
          </a:solidFill>
          <a:ln/>
        </p:spPr>
      </p:sp>
      <p:sp>
        <p:nvSpPr>
          <p:cNvPr id="31" name="Shape 29"/>
          <p:cNvSpPr/>
          <p:nvPr/>
        </p:nvSpPr>
        <p:spPr>
          <a:xfrm>
            <a:off x="11232337" y="534289"/>
            <a:ext cx="35560" cy="35560"/>
          </a:xfrm>
          <a:prstGeom prst="ellipse">
            <a:avLst/>
          </a:prstGeom>
          <a:solidFill>
            <a:srgbClr val="000000"/>
          </a:solidFill>
          <a:ln/>
        </p:spPr>
      </p:sp>
      <p:sp>
        <p:nvSpPr>
          <p:cNvPr id="32" name="Shape 30"/>
          <p:cNvSpPr/>
          <p:nvPr/>
        </p:nvSpPr>
        <p:spPr>
          <a:xfrm>
            <a:off x="11308791" y="467614"/>
            <a:ext cx="28448" cy="28448"/>
          </a:xfrm>
          <a:prstGeom prst="ellipse">
            <a:avLst/>
          </a:prstGeom>
          <a:solidFill>
            <a:srgbClr val="000000"/>
          </a:solidFill>
          <a:ln/>
        </p:spPr>
      </p:sp>
      <p:sp>
        <p:nvSpPr>
          <p:cNvPr id="33" name="Shape 31"/>
          <p:cNvSpPr/>
          <p:nvPr/>
        </p:nvSpPr>
        <p:spPr>
          <a:xfrm>
            <a:off x="11385245" y="480949"/>
            <a:ext cx="28448" cy="28448"/>
          </a:xfrm>
          <a:prstGeom prst="ellipse">
            <a:avLst/>
          </a:prstGeom>
          <a:solidFill>
            <a:srgbClr val="000000"/>
          </a:solidFill>
          <a:ln/>
        </p:spPr>
      </p:sp>
      <p:sp>
        <p:nvSpPr>
          <p:cNvPr id="34" name="Shape 32"/>
          <p:cNvSpPr/>
          <p:nvPr/>
        </p:nvSpPr>
        <p:spPr>
          <a:xfrm>
            <a:off x="11451920" y="519176"/>
            <a:ext cx="28448" cy="28448"/>
          </a:xfrm>
          <a:prstGeom prst="ellipse">
            <a:avLst/>
          </a:prstGeom>
          <a:solidFill>
            <a:srgbClr val="000000"/>
          </a:solidFill>
          <a:ln/>
        </p:spPr>
      </p:sp>
      <p:sp>
        <p:nvSpPr>
          <p:cNvPr id="35" name="Shape 33"/>
          <p:cNvSpPr/>
          <p:nvPr/>
        </p:nvSpPr>
        <p:spPr>
          <a:xfrm>
            <a:off x="11501704" y="578739"/>
            <a:ext cx="28448" cy="28448"/>
          </a:xfrm>
          <a:prstGeom prst="ellipse">
            <a:avLst/>
          </a:prstGeom>
          <a:solidFill>
            <a:srgbClr val="000000"/>
          </a:solidFill>
          <a:ln/>
        </p:spPr>
      </p:sp>
      <p:sp>
        <p:nvSpPr>
          <p:cNvPr id="36" name="Shape 34"/>
          <p:cNvSpPr/>
          <p:nvPr/>
        </p:nvSpPr>
        <p:spPr>
          <a:xfrm>
            <a:off x="11527485" y="651637"/>
            <a:ext cx="28448" cy="28448"/>
          </a:xfrm>
          <a:prstGeom prst="ellipse">
            <a:avLst/>
          </a:prstGeom>
          <a:solidFill>
            <a:srgbClr val="000000"/>
          </a:solidFill>
          <a:ln/>
        </p:spPr>
      </p:sp>
      <p:sp>
        <p:nvSpPr>
          <p:cNvPr id="37" name="Shape 35"/>
          <p:cNvSpPr/>
          <p:nvPr/>
        </p:nvSpPr>
        <p:spPr>
          <a:xfrm>
            <a:off x="11527485" y="728091"/>
            <a:ext cx="28448" cy="28448"/>
          </a:xfrm>
          <a:prstGeom prst="ellipse">
            <a:avLst/>
          </a:prstGeom>
          <a:solidFill>
            <a:srgbClr val="000000"/>
          </a:solidFill>
          <a:ln/>
        </p:spPr>
      </p:sp>
      <p:sp>
        <p:nvSpPr>
          <p:cNvPr id="38" name="Shape 36"/>
          <p:cNvSpPr/>
          <p:nvPr/>
        </p:nvSpPr>
        <p:spPr>
          <a:xfrm>
            <a:off x="11501704" y="800989"/>
            <a:ext cx="28448" cy="28448"/>
          </a:xfrm>
          <a:prstGeom prst="ellipse">
            <a:avLst/>
          </a:prstGeom>
          <a:solidFill>
            <a:srgbClr val="000000"/>
          </a:solidFill>
          <a:ln/>
        </p:spPr>
      </p:sp>
      <p:sp>
        <p:nvSpPr>
          <p:cNvPr id="39" name="Shape 37"/>
          <p:cNvSpPr/>
          <p:nvPr/>
        </p:nvSpPr>
        <p:spPr>
          <a:xfrm>
            <a:off x="11451920" y="860552"/>
            <a:ext cx="28448" cy="28448"/>
          </a:xfrm>
          <a:prstGeom prst="ellipse">
            <a:avLst/>
          </a:prstGeom>
          <a:solidFill>
            <a:srgbClr val="000000"/>
          </a:solidFill>
          <a:ln/>
        </p:spPr>
      </p:sp>
      <p:sp>
        <p:nvSpPr>
          <p:cNvPr id="40" name="Shape 38"/>
          <p:cNvSpPr/>
          <p:nvPr/>
        </p:nvSpPr>
        <p:spPr>
          <a:xfrm>
            <a:off x="11385245" y="898779"/>
            <a:ext cx="28448" cy="28448"/>
          </a:xfrm>
          <a:prstGeom prst="ellipse">
            <a:avLst/>
          </a:prstGeom>
          <a:solidFill>
            <a:srgbClr val="000000"/>
          </a:solidFill>
          <a:ln/>
        </p:spPr>
      </p:sp>
      <p:sp>
        <p:nvSpPr>
          <p:cNvPr id="41" name="Shape 39"/>
          <p:cNvSpPr/>
          <p:nvPr/>
        </p:nvSpPr>
        <p:spPr>
          <a:xfrm>
            <a:off x="11308791" y="912114"/>
            <a:ext cx="28448" cy="28448"/>
          </a:xfrm>
          <a:prstGeom prst="ellipse">
            <a:avLst/>
          </a:prstGeom>
          <a:solidFill>
            <a:srgbClr val="000000"/>
          </a:solidFill>
          <a:ln/>
        </p:spPr>
      </p:sp>
      <p:sp>
        <p:nvSpPr>
          <p:cNvPr id="42" name="Shape 40"/>
          <p:cNvSpPr/>
          <p:nvPr/>
        </p:nvSpPr>
        <p:spPr>
          <a:xfrm>
            <a:off x="11232337" y="898779"/>
            <a:ext cx="28448" cy="28448"/>
          </a:xfrm>
          <a:prstGeom prst="ellipse">
            <a:avLst/>
          </a:prstGeom>
          <a:solidFill>
            <a:srgbClr val="000000"/>
          </a:solidFill>
          <a:ln/>
        </p:spPr>
      </p:sp>
      <p:sp>
        <p:nvSpPr>
          <p:cNvPr id="43" name="Shape 41"/>
          <p:cNvSpPr/>
          <p:nvPr/>
        </p:nvSpPr>
        <p:spPr>
          <a:xfrm>
            <a:off x="11165662" y="860552"/>
            <a:ext cx="28448" cy="28448"/>
          </a:xfrm>
          <a:prstGeom prst="ellipse">
            <a:avLst/>
          </a:prstGeom>
          <a:solidFill>
            <a:srgbClr val="000000"/>
          </a:solidFill>
          <a:ln/>
        </p:spPr>
      </p:sp>
      <p:sp>
        <p:nvSpPr>
          <p:cNvPr id="44" name="Shape 42"/>
          <p:cNvSpPr/>
          <p:nvPr/>
        </p:nvSpPr>
        <p:spPr>
          <a:xfrm>
            <a:off x="11115878" y="800989"/>
            <a:ext cx="28448" cy="28448"/>
          </a:xfrm>
          <a:prstGeom prst="ellipse">
            <a:avLst/>
          </a:prstGeom>
          <a:solidFill>
            <a:srgbClr val="000000"/>
          </a:solidFill>
          <a:ln/>
        </p:spPr>
      </p:sp>
      <p:sp>
        <p:nvSpPr>
          <p:cNvPr id="45" name="Shape 43"/>
          <p:cNvSpPr/>
          <p:nvPr/>
        </p:nvSpPr>
        <p:spPr>
          <a:xfrm>
            <a:off x="11090097" y="728091"/>
            <a:ext cx="28448" cy="28448"/>
          </a:xfrm>
          <a:prstGeom prst="ellipse">
            <a:avLst/>
          </a:prstGeom>
          <a:solidFill>
            <a:srgbClr val="000000"/>
          </a:solidFill>
          <a:ln/>
        </p:spPr>
      </p:sp>
      <p:sp>
        <p:nvSpPr>
          <p:cNvPr id="46" name="Shape 44"/>
          <p:cNvSpPr/>
          <p:nvPr/>
        </p:nvSpPr>
        <p:spPr>
          <a:xfrm>
            <a:off x="11090097" y="651637"/>
            <a:ext cx="28448" cy="28448"/>
          </a:xfrm>
          <a:prstGeom prst="ellipse">
            <a:avLst/>
          </a:prstGeom>
          <a:solidFill>
            <a:srgbClr val="000000"/>
          </a:solidFill>
          <a:ln/>
        </p:spPr>
      </p:sp>
      <p:sp>
        <p:nvSpPr>
          <p:cNvPr id="47" name="Shape 45"/>
          <p:cNvSpPr/>
          <p:nvPr/>
        </p:nvSpPr>
        <p:spPr>
          <a:xfrm>
            <a:off x="11115878" y="578739"/>
            <a:ext cx="28448" cy="28448"/>
          </a:xfrm>
          <a:prstGeom prst="ellipse">
            <a:avLst/>
          </a:prstGeom>
          <a:solidFill>
            <a:srgbClr val="000000"/>
          </a:solidFill>
          <a:ln/>
        </p:spPr>
      </p:sp>
      <p:sp>
        <p:nvSpPr>
          <p:cNvPr id="48" name="Shape 46"/>
          <p:cNvSpPr/>
          <p:nvPr/>
        </p:nvSpPr>
        <p:spPr>
          <a:xfrm>
            <a:off x="11165662" y="519176"/>
            <a:ext cx="28448" cy="28448"/>
          </a:xfrm>
          <a:prstGeom prst="ellipse">
            <a:avLst/>
          </a:prstGeom>
          <a:solidFill>
            <a:srgbClr val="000000"/>
          </a:solidFill>
          <a:ln/>
        </p:spPr>
      </p:sp>
      <p:sp>
        <p:nvSpPr>
          <p:cNvPr id="49" name="Shape 47"/>
          <p:cNvSpPr/>
          <p:nvPr/>
        </p:nvSpPr>
        <p:spPr>
          <a:xfrm>
            <a:off x="11232337" y="480949"/>
            <a:ext cx="28448" cy="28448"/>
          </a:xfrm>
          <a:prstGeom prst="ellipse">
            <a:avLst/>
          </a:prstGeom>
          <a:solidFill>
            <a:srgbClr val="000000"/>
          </a:solidFill>
          <a:ln/>
        </p:spPr>
      </p:sp>
      <p:sp>
        <p:nvSpPr>
          <p:cNvPr id="50" name="Shape 48"/>
          <p:cNvSpPr/>
          <p:nvPr/>
        </p:nvSpPr>
        <p:spPr>
          <a:xfrm>
            <a:off x="11312347" y="417830"/>
            <a:ext cx="21336" cy="21336"/>
          </a:xfrm>
          <a:prstGeom prst="ellipse">
            <a:avLst/>
          </a:prstGeom>
          <a:solidFill>
            <a:srgbClr val="000000"/>
          </a:solidFill>
          <a:ln/>
        </p:spPr>
      </p:sp>
      <p:sp>
        <p:nvSpPr>
          <p:cNvPr id="51" name="Shape 49"/>
          <p:cNvSpPr/>
          <p:nvPr/>
        </p:nvSpPr>
        <p:spPr>
          <a:xfrm>
            <a:off x="11389690" y="429387"/>
            <a:ext cx="21336" cy="21336"/>
          </a:xfrm>
          <a:prstGeom prst="ellipse">
            <a:avLst/>
          </a:prstGeom>
          <a:solidFill>
            <a:srgbClr val="000000"/>
          </a:solidFill>
          <a:ln/>
        </p:spPr>
      </p:sp>
      <p:sp>
        <p:nvSpPr>
          <p:cNvPr id="52" name="Shape 50"/>
          <p:cNvSpPr/>
          <p:nvPr/>
        </p:nvSpPr>
        <p:spPr>
          <a:xfrm>
            <a:off x="11461699" y="461391"/>
            <a:ext cx="21336" cy="21336"/>
          </a:xfrm>
          <a:prstGeom prst="ellipse">
            <a:avLst/>
          </a:prstGeom>
          <a:solidFill>
            <a:srgbClr val="000000"/>
          </a:solidFill>
          <a:ln/>
        </p:spPr>
      </p:sp>
      <p:sp>
        <p:nvSpPr>
          <p:cNvPr id="53" name="Shape 51"/>
          <p:cNvSpPr/>
          <p:nvPr/>
        </p:nvSpPr>
        <p:spPr>
          <a:xfrm>
            <a:off x="11520373" y="512953"/>
            <a:ext cx="21336" cy="21336"/>
          </a:xfrm>
          <a:prstGeom prst="ellipse">
            <a:avLst/>
          </a:prstGeom>
          <a:solidFill>
            <a:srgbClr val="000000"/>
          </a:solidFill>
          <a:ln/>
        </p:spPr>
      </p:sp>
      <p:sp>
        <p:nvSpPr>
          <p:cNvPr id="54" name="Shape 52"/>
          <p:cNvSpPr/>
          <p:nvPr/>
        </p:nvSpPr>
        <p:spPr>
          <a:xfrm>
            <a:off x="11563045" y="578739"/>
            <a:ext cx="21336" cy="21336"/>
          </a:xfrm>
          <a:prstGeom prst="ellipse">
            <a:avLst/>
          </a:prstGeom>
          <a:solidFill>
            <a:srgbClr val="000000"/>
          </a:solidFill>
          <a:ln/>
        </p:spPr>
      </p:sp>
      <p:sp>
        <p:nvSpPr>
          <p:cNvPr id="55" name="Shape 53"/>
          <p:cNvSpPr/>
          <p:nvPr/>
        </p:nvSpPr>
        <p:spPr>
          <a:xfrm>
            <a:off x="11585270" y="654304"/>
            <a:ext cx="21336" cy="21336"/>
          </a:xfrm>
          <a:prstGeom prst="ellipse">
            <a:avLst/>
          </a:prstGeom>
          <a:solidFill>
            <a:srgbClr val="000000"/>
          </a:solidFill>
          <a:ln/>
        </p:spPr>
      </p:sp>
      <p:sp>
        <p:nvSpPr>
          <p:cNvPr id="56" name="Shape 54"/>
          <p:cNvSpPr/>
          <p:nvPr/>
        </p:nvSpPr>
        <p:spPr>
          <a:xfrm>
            <a:off x="11585270" y="732536"/>
            <a:ext cx="21336" cy="21336"/>
          </a:xfrm>
          <a:prstGeom prst="ellipse">
            <a:avLst/>
          </a:prstGeom>
          <a:solidFill>
            <a:srgbClr val="000000"/>
          </a:solidFill>
          <a:ln/>
        </p:spPr>
      </p:sp>
      <p:sp>
        <p:nvSpPr>
          <p:cNvPr id="57" name="Shape 55"/>
          <p:cNvSpPr/>
          <p:nvPr/>
        </p:nvSpPr>
        <p:spPr>
          <a:xfrm>
            <a:off x="11563045" y="808101"/>
            <a:ext cx="21336" cy="21336"/>
          </a:xfrm>
          <a:prstGeom prst="ellipse">
            <a:avLst/>
          </a:prstGeom>
          <a:solidFill>
            <a:srgbClr val="000000"/>
          </a:solidFill>
          <a:ln/>
        </p:spPr>
      </p:sp>
      <p:sp>
        <p:nvSpPr>
          <p:cNvPr id="58" name="Shape 56"/>
          <p:cNvSpPr/>
          <p:nvPr/>
        </p:nvSpPr>
        <p:spPr>
          <a:xfrm>
            <a:off x="11520373" y="873887"/>
            <a:ext cx="21336" cy="21336"/>
          </a:xfrm>
          <a:prstGeom prst="ellipse">
            <a:avLst/>
          </a:prstGeom>
          <a:solidFill>
            <a:srgbClr val="000000"/>
          </a:solidFill>
          <a:ln/>
        </p:spPr>
      </p:sp>
      <p:sp>
        <p:nvSpPr>
          <p:cNvPr id="59" name="Shape 57"/>
          <p:cNvSpPr/>
          <p:nvPr/>
        </p:nvSpPr>
        <p:spPr>
          <a:xfrm>
            <a:off x="11461699" y="925449"/>
            <a:ext cx="21336" cy="21336"/>
          </a:xfrm>
          <a:prstGeom prst="ellipse">
            <a:avLst/>
          </a:prstGeom>
          <a:solidFill>
            <a:srgbClr val="000000"/>
          </a:solidFill>
          <a:ln/>
        </p:spPr>
      </p:sp>
      <p:sp>
        <p:nvSpPr>
          <p:cNvPr id="60" name="Shape 58"/>
          <p:cNvSpPr/>
          <p:nvPr/>
        </p:nvSpPr>
        <p:spPr>
          <a:xfrm>
            <a:off x="11389690" y="957453"/>
            <a:ext cx="21336" cy="21336"/>
          </a:xfrm>
          <a:prstGeom prst="ellipse">
            <a:avLst/>
          </a:prstGeom>
          <a:solidFill>
            <a:srgbClr val="000000"/>
          </a:solidFill>
          <a:ln/>
        </p:spPr>
      </p:sp>
      <p:sp>
        <p:nvSpPr>
          <p:cNvPr id="61" name="Shape 59"/>
          <p:cNvSpPr/>
          <p:nvPr/>
        </p:nvSpPr>
        <p:spPr>
          <a:xfrm>
            <a:off x="11312347" y="969010"/>
            <a:ext cx="21336" cy="21336"/>
          </a:xfrm>
          <a:prstGeom prst="ellipse">
            <a:avLst/>
          </a:prstGeom>
          <a:solidFill>
            <a:srgbClr val="000000"/>
          </a:solidFill>
          <a:ln/>
        </p:spPr>
      </p:sp>
      <p:sp>
        <p:nvSpPr>
          <p:cNvPr id="62" name="Shape 60"/>
          <p:cNvSpPr/>
          <p:nvPr/>
        </p:nvSpPr>
        <p:spPr>
          <a:xfrm>
            <a:off x="11235004" y="957453"/>
            <a:ext cx="21336" cy="21336"/>
          </a:xfrm>
          <a:prstGeom prst="ellipse">
            <a:avLst/>
          </a:prstGeom>
          <a:solidFill>
            <a:srgbClr val="000000"/>
          </a:solidFill>
          <a:ln/>
        </p:spPr>
      </p:sp>
      <p:sp>
        <p:nvSpPr>
          <p:cNvPr id="63" name="Shape 61"/>
          <p:cNvSpPr/>
          <p:nvPr/>
        </p:nvSpPr>
        <p:spPr>
          <a:xfrm>
            <a:off x="11162995" y="925449"/>
            <a:ext cx="21336" cy="21336"/>
          </a:xfrm>
          <a:prstGeom prst="ellipse">
            <a:avLst/>
          </a:prstGeom>
          <a:solidFill>
            <a:srgbClr val="000000"/>
          </a:solidFill>
          <a:ln/>
        </p:spPr>
      </p:sp>
      <p:sp>
        <p:nvSpPr>
          <p:cNvPr id="64" name="Shape 62"/>
          <p:cNvSpPr/>
          <p:nvPr/>
        </p:nvSpPr>
        <p:spPr>
          <a:xfrm>
            <a:off x="11104321" y="873887"/>
            <a:ext cx="21336" cy="21336"/>
          </a:xfrm>
          <a:prstGeom prst="ellipse">
            <a:avLst/>
          </a:prstGeom>
          <a:solidFill>
            <a:srgbClr val="000000"/>
          </a:solidFill>
          <a:ln/>
        </p:spPr>
      </p:sp>
      <p:sp>
        <p:nvSpPr>
          <p:cNvPr id="65" name="Shape 63"/>
          <p:cNvSpPr/>
          <p:nvPr/>
        </p:nvSpPr>
        <p:spPr>
          <a:xfrm>
            <a:off x="11061649" y="808101"/>
            <a:ext cx="21336" cy="21336"/>
          </a:xfrm>
          <a:prstGeom prst="ellipse">
            <a:avLst/>
          </a:prstGeom>
          <a:solidFill>
            <a:srgbClr val="000000"/>
          </a:solidFill>
          <a:ln/>
        </p:spPr>
      </p:sp>
      <p:sp>
        <p:nvSpPr>
          <p:cNvPr id="66" name="Shape 64"/>
          <p:cNvSpPr/>
          <p:nvPr/>
        </p:nvSpPr>
        <p:spPr>
          <a:xfrm>
            <a:off x="11039424" y="732536"/>
            <a:ext cx="21336" cy="21336"/>
          </a:xfrm>
          <a:prstGeom prst="ellipse">
            <a:avLst/>
          </a:prstGeom>
          <a:solidFill>
            <a:srgbClr val="000000"/>
          </a:solidFill>
          <a:ln/>
        </p:spPr>
      </p:sp>
      <p:sp>
        <p:nvSpPr>
          <p:cNvPr id="67" name="Shape 65"/>
          <p:cNvSpPr/>
          <p:nvPr/>
        </p:nvSpPr>
        <p:spPr>
          <a:xfrm>
            <a:off x="11039424" y="654304"/>
            <a:ext cx="21336" cy="21336"/>
          </a:xfrm>
          <a:prstGeom prst="ellipse">
            <a:avLst/>
          </a:prstGeom>
          <a:solidFill>
            <a:srgbClr val="000000"/>
          </a:solidFill>
          <a:ln/>
        </p:spPr>
      </p:sp>
      <p:sp>
        <p:nvSpPr>
          <p:cNvPr id="68" name="Shape 66"/>
          <p:cNvSpPr/>
          <p:nvPr/>
        </p:nvSpPr>
        <p:spPr>
          <a:xfrm>
            <a:off x="11061649" y="578739"/>
            <a:ext cx="21336" cy="21336"/>
          </a:xfrm>
          <a:prstGeom prst="ellipse">
            <a:avLst/>
          </a:prstGeom>
          <a:solidFill>
            <a:srgbClr val="000000"/>
          </a:solidFill>
          <a:ln/>
        </p:spPr>
      </p:sp>
      <p:sp>
        <p:nvSpPr>
          <p:cNvPr id="69" name="Shape 67"/>
          <p:cNvSpPr/>
          <p:nvPr/>
        </p:nvSpPr>
        <p:spPr>
          <a:xfrm>
            <a:off x="11104321" y="512953"/>
            <a:ext cx="21336" cy="21336"/>
          </a:xfrm>
          <a:prstGeom prst="ellipse">
            <a:avLst/>
          </a:prstGeom>
          <a:solidFill>
            <a:srgbClr val="000000"/>
          </a:solidFill>
          <a:ln/>
        </p:spPr>
      </p:sp>
      <p:sp>
        <p:nvSpPr>
          <p:cNvPr id="70" name="Shape 68"/>
          <p:cNvSpPr/>
          <p:nvPr/>
        </p:nvSpPr>
        <p:spPr>
          <a:xfrm>
            <a:off x="11162995" y="461391"/>
            <a:ext cx="21336" cy="21336"/>
          </a:xfrm>
          <a:prstGeom prst="ellipse">
            <a:avLst/>
          </a:prstGeom>
          <a:solidFill>
            <a:srgbClr val="000000"/>
          </a:solidFill>
          <a:ln/>
        </p:spPr>
      </p:sp>
      <p:sp>
        <p:nvSpPr>
          <p:cNvPr id="71" name="Shape 69"/>
          <p:cNvSpPr/>
          <p:nvPr/>
        </p:nvSpPr>
        <p:spPr>
          <a:xfrm>
            <a:off x="11235004" y="429387"/>
            <a:ext cx="21336" cy="21336"/>
          </a:xfrm>
          <a:prstGeom prst="ellipse">
            <a:avLst/>
          </a:prstGeom>
          <a:solidFill>
            <a:srgbClr val="000000"/>
          </a:solidFill>
          <a:ln/>
        </p:spPr>
      </p:sp>
      <p:sp>
        <p:nvSpPr>
          <p:cNvPr id="72" name="Text 70"/>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3D68EC"/>
                </a:solidFill>
                <a:latin typeface="General Sans Semibold" pitchFamily="34" charset="0"/>
                <a:ea typeface="General Sans Semibold" pitchFamily="34" charset="-122"/>
                <a:cs typeface="General Sans Semibold" pitchFamily="34" charset="-120"/>
              </a:rPr>
              <a:t>Wat wil je precies leren?</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Kort en concreet. Bijvoorbeeld: een eigen skill schrijven voor onze data.</a:t>
            </a:r>
            <a:endParaRPr lang="en-US" sz="2200" dirty="0"/>
          </a:p>
        </p:txBody>
      </p:sp>
      <p:pic>
        <p:nvPicPr>
          <p:cNvPr id="74" name="Image 0" descr="exports\261005_workshop_rad_uitvoering\img\Lamp.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D9DC"/>
        </a:solidFill>
      </p:bgPr>
    </p:bg>
    <p:spTree>
      <p:nvGrpSpPr>
        <p:cNvPr id="1" name=""/>
        <p:cNvGrpSpPr/>
        <p:nvPr/>
      </p:nvGrpSpPr>
      <p:grpSpPr>
        <a:xfrm>
          <a:off x="0" y="0"/>
          <a:ext cx="0" cy="0"/>
          <a:chOff x="0" y="0"/>
          <a:chExt cx="0" cy="0"/>
        </a:xfrm>
      </p:grpSpPr>
      <p:sp>
        <p:nvSpPr>
          <p:cNvPr id="2" name="Text 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Afsluiting</a:t>
            </a:r>
            <a:endParaRPr lang="en-US" sz="3400" dirty="0"/>
          </a:p>
        </p:txBody>
      </p:sp>
      <p:sp>
        <p:nvSpPr>
          <p:cNvPr id="3" name="Text 1"/>
          <p:cNvSpPr/>
          <p:nvPr/>
        </p:nvSpPr>
        <p:spPr>
          <a:xfrm>
            <a:off x="548640" y="1645920"/>
            <a:ext cx="5120640" cy="1290320"/>
          </a:xfrm>
          <a:prstGeom prst="rect">
            <a:avLst/>
          </a:prstGeom>
          <a:noFill/>
          <a:ln/>
        </p:spPr>
        <p:txBody>
          <a:bodyPr wrap="square" lIns="0" tIns="0" rIns="0" bIns="0" rtlCol="0" anchor="t"/>
          <a:lstStyle/>
          <a:p>
            <a:pPr algn="l" indent="0" marL="0">
              <a:lnSpc>
                <a:spcPct val="105000"/>
              </a:lnSpc>
              <a:buNone/>
            </a:pPr>
            <a:r>
              <a:rPr lang="en-US" sz="4000" dirty="0">
                <a:solidFill>
                  <a:srgbClr val="000000"/>
                </a:solidFill>
                <a:latin typeface="Cooper Lt BT" pitchFamily="34" charset="0"/>
                <a:ea typeface="Cooper Lt BT" pitchFamily="34" charset="-122"/>
                <a:cs typeface="Cooper Lt BT" pitchFamily="34" charset="-120"/>
              </a:rPr>
              <a:t>Wat verloor en won je?</a:t>
            </a:r>
            <a:endParaRPr lang="en-US" sz="4000" dirty="0"/>
          </a:p>
        </p:txBody>
      </p:sp>
      <p:sp>
        <p:nvSpPr>
          <p:cNvPr id="4" name="Text 2"/>
          <p:cNvSpPr/>
          <p:nvPr/>
        </p:nvSpPr>
        <p:spPr>
          <a:xfrm>
            <a:off x="548640" y="3256280"/>
            <a:ext cx="5120640" cy="822960"/>
          </a:xfrm>
          <a:prstGeom prst="rect">
            <a:avLst/>
          </a:prstGeom>
          <a:noFill/>
          <a:ln/>
        </p:spPr>
        <p:txBody>
          <a:bodyPr wrap="square" lIns="0" tIns="0" rIns="0" bIns="0" rtlCol="0" anchor="t"/>
          <a:lstStyle/>
          <a:p>
            <a:pPr algn="l" indent="0" marL="0">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En wat doe je morgen anders?</a:t>
            </a:r>
            <a:endParaRPr lang="en-US" sz="1800" dirty="0"/>
          </a:p>
        </p:txBody>
      </p:sp>
      <p:sp>
        <p:nvSpPr>
          <p:cNvPr id="5" name="Text 3"/>
          <p:cNvSpPr/>
          <p:nvPr/>
        </p:nvSpPr>
        <p:spPr>
          <a:xfrm>
            <a:off x="6400800" y="1600200"/>
            <a:ext cx="5242255" cy="457200"/>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Voor onderweg</a:t>
            </a:r>
            <a:endParaRPr lang="en-US" sz="2200" dirty="0"/>
          </a:p>
        </p:txBody>
      </p:sp>
      <p:sp>
        <p:nvSpPr>
          <p:cNvPr id="6" name="Shape 4"/>
          <p:cNvSpPr/>
          <p:nvPr/>
        </p:nvSpPr>
        <p:spPr>
          <a:xfrm>
            <a:off x="6400800" y="2240280"/>
            <a:ext cx="5242255" cy="1371600"/>
          </a:xfrm>
          <a:prstGeom prst="roundRect">
            <a:avLst>
              <a:gd name="adj" fmla="val 11111"/>
            </a:avLst>
          </a:prstGeom>
          <a:solidFill>
            <a:srgbClr val="00AF81"/>
          </a:solidFill>
          <a:ln/>
        </p:spPr>
      </p:sp>
      <p:sp>
        <p:nvSpPr>
          <p:cNvPr id="7" name="Shape 5"/>
          <p:cNvSpPr/>
          <p:nvPr/>
        </p:nvSpPr>
        <p:spPr>
          <a:xfrm>
            <a:off x="6675120" y="2441448"/>
            <a:ext cx="1371600" cy="347472"/>
          </a:xfrm>
          <a:prstGeom prst="roundRect">
            <a:avLst>
              <a:gd name="adj" fmla="val 131579"/>
            </a:avLst>
          </a:prstGeom>
          <a:solidFill>
            <a:srgbClr val="F4D9DC"/>
          </a:solidFill>
          <a:ln/>
        </p:spPr>
      </p:sp>
      <p:sp>
        <p:nvSpPr>
          <p:cNvPr id="8" name="Text 6"/>
          <p:cNvSpPr/>
          <p:nvPr/>
        </p:nvSpPr>
        <p:spPr>
          <a:xfrm>
            <a:off x="6766560" y="2441448"/>
            <a:ext cx="1188720" cy="347472"/>
          </a:xfrm>
          <a:prstGeom prst="rect">
            <a:avLst/>
          </a:prstGeom>
          <a:noFill/>
          <a:ln/>
        </p:spPr>
        <p:txBody>
          <a:bodyPr wrap="square" lIns="0" tIns="0" rIns="0" bIns="0" rtlCol="0" anchor="ctr"/>
          <a:lstStyle/>
          <a:p>
            <a:pPr algn="ctr"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Meenemen</a:t>
            </a:r>
            <a:endParaRPr lang="en-US" sz="1100" dirty="0"/>
          </a:p>
        </p:txBody>
      </p:sp>
      <p:sp>
        <p:nvSpPr>
          <p:cNvPr id="9" name="Text 7"/>
          <p:cNvSpPr/>
          <p:nvPr/>
        </p:nvSpPr>
        <p:spPr>
          <a:xfrm>
            <a:off x="6675120" y="2880360"/>
            <a:ext cx="4693615" cy="59436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De skills staan in de repo, je kunt ze zelf aanpassen.</a:t>
            </a:r>
            <a:endParaRPr lang="en-US" sz="1500" dirty="0"/>
          </a:p>
        </p:txBody>
      </p:sp>
      <p:sp>
        <p:nvSpPr>
          <p:cNvPr id="10" name="Shape 8"/>
          <p:cNvSpPr/>
          <p:nvPr/>
        </p:nvSpPr>
        <p:spPr>
          <a:xfrm>
            <a:off x="6400800" y="3749040"/>
            <a:ext cx="5242255" cy="1371600"/>
          </a:xfrm>
          <a:prstGeom prst="roundRect">
            <a:avLst>
              <a:gd name="adj" fmla="val 11111"/>
            </a:avLst>
          </a:prstGeom>
          <a:solidFill>
            <a:srgbClr val="00AF81"/>
          </a:solidFill>
          <a:ln/>
        </p:spPr>
      </p:sp>
      <p:sp>
        <p:nvSpPr>
          <p:cNvPr id="11" name="Shape 9"/>
          <p:cNvSpPr/>
          <p:nvPr/>
        </p:nvSpPr>
        <p:spPr>
          <a:xfrm>
            <a:off x="6675120" y="3950208"/>
            <a:ext cx="1371600" cy="347472"/>
          </a:xfrm>
          <a:prstGeom prst="roundRect">
            <a:avLst>
              <a:gd name="adj" fmla="val 131579"/>
            </a:avLst>
          </a:prstGeom>
          <a:solidFill>
            <a:srgbClr val="F4D9DC"/>
          </a:solidFill>
          <a:ln/>
        </p:spPr>
      </p:sp>
      <p:sp>
        <p:nvSpPr>
          <p:cNvPr id="12" name="Text 10"/>
          <p:cNvSpPr/>
          <p:nvPr/>
        </p:nvSpPr>
        <p:spPr>
          <a:xfrm>
            <a:off x="6766560" y="3950208"/>
            <a:ext cx="1188720" cy="347472"/>
          </a:xfrm>
          <a:prstGeom prst="rect">
            <a:avLst/>
          </a:prstGeom>
          <a:noFill/>
          <a:ln/>
        </p:spPr>
        <p:txBody>
          <a:bodyPr wrap="square" lIns="0" tIns="0" rIns="0" bIns="0" rtlCol="0" anchor="ctr"/>
          <a:lstStyle/>
          <a:p>
            <a:pPr algn="ctr"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Nog even</a:t>
            </a:r>
            <a:endParaRPr lang="en-US" sz="1100" dirty="0"/>
          </a:p>
        </p:txBody>
      </p:sp>
      <p:sp>
        <p:nvSpPr>
          <p:cNvPr id="13" name="Text 11"/>
          <p:cNvSpPr/>
          <p:nvPr/>
        </p:nvSpPr>
        <p:spPr>
          <a:xfrm>
            <a:off x="6675120" y="4389120"/>
            <a:ext cx="4693615" cy="59436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Een verschil is nog geen oorzaak.</a:t>
            </a:r>
            <a:endParaRPr lang="en-US" sz="1500" dirty="0"/>
          </a:p>
        </p:txBody>
      </p:sp>
      <p:pic>
        <p:nvPicPr>
          <p:cNvPr id="14" name="Image 0" descr="Npuls">    </p:cNvPr>
          <p:cNvPicPr>
            <a:picLocks noChangeAspect="1"/>
          </p:cNvPicPr>
          <p:nvPr/>
        </p:nvPicPr>
        <p:blipFill>
          <a:blip r:embed="rId1"/>
          <a:stretch>
            <a:fillRect/>
          </a:stretch>
        </p:blipFill>
        <p:spPr>
          <a:xfrm>
            <a:off x="10454335" y="5120640"/>
            <a:ext cx="1188720" cy="11887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1600200"/>
            <a:ext cx="11094415" cy="320040"/>
          </a:xfrm>
          <a:prstGeom prst="rect">
            <a:avLst/>
          </a:prstGeom>
          <a:noFill/>
          <a:ln/>
        </p:spPr>
        <p:txBody>
          <a:bodyPr wrap="square" lIns="0" tIns="0" rIns="0" bIns="0" rtlCol="0" anchor="t"/>
          <a:lstStyle/>
          <a:p>
            <a:pPr algn="ctr" indent="0" marL="0">
              <a:lnSpc>
                <a:spcPct val="105000"/>
              </a:lnSpc>
              <a:buNone/>
            </a:pPr>
            <a:r>
              <a:rPr lang="en-US" sz="1300" spc="300" kern="0" dirty="0">
                <a:solidFill>
                  <a:srgbClr val="DD784B"/>
                </a:solidFill>
                <a:latin typeface="General Sans Semibold" pitchFamily="34" charset="0"/>
                <a:ea typeface="General Sans Semibold" pitchFamily="34" charset="-122"/>
                <a:cs typeface="General Sans Semibold" pitchFamily="34" charset="-120"/>
              </a:rPr>
              <a:t>TOT SLOT</a:t>
            </a:r>
            <a:endParaRPr lang="en-US" sz="1300" dirty="0"/>
          </a:p>
        </p:txBody>
      </p:sp>
      <p:sp>
        <p:nvSpPr>
          <p:cNvPr id="3" name="Text 1"/>
          <p:cNvSpPr/>
          <p:nvPr/>
        </p:nvSpPr>
        <p:spPr>
          <a:xfrm>
            <a:off x="548640" y="1965960"/>
            <a:ext cx="11094415" cy="868680"/>
          </a:xfrm>
          <a:prstGeom prst="rect">
            <a:avLst/>
          </a:prstGeom>
          <a:noFill/>
          <a:ln/>
        </p:spPr>
        <p:txBody>
          <a:bodyPr wrap="square" lIns="0" tIns="0" rIns="0" bIns="0" rtlCol="0" anchor="t"/>
          <a:lstStyle/>
          <a:p>
            <a:pPr algn="ctr" indent="0" marL="0">
              <a:lnSpc>
                <a:spcPct val="105000"/>
              </a:lnSpc>
              <a:buNone/>
            </a:pPr>
            <a:r>
              <a:rPr lang="en-US" sz="4400" dirty="0">
                <a:solidFill>
                  <a:srgbClr val="3D68EC"/>
                </a:solidFill>
                <a:latin typeface="General Sans Semibold" pitchFamily="34" charset="0"/>
                <a:ea typeface="General Sans Semibold" pitchFamily="34" charset="-122"/>
                <a:cs typeface="General Sans Semibold" pitchFamily="34" charset="-120"/>
              </a:rPr>
              <a:t>Blijf in contact</a:t>
            </a:r>
            <a:endParaRPr lang="en-US" sz="4400" dirty="0"/>
          </a:p>
        </p:txBody>
      </p:sp>
      <p:sp>
        <p:nvSpPr>
          <p:cNvPr id="4" name="Text 2"/>
          <p:cNvSpPr/>
          <p:nvPr/>
        </p:nvSpPr>
        <p:spPr>
          <a:xfrm>
            <a:off x="2286000" y="2880360"/>
            <a:ext cx="7619695" cy="457200"/>
          </a:xfrm>
          <a:prstGeom prst="rect">
            <a:avLst/>
          </a:prstGeom>
          <a:noFill/>
          <a:ln/>
        </p:spPr>
        <p:txBody>
          <a:bodyPr wrap="square" lIns="0" tIns="0" rIns="0" bIns="0" rtlCol="0" anchor="t"/>
          <a:lstStyle/>
          <a:p>
            <a:pPr algn="ctr"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Vragen, feedback of zin om mee te bouwen? We horen graag van je.</a:t>
            </a:r>
            <a:endParaRPr lang="en-US" sz="1600" dirty="0"/>
          </a:p>
        </p:txBody>
      </p:sp>
      <p:sp>
        <p:nvSpPr>
          <p:cNvPr id="5" name="Shape 3"/>
          <p:cNvSpPr/>
          <p:nvPr/>
        </p:nvSpPr>
        <p:spPr>
          <a:xfrm>
            <a:off x="1020928" y="3657600"/>
            <a:ext cx="3200400" cy="1234440"/>
          </a:xfrm>
          <a:prstGeom prst="roundRect">
            <a:avLst>
              <a:gd name="adj" fmla="val 10974"/>
            </a:avLst>
          </a:prstGeom>
          <a:solidFill>
            <a:srgbClr val="FFFFFF"/>
          </a:solidFill>
          <a:ln/>
        </p:spPr>
      </p:sp>
      <p:sp>
        <p:nvSpPr>
          <p:cNvPr id="6" name="Shape 4"/>
          <p:cNvSpPr/>
          <p:nvPr/>
        </p:nvSpPr>
        <p:spPr>
          <a:xfrm>
            <a:off x="1889608" y="3858768"/>
            <a:ext cx="1463040" cy="365760"/>
          </a:xfrm>
          <a:prstGeom prst="roundRect">
            <a:avLst>
              <a:gd name="adj" fmla="val 125000"/>
            </a:avLst>
          </a:prstGeom>
          <a:solidFill>
            <a:srgbClr val="3D68EC"/>
          </a:solidFill>
          <a:ln/>
        </p:spPr>
      </p:sp>
      <p:sp>
        <p:nvSpPr>
          <p:cNvPr id="7" name="Text 5"/>
          <p:cNvSpPr/>
          <p:nvPr/>
        </p:nvSpPr>
        <p:spPr>
          <a:xfrm>
            <a:off x="1981048" y="3858768"/>
            <a:ext cx="1280160" cy="365760"/>
          </a:xfrm>
          <a:prstGeom prst="rect">
            <a:avLst/>
          </a:prstGeom>
          <a:noFill/>
          <a:ln/>
        </p:spPr>
        <p:txBody>
          <a:bodyPr wrap="square" lIns="0" tIns="0" rIns="0" bIns="0" rtlCol="0" anchor="ctr"/>
          <a:lstStyle/>
          <a:p>
            <a:pPr algn="ctr" indent="0" marL="0">
              <a:lnSpc>
                <a:spcPct val="105000"/>
              </a:lnSpc>
              <a:buNone/>
            </a:pPr>
            <a:r>
              <a:rPr lang="en-US" sz="1200" dirty="0">
                <a:solidFill>
                  <a:srgbClr val="F4D9DC"/>
                </a:solidFill>
                <a:latin typeface="General Sans Semibold" pitchFamily="34" charset="0"/>
                <a:ea typeface="General Sans Semibold" pitchFamily="34" charset="-122"/>
                <a:cs typeface="General Sans Semibold" pitchFamily="34" charset="-120"/>
              </a:rPr>
              <a:t>GitHub</a:t>
            </a:r>
            <a:endParaRPr lang="en-US" sz="1200" dirty="0"/>
          </a:p>
        </p:txBody>
      </p:sp>
      <p:sp>
        <p:nvSpPr>
          <p:cNvPr id="8" name="Text 6">
            <a:hlinkClick r:id="rId2" tooltip=""/>
          </p:cNvPr>
          <p:cNvSpPr/>
          <p:nvPr/>
        </p:nvSpPr>
        <p:spPr>
          <a:xfrm>
            <a:off x="1158088" y="4370832"/>
            <a:ext cx="2926080" cy="365760"/>
          </a:xfrm>
          <a:prstGeom prst="rect">
            <a:avLst/>
          </a:prstGeom>
          <a:noFill/>
          <a:ln/>
        </p:spPr>
        <p:txBody>
          <a:bodyPr wrap="square" lIns="0" tIns="0" rIns="0" bIns="0" rtlCol="0" anchor="ctr"/>
          <a:lstStyle/>
          <a:p>
            <a:pPr algn="ctr" indent="0" marL="0">
              <a:buNone/>
            </a:pPr>
            <a:r>
              <a:rPr lang="en-US" sz="1400" u="sng" dirty="0">
                <a:solidFill>
                  <a:srgbClr val="000000"/>
                </a:solidFill>
                <a:latin typeface="General Sans" pitchFamily="34" charset="0"/>
                <a:ea typeface="General Sans" pitchFamily="34" charset="-122"/>
                <a:cs typeface="General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github.com/cedanl</a:t>
            </a:r>
            <a:endParaRPr lang="en-US" sz="1400" dirty="0"/>
          </a:p>
        </p:txBody>
      </p:sp>
      <p:sp>
        <p:nvSpPr>
          <p:cNvPr id="9" name="Shape 7"/>
          <p:cNvSpPr/>
          <p:nvPr/>
        </p:nvSpPr>
        <p:spPr>
          <a:xfrm>
            <a:off x="4495648" y="3657600"/>
            <a:ext cx="3200400" cy="1234440"/>
          </a:xfrm>
          <a:prstGeom prst="roundRect">
            <a:avLst>
              <a:gd name="adj" fmla="val 10974"/>
            </a:avLst>
          </a:prstGeom>
          <a:solidFill>
            <a:srgbClr val="FFFFFF"/>
          </a:solidFill>
          <a:ln/>
        </p:spPr>
      </p:sp>
      <p:sp>
        <p:nvSpPr>
          <p:cNvPr id="10" name="Shape 8"/>
          <p:cNvSpPr/>
          <p:nvPr/>
        </p:nvSpPr>
        <p:spPr>
          <a:xfrm>
            <a:off x="5364328" y="3858768"/>
            <a:ext cx="1463040" cy="365760"/>
          </a:xfrm>
          <a:prstGeom prst="roundRect">
            <a:avLst>
              <a:gd name="adj" fmla="val 125000"/>
            </a:avLst>
          </a:prstGeom>
          <a:solidFill>
            <a:srgbClr val="00AF81"/>
          </a:solidFill>
          <a:ln/>
        </p:spPr>
      </p:sp>
      <p:sp>
        <p:nvSpPr>
          <p:cNvPr id="11" name="Text 9"/>
          <p:cNvSpPr/>
          <p:nvPr/>
        </p:nvSpPr>
        <p:spPr>
          <a:xfrm>
            <a:off x="5455768" y="3858768"/>
            <a:ext cx="1280160" cy="365760"/>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Community</a:t>
            </a:r>
            <a:endParaRPr lang="en-US" sz="1200" dirty="0"/>
          </a:p>
        </p:txBody>
      </p:sp>
      <p:sp>
        <p:nvSpPr>
          <p:cNvPr id="12" name="Text 10">
            <a:hlinkClick r:id="rId3" tooltip=""/>
          </p:cNvPr>
          <p:cNvSpPr/>
          <p:nvPr/>
        </p:nvSpPr>
        <p:spPr>
          <a:xfrm>
            <a:off x="4632808" y="4370832"/>
            <a:ext cx="2926080" cy="365760"/>
          </a:xfrm>
          <a:prstGeom prst="rect">
            <a:avLst/>
          </a:prstGeom>
          <a:noFill/>
          <a:ln/>
        </p:spPr>
        <p:txBody>
          <a:bodyPr wrap="square" lIns="0" tIns="0" rIns="0" bIns="0" rtlCol="0" anchor="ctr"/>
          <a:lstStyle/>
          <a:p>
            <a:pPr algn="ctr" indent="0" marL="0">
              <a:buNone/>
            </a:pPr>
            <a:r>
              <a:rPr lang="en-US" sz="1400" u="sng" dirty="0">
                <a:solidFill>
                  <a:srgbClr val="000000"/>
                </a:solidFill>
                <a:latin typeface="General Sans" pitchFamily="34" charset="0"/>
                <a:ea typeface="General Sans" pitchFamily="34" charset="-122"/>
                <a:cs typeface="General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community.npuls.nl/groups/data-ai</a:t>
            </a:r>
            <a:endParaRPr lang="en-US" sz="1400" dirty="0"/>
          </a:p>
        </p:txBody>
      </p:sp>
      <p:sp>
        <p:nvSpPr>
          <p:cNvPr id="13" name="Shape 11"/>
          <p:cNvSpPr/>
          <p:nvPr/>
        </p:nvSpPr>
        <p:spPr>
          <a:xfrm>
            <a:off x="7970368" y="3657600"/>
            <a:ext cx="3200400" cy="1234440"/>
          </a:xfrm>
          <a:prstGeom prst="roundRect">
            <a:avLst>
              <a:gd name="adj" fmla="val 10974"/>
            </a:avLst>
          </a:prstGeom>
          <a:solidFill>
            <a:srgbClr val="FFFFFF"/>
          </a:solidFill>
          <a:ln/>
        </p:spPr>
      </p:sp>
      <p:sp>
        <p:nvSpPr>
          <p:cNvPr id="14" name="Shape 12"/>
          <p:cNvSpPr/>
          <p:nvPr/>
        </p:nvSpPr>
        <p:spPr>
          <a:xfrm>
            <a:off x="8839048" y="3858768"/>
            <a:ext cx="1463040" cy="365760"/>
          </a:xfrm>
          <a:prstGeom prst="roundRect">
            <a:avLst>
              <a:gd name="adj" fmla="val 125000"/>
            </a:avLst>
          </a:prstGeom>
          <a:solidFill>
            <a:srgbClr val="DD784B"/>
          </a:solidFill>
          <a:ln/>
        </p:spPr>
      </p:sp>
      <p:sp>
        <p:nvSpPr>
          <p:cNvPr id="15" name="Text 13"/>
          <p:cNvSpPr/>
          <p:nvPr/>
        </p:nvSpPr>
        <p:spPr>
          <a:xfrm>
            <a:off x="8930488" y="3858768"/>
            <a:ext cx="1280160" cy="365760"/>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Email</a:t>
            </a:r>
            <a:endParaRPr lang="en-US" sz="1200" dirty="0"/>
          </a:p>
        </p:txBody>
      </p:sp>
      <p:sp>
        <p:nvSpPr>
          <p:cNvPr id="16" name="Text 14">
            <a:hlinkClick r:id="rId4" tooltip=""/>
          </p:cNvPr>
          <p:cNvSpPr/>
          <p:nvPr/>
        </p:nvSpPr>
        <p:spPr>
          <a:xfrm>
            <a:off x="8107528" y="4370832"/>
            <a:ext cx="2926080" cy="365760"/>
          </a:xfrm>
          <a:prstGeom prst="rect">
            <a:avLst/>
          </a:prstGeom>
          <a:noFill/>
          <a:ln/>
        </p:spPr>
        <p:txBody>
          <a:bodyPr wrap="square" lIns="0" tIns="0" rIns="0" bIns="0" rtlCol="0" anchor="ctr"/>
          <a:lstStyle/>
          <a:p>
            <a:pPr algn="ctr" indent="0" marL="0">
              <a:buNone/>
            </a:pPr>
            <a:r>
              <a:rPr lang="en-US" sz="1400" u="sng" dirty="0">
                <a:solidFill>
                  <a:srgbClr val="000000"/>
                </a:solidFill>
                <a:latin typeface="General Sans" pitchFamily="34" charset="0"/>
                <a:ea typeface="General Sans" pitchFamily="34" charset="-122"/>
                <a:cs typeface="General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ceda@surf.nl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neral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neral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Npuls · CEDA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data science in het onderwijs: jij stuurt, de agent bouwt</dc:title>
  <dc:subject>PptxGenJS Presentation</dc:subject>
  <dc:creator>CEDA</dc:creator>
  <cp:lastModifiedBy>CEDA</cp:lastModifiedBy>
  <cp:revision>1</cp:revision>
  <dcterms:created xsi:type="dcterms:W3CDTF">2026-10-05T12:18:41Z</dcterms:created>
  <dcterms:modified xsi:type="dcterms:W3CDTF">2026-10-05T12:18:41Z</dcterms:modified>
</cp:coreProperties>
</file>