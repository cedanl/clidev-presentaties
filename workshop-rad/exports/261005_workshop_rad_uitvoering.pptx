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Iedereen heeft een laptop met de devcontainer; check dat per tweetal één laptop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een echte SKILL.md zien, maximaal een minuut. Een goede prompt helpt jou vandaag, een goede skill helpt je hele team elke keer weer. Na elk spiegelmoment doet een skill in één instructie wat jullie net met de hand deden. Geen black box: je kunt lezen wat de agent gaat doen.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drie skills bij naam: /workshop-verkennen, /workshop-dashboard en /workshop-reflectie. Ze staan klaar in .claude/skills/ in de devcontainer. Bij elk spiegelmoment kijken we straks in de skill zelf: wat staat erin en wat dwingt hij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Activeren van de skills duurt maximaal een minuut; lukt dat niet, dan is dat een signaal over de devcontainer en niet over de deelnemer.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desgewenst /workshop-verkennen live om het verschil te laten zien.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/workshop-verkennen/SKILL.md.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Loop daarna door de skill met de volgende dia's en sluit af met de onthulling van de uitkomst.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/workshop-reflectie of de peiling (QR-code).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/workshop-reflectie/SKILL.md: afgeleid van de teamskill sessie-terugblik, zonder GitHub-koppeling. Principes: één vraag per keer, een dun antwoord is een antwoord, niet doorvragen. Deelnemers mogen kiezen: via de skill of via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1508760" y="621792"/>
            <a:ext cx="3072384" cy="402336"/>
          </a:xfrm>
          <a:prstGeom prst="roundRect">
            <a:avLst>
              <a:gd name="adj" fmla="val 113636"/>
            </a:avLst>
          </a:prstGeom>
          <a:solidFill>
            <a:srgbClr val="F4D74B"/>
          </a:solidFill>
          <a:ln/>
        </p:spPr>
      </p:sp>
      <p:sp>
        <p:nvSpPr>
          <p:cNvPr id="73" name="Text 71"/>
          <p:cNvSpPr/>
          <p:nvPr/>
        </p:nvSpPr>
        <p:spPr>
          <a:xfrm>
            <a:off x="1600200" y="621792"/>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sp>
      <p:sp>
        <p:nvSpPr>
          <p:cNvPr id="78" name="Shape 76"/>
          <p:cNvSpPr/>
          <p:nvPr/>
        </p:nvSpPr>
        <p:spPr>
          <a:xfrm>
            <a:off x="8138160" y="1188720"/>
            <a:ext cx="914400" cy="914400"/>
          </a:xfrm>
          <a:prstGeom prst="ellipse">
            <a:avLst/>
          </a:prstGeom>
          <a:solidFill>
            <a:srgbClr val="F4D74B"/>
          </a:solidFill>
          <a:ln/>
        </p:spPr>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sp>
      <p:sp>
        <p:nvSpPr>
          <p:cNvPr id="82" name="Shape 80"/>
          <p:cNvSpPr/>
          <p:nvPr/>
        </p:nvSpPr>
        <p:spPr>
          <a:xfrm>
            <a:off x="8138160" y="2743200"/>
            <a:ext cx="914400" cy="914400"/>
          </a:xfrm>
          <a:prstGeom prst="ellipse">
            <a:avLst/>
          </a:prstGeom>
          <a:solidFill>
            <a:srgbClr val="F4D9DC"/>
          </a:solidFill>
          <a:ln/>
        </p:spPr>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sp>
      <p:sp>
        <p:nvSpPr>
          <p:cNvPr id="90" name="Text 88"/>
          <p:cNvSpPr/>
          <p:nvPr/>
        </p:nvSpPr>
        <p:spPr>
          <a:xfrm>
            <a:off x="7955280" y="6144768"/>
            <a:ext cx="3657600" cy="365760"/>
          </a:xfrm>
          <a:prstGeom prst="rect">
            <a:avLst/>
          </a:prstGeom>
          <a:noFill/>
          <a:ln/>
        </p:spPr>
        <p:txBody>
          <a:bodyPr wrap="square" lIns="0" tIns="0" rIns="0" bIns="0" rtlCol="0" anchor="t"/>
          <a:lstStyle/>
          <a:p>
            <a:pPr algn="r"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1" name="Npuls beeldmerk" descr="npuls-beeldmerk-wit.png"/>
          <p:cNvPicPr>
            <a:picLocks noChangeAspect="1"/>
          </p:cNvPicPr>
          <p:nvPr/>
        </p:nvPicPr>
        <p:blipFill>
          <a:blip r:embed="rId3"/>
          <a:stretch>
            <a:fillRect/>
          </a:stretch>
        </p:blipFill>
        <p:spPr>
          <a:xfrm>
            <a:off x="587248" y="495808"/>
            <a:ext cx="654304" cy="65430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64162"/>
                <a:gridCol w="7766091"/>
                <a:gridCol w="1664162"/>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Tijd</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Blok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Duur</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0:00</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Intro, synthetische data, casus</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17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0:17</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Skills, prompts en de devcontainer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13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0:30</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Ronde 1: data verkennen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22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0:52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Spiegelmoment 1</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1:07</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Ronde 2: dashboard bouwen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22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1:29</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Spiegelmoment 2</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15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1:44</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Evaluatie en afsluiting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16 min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De AI-taak</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per cohort</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binnen 1 jaar per cohort berekenen en vergelijken naar sector, geslacht en opleiding.</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Het product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Bestuurder: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instructies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Navigator: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leest de code en controleert de uitkomst</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Vraag je iets?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Dan stel ik een wedervraag: wat zou de agent hier doen?</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Prompt, skill, agent</a:t>
            </a:r>
            <a:endParaRPr lang="en-US" sz="3400" dirty="0"/>
          </a:p>
        </p:txBody>
      </p:sp>
      <p:sp>
        <p:nvSpPr>
          <p:cNvPr id="73" name="Shape 71"/>
          <p:cNvSpPr/>
          <p:nvPr/>
        </p:nvSpPr>
        <p:spPr>
          <a:xfrm>
            <a:off x="548640" y="1371600"/>
            <a:ext cx="3393338" cy="3817620"/>
          </a:xfrm>
          <a:prstGeom prst="roundRect">
            <a:avLst>
              <a:gd name="adj" fmla="val 2033"/>
            </a:avLst>
          </a:prstGeom>
          <a:solidFill>
            <a:srgbClr val="F4D74B"/>
          </a:solidFill>
          <a:ln/>
        </p:spPr>
      </p:sp>
      <p:sp>
        <p:nvSpPr>
          <p:cNvPr id="74" name="Shape 72"/>
          <p:cNvSpPr/>
          <p:nvPr/>
        </p:nvSpPr>
        <p:spPr>
          <a:xfrm>
            <a:off x="822960" y="1719072"/>
            <a:ext cx="2844698" cy="402336"/>
          </a:xfrm>
          <a:prstGeom prst="roundRect">
            <a:avLst>
              <a:gd name="adj" fmla="val 113636"/>
            </a:avLst>
          </a:prstGeom>
          <a:solidFill>
            <a:srgbClr val="3D68EC"/>
          </a:solidFill>
          <a:ln/>
        </p:spPr>
      </p:sp>
      <p:sp>
        <p:nvSpPr>
          <p:cNvPr id="75" name="Text 73"/>
          <p:cNvSpPr/>
          <p:nvPr/>
        </p:nvSpPr>
        <p:spPr>
          <a:xfrm>
            <a:off x="914400"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Losse vraag</a:t>
            </a:r>
            <a:endParaRPr lang="en-US" sz="12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77" name="Text 75"/>
          <p:cNvSpPr/>
          <p:nvPr/>
        </p:nvSpPr>
        <p:spPr>
          <a:xfrm>
            <a:off x="822960"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Je typt wat je wilt. Elke keer anders, de kennis zit in jouw hoofd.</a:t>
            </a:r>
            <a:endParaRPr lang="en-US" sz="1500" dirty="0"/>
          </a:p>
        </p:txBody>
      </p:sp>
      <p:sp>
        <p:nvSpPr>
          <p:cNvPr id="78" name="Text 76"/>
          <p:cNvSpPr/>
          <p:nvPr/>
        </p:nvSpPr>
        <p:spPr>
          <a:xfrm>
            <a:off x="822960"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79" name="Text 77"/>
          <p:cNvSpPr/>
          <p:nvPr/>
        </p:nvSpPr>
        <p:spPr>
          <a:xfrm>
            <a:off x="822960"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antwoord</a:t>
            </a:r>
            <a:endParaRPr lang="en-US" sz="1500" dirty="0"/>
          </a:p>
        </p:txBody>
      </p:sp>
      <p:sp>
        <p:nvSpPr>
          <p:cNvPr id="80" name="Shape 78"/>
          <p:cNvSpPr/>
          <p:nvPr/>
        </p:nvSpPr>
        <p:spPr>
          <a:xfrm>
            <a:off x="4051706" y="3006090"/>
            <a:ext cx="237744" cy="548640"/>
          </a:xfrm>
          <a:prstGeom prst="chevron">
            <a:avLst/>
          </a:prstGeom>
          <a:solidFill>
            <a:srgbClr val="F4D9DC"/>
          </a:solidFill>
          <a:ln/>
        </p:spPr>
      </p:sp>
      <p:sp>
        <p:nvSpPr>
          <p:cNvPr id="81" name="Shape 79"/>
          <p:cNvSpPr/>
          <p:nvPr/>
        </p:nvSpPr>
        <p:spPr>
          <a:xfrm>
            <a:off x="4399178" y="1371600"/>
            <a:ext cx="3393338" cy="3817620"/>
          </a:xfrm>
          <a:prstGeom prst="roundRect">
            <a:avLst>
              <a:gd name="adj" fmla="val 2033"/>
            </a:avLst>
          </a:prstGeom>
          <a:solidFill>
            <a:srgbClr val="F4D9DC"/>
          </a:solidFill>
          <a:ln/>
        </p:spPr>
      </p:sp>
      <p:sp>
        <p:nvSpPr>
          <p:cNvPr id="82" name="Shape 80"/>
          <p:cNvSpPr/>
          <p:nvPr/>
        </p:nvSpPr>
        <p:spPr>
          <a:xfrm>
            <a:off x="4673498" y="1719072"/>
            <a:ext cx="2844698" cy="402336"/>
          </a:xfrm>
          <a:prstGeom prst="roundRect">
            <a:avLst>
              <a:gd name="adj" fmla="val 113636"/>
            </a:avLst>
          </a:prstGeom>
          <a:solidFill>
            <a:srgbClr val="3D68EC"/>
          </a:solidFill>
          <a:ln/>
        </p:spPr>
      </p:sp>
      <p:sp>
        <p:nvSpPr>
          <p:cNvPr id="83" name="Text 81"/>
          <p:cNvSpPr/>
          <p:nvPr/>
        </p:nvSpPr>
        <p:spPr>
          <a:xfrm>
            <a:off x="4764938"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Vastgelegd recept</a:t>
            </a:r>
            <a:endParaRPr lang="en-US" sz="1200" dirty="0"/>
          </a:p>
        </p:txBody>
      </p:sp>
      <p:sp>
        <p:nvSpPr>
          <p:cNvPr id="84" name="Text 82"/>
          <p:cNvSpPr/>
          <p:nvPr/>
        </p:nvSpPr>
        <p:spPr>
          <a:xfrm>
            <a:off x="4673498"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85" name="Text 83"/>
          <p:cNvSpPr/>
          <p:nvPr/>
        </p:nvSpPr>
        <p:spPr>
          <a:xfrm>
            <a:off x="4673498"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map met een SKILL.md: instructies, voorbeelden, checks. Leesbaar en deelbaar.</a:t>
            </a:r>
            <a:endParaRPr lang="en-US" sz="1500" dirty="0"/>
          </a:p>
        </p:txBody>
      </p:sp>
      <p:sp>
        <p:nvSpPr>
          <p:cNvPr id="86" name="Text 84"/>
          <p:cNvSpPr/>
          <p:nvPr/>
        </p:nvSpPr>
        <p:spPr>
          <a:xfrm>
            <a:off x="4673498"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7" name="Text 85"/>
          <p:cNvSpPr/>
          <p:nvPr/>
        </p:nvSpPr>
        <p:spPr>
          <a:xfrm>
            <a:off x="4673498"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Herhaalbare werkwijze</a:t>
            </a:r>
            <a:endParaRPr lang="en-US" sz="1500" dirty="0"/>
          </a:p>
        </p:txBody>
      </p:sp>
      <p:sp>
        <p:nvSpPr>
          <p:cNvPr id="88" name="Shape 86"/>
          <p:cNvSpPr/>
          <p:nvPr/>
        </p:nvSpPr>
        <p:spPr>
          <a:xfrm>
            <a:off x="7902245" y="3006090"/>
            <a:ext cx="237744" cy="548640"/>
          </a:xfrm>
          <a:prstGeom prst="chevron">
            <a:avLst/>
          </a:prstGeom>
          <a:solidFill>
            <a:srgbClr val="F4D9DC"/>
          </a:solidFill>
          <a:ln/>
        </p:spPr>
      </p:sp>
      <p:sp>
        <p:nvSpPr>
          <p:cNvPr id="89" name="Shape 87"/>
          <p:cNvSpPr/>
          <p:nvPr/>
        </p:nvSpPr>
        <p:spPr>
          <a:xfrm>
            <a:off x="8249717" y="1371600"/>
            <a:ext cx="3393338" cy="3817620"/>
          </a:xfrm>
          <a:prstGeom prst="roundRect">
            <a:avLst>
              <a:gd name="adj" fmla="val 2033"/>
            </a:avLst>
          </a:prstGeom>
          <a:solidFill>
            <a:srgbClr val="F4D74B"/>
          </a:solidFill>
          <a:ln/>
        </p:spPr>
      </p:sp>
      <p:sp>
        <p:nvSpPr>
          <p:cNvPr id="90" name="Shape 88"/>
          <p:cNvSpPr/>
          <p:nvPr/>
        </p:nvSpPr>
        <p:spPr>
          <a:xfrm>
            <a:off x="8524037" y="1719072"/>
            <a:ext cx="2844698" cy="402336"/>
          </a:xfrm>
          <a:prstGeom prst="roundRect">
            <a:avLst>
              <a:gd name="adj" fmla="val 113636"/>
            </a:avLst>
          </a:prstGeom>
          <a:solidFill>
            <a:srgbClr val="3D68EC"/>
          </a:solidFill>
          <a:ln/>
        </p:spPr>
      </p:sp>
      <p:sp>
        <p:nvSpPr>
          <p:cNvPr id="91" name="Text 89"/>
          <p:cNvSpPr/>
          <p:nvPr/>
        </p:nvSpPr>
        <p:spPr>
          <a:xfrm>
            <a:off x="8615477"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Voert uit</a:t>
            </a:r>
            <a:endParaRPr lang="en-US" sz="1200" dirty="0"/>
          </a:p>
        </p:txBody>
      </p:sp>
      <p:sp>
        <p:nvSpPr>
          <p:cNvPr id="92" name="Text 90"/>
          <p:cNvSpPr/>
          <p:nvPr/>
        </p:nvSpPr>
        <p:spPr>
          <a:xfrm>
            <a:off x="8524037"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93" name="Text 91"/>
          <p:cNvSpPr/>
          <p:nvPr/>
        </p:nvSpPr>
        <p:spPr>
          <a:xfrm>
            <a:off x="8524037"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Claude Code leest de skill, draait de code en toetst aan de checks.</a:t>
            </a:r>
            <a:endParaRPr lang="en-US" sz="1500" dirty="0"/>
          </a:p>
        </p:txBody>
      </p:sp>
      <p:sp>
        <p:nvSpPr>
          <p:cNvPr id="94" name="Text 92"/>
          <p:cNvSpPr/>
          <p:nvPr/>
        </p:nvSpPr>
        <p:spPr>
          <a:xfrm>
            <a:off x="8524037"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5" name="Text 93"/>
          <p:cNvSpPr/>
          <p:nvPr/>
        </p:nvSpPr>
        <p:spPr>
          <a:xfrm>
            <a:off x="8524037"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Resultaat dat je kunt nalopen</a:t>
            </a:r>
            <a:endParaRPr lang="en-US" sz="1500" dirty="0"/>
          </a:p>
        </p:txBody>
      </p:sp>
      <p:sp>
        <p:nvSpPr>
          <p:cNvPr id="96" name="Text 94"/>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F4D9DC"/>
                </a:solidFill>
                <a:latin typeface="General Sans" pitchFamily="34" charset="0"/>
                <a:ea typeface="General Sans" pitchFamily="34" charset="-122"/>
                <a:cs typeface="General Sans" pitchFamily="34" charset="-120"/>
              </a:rPr>
              <a:t>Vuistregel: elke prompt die je drie keer typt, is een skill in wording.</a:t>
            </a:r>
            <a:endParaRPr lang="en-US" sz="1800" dirty="0"/>
          </a:p>
        </p:txBody>
      </p:sp>
      <p:pic>
        <p:nvPicPr>
          <p:cNvPr id="97"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voor vandaag</a:t>
            </a:r>
            <a:endParaRPr lang="en-US" sz="3400" dirty="0"/>
          </a:p>
        </p:txBody>
      </p:sp>
      <p:sp>
        <p:nvSpPr>
          <p:cNvPr id="73" name="Shape 71"/>
          <p:cNvSpPr/>
          <p:nvPr/>
        </p:nvSpPr>
        <p:spPr>
          <a:xfrm>
            <a:off x="548640" y="1371600"/>
            <a:ext cx="3515258" cy="4069080"/>
          </a:xfrm>
          <a:prstGeom prst="roundRect">
            <a:avLst>
              <a:gd name="adj" fmla="val 1895"/>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Ronde 1</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/workshop-verkennen</a:t>
            </a:r>
            <a:endParaRPr lang="en-US" sz="2300" dirty="0"/>
          </a:p>
        </p:txBody>
      </p:sp>
      <p:sp>
        <p:nvSpPr>
          <p:cNvPr id="79" name="Text 77"/>
          <p:cNvSpPr/>
          <p:nvPr/>
        </p:nvSpPr>
        <p:spPr>
          <a:xfrm>
            <a:off x="822960"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4338218" y="1371600"/>
            <a:ext cx="3515258" cy="4069080"/>
          </a:xfrm>
          <a:prstGeom prst="roundRect">
            <a:avLst>
              <a:gd name="adj" fmla="val 1895"/>
            </a:avLst>
          </a:prstGeom>
          <a:solidFill>
            <a:srgbClr val="DD784B"/>
          </a:solidFill>
          <a:ln/>
        </p:spPr>
      </p:sp>
      <p:sp>
        <p:nvSpPr>
          <p:cNvPr id="84" name="Shape 82"/>
          <p:cNvSpPr/>
          <p:nvPr/>
        </p:nvSpPr>
        <p:spPr>
          <a:xfrm>
            <a:off x="4612538" y="1645920"/>
            <a:ext cx="548640" cy="548640"/>
          </a:xfrm>
          <a:prstGeom prst="ellipse">
            <a:avLst/>
          </a:prstGeom>
          <a:solidFill>
            <a:srgbClr val="F4D9DC"/>
          </a:solidFill>
          <a:ln/>
        </p:spPr>
      </p:sp>
      <p:sp>
        <p:nvSpPr>
          <p:cNvPr id="85" name="Text 83"/>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5298338" y="1719072"/>
            <a:ext cx="2280818" cy="402336"/>
          </a:xfrm>
          <a:prstGeom prst="roundRect">
            <a:avLst>
              <a:gd name="adj" fmla="val 113636"/>
            </a:avLst>
          </a:prstGeom>
          <a:solidFill>
            <a:srgbClr val="F4D9DC"/>
          </a:solidFill>
          <a:ln/>
        </p:spPr>
      </p:sp>
      <p:sp>
        <p:nvSpPr>
          <p:cNvPr id="87" name="Text 85"/>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Ronde 2</a:t>
            </a:r>
            <a:endParaRPr lang="en-US" sz="1200" dirty="0"/>
          </a:p>
        </p:txBody>
      </p:sp>
      <p:sp>
        <p:nvSpPr>
          <p:cNvPr id="88" name="Text 86"/>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/workshop-dashboard</a:t>
            </a:r>
            <a:endParaRPr lang="en-US" sz="2300" dirty="0"/>
          </a:p>
        </p:txBody>
      </p:sp>
      <p:sp>
        <p:nvSpPr>
          <p:cNvPr id="89" name="Text 87"/>
          <p:cNvSpPr/>
          <p:nvPr/>
        </p:nvSpPr>
        <p:spPr>
          <a:xfrm>
            <a:off x="4612538"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4612538"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4612538"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4612538"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Shape 91"/>
          <p:cNvSpPr/>
          <p:nvPr/>
        </p:nvSpPr>
        <p:spPr>
          <a:xfrm>
            <a:off x="8127797" y="1371600"/>
            <a:ext cx="3515258" cy="4069080"/>
          </a:xfrm>
          <a:prstGeom prst="roundRect">
            <a:avLst>
              <a:gd name="adj" fmla="val 1895"/>
            </a:avLst>
          </a:prstGeom>
          <a:solidFill>
            <a:srgbClr val="00AF81"/>
          </a:solidFill>
          <a:ln/>
        </p:spPr>
      </p:sp>
      <p:sp>
        <p:nvSpPr>
          <p:cNvPr id="94" name="Shape 92"/>
          <p:cNvSpPr/>
          <p:nvPr/>
        </p:nvSpPr>
        <p:spPr>
          <a:xfrm>
            <a:off x="8402117" y="1645920"/>
            <a:ext cx="548640" cy="548640"/>
          </a:xfrm>
          <a:prstGeom prst="ellipse">
            <a:avLst/>
          </a:prstGeom>
          <a:solidFill>
            <a:srgbClr val="F4D9DC"/>
          </a:solidFill>
          <a:ln/>
        </p:spPr>
      </p:sp>
      <p:sp>
        <p:nvSpPr>
          <p:cNvPr id="95" name="Text 93"/>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9087917" y="1719072"/>
            <a:ext cx="2280818" cy="402336"/>
          </a:xfrm>
          <a:prstGeom prst="roundRect">
            <a:avLst>
              <a:gd name="adj" fmla="val 113636"/>
            </a:avLst>
          </a:prstGeom>
          <a:solidFill>
            <a:srgbClr val="F4D9DC"/>
          </a:solidFill>
          <a:ln/>
        </p:spPr>
      </p:sp>
      <p:sp>
        <p:nvSpPr>
          <p:cNvPr id="97" name="Text 95"/>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Evaluatie</a:t>
            </a:r>
            <a:endParaRPr lang="en-US" sz="1200" dirty="0"/>
          </a:p>
        </p:txBody>
      </p:sp>
      <p:sp>
        <p:nvSpPr>
          <p:cNvPr id="98" name="Text 96"/>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/workshop-reflectie</a:t>
            </a:r>
            <a:endParaRPr lang="en-US" sz="2300" dirty="0"/>
          </a:p>
        </p:txBody>
      </p:sp>
      <p:sp>
        <p:nvSpPr>
          <p:cNvPr id="99" name="Text 97"/>
          <p:cNvSpPr/>
          <p:nvPr/>
        </p:nvSpPr>
        <p:spPr>
          <a:xfrm>
            <a:off x="8402117"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100" name="Text 98"/>
          <p:cNvSpPr/>
          <p:nvPr/>
        </p:nvSpPr>
        <p:spPr>
          <a:xfrm>
            <a:off x="8402117"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Terugblik en vervolgwensen in je eigen woorden.</a:t>
            </a:r>
            <a:endParaRPr lang="en-US" sz="1500" dirty="0"/>
          </a:p>
        </p:txBody>
      </p:sp>
      <p:sp>
        <p:nvSpPr>
          <p:cNvPr id="101" name="Text 99"/>
          <p:cNvSpPr/>
          <p:nvPr/>
        </p:nvSpPr>
        <p:spPr>
          <a:xfrm>
            <a:off x="8402117"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2" name="Text 100"/>
          <p:cNvSpPr/>
          <p:nvPr/>
        </p:nvSpPr>
        <p:spPr>
          <a:xfrm>
            <a:off x="8402117"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reflectie-naam.md</a:t>
            </a:r>
            <a:endParaRPr lang="en-US" sz="1500" dirty="0"/>
          </a:p>
        </p:txBody>
      </p:sp>
      <p:sp>
        <p:nvSpPr>
          <p:cNvPr id="103" name="Text 101"/>
          <p:cNvSpPr/>
          <p:nvPr/>
        </p:nvSpPr>
        <p:spPr>
          <a:xfrm>
            <a:off x="548640" y="562356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Je typt de naam van de skill, de agent leest het recept en voert het uit.</a:t>
            </a:r>
            <a:endParaRPr lang="en-US" sz="1800" dirty="0"/>
          </a:p>
        </p:txBody>
      </p:sp>
      <p:pic>
        <p:nvPicPr>
          <p:cNvPr id="10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Python, DuckDB, Streamlit, de data en de skills</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Activeer skill 1</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/workshop-verkennen: dat doen we straks bij het spiegelmoment</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Later</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8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/workshop-verkennen,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/workshop-verkennen: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data/synthetisch_1cho.csv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47522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is nog niet afgelopen en geeft 100% uitval. De skill sluit het uit en meldt dat.</a:t>
            </a:r>
            <a:endParaRPr lang="en-US" sz="1500" dirty="0"/>
          </a:p>
        </p:txBody>
      </p:sp>
      <p:sp>
        <p:nvSpPr>
          <p:cNvPr id="78" name="Shape 76"/>
          <p:cNvSpPr/>
          <p:nvPr/>
        </p:nvSpPr>
        <p:spPr>
          <a:xfrm>
            <a:off x="3390824" y="1371600"/>
            <a:ext cx="2567864" cy="347522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meldt dat en laat die uitsplitsing weg.</a:t>
            </a:r>
            <a:endParaRPr lang="en-US" sz="1500" dirty="0"/>
          </a:p>
        </p:txBody>
      </p:sp>
      <p:sp>
        <p:nvSpPr>
          <p:cNvPr id="83" name="Shape 81"/>
          <p:cNvSpPr/>
          <p:nvPr/>
        </p:nvSpPr>
        <p:spPr>
          <a:xfrm>
            <a:off x="6233008" y="1371600"/>
            <a:ext cx="2567864" cy="347522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en worden niet getoond.</a:t>
            </a:r>
            <a:endParaRPr lang="en-US" sz="1500" dirty="0"/>
          </a:p>
        </p:txBody>
      </p:sp>
      <p:sp>
        <p:nvSpPr>
          <p:cNvPr id="88" name="Shape 86"/>
          <p:cNvSpPr/>
          <p:nvPr/>
        </p:nvSpPr>
        <p:spPr>
          <a:xfrm>
            <a:off x="9075191" y="1371600"/>
            <a:ext cx="2567864" cy="347522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schrijft op wat het dashboard niet kan zeggen.</a:t>
            </a:r>
            <a:endParaRPr lang="en-US" sz="1500" dirty="0"/>
          </a:p>
        </p:txBody>
      </p:sp>
      <p:sp>
        <p:nvSpPr>
          <p:cNvPr id="93" name="Text 91"/>
          <p:cNvSpPr/>
          <p:nvPr/>
        </p:nvSpPr>
        <p:spPr>
          <a:xfrm>
            <a:off x="548640" y="502970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Het dashboard is het middel, de casusvraag het doel.</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/workshop-reflectie: wat de skill doet</a:t>
            </a:r>
            <a:endParaRPr lang="en-US" sz="3400" dirty="0"/>
          </a:p>
        </p:txBody>
      </p:sp>
      <p:sp>
        <p:nvSpPr>
          <p:cNvPr id="73" name="Shape 71"/>
          <p:cNvSpPr/>
          <p:nvPr/>
        </p:nvSpPr>
        <p:spPr>
          <a:xfrm>
            <a:off x="548640" y="1371600"/>
            <a:ext cx="2430704" cy="3016758"/>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Toestemming</a:t>
            </a:r>
            <a:endParaRPr lang="en-US" sz="1200" dirty="0"/>
          </a:p>
        </p:txBody>
      </p:sp>
      <p:sp>
        <p:nvSpPr>
          <p:cNvPr id="78" name="Text 76"/>
          <p:cNvSpPr/>
          <p:nvPr/>
        </p:nvSpPr>
        <p:spPr>
          <a:xfrm>
            <a:off x="822960"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Eén zin</a:t>
            </a:r>
            <a:endParaRPr lang="en-US" sz="2000" dirty="0"/>
          </a:p>
        </p:txBody>
      </p:sp>
      <p:sp>
        <p:nvSpPr>
          <p:cNvPr id="79" name="Text 77"/>
          <p:cNvSpPr/>
          <p:nvPr/>
        </p:nvSpPr>
        <p:spPr>
          <a:xfrm>
            <a:off x="822960"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Anoniem, om te bepalen of er een vervolg komt. Zonder ja wordt niets bewaard.</a:t>
            </a:r>
            <a:endParaRPr lang="en-US" sz="1500" dirty="0"/>
          </a:p>
        </p:txBody>
      </p:sp>
      <p:sp>
        <p:nvSpPr>
          <p:cNvPr id="80" name="Shape 78"/>
          <p:cNvSpPr/>
          <p:nvPr/>
        </p:nvSpPr>
        <p:spPr>
          <a:xfrm>
            <a:off x="3089072" y="2605659"/>
            <a:ext cx="237744" cy="548640"/>
          </a:xfrm>
          <a:prstGeom prst="chevron">
            <a:avLst/>
          </a:prstGeom>
          <a:solidFill>
            <a:srgbClr val="3D68EC"/>
          </a:solidFill>
          <a:ln/>
        </p:spPr>
      </p:sp>
      <p:sp>
        <p:nvSpPr>
          <p:cNvPr id="81" name="Shape 79"/>
          <p:cNvSpPr/>
          <p:nvPr/>
        </p:nvSpPr>
        <p:spPr>
          <a:xfrm>
            <a:off x="3436544" y="1371600"/>
            <a:ext cx="2430704" cy="3016758"/>
          </a:xfrm>
          <a:prstGeom prst="roundRect">
            <a:avLst>
              <a:gd name="adj" fmla="val 3962"/>
            </a:avLst>
          </a:prstGeom>
          <a:solidFill>
            <a:srgbClr val="DD784B"/>
          </a:solidFill>
          <a:ln/>
        </p:spPr>
      </p:sp>
      <p:sp>
        <p:nvSpPr>
          <p:cNvPr id="82" name="Shape 80"/>
          <p:cNvSpPr/>
          <p:nvPr/>
        </p:nvSpPr>
        <p:spPr>
          <a:xfrm>
            <a:off x="3710864" y="1645920"/>
            <a:ext cx="548640" cy="548640"/>
          </a:xfrm>
          <a:prstGeom prst="ellipse">
            <a:avLst/>
          </a:prstGeom>
          <a:solidFill>
            <a:srgbClr val="F4D9DC"/>
          </a:solidFill>
          <a:ln/>
        </p:spPr>
      </p:sp>
      <p:sp>
        <p:nvSpPr>
          <p:cNvPr id="83" name="Text 81"/>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4" name="Shape 82"/>
          <p:cNvSpPr/>
          <p:nvPr/>
        </p:nvSpPr>
        <p:spPr>
          <a:xfrm>
            <a:off x="4396664" y="1719072"/>
            <a:ext cx="1196264" cy="402336"/>
          </a:xfrm>
          <a:prstGeom prst="roundRect">
            <a:avLst>
              <a:gd name="adj" fmla="val 113636"/>
            </a:avLst>
          </a:prstGeom>
          <a:solidFill>
            <a:srgbClr val="F4D9DC"/>
          </a:solidFill>
          <a:ln/>
        </p:spPr>
      </p:sp>
      <p:sp>
        <p:nvSpPr>
          <p:cNvPr id="85" name="Text 83"/>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Terugblik</a:t>
            </a:r>
            <a:endParaRPr lang="en-US" sz="1200" dirty="0"/>
          </a:p>
        </p:txBody>
      </p:sp>
      <p:sp>
        <p:nvSpPr>
          <p:cNvPr id="86" name="Text 84"/>
          <p:cNvSpPr/>
          <p:nvPr/>
        </p:nvSpPr>
        <p:spPr>
          <a:xfrm>
            <a:off x="3710864"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Drie vragen</a:t>
            </a:r>
            <a:endParaRPr lang="en-US" sz="2000" dirty="0"/>
          </a:p>
        </p:txBody>
      </p:sp>
      <p:sp>
        <p:nvSpPr>
          <p:cNvPr id="87" name="Text 85"/>
          <p:cNvSpPr/>
          <p:nvPr/>
        </p:nvSpPr>
        <p:spPr>
          <a:xfrm>
            <a:off x="3710864"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Werkwijze, wat ging goed en wat zie je nu pas. Eén vraag per keer.</a:t>
            </a:r>
            <a:endParaRPr lang="en-US" sz="1500" dirty="0"/>
          </a:p>
        </p:txBody>
      </p:sp>
      <p:sp>
        <p:nvSpPr>
          <p:cNvPr id="88" name="Shape 86"/>
          <p:cNvSpPr/>
          <p:nvPr/>
        </p:nvSpPr>
        <p:spPr>
          <a:xfrm>
            <a:off x="5976976" y="2605659"/>
            <a:ext cx="237744" cy="548640"/>
          </a:xfrm>
          <a:prstGeom prst="chevron">
            <a:avLst/>
          </a:prstGeom>
          <a:solidFill>
            <a:srgbClr val="3D68EC"/>
          </a:solidFill>
          <a:ln/>
        </p:spPr>
      </p:sp>
      <p:sp>
        <p:nvSpPr>
          <p:cNvPr id="89" name="Shape 87"/>
          <p:cNvSpPr/>
          <p:nvPr/>
        </p:nvSpPr>
        <p:spPr>
          <a:xfrm>
            <a:off x="6324448" y="1371600"/>
            <a:ext cx="2430704" cy="3016758"/>
          </a:xfrm>
          <a:prstGeom prst="roundRect">
            <a:avLst>
              <a:gd name="adj" fmla="val 3962"/>
            </a:avLst>
          </a:prstGeom>
          <a:solidFill>
            <a:srgbClr val="00AF81"/>
          </a:solidFill>
          <a:ln/>
        </p:spPr>
      </p:sp>
      <p:sp>
        <p:nvSpPr>
          <p:cNvPr id="90" name="Shape 88"/>
          <p:cNvSpPr/>
          <p:nvPr/>
        </p:nvSpPr>
        <p:spPr>
          <a:xfrm>
            <a:off x="6598768" y="1645920"/>
            <a:ext cx="548640" cy="548640"/>
          </a:xfrm>
          <a:prstGeom prst="ellipse">
            <a:avLst/>
          </a:prstGeom>
          <a:solidFill>
            <a:srgbClr val="F4D9DC"/>
          </a:solidFill>
          <a:ln/>
        </p:spPr>
      </p:sp>
      <p:sp>
        <p:nvSpPr>
          <p:cNvPr id="91" name="Text 89"/>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2" name="Shape 90"/>
          <p:cNvSpPr/>
          <p:nvPr/>
        </p:nvSpPr>
        <p:spPr>
          <a:xfrm>
            <a:off x="7284568" y="1719072"/>
            <a:ext cx="1196264" cy="402336"/>
          </a:xfrm>
          <a:prstGeom prst="roundRect">
            <a:avLst>
              <a:gd name="adj" fmla="val 113636"/>
            </a:avLst>
          </a:prstGeom>
          <a:solidFill>
            <a:srgbClr val="F4D9DC"/>
          </a:solidFill>
          <a:ln/>
        </p:spPr>
      </p:sp>
      <p:sp>
        <p:nvSpPr>
          <p:cNvPr id="93" name="Text 91"/>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Peiling</a:t>
            </a:r>
            <a:endParaRPr lang="en-US" sz="1200" dirty="0"/>
          </a:p>
        </p:txBody>
      </p:sp>
      <p:sp>
        <p:nvSpPr>
          <p:cNvPr id="94" name="Text 92"/>
          <p:cNvSpPr/>
          <p:nvPr/>
        </p:nvSpPr>
        <p:spPr>
          <a:xfrm>
            <a:off x="6598768"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95" name="Text 93"/>
          <p:cNvSpPr/>
          <p:nvPr/>
        </p:nvSpPr>
        <p:spPr>
          <a:xfrm>
            <a:off x="6598768"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Interesse in een training, van nee tot 4 uur per week voor een semester.</a:t>
            </a:r>
            <a:endParaRPr lang="en-US" sz="1500" dirty="0"/>
          </a:p>
        </p:txBody>
      </p:sp>
      <p:sp>
        <p:nvSpPr>
          <p:cNvPr id="96" name="Shape 94"/>
          <p:cNvSpPr/>
          <p:nvPr/>
        </p:nvSpPr>
        <p:spPr>
          <a:xfrm>
            <a:off x="8864879" y="2605659"/>
            <a:ext cx="237744" cy="548640"/>
          </a:xfrm>
          <a:prstGeom prst="chevron">
            <a:avLst/>
          </a:prstGeom>
          <a:solidFill>
            <a:srgbClr val="3D68EC"/>
          </a:solidFill>
          <a:ln/>
        </p:spPr>
      </p:sp>
      <p:sp>
        <p:nvSpPr>
          <p:cNvPr id="97" name="Shape 95"/>
          <p:cNvSpPr/>
          <p:nvPr/>
        </p:nvSpPr>
        <p:spPr>
          <a:xfrm>
            <a:off x="9212351" y="1371600"/>
            <a:ext cx="2430704" cy="3016758"/>
          </a:xfrm>
          <a:prstGeom prst="roundRect">
            <a:avLst>
              <a:gd name="adj" fmla="val 3962"/>
            </a:avLst>
          </a:prstGeom>
          <a:solidFill>
            <a:srgbClr val="F4D74B"/>
          </a:solidFill>
          <a:ln/>
        </p:spPr>
      </p:sp>
      <p:sp>
        <p:nvSpPr>
          <p:cNvPr id="98" name="Shape 96"/>
          <p:cNvSpPr/>
          <p:nvPr/>
        </p:nvSpPr>
        <p:spPr>
          <a:xfrm>
            <a:off x="9486671" y="1645920"/>
            <a:ext cx="548640" cy="548640"/>
          </a:xfrm>
          <a:prstGeom prst="ellipse">
            <a:avLst/>
          </a:prstGeom>
          <a:solidFill>
            <a:srgbClr val="3D68EC"/>
          </a:solidFill>
          <a:ln/>
        </p:spPr>
      </p:sp>
      <p:sp>
        <p:nvSpPr>
          <p:cNvPr id="99" name="Text 97"/>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0" name="Shape 98"/>
          <p:cNvSpPr/>
          <p:nvPr/>
        </p:nvSpPr>
        <p:spPr>
          <a:xfrm>
            <a:off x="10172471" y="1719072"/>
            <a:ext cx="1196264" cy="402336"/>
          </a:xfrm>
          <a:prstGeom prst="roundRect">
            <a:avLst>
              <a:gd name="adj" fmla="val 113636"/>
            </a:avLst>
          </a:prstGeom>
          <a:solidFill>
            <a:srgbClr val="3D68EC"/>
          </a:solidFill>
          <a:ln/>
        </p:spPr>
      </p:sp>
      <p:sp>
        <p:nvSpPr>
          <p:cNvPr id="101" name="Text 99"/>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Open vraag</a:t>
            </a:r>
            <a:endParaRPr lang="en-US" sz="1200" dirty="0"/>
          </a:p>
        </p:txBody>
      </p:sp>
      <p:sp>
        <p:nvSpPr>
          <p:cNvPr id="102" name="Text 100"/>
          <p:cNvSpPr/>
          <p:nvPr/>
        </p:nvSpPr>
        <p:spPr>
          <a:xfrm>
            <a:off x="9486671"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leren?</a:t>
            </a:r>
            <a:endParaRPr lang="en-US" sz="2000" dirty="0"/>
          </a:p>
        </p:txBody>
      </p:sp>
      <p:sp>
        <p:nvSpPr>
          <p:cNvPr id="103" name="Text 101"/>
          <p:cNvSpPr/>
          <p:nvPr/>
        </p:nvSpPr>
        <p:spPr>
          <a:xfrm>
            <a:off x="9486671"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Alleen als het antwoord niet nee was. Kort en concreet.</a:t>
            </a:r>
            <a:endParaRPr lang="en-US" sz="1500" dirty="0"/>
          </a:p>
        </p:txBody>
      </p:sp>
      <p:sp>
        <p:nvSpPr>
          <p:cNvPr id="104" name="Text 102"/>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reflectie-naam.md, in jouw eigen woorden. De skill vult niets voor je in.</a:t>
            </a:r>
            <a:endParaRPr lang="en-US" sz="1800" dirty="0"/>
          </a:p>
        </p:txBody>
      </p:sp>
      <p:pic>
        <p:nvPicPr>
          <p:cNvPr id="10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drie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2026-10-05T12:48:48Z</dcterms:created>
  <dcterms:modified xsi:type="dcterms:W3CDTF">2026-10-05T12:48:48Z</dcterms:modified>
</cp:coreProperties>
</file>