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2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synthetisch: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Noem de drie skills bij naam: /workshop-verkennen, /workshop-dashboard en /workshop-reflectie. De deelnemers gebruiken ze niet zelf in de rondes: de leider laat ze draaien bij de spiegelmomenten en legt dan uit wat erin staat en wat de skill afdwingt.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op het scherm. Laat zien dat de agent de code zichtbaar maakt. Lukt het starten van Claude Code niet binnen een paar minuten, dan is dat een signaal over de devcontainer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kijken niet naar individuele schetsen, maar naar de skill. Vraag eerst twee tweetallen om één ding te noemen dat ze in ronde 1 tegenkwamen (één zin per tweetal). Loop daarna met de volgende twee dia's door de skill. Draai /workshop-verkennen live: dat duurt ongeveer 1 minuut (gemeten 58 tot 71 s, reken op een marge) en je legt uit terwijl hij loopt. Zet daarnaast desgewenst één gewone prompt op hetzelfde scherm.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/workshop-verkennen/SKILL.md. Open het bestand even op het scherm: bovenaan staat wanneer de agent de skill pakt, daaronder de stappen. Vraag: welke van deze vier stappen heb jij in ronde 1 overgeslagen of anders gedaan?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checks die in de skill zijn verweven. Laat de deelnemers zelf aanwijzen welke ze in ronde 1 zelf hebben gedaan. De cijfers komen uit de antwoordsleutel (workshop-rad/data/verwachte_uitkomsten.txt). De drempel 30 en 5 is een keuze van staat1cho en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Ook nu geen individuele dashboards bekijken. Vraag twee tweetallen om één keuze te noemen die ze maakten (bijvoorbeeld de titel of de drempel). Draai /workshop-dashboard live: dat duurt ongeveer 2 tot 2,5 minuut (gemeten 124 tot 136 s). Loop daarna door de skill met de volgende dia's en sluit af met de onthulling van de uitkomst. Contrast: een gewone prompt telt de eerstejaars anders (2.449 in plaats van 2.809) en verbergt kleine groepen niet; zie docs/tijdmeting.md.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/workshop-dashboard/SKILL.md. Let op het verschil met ronde 1: hier staan de responsible-checks niet in een aparte stap maar in de bouwinstructie zelf.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dit is wat een correcte analyse oplevert. Vraag of de skill dit ook vond. Wie in ronde 2 "vrouwen vallen vaker uit"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Evaluatie en afsluiting zijn één blok van 16 minuten. Vraag eerst toestemming: de antwoorden zijn anoniem en gebruiken we om te bepalen of er een vervolg komt. Terugblik via /workshop-reflectie of de peiling (QR-code). Houd de tijd: loopt het uit, kort dan de afsluiting in, niet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/workshop-reflectie/SKILL.md: afgeleid van de teamskill sessie-terugblik, zonder GitHub-koppeling. Principes: één vraag per keer, een dun antwoord is een antwoord, niet doorvragen. Deelnemers mogen kiezen: via de skill of via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vier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pic>
        <p:nvPicPr>
          <p:cNvPr id="91" name="Npuls achtergrond" descr="Slide15.PNG"/>
          <p:cNvPicPr>
            <a:picLocks noChangeAspect="1"/>
          </p:cNvPicPr>
          <p:nvPr/>
        </p:nvPicPr>
        <p:blipFill>
          <a:blip r:embed="rId3"/>
          <a:stretch>
            <a:fillRect/>
          </a:stretch>
        </p:blipFill>
        <p:spPr>
          <a:xfrm>
            <a:off x="0" y="0"/>
            <a:ext cx="12192000" cy="6858000"/>
          </a:xfrm>
          <a:prstGeom prst="rect">
            <a:avLst/>
          </a:prstGeom>
        </p:spPr>
      </p:pic>
      <p:sp>
        <p:nvSpPr>
          <p:cNvPr id="72" name="Shape 70"/>
          <p:cNvSpPr/>
          <p:nvPr/>
        </p:nvSpPr>
        <p:spPr>
          <a:xfrm>
            <a:off x="3840480" y="640080"/>
            <a:ext cx="3072384" cy="402336"/>
          </a:xfrm>
          <a:prstGeom prst="roundRect">
            <a:avLst>
              <a:gd name="adj" fmla="val 113636"/>
            </a:avLst>
          </a:prstGeom>
          <a:solidFill>
            <a:srgbClr val="F4D74B"/>
          </a:solidFill>
          <a:ln/>
        </p:spPr>
        <p:txBody>
          <a:bodyPr/>
          <a:p/>
        </p:txBody>
      </p:sp>
      <p:sp>
        <p:nvSpPr>
          <p:cNvPr id="73" name="Text 71"/>
          <p:cNvSpPr/>
          <p:nvPr/>
        </p:nvSpPr>
        <p:spPr>
          <a:xfrm>
            <a:off x="3931920" y="640080"/>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txBody>
          <a:bodyPr/>
          <a:p/>
        </p:txBody>
      </p:sp>
      <p:sp>
        <p:nvSpPr>
          <p:cNvPr id="78" name="Shape 76"/>
          <p:cNvSpPr/>
          <p:nvPr/>
        </p:nvSpPr>
        <p:spPr>
          <a:xfrm>
            <a:off x="8138160" y="1188720"/>
            <a:ext cx="914400" cy="914400"/>
          </a:xfrm>
          <a:prstGeom prst="ellipse">
            <a:avLst/>
          </a:prstGeom>
          <a:solidFill>
            <a:srgbClr val="F4D74B"/>
          </a:solidFill>
          <a:ln/>
        </p:spPr>
        <p:txBody>
          <a:bodyPr/>
          <a:p/>
        </p:txBody>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txBody>
          <a:bodyPr/>
          <a:p/>
        </p:txBody>
      </p:sp>
      <p:sp>
        <p:nvSpPr>
          <p:cNvPr id="82" name="Shape 80"/>
          <p:cNvSpPr/>
          <p:nvPr/>
        </p:nvSpPr>
        <p:spPr>
          <a:xfrm>
            <a:off x="8138160" y="2743200"/>
            <a:ext cx="914400" cy="914400"/>
          </a:xfrm>
          <a:prstGeom prst="ellipse">
            <a:avLst/>
          </a:prstGeom>
          <a:solidFill>
            <a:srgbClr val="F4D9DC"/>
          </a:solidFill>
          <a:ln/>
        </p:spPr>
        <p:txBody>
          <a:bodyPr/>
          <a:p/>
        </p:txBody>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txBody>
          <a:bodyPr/>
          <a:p/>
        </p:txBody>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afsluiting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txBody>
          <a:bodyPr/>
          <a:p/>
        </p:txBody>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txBody>
          <a:bodyPr/>
          <a:p/>
        </p:txBody>
      </p:sp>
      <p:sp>
        <p:nvSpPr>
          <p:cNvPr id="90" name="Text 88"/>
          <p:cNvSpPr/>
          <p:nvPr/>
        </p:nvSpPr>
        <p:spPr>
          <a:xfrm>
            <a:off x="548640" y="1325880"/>
            <a:ext cx="3657600" cy="365760"/>
          </a:xfrm>
          <a:prstGeom prst="rect">
            <a:avLst/>
          </a:prstGeom>
          <a:noFill/>
          <a:ln/>
        </p:spPr>
        <p:txBody>
          <a:bodyPr wrap="square" lIns="0" tIns="0" rIns="0" bIns="0" rtlCol="0" anchor="t"/>
          <a:lstStyle/>
          <a:p>
            <a:pPr algn="l"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pic>
        <p:nvPicPr>
          <p:cNvPr id="92" name="Npuls logo" descr="npuls-logo-horizontaal-wit.png"/>
          <p:cNvPicPr>
            <a:picLocks noChangeAspect="1"/>
          </p:cNvPicPr>
          <p:nvPr/>
        </p:nvPicPr>
        <p:blipFill>
          <a:blip r:embed="rId4"/>
          <a:stretch>
            <a:fillRect/>
          </a:stretch>
        </p:blipFill>
        <p:spPr>
          <a:xfrm>
            <a:off x="548640" y="457200"/>
            <a:ext cx="2011680" cy="7245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Box 72"/>
          <p:cNvSpPr txBox="1"/>
          <p:nvPr/>
        </p:nvSpPr>
        <p:spPr>
          <a:xfrm>
            <a:off x="548640"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0:00</a:t>
            </a:r>
          </a:p>
        </p:txBody>
      </p:sp>
      <p:sp>
        <p:nvSpPr>
          <p:cNvPr id="74" name="Rectangle 73"/>
          <p:cNvSpPr/>
          <p:nvPr/>
        </p:nvSpPr>
        <p:spPr>
          <a:xfrm>
            <a:off x="548640" y="2103120"/>
            <a:ext cx="1532458"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17 min</a:t>
            </a:r>
          </a:p>
        </p:txBody>
      </p:sp>
      <p:sp>
        <p:nvSpPr>
          <p:cNvPr id="75" name="Rectangle 74"/>
          <p:cNvSpPr/>
          <p:nvPr/>
        </p:nvSpPr>
        <p:spPr>
          <a:xfrm>
            <a:off x="548640" y="3017520"/>
            <a:ext cx="1532458"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3291839"/>
            <a:ext cx="1441018" cy="731520"/>
          </a:xfrm>
          <a:prstGeom prst="rect">
            <a:avLst/>
          </a:prstGeom>
          <a:noFill/>
        </p:spPr>
        <p:txBody>
          <a:bodyPr wrap="square" lIns="0" rIns="0" tIns="0" bIns="0" anchor="t">
            <a:spAutoFit/>
          </a:bodyPr>
          <a:lstStyle/>
          <a:p>
            <a:pPr algn="l"/>
            <a:r>
              <a:rPr sz="1100">
                <a:solidFill>
                  <a:srgbClr val="000000"/>
                </a:solidFill>
                <a:latin typeface="General Sans Semibold"/>
              </a:rPr>
              <a:t>Intro, data en casus</a:t>
            </a:r>
          </a:p>
        </p:txBody>
      </p:sp>
      <p:sp>
        <p:nvSpPr>
          <p:cNvPr id="77" name="TextBox 76"/>
          <p:cNvSpPr txBox="1"/>
          <p:nvPr/>
        </p:nvSpPr>
        <p:spPr>
          <a:xfrm>
            <a:off x="566928" y="4160520"/>
            <a:ext cx="1441018" cy="822960"/>
          </a:xfrm>
          <a:prstGeom prst="rect">
            <a:avLst/>
          </a:prstGeom>
          <a:noFill/>
        </p:spPr>
        <p:txBody>
          <a:bodyPr wrap="square" lIns="0" rIns="0" tIns="0" bIns="0" anchor="t">
            <a:spAutoFit/>
          </a:bodyPr>
          <a:lstStyle/>
          <a:p>
            <a:pPr algn="l"/>
            <a:r>
              <a:rPr sz="1200">
                <a:solidFill>
                  <a:srgbClr val="000000"/>
                </a:solidFill>
                <a:latin typeface="General Sans"/>
              </a:rPr>
              <a:t>CEDA, synthetische data en de opdracht</a:t>
            </a:r>
          </a:p>
        </p:txBody>
      </p:sp>
      <p:sp>
        <p:nvSpPr>
          <p:cNvPr id="78" name="TextBox 77"/>
          <p:cNvSpPr txBox="1"/>
          <p:nvPr/>
        </p:nvSpPr>
        <p:spPr>
          <a:xfrm>
            <a:off x="21268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0:17</a:t>
            </a:r>
          </a:p>
        </p:txBody>
      </p:sp>
      <p:sp>
        <p:nvSpPr>
          <p:cNvPr id="79" name="Rectangle 78"/>
          <p:cNvSpPr/>
          <p:nvPr/>
        </p:nvSpPr>
        <p:spPr>
          <a:xfrm>
            <a:off x="2126818" y="2103120"/>
            <a:ext cx="1171879"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13 min</a:t>
            </a:r>
          </a:p>
        </p:txBody>
      </p:sp>
      <p:sp>
        <p:nvSpPr>
          <p:cNvPr id="80" name="Rectangle 79"/>
          <p:cNvSpPr/>
          <p:nvPr/>
        </p:nvSpPr>
        <p:spPr>
          <a:xfrm>
            <a:off x="2126818" y="3017520"/>
            <a:ext cx="1171879"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145106" y="3291839"/>
            <a:ext cx="1080439" cy="731520"/>
          </a:xfrm>
          <a:prstGeom prst="rect">
            <a:avLst/>
          </a:prstGeom>
          <a:noFill/>
        </p:spPr>
        <p:txBody>
          <a:bodyPr wrap="square" lIns="0" rIns="0" tIns="0" bIns="0" anchor="t">
            <a:spAutoFit/>
          </a:bodyPr>
          <a:lstStyle/>
          <a:p>
            <a:pPr algn="l"/>
            <a:r>
              <a:rPr sz="1100">
                <a:solidFill>
                  <a:srgbClr val="000000"/>
                </a:solidFill>
                <a:latin typeface="General Sans Semibold"/>
              </a:rPr>
              <a:t>Skills en devcontainer</a:t>
            </a:r>
          </a:p>
        </p:txBody>
      </p:sp>
      <p:sp>
        <p:nvSpPr>
          <p:cNvPr id="82" name="TextBox 81"/>
          <p:cNvSpPr txBox="1"/>
          <p:nvPr/>
        </p:nvSpPr>
        <p:spPr>
          <a:xfrm>
            <a:off x="2145106" y="4160520"/>
            <a:ext cx="1080439" cy="822960"/>
          </a:xfrm>
          <a:prstGeom prst="rect">
            <a:avLst/>
          </a:prstGeom>
          <a:noFill/>
        </p:spPr>
        <p:txBody>
          <a:bodyPr wrap="square" lIns="0" rIns="0" tIns="0" bIns="0" anchor="t">
            <a:spAutoFit/>
          </a:bodyPr>
          <a:lstStyle/>
          <a:p>
            <a:pPr algn="l"/>
            <a:r>
              <a:rPr sz="1200">
                <a:solidFill>
                  <a:srgbClr val="000000"/>
                </a:solidFill>
                <a:latin typeface="General Sans"/>
              </a:rPr>
              <a:t>Wat is een skill, eerste prompt</a:t>
            </a:r>
          </a:p>
        </p:txBody>
      </p:sp>
      <p:sp>
        <p:nvSpPr>
          <p:cNvPr id="83" name="TextBox 82"/>
          <p:cNvSpPr txBox="1"/>
          <p:nvPr/>
        </p:nvSpPr>
        <p:spPr>
          <a:xfrm>
            <a:off x="33444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0:30</a:t>
            </a:r>
          </a:p>
        </p:txBody>
      </p:sp>
      <p:sp>
        <p:nvSpPr>
          <p:cNvPr id="84" name="Rectangle 83"/>
          <p:cNvSpPr/>
          <p:nvPr/>
        </p:nvSpPr>
        <p:spPr>
          <a:xfrm>
            <a:off x="334441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85" name="Rectangle 84"/>
          <p:cNvSpPr/>
          <p:nvPr/>
        </p:nvSpPr>
        <p:spPr>
          <a:xfrm>
            <a:off x="334441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36270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1: data verkennen</a:t>
            </a:r>
          </a:p>
        </p:txBody>
      </p:sp>
      <p:sp>
        <p:nvSpPr>
          <p:cNvPr id="87" name="TextBox 86"/>
          <p:cNvSpPr txBox="1"/>
          <p:nvPr/>
        </p:nvSpPr>
        <p:spPr>
          <a:xfrm>
            <a:off x="336270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a:t>
            </a:r>
          </a:p>
        </p:txBody>
      </p:sp>
      <p:sp>
        <p:nvSpPr>
          <p:cNvPr id="88" name="TextBox 87"/>
          <p:cNvSpPr txBox="1"/>
          <p:nvPr/>
        </p:nvSpPr>
        <p:spPr>
          <a:xfrm>
            <a:off x="537331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0:52</a:t>
            </a:r>
          </a:p>
        </p:txBody>
      </p:sp>
      <p:sp>
        <p:nvSpPr>
          <p:cNvPr id="89" name="Rectangle 88"/>
          <p:cNvSpPr/>
          <p:nvPr/>
        </p:nvSpPr>
        <p:spPr>
          <a:xfrm>
            <a:off x="537331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90" name="Rectangle 89"/>
          <p:cNvSpPr/>
          <p:nvPr/>
        </p:nvSpPr>
        <p:spPr>
          <a:xfrm>
            <a:off x="537331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39160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1</a:t>
            </a:r>
          </a:p>
        </p:txBody>
      </p:sp>
      <p:sp>
        <p:nvSpPr>
          <p:cNvPr id="92" name="TextBox 91"/>
          <p:cNvSpPr txBox="1"/>
          <p:nvPr/>
        </p:nvSpPr>
        <p:spPr>
          <a:xfrm>
            <a:off x="539160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kijk wat erin zit</a:t>
            </a:r>
          </a:p>
        </p:txBody>
      </p:sp>
      <p:sp>
        <p:nvSpPr>
          <p:cNvPr id="93" name="Rounded Rectangle 92"/>
          <p:cNvSpPr/>
          <p:nvPr/>
        </p:nvSpPr>
        <p:spPr>
          <a:xfrm>
            <a:off x="539160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/workshop-verkennen</a:t>
            </a:r>
          </a:p>
        </p:txBody>
      </p:sp>
      <p:sp>
        <p:nvSpPr>
          <p:cNvPr id="94" name="TextBox 93"/>
          <p:cNvSpPr txBox="1"/>
          <p:nvPr/>
        </p:nvSpPr>
        <p:spPr>
          <a:xfrm>
            <a:off x="677120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1:07</a:t>
            </a:r>
          </a:p>
        </p:txBody>
      </p:sp>
      <p:sp>
        <p:nvSpPr>
          <p:cNvPr id="95" name="Rectangle 94"/>
          <p:cNvSpPr/>
          <p:nvPr/>
        </p:nvSpPr>
        <p:spPr>
          <a:xfrm>
            <a:off x="677120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96" name="Rectangle 95"/>
          <p:cNvSpPr/>
          <p:nvPr/>
        </p:nvSpPr>
        <p:spPr>
          <a:xfrm>
            <a:off x="677120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949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2: dashboard bouwen</a:t>
            </a:r>
          </a:p>
        </p:txBody>
      </p:sp>
      <p:sp>
        <p:nvSpPr>
          <p:cNvPr id="98" name="TextBox 97"/>
          <p:cNvSpPr txBox="1"/>
          <p:nvPr/>
        </p:nvSpPr>
        <p:spPr>
          <a:xfrm>
            <a:off x="678949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 andere rol</a:t>
            </a:r>
          </a:p>
        </p:txBody>
      </p:sp>
      <p:sp>
        <p:nvSpPr>
          <p:cNvPr id="99" name="TextBox 98"/>
          <p:cNvSpPr txBox="1"/>
          <p:nvPr/>
        </p:nvSpPr>
        <p:spPr>
          <a:xfrm>
            <a:off x="880010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1:29</a:t>
            </a:r>
          </a:p>
        </p:txBody>
      </p:sp>
      <p:sp>
        <p:nvSpPr>
          <p:cNvPr id="100" name="Rectangle 99"/>
          <p:cNvSpPr/>
          <p:nvPr/>
        </p:nvSpPr>
        <p:spPr>
          <a:xfrm>
            <a:off x="880010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101" name="Rectangle 100"/>
          <p:cNvSpPr/>
          <p:nvPr/>
        </p:nvSpPr>
        <p:spPr>
          <a:xfrm>
            <a:off x="880010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81839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2</a:t>
            </a:r>
          </a:p>
        </p:txBody>
      </p:sp>
      <p:sp>
        <p:nvSpPr>
          <p:cNvPr id="103" name="TextBox 102"/>
          <p:cNvSpPr txBox="1"/>
          <p:nvPr/>
        </p:nvSpPr>
        <p:spPr>
          <a:xfrm>
            <a:off x="881839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daarna de onthulling</a:t>
            </a:r>
          </a:p>
        </p:txBody>
      </p:sp>
      <p:sp>
        <p:nvSpPr>
          <p:cNvPr id="104" name="Rounded Rectangle 103"/>
          <p:cNvSpPr/>
          <p:nvPr/>
        </p:nvSpPr>
        <p:spPr>
          <a:xfrm>
            <a:off x="881839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/workshop-dashboard</a:t>
            </a:r>
          </a:p>
        </p:txBody>
      </p:sp>
      <p:sp>
        <p:nvSpPr>
          <p:cNvPr id="105" name="TextBox 104"/>
          <p:cNvSpPr txBox="1"/>
          <p:nvPr/>
        </p:nvSpPr>
        <p:spPr>
          <a:xfrm>
            <a:off x="1019799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1:44</a:t>
            </a:r>
          </a:p>
        </p:txBody>
      </p:sp>
      <p:sp>
        <p:nvSpPr>
          <p:cNvPr id="106" name="Rectangle 105"/>
          <p:cNvSpPr/>
          <p:nvPr/>
        </p:nvSpPr>
        <p:spPr>
          <a:xfrm>
            <a:off x="10197998" y="2103120"/>
            <a:ext cx="1442313" cy="91440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16 min</a:t>
            </a:r>
          </a:p>
        </p:txBody>
      </p:sp>
      <p:sp>
        <p:nvSpPr>
          <p:cNvPr id="107" name="Rectangle 106"/>
          <p:cNvSpPr/>
          <p:nvPr/>
        </p:nvSpPr>
        <p:spPr>
          <a:xfrm>
            <a:off x="10197998" y="3017520"/>
            <a:ext cx="1442313" cy="4572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0216286" y="3291839"/>
            <a:ext cx="1350873" cy="731520"/>
          </a:xfrm>
          <a:prstGeom prst="rect">
            <a:avLst/>
          </a:prstGeom>
          <a:noFill/>
        </p:spPr>
        <p:txBody>
          <a:bodyPr wrap="square" lIns="0" rIns="0" tIns="0" bIns="0" anchor="t">
            <a:spAutoFit/>
          </a:bodyPr>
          <a:lstStyle/>
          <a:p>
            <a:pPr algn="l"/>
            <a:r>
              <a:rPr sz="1100">
                <a:solidFill>
                  <a:srgbClr val="000000"/>
                </a:solidFill>
                <a:latin typeface="General Sans Semibold"/>
              </a:rPr>
              <a:t>Evaluatie en afsluiting</a:t>
            </a:r>
          </a:p>
        </p:txBody>
      </p:sp>
      <p:sp>
        <p:nvSpPr>
          <p:cNvPr id="109" name="TextBox 108"/>
          <p:cNvSpPr txBox="1"/>
          <p:nvPr/>
        </p:nvSpPr>
        <p:spPr>
          <a:xfrm>
            <a:off x="10216286" y="4160520"/>
            <a:ext cx="1350873" cy="822960"/>
          </a:xfrm>
          <a:prstGeom prst="rect">
            <a:avLst/>
          </a:prstGeom>
          <a:noFill/>
        </p:spPr>
        <p:txBody>
          <a:bodyPr wrap="square" lIns="0" rIns="0" tIns="0" bIns="0" anchor="t">
            <a:spAutoFit/>
          </a:bodyPr>
          <a:lstStyle/>
          <a:p>
            <a:pPr algn="l"/>
            <a:r>
              <a:rPr sz="1200">
                <a:solidFill>
                  <a:srgbClr val="000000"/>
                </a:solidFill>
                <a:latin typeface="General Sans"/>
              </a:rPr>
              <a:t>Terugblik, peiling, rondje</a:t>
            </a:r>
          </a:p>
        </p:txBody>
      </p:sp>
      <p:sp>
        <p:nvSpPr>
          <p:cNvPr id="110" name="Rounded Rectangle 109"/>
          <p:cNvSpPr/>
          <p:nvPr/>
        </p:nvSpPr>
        <p:spPr>
          <a:xfrm>
            <a:off x="10216286" y="5029200"/>
            <a:ext cx="1405737"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/workshop-reflectie</a:t>
            </a:r>
          </a:p>
        </p:txBody>
      </p:sp>
      <p:sp>
        <p:nvSpPr>
          <p:cNvPr id="111" name="TextBox 110"/>
          <p:cNvSpPr txBox="1"/>
          <p:nvPr/>
        </p:nvSpPr>
        <p:spPr>
          <a:xfrm>
            <a:off x="10725912" y="1719072"/>
            <a:ext cx="914400" cy="274320"/>
          </a:xfrm>
          <a:prstGeom prst="rect">
            <a:avLst/>
          </a:prstGeom>
          <a:noFill/>
        </p:spPr>
        <p:txBody>
          <a:bodyPr wrap="square" lIns="0" rIns="0" tIns="0" bIns="0" anchor="t">
            <a:spAutoFit/>
          </a:bodyPr>
          <a:lstStyle/>
          <a:p>
            <a:pPr algn="r"/>
            <a:r>
              <a:rPr sz="1400">
                <a:solidFill>
                  <a:srgbClr val="3D68EC"/>
                </a:solidFill>
                <a:latin typeface="General Sans Semibold"/>
              </a:rPr>
              <a:t>2:00</a:t>
            </a:r>
          </a:p>
        </p:txBody>
      </p:sp>
      <p:sp>
        <p:nvSpPr>
          <p:cNvPr id="112" name="Rectangle 111"/>
          <p:cNvSpPr/>
          <p:nvPr/>
        </p:nvSpPr>
        <p:spPr>
          <a:xfrm>
            <a:off x="548640" y="6025896"/>
            <a:ext cx="201168" cy="201168"/>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41247"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Uitleg</a:t>
            </a:r>
          </a:p>
        </p:txBody>
      </p:sp>
      <p:sp>
        <p:nvSpPr>
          <p:cNvPr id="114" name="Rectangle 113"/>
          <p:cNvSpPr/>
          <p:nvPr/>
        </p:nvSpPr>
        <p:spPr>
          <a:xfrm>
            <a:off x="1901952" y="6025896"/>
            <a:ext cx="201168" cy="201168"/>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194560"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Werken in tweetallen</a:t>
            </a:r>
          </a:p>
        </p:txBody>
      </p:sp>
      <p:sp>
        <p:nvSpPr>
          <p:cNvPr id="116" name="Rectangle 115"/>
          <p:cNvSpPr/>
          <p:nvPr/>
        </p:nvSpPr>
        <p:spPr>
          <a:xfrm>
            <a:off x="4663440" y="6025896"/>
            <a:ext cx="201168" cy="201168"/>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9560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Spiegelmoment</a:t>
            </a:r>
          </a:p>
        </p:txBody>
      </p:sp>
      <p:sp>
        <p:nvSpPr>
          <p:cNvPr id="118" name="Rectangle 117"/>
          <p:cNvSpPr/>
          <p:nvPr/>
        </p:nvSpPr>
        <p:spPr>
          <a:xfrm>
            <a:off x="6720840" y="6025896"/>
            <a:ext cx="201168" cy="201168"/>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0134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Evaluatie en afsluiting</a:t>
            </a:r>
          </a:p>
        </p:txBody>
      </p:sp>
      <p:pic>
        <p:nvPicPr>
          <p:cNvPr id="120"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De data is synthetisch, het patroon is ingebouwd</a:t>
            </a:r>
            <a:endParaRPr lang="en-US" sz="27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data/synthetisch_1cho.csv.</a:t>
            </a:r>
            <a:endParaRPr lang="en-US" sz="17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81762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Hij leest je opdracht, schrijft en draait de code. Wij gebruiken Claude Code.</a:t>
            </a:r>
            <a:endParaRPr lang="en-US" sz="1500" dirty="0"/>
          </a:p>
        </p:txBody>
      </p:sp>
      <p:sp>
        <p:nvSpPr>
          <p:cNvPr id="78" name="Text 76"/>
          <p:cNvSpPr/>
          <p:nvPr/>
        </p:nvSpPr>
        <p:spPr>
          <a:xfrm>
            <a:off x="822960"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de terminal</a:t>
            </a:r>
            <a:endParaRPr lang="en-US" sz="1500" dirty="0"/>
          </a:p>
        </p:txBody>
      </p:sp>
      <p:sp>
        <p:nvSpPr>
          <p:cNvPr id="80" name="Shape 78"/>
          <p:cNvSpPr/>
          <p:nvPr/>
        </p:nvSpPr>
        <p:spPr>
          <a:xfrm>
            <a:off x="4338218" y="1371600"/>
            <a:ext cx="3515258" cy="381762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 en het resultaat hangt af van hoe je het vraagt.</a:t>
            </a:r>
            <a:endParaRPr lang="en-US" sz="1500" dirty="0"/>
          </a:p>
        </p:txBody>
      </p:sp>
      <p:sp>
        <p:nvSpPr>
          <p:cNvPr id="85" name="Text 83"/>
          <p:cNvSpPr/>
          <p:nvPr/>
        </p:nvSpPr>
        <p:spPr>
          <a:xfrm>
            <a:off x="4612538"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81762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dat de agent volgt. Elke keer dezelfde werkwijze.</a:t>
            </a:r>
            <a:endParaRPr lang="en-US" sz="1500" dirty="0"/>
          </a:p>
        </p:txBody>
      </p:sp>
      <p:sp>
        <p:nvSpPr>
          <p:cNvPr id="92" name="Text 90"/>
          <p:cNvSpPr/>
          <p:nvPr/>
        </p:nvSpPr>
        <p:spPr>
          <a:xfrm>
            <a:off x="8402117"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 dan kleine groepen</a:t>
            </a:r>
            <a:endParaRPr lang="en-US" sz="1500" dirty="0"/>
          </a:p>
        </p:txBody>
      </p:sp>
      <p:sp>
        <p:nvSpPr>
          <p:cNvPr id="94" name="Text 92"/>
          <p:cNvSpPr/>
          <p:nvPr/>
        </p:nvSpPr>
        <p:spPr>
          <a:xfrm>
            <a:off x="548640" y="537210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pic>
        <p:nvPicPr>
          <p:cNvPr id="95" name="Npuls beeldmerk" descr="npuls-beeldmerk-wi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die wij laten zien</a:t>
            </a:r>
            <a:endParaRPr lang="en-US" sz="3400" dirty="0"/>
          </a:p>
        </p:txBody>
      </p:sp>
      <p:sp>
        <p:nvSpPr>
          <p:cNvPr id="73" name="Shape 71"/>
          <p:cNvSpPr/>
          <p:nvPr/>
        </p:nvSpPr>
        <p:spPr>
          <a:xfrm>
            <a:off x="548640" y="1371600"/>
            <a:ext cx="3515258" cy="4069080"/>
          </a:xfrm>
          <a:prstGeom prst="roundRect">
            <a:avLst>
              <a:gd name="adj" fmla="val 1895"/>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/workshop-verkennen</a:t>
            </a:r>
            <a:endParaRPr lang="en-US" sz="2300" dirty="0"/>
          </a:p>
        </p:txBody>
      </p:sp>
      <p:sp>
        <p:nvSpPr>
          <p:cNvPr id="79" name="Text 77"/>
          <p:cNvSpPr/>
          <p:nvPr/>
        </p:nvSpPr>
        <p:spPr>
          <a:xfrm>
            <a:off x="822960"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 verkennen, kleine groepen signaleren, schetsen.</a:t>
            </a:r>
            <a:endParaRPr lang="en-US" sz="1500" dirty="0"/>
          </a:p>
        </p:txBody>
      </p:sp>
      <p:sp>
        <p:nvSpPr>
          <p:cNvPr id="81" name="Text 79"/>
          <p:cNvSpPr/>
          <p:nvPr/>
        </p:nvSpPr>
        <p:spPr>
          <a:xfrm>
            <a:off x="822960"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data-profiel.md en schets.md</a:t>
            </a:r>
            <a:endParaRPr lang="en-US" sz="1500" dirty="0"/>
          </a:p>
        </p:txBody>
      </p:sp>
      <p:sp>
        <p:nvSpPr>
          <p:cNvPr id="83" name="Shape 81"/>
          <p:cNvSpPr/>
          <p:nvPr/>
        </p:nvSpPr>
        <p:spPr>
          <a:xfrm>
            <a:off x="4338218" y="1371600"/>
            <a:ext cx="3515258" cy="4069080"/>
          </a:xfrm>
          <a:prstGeom prst="roundRect">
            <a:avLst>
              <a:gd name="adj" fmla="val 1895"/>
            </a:avLst>
          </a:prstGeom>
          <a:solidFill>
            <a:srgbClr val="DD784B"/>
          </a:solidFill>
          <a:ln/>
        </p:spPr>
      </p:sp>
      <p:sp>
        <p:nvSpPr>
          <p:cNvPr id="84" name="Shape 82"/>
          <p:cNvSpPr/>
          <p:nvPr/>
        </p:nvSpPr>
        <p:spPr>
          <a:xfrm>
            <a:off x="4612538" y="1645920"/>
            <a:ext cx="548640" cy="548640"/>
          </a:xfrm>
          <a:prstGeom prst="ellipse">
            <a:avLst/>
          </a:prstGeom>
          <a:solidFill>
            <a:srgbClr val="F4D9DC"/>
          </a:solidFill>
          <a:ln/>
        </p:spPr>
      </p:sp>
      <p:sp>
        <p:nvSpPr>
          <p:cNvPr id="85" name="Text 83"/>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5298338" y="1719072"/>
            <a:ext cx="2280818" cy="402336"/>
          </a:xfrm>
          <a:prstGeom prst="roundRect">
            <a:avLst>
              <a:gd name="adj" fmla="val 113636"/>
            </a:avLst>
          </a:prstGeom>
          <a:solidFill>
            <a:srgbClr val="F4D9DC"/>
          </a:solidFill>
          <a:ln/>
        </p:spPr>
      </p:sp>
      <p:sp>
        <p:nvSpPr>
          <p:cNvPr id="87" name="Text 85"/>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/workshop-dashboard</a:t>
            </a:r>
            <a:endParaRPr lang="en-US" sz="2300" dirty="0"/>
          </a:p>
        </p:txBody>
      </p:sp>
      <p:sp>
        <p:nvSpPr>
          <p:cNvPr id="89" name="Text 87"/>
          <p:cNvSpPr/>
          <p:nvPr/>
        </p:nvSpPr>
        <p:spPr>
          <a:xfrm>
            <a:off x="4612538"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4612538"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 bouwen, met de checks erin verweven.</a:t>
            </a:r>
            <a:endParaRPr lang="en-US" sz="1500" dirty="0"/>
          </a:p>
        </p:txBody>
      </p:sp>
      <p:sp>
        <p:nvSpPr>
          <p:cNvPr id="91" name="Text 89"/>
          <p:cNvSpPr/>
          <p:nvPr/>
        </p:nvSpPr>
        <p:spPr>
          <a:xfrm>
            <a:off x="4612538"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4612538"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app.py en berekeningen.py</a:t>
            </a:r>
            <a:endParaRPr lang="en-US" sz="1500" dirty="0"/>
          </a:p>
        </p:txBody>
      </p:sp>
      <p:sp>
        <p:nvSpPr>
          <p:cNvPr id="93" name="Shape 91"/>
          <p:cNvSpPr/>
          <p:nvPr/>
        </p:nvSpPr>
        <p:spPr>
          <a:xfrm>
            <a:off x="8127797" y="1371600"/>
            <a:ext cx="3515258" cy="4069080"/>
          </a:xfrm>
          <a:prstGeom prst="roundRect">
            <a:avLst>
              <a:gd name="adj" fmla="val 1895"/>
            </a:avLst>
          </a:prstGeom>
          <a:solidFill>
            <a:srgbClr val="00AF81"/>
          </a:solidFill>
          <a:ln/>
        </p:spPr>
      </p:sp>
      <p:sp>
        <p:nvSpPr>
          <p:cNvPr id="94" name="Shape 92"/>
          <p:cNvSpPr/>
          <p:nvPr/>
        </p:nvSpPr>
        <p:spPr>
          <a:xfrm>
            <a:off x="8402117" y="1645920"/>
            <a:ext cx="548640" cy="548640"/>
          </a:xfrm>
          <a:prstGeom prst="ellipse">
            <a:avLst/>
          </a:prstGeom>
          <a:solidFill>
            <a:srgbClr val="F4D9DC"/>
          </a:solidFill>
          <a:ln/>
        </p:spPr>
      </p:sp>
      <p:sp>
        <p:nvSpPr>
          <p:cNvPr id="95" name="Text 93"/>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9087917" y="1719072"/>
            <a:ext cx="2280818" cy="402336"/>
          </a:xfrm>
          <a:prstGeom prst="roundRect">
            <a:avLst>
              <a:gd name="adj" fmla="val 113636"/>
            </a:avLst>
          </a:prstGeom>
          <a:solidFill>
            <a:srgbClr val="F4D9DC"/>
          </a:solidFill>
          <a:ln/>
        </p:spPr>
      </p:sp>
      <p:sp>
        <p:nvSpPr>
          <p:cNvPr id="97" name="Text 95"/>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Evaluatie</a:t>
            </a:r>
            <a:endParaRPr lang="en-US" sz="1200" dirty="0"/>
          </a:p>
        </p:txBody>
      </p:sp>
      <p:sp>
        <p:nvSpPr>
          <p:cNvPr id="98" name="Text 96"/>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/workshop-reflectie</a:t>
            </a:r>
            <a:endParaRPr lang="en-US" sz="2300" dirty="0"/>
          </a:p>
        </p:txBody>
      </p:sp>
      <p:sp>
        <p:nvSpPr>
          <p:cNvPr id="99" name="Text 97"/>
          <p:cNvSpPr/>
          <p:nvPr/>
        </p:nvSpPr>
        <p:spPr>
          <a:xfrm>
            <a:off x="8402117"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100" name="Text 98"/>
          <p:cNvSpPr/>
          <p:nvPr/>
        </p:nvSpPr>
        <p:spPr>
          <a:xfrm>
            <a:off x="8402117"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Terugblik en vervolgwensen in je eigen woorden.</a:t>
            </a:r>
            <a:endParaRPr lang="en-US" sz="1500" dirty="0"/>
          </a:p>
        </p:txBody>
      </p:sp>
      <p:sp>
        <p:nvSpPr>
          <p:cNvPr id="101" name="Text 99"/>
          <p:cNvSpPr/>
          <p:nvPr/>
        </p:nvSpPr>
        <p:spPr>
          <a:xfrm>
            <a:off x="8402117"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2" name="Text 100"/>
          <p:cNvSpPr/>
          <p:nvPr/>
        </p:nvSpPr>
        <p:spPr>
          <a:xfrm>
            <a:off x="8402117"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reflectie-naam.md</a:t>
            </a:r>
            <a:endParaRPr lang="en-US" sz="1500" dirty="0"/>
          </a:p>
        </p:txBody>
      </p:sp>
      <p:sp>
        <p:nvSpPr>
          <p:cNvPr id="103" name="Text 101"/>
          <p:cNvSpPr/>
          <p:nvPr/>
        </p:nvSpPr>
        <p:spPr>
          <a:xfrm>
            <a:off x="548640" y="5623560"/>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Jullie prompten zelf in de rondes. Wij laten de skills live draaien bij de spiegelmomenten.</a:t>
            </a:r>
            <a:endParaRPr lang="en-US" sz="1600" dirty="0"/>
          </a:p>
        </p:txBody>
      </p:sp>
      <p:pic>
        <p:nvPicPr>
          <p:cNvPr id="10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Open de devcontainer</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Alles staat klaar: Claude Code, Python en de data</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Start Claude Code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Typ claude in de terminal</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Probeer een eerste instructie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Lees data/synthetisch_1cho.csv en vertel in gewone taal wat erin zit</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Stuur de agent aan</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Jij prompt, de agent rekent en bouwt. De skills laten wij straks zien</a:t>
            </a:r>
            <a:endParaRPr lang="en-US" sz="1400" dirty="0"/>
          </a:p>
        </p:txBody>
      </p:sp>
      <p:sp>
        <p:nvSpPr>
          <p:cNvPr id="91" name="Shape 89"/>
          <p:cNvSpPr/>
          <p:nvPr/>
        </p:nvSpPr>
        <p:spPr>
          <a:xfrm>
            <a:off x="9859975" y="4567428"/>
            <a:ext cx="1554480" cy="329184"/>
          </a:xfrm>
          <a:prstGeom prst="roundRect">
            <a:avLst>
              <a:gd name="adj" fmla="val 138889"/>
            </a:avLst>
          </a:prstGeom>
          <a:solidFill>
            <a:srgbClr val="DD784B"/>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Straks</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Duurt het starten langer dan een minuut? Roep iemand, dan zoeken we het samen uit.</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AF81"/>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"Vertel in gewone taal wat er in data/synthetisch_1cho.csv zit." </a:t>
            </a:r>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5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/workshop-verkennen,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/workshop-verkennen: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Profileren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instroom per jaar.</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Overzicht in gewone taal</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Definities</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instroom en rendement volgens staat1cho, letterlijk vastgelegd.</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30 tellen en uitleggen waarom ze verborgen blijven.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Privacy-check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Schetsen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Twee of drie views met de conclusie als titel, plus wat het niet kan zeggen.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schets.md</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data/synthetisch_1cho.csv en de casusvraag.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data-profiel.md en schets.md.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47522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Cohort 2023 is nog niet afgelopen en geeft 100% uitval. De skill sluit het uit en meldt dat.</a:t>
            </a:r>
            <a:endParaRPr lang="en-US" sz="1500" dirty="0"/>
          </a:p>
        </p:txBody>
      </p:sp>
      <p:sp>
        <p:nvSpPr>
          <p:cNvPr id="78" name="Shape 76"/>
          <p:cNvSpPr/>
          <p:nvPr/>
        </p:nvSpPr>
        <p:spPr>
          <a:xfrm>
            <a:off x="3390824" y="1371600"/>
            <a:ext cx="2567864" cy="347522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meldt dat en laat die uitsplitsing weg.</a:t>
            </a:r>
            <a:endParaRPr lang="en-US" sz="1500" dirty="0"/>
          </a:p>
        </p:txBody>
      </p:sp>
      <p:sp>
        <p:nvSpPr>
          <p:cNvPr id="83" name="Shape 81"/>
          <p:cNvSpPr/>
          <p:nvPr/>
        </p:nvSpPr>
        <p:spPr>
          <a:xfrm>
            <a:off x="6233008" y="1371600"/>
            <a:ext cx="2567864" cy="347522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28 van de 96 groepen hebben minder dan 30 studenten en worden niet getoond.</a:t>
            </a:r>
            <a:endParaRPr lang="en-US" sz="1500" dirty="0"/>
          </a:p>
        </p:txBody>
      </p:sp>
      <p:sp>
        <p:nvSpPr>
          <p:cNvPr id="88" name="Shape 86"/>
          <p:cNvSpPr/>
          <p:nvPr/>
        </p:nvSpPr>
        <p:spPr>
          <a:xfrm>
            <a:off x="9075191" y="1371600"/>
            <a:ext cx="2567864" cy="347522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schrijft op wat het dashboard niet kan zeggen.</a:t>
            </a:r>
            <a:endParaRPr lang="en-US" sz="1500" dirty="0"/>
          </a:p>
        </p:txBody>
      </p:sp>
      <p:sp>
        <p:nvSpPr>
          <p:cNvPr id="93" name="Text 91"/>
          <p:cNvSpPr/>
          <p:nvPr/>
        </p:nvSpPr>
        <p:spPr>
          <a:xfrm>
            <a:off x="548640" y="502970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data-profiel.md, schets.md en de data zelf.</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app.py voor de weergave, berekeningen.py voor de rekenregels.</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Headless</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AppTest: geen fouten en een kleine groep geeft "te weinig studenten".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Aantoonbaar</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de twee bestanden uit ronde 1.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een werkend, verantwoord dashboard.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synthetische data, cohorten 2012-2022 (2023 is nog niet waarneembaar)</a:t>
            </a:r>
            <a:endParaRPr lang="en-US" sz="1100" dirty="0"/>
          </a:p>
        </p:txBody>
      </p:sp>
      <p:pic>
        <p:nvPicPr>
          <p:cNvPr id="78"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AF81"/>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Open vraag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/workshop-reflectie: wat de skill doet</a:t>
            </a:r>
            <a:endParaRPr lang="en-US" sz="3400" dirty="0"/>
          </a:p>
        </p:txBody>
      </p:sp>
      <p:sp>
        <p:nvSpPr>
          <p:cNvPr id="73" name="Shape 71"/>
          <p:cNvSpPr/>
          <p:nvPr/>
        </p:nvSpPr>
        <p:spPr>
          <a:xfrm>
            <a:off x="548640" y="1371600"/>
            <a:ext cx="2430704" cy="3016758"/>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Toestemming</a:t>
            </a:r>
            <a:endParaRPr lang="en-US" sz="1200" dirty="0"/>
          </a:p>
        </p:txBody>
      </p:sp>
      <p:sp>
        <p:nvSpPr>
          <p:cNvPr id="78" name="Text 76"/>
          <p:cNvSpPr/>
          <p:nvPr/>
        </p:nvSpPr>
        <p:spPr>
          <a:xfrm>
            <a:off x="822960"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Eén zin</a:t>
            </a:r>
            <a:endParaRPr lang="en-US" sz="2000" dirty="0"/>
          </a:p>
        </p:txBody>
      </p:sp>
      <p:sp>
        <p:nvSpPr>
          <p:cNvPr id="79" name="Text 77"/>
          <p:cNvSpPr/>
          <p:nvPr/>
        </p:nvSpPr>
        <p:spPr>
          <a:xfrm>
            <a:off x="822960"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Anoniem, om te bepalen of er een vervolg komt. Zonder ja wordt niets bewaard.</a:t>
            </a:r>
            <a:endParaRPr lang="en-US" sz="1500" dirty="0"/>
          </a:p>
        </p:txBody>
      </p:sp>
      <p:sp>
        <p:nvSpPr>
          <p:cNvPr id="80" name="Shape 78"/>
          <p:cNvSpPr/>
          <p:nvPr/>
        </p:nvSpPr>
        <p:spPr>
          <a:xfrm>
            <a:off x="3089072" y="2605659"/>
            <a:ext cx="237744" cy="548640"/>
          </a:xfrm>
          <a:prstGeom prst="chevron">
            <a:avLst/>
          </a:prstGeom>
          <a:solidFill>
            <a:srgbClr val="3D68EC"/>
          </a:solidFill>
          <a:ln/>
        </p:spPr>
      </p:sp>
      <p:sp>
        <p:nvSpPr>
          <p:cNvPr id="81" name="Shape 79"/>
          <p:cNvSpPr/>
          <p:nvPr/>
        </p:nvSpPr>
        <p:spPr>
          <a:xfrm>
            <a:off x="3436544" y="1371600"/>
            <a:ext cx="2430704" cy="3016758"/>
          </a:xfrm>
          <a:prstGeom prst="roundRect">
            <a:avLst>
              <a:gd name="adj" fmla="val 3962"/>
            </a:avLst>
          </a:prstGeom>
          <a:solidFill>
            <a:srgbClr val="DD784B"/>
          </a:solidFill>
          <a:ln/>
        </p:spPr>
      </p:sp>
      <p:sp>
        <p:nvSpPr>
          <p:cNvPr id="82" name="Shape 80"/>
          <p:cNvSpPr/>
          <p:nvPr/>
        </p:nvSpPr>
        <p:spPr>
          <a:xfrm>
            <a:off x="3710864" y="1645920"/>
            <a:ext cx="548640" cy="548640"/>
          </a:xfrm>
          <a:prstGeom prst="ellipse">
            <a:avLst/>
          </a:prstGeom>
          <a:solidFill>
            <a:srgbClr val="F4D9DC"/>
          </a:solidFill>
          <a:ln/>
        </p:spPr>
      </p:sp>
      <p:sp>
        <p:nvSpPr>
          <p:cNvPr id="83" name="Text 81"/>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4" name="Shape 82"/>
          <p:cNvSpPr/>
          <p:nvPr/>
        </p:nvSpPr>
        <p:spPr>
          <a:xfrm>
            <a:off x="4396664" y="1719072"/>
            <a:ext cx="1196264" cy="402336"/>
          </a:xfrm>
          <a:prstGeom prst="roundRect">
            <a:avLst>
              <a:gd name="adj" fmla="val 113636"/>
            </a:avLst>
          </a:prstGeom>
          <a:solidFill>
            <a:srgbClr val="F4D9DC"/>
          </a:solidFill>
          <a:ln/>
        </p:spPr>
      </p:sp>
      <p:sp>
        <p:nvSpPr>
          <p:cNvPr id="85" name="Text 83"/>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Terugblik</a:t>
            </a:r>
            <a:endParaRPr lang="en-US" sz="1200" dirty="0"/>
          </a:p>
        </p:txBody>
      </p:sp>
      <p:sp>
        <p:nvSpPr>
          <p:cNvPr id="86" name="Text 84"/>
          <p:cNvSpPr/>
          <p:nvPr/>
        </p:nvSpPr>
        <p:spPr>
          <a:xfrm>
            <a:off x="3710864"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Drie vragen</a:t>
            </a:r>
            <a:endParaRPr lang="en-US" sz="2000" dirty="0"/>
          </a:p>
        </p:txBody>
      </p:sp>
      <p:sp>
        <p:nvSpPr>
          <p:cNvPr id="87" name="Text 85"/>
          <p:cNvSpPr/>
          <p:nvPr/>
        </p:nvSpPr>
        <p:spPr>
          <a:xfrm>
            <a:off x="3710864"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Werkwijze, wat ging goed en wat zie je nu pas. Eén vraag per keer.</a:t>
            </a:r>
            <a:endParaRPr lang="en-US" sz="1500" dirty="0"/>
          </a:p>
        </p:txBody>
      </p:sp>
      <p:sp>
        <p:nvSpPr>
          <p:cNvPr id="88" name="Shape 86"/>
          <p:cNvSpPr/>
          <p:nvPr/>
        </p:nvSpPr>
        <p:spPr>
          <a:xfrm>
            <a:off x="5976976" y="2605659"/>
            <a:ext cx="237744" cy="548640"/>
          </a:xfrm>
          <a:prstGeom prst="chevron">
            <a:avLst/>
          </a:prstGeom>
          <a:solidFill>
            <a:srgbClr val="3D68EC"/>
          </a:solidFill>
          <a:ln/>
        </p:spPr>
      </p:sp>
      <p:sp>
        <p:nvSpPr>
          <p:cNvPr id="89" name="Shape 87"/>
          <p:cNvSpPr/>
          <p:nvPr/>
        </p:nvSpPr>
        <p:spPr>
          <a:xfrm>
            <a:off x="6324448" y="1371600"/>
            <a:ext cx="2430704" cy="3016758"/>
          </a:xfrm>
          <a:prstGeom prst="roundRect">
            <a:avLst>
              <a:gd name="adj" fmla="val 3962"/>
            </a:avLst>
          </a:prstGeom>
          <a:solidFill>
            <a:srgbClr val="00AF81"/>
          </a:solidFill>
          <a:ln/>
        </p:spPr>
      </p:sp>
      <p:sp>
        <p:nvSpPr>
          <p:cNvPr id="90" name="Shape 88"/>
          <p:cNvSpPr/>
          <p:nvPr/>
        </p:nvSpPr>
        <p:spPr>
          <a:xfrm>
            <a:off x="6598768" y="1645920"/>
            <a:ext cx="548640" cy="548640"/>
          </a:xfrm>
          <a:prstGeom prst="ellipse">
            <a:avLst/>
          </a:prstGeom>
          <a:solidFill>
            <a:srgbClr val="F4D9DC"/>
          </a:solidFill>
          <a:ln/>
        </p:spPr>
      </p:sp>
      <p:sp>
        <p:nvSpPr>
          <p:cNvPr id="91" name="Text 89"/>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2" name="Shape 90"/>
          <p:cNvSpPr/>
          <p:nvPr/>
        </p:nvSpPr>
        <p:spPr>
          <a:xfrm>
            <a:off x="7284568" y="1719072"/>
            <a:ext cx="1196264" cy="402336"/>
          </a:xfrm>
          <a:prstGeom prst="roundRect">
            <a:avLst>
              <a:gd name="adj" fmla="val 113636"/>
            </a:avLst>
          </a:prstGeom>
          <a:solidFill>
            <a:srgbClr val="F4D9DC"/>
          </a:solidFill>
          <a:ln/>
        </p:spPr>
      </p:sp>
      <p:sp>
        <p:nvSpPr>
          <p:cNvPr id="93" name="Text 91"/>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Peiling</a:t>
            </a:r>
            <a:endParaRPr lang="en-US" sz="1200" dirty="0"/>
          </a:p>
        </p:txBody>
      </p:sp>
      <p:sp>
        <p:nvSpPr>
          <p:cNvPr id="94" name="Text 92"/>
          <p:cNvSpPr/>
          <p:nvPr/>
        </p:nvSpPr>
        <p:spPr>
          <a:xfrm>
            <a:off x="6598768"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95" name="Text 93"/>
          <p:cNvSpPr/>
          <p:nvPr/>
        </p:nvSpPr>
        <p:spPr>
          <a:xfrm>
            <a:off x="6598768"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Interesse in een training, van nee tot 4 uur per week voor een semester.</a:t>
            </a:r>
            <a:endParaRPr lang="en-US" sz="1500" dirty="0"/>
          </a:p>
        </p:txBody>
      </p:sp>
      <p:sp>
        <p:nvSpPr>
          <p:cNvPr id="96" name="Shape 94"/>
          <p:cNvSpPr/>
          <p:nvPr/>
        </p:nvSpPr>
        <p:spPr>
          <a:xfrm>
            <a:off x="8864879" y="2605659"/>
            <a:ext cx="237744" cy="548640"/>
          </a:xfrm>
          <a:prstGeom prst="chevron">
            <a:avLst/>
          </a:prstGeom>
          <a:solidFill>
            <a:srgbClr val="3D68EC"/>
          </a:solidFill>
          <a:ln/>
        </p:spPr>
      </p:sp>
      <p:sp>
        <p:nvSpPr>
          <p:cNvPr id="97" name="Shape 95"/>
          <p:cNvSpPr/>
          <p:nvPr/>
        </p:nvSpPr>
        <p:spPr>
          <a:xfrm>
            <a:off x="9212351" y="1371600"/>
            <a:ext cx="2430704" cy="3016758"/>
          </a:xfrm>
          <a:prstGeom prst="roundRect">
            <a:avLst>
              <a:gd name="adj" fmla="val 3962"/>
            </a:avLst>
          </a:prstGeom>
          <a:solidFill>
            <a:srgbClr val="F4D74B"/>
          </a:solidFill>
          <a:ln/>
        </p:spPr>
      </p:sp>
      <p:sp>
        <p:nvSpPr>
          <p:cNvPr id="98" name="Shape 96"/>
          <p:cNvSpPr/>
          <p:nvPr/>
        </p:nvSpPr>
        <p:spPr>
          <a:xfrm>
            <a:off x="9486671" y="1645920"/>
            <a:ext cx="548640" cy="548640"/>
          </a:xfrm>
          <a:prstGeom prst="ellipse">
            <a:avLst/>
          </a:prstGeom>
          <a:solidFill>
            <a:srgbClr val="3D68EC"/>
          </a:solidFill>
          <a:ln/>
        </p:spPr>
      </p:sp>
      <p:sp>
        <p:nvSpPr>
          <p:cNvPr id="99" name="Text 97"/>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0" name="Shape 98"/>
          <p:cNvSpPr/>
          <p:nvPr/>
        </p:nvSpPr>
        <p:spPr>
          <a:xfrm>
            <a:off x="10172471" y="1719072"/>
            <a:ext cx="1196264" cy="402336"/>
          </a:xfrm>
          <a:prstGeom prst="roundRect">
            <a:avLst>
              <a:gd name="adj" fmla="val 113636"/>
            </a:avLst>
          </a:prstGeom>
          <a:solidFill>
            <a:srgbClr val="3D68EC"/>
          </a:solidFill>
          <a:ln/>
        </p:spPr>
      </p:sp>
      <p:sp>
        <p:nvSpPr>
          <p:cNvPr id="101" name="Text 99"/>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Open vraag</a:t>
            </a:r>
            <a:endParaRPr lang="en-US" sz="1200" dirty="0"/>
          </a:p>
        </p:txBody>
      </p:sp>
      <p:sp>
        <p:nvSpPr>
          <p:cNvPr id="102" name="Text 100"/>
          <p:cNvSpPr/>
          <p:nvPr/>
        </p:nvSpPr>
        <p:spPr>
          <a:xfrm>
            <a:off x="9486671"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leren?</a:t>
            </a:r>
            <a:endParaRPr lang="en-US" sz="2000" dirty="0"/>
          </a:p>
        </p:txBody>
      </p:sp>
      <p:sp>
        <p:nvSpPr>
          <p:cNvPr id="103" name="Text 101"/>
          <p:cNvSpPr/>
          <p:nvPr/>
        </p:nvSpPr>
        <p:spPr>
          <a:xfrm>
            <a:off x="9486671"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Alleen als het antwoord niet nee was. Kort en concreet.</a:t>
            </a:r>
            <a:endParaRPr lang="en-US" sz="1500" dirty="0"/>
          </a:p>
        </p:txBody>
      </p:sp>
      <p:sp>
        <p:nvSpPr>
          <p:cNvPr id="104" name="Text 102"/>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reflectie-naam.md, in jouw eigen woorden. De skill vult niets voor je in.</a:t>
            </a:r>
            <a:endParaRPr lang="en-US" sz="1800" dirty="0"/>
          </a:p>
        </p:txBody>
      </p:sp>
      <p:pic>
        <p:nvPicPr>
          <p:cNvPr id="10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D74B"/>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drie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2026-10-05T15:33:41Z</dcterms:created>
  <dcterms:modified xsi:type="dcterms:W3CDTF">2026-10-05T15:33:41Z</dcterms:modified>
</cp:coreProperties>
</file>