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media/image-26-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Uitval binnen 1 jaar</c:v>
                </c:pt>
              </c:strCache>
            </c:strRef>
          </c:tx>
          <c:spPr>
            <a:solidFill>
              <a:srgbClr val="3D68EC"/>
            </a:solidFill>
            <a:effectLst/>
          </c:spPr>
          <c:invertIfNegative val="0"/>
          <c:dLbls>
            <c:numFmt formatCode="0.0&quot;%&quot;" sourceLinked="0"/>
            <c:txPr>
              <a:bodyPr/>
              <a:lstStyle/>
              <a:p>
                <a:pPr>
                  <a:defRPr b="0" i="0" strike="noStrike" sz="1200" u="none">
                    <a:solidFill>
                      <a:srgbClr val="000000"/>
                    </a:solidFill>
                    <a:latin typeface="General Sans Semibold"/>
                  </a:defRPr>
                </a:pPr>
              </a:p>
            </c:txPr>
            <c:showLegendKey val="0"/>
            <c:showVal val="1"/>
            <c:showCatName val="0"/>
            <c:showSerName val="0"/>
            <c:showPercent val="0"/>
            <c:showBubbleSize val="0"/>
            <c:showLeaderLines val="0"/>
          </c:dLbls>
          <c:cat>
            <c:multiLvlStrRef>
              <c:f>Sheet1!$A$2:$A$5</c:f>
              <c:multiLvlStrCache>
                <c:ptCount val="4"/>
                <c:lvl>
                  <c:pt idx="0">
                    <c:v>Techniek</c:v>
                  </c:pt>
                  <c:pt idx="1">
                    <c:v>Economie</c:v>
                  </c:pt>
                  <c:pt idx="2">
                    <c:v>Gezondheidszorg</c:v>
                  </c:pt>
                  <c:pt idx="3">
                    <c:v>Totaal</c:v>
                  </c:pt>
                </c:lvl>
              </c:multiLvlStrCache>
            </c:multiLvlStrRef>
          </c:cat>
          <c:val>
            <c:numRef>
              <c:f>Sheet1!$B$2:$B$5</c:f>
              <c:numCache>
                <c:formatCode>General</c:formatCode>
                <c:ptCount val="4"/>
                <c:pt idx="0">
                  <c:v>21.9</c:v>
                </c:pt>
                <c:pt idx="1">
                  <c:v>13.1</c:v>
                </c:pt>
                <c:pt idx="2">
                  <c:v>10.2</c:v>
                </c:pt>
                <c:pt idx="3">
                  <c:v>16.7</c:v>
                </c:pt>
              </c:numCache>
            </c:numRef>
          </c:val>
        </c:ser>
        <c:dLbls>
          <c:numFmt formatCode="0.0&quot;%&quot;" sourceLinked="0"/>
          <c:txPr>
            <a:bodyPr/>
            <a:lstStyle/>
            <a:p>
              <a:pPr>
                <a:defRPr b="0" i="0" strike="noStrike" sz="1200" u="none">
                  <a:solidFill>
                    <a:srgbClr val="000000"/>
                  </a:solidFill>
                  <a:latin typeface="General Sans Semibold"/>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General Sans"/>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DDDDDD"/>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General Sans"/>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Welkom. Zeg in een zin wat vandaag gebeurt: in tweetallen werken met een AI-agent aan één casus, en een dashboard opleveren dat de vraag beantwoordt. Schrijf de eindtijd op een bord: 15:00 bijvoorbeeld.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Vaste CEDA-introslide: wie CEDA is. Kort toelichten, daarna door naar de inhoud.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Loop het schema in dertig seconden door. Benadruk de spiegelmomenten: daar leer je het meest, omdat je ziet wat de groep naast je deed. Aan het eind één blok voor evaluatie en afsluiting: we vragen wat jullie ervan vonden en of er een vervolg moet komen. Bij elk spiegelmoment kijken we in de skill, niet in individuele dashboards.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Spelregels: iedereen werkt via de agent, niemand hoeft te kunnen programmeren, wel kritisch kijken. Doel aan het eind: een kwalitatief antwoord op de casusvraag, onderbouwd met je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 is synthetisch: gegenereerd naar het patroon van een echt bestand. Zeg hardop: er zit één echt verschil in en één dat alleen toeval is, we vertellen niet welke. Dat is de oefening. Validatie tegen de werkelijkheid doen we niet; dat vraagt echte data buiten de devcontainer.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Uitleg voor jezelf: een casus is het probleem waar alle tweetallen aan werken. Eerstejaarsuitval = eerstejaars die binnen een jaar stoppen. De vraag is wie dat zijn en of het per sector verschilt. De deelnemers laten de agent de cijfers uitrekenen; zij bepalen wat ze ermee doen. Casus A gekozen omdat de data daar het sterkst op aansluit. Let op: opleidingsvorm heeft maar één waarde (voltijd). Wie dat zelf ontdekt, ziet waarom verkennen loont. Noem het niet vooraf.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Verdeel de tweetallen nu. Niemand hoeft code te lezen: de prompter typt, de checker beoordeelt of het antwoord van de agent logisch is. Bij vragen van deelnemers: stel zelf een wedervraag (wat zou je de agent kunnen vragen?). Check dat per tweetal één laptop met de devcontainer werkt. Wat ze aan het eind in handen hebben: een eigen aanpak, gespiegeld aan de tweetallen om hen heen.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Vergelijk met een collega. De agent is de collega die het werk doet. Een prompt is een mondelinge opdracht aan die collega: snel, maar elke keer anders. Een skill is een werkinstructie die je die collega geeft: dezelfde stappen en dezelfde controles, elke keer. Laat een echte SKILL.md zien, maximaal een minuut. Vuistregel: elke prompt die je drie keer typt, is een skill in wording. Zelf doen jullie de rondes met prompts; de skills laten wij zien bij de spiegelmomenten.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Noem de twee skills bij naam: /workshop-verkennen en /workshop-dashboard. De deelnemers gebruiken ze niet zelf in de rondes: de leider laat ze draaien bij de spiegelmomenten en legt dan uit wat erin staat en wat de skill afdwingt.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Doe de eerste instructie live voor, op het scherm. Laat zien dat de agent de code zichtbaar maakt. Lukt het starten van Claude Code niet binnen een paar minuten, dan is dat een signaal over de devcontainer en niet over de deelnemer. Houd hier genoeg tijd voor.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de timer van 22 minuten. Loop rond; beantwoord vragen met een wedervraag. Let op: wie het laatste cohort meetelt (vertekend percentage), zit in de valkuil. Dat bespreken we bij het spiegelmoment.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is de bestuurder-navigator-ronde. Aan het eind van ronde 1 moeten ze kunnen zeggen hoeveel studenten en cohorten er zijn, welke cohorten niet waarneembaar zijn en waar kleine groepen zitten.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kijken niet naar individuele schetsen, maar naar de skill. Vraag eerst twee tweetallen om één ding te noemen dat ze in ronde 1 tegenkwamen (één zin per tweetal). Loop daarna met de volgende twee dia's door de skill. Draai /workshop-verkennen live: dat duurt ongeveer 1 minuut (gemeten 58 tot 71 s, reken op een marge) en je legt uit terwijl hij loopt. Zet daarnaast desgewenst één gewone prompt op hetzelfde scherm.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is de opbouw van /workshop-verkennen/SKILL.md. Open het bestand even op het scherm: bovenaan staat wanneer de agent de skill pakt, daaronder de stappen. Vraag: welke van deze vier stappen heb jij in ronde 1 overgeslagen of anders gedaan?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zijn de checks die in de skill zijn verweven. Laat de deelnemers zelf aanwijzen welke ze in ronde 1 zelf hebben gedaan. De cijfers komen uit de antwoordsleutel (workshop-rad/data/verwachte_uitkomsten.txt). De drempel 30 en 5 is een keuze van staat1cho en niet getoetst door een privacy officer.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Wissel nu van rol. Timer 22 minuten. Loop rond met de responsible-checks in je hoofd: drempel, waarneembaarheid, framing, toegankelijkheid.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zijn de vier minimumeisen. Meer hoeft niet; liever een werkend en uitlegbaar dashboard dan een volle tabbladenwand.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agent bouwt snel. Jij bepaalt wat je mag concluderen. Na ronde 2 zie je wat jullie zelf misten.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Ook nu geen individuele dashboards bekijken. Vraag twee tweetallen om één keuze te noemen die ze maakten (bijvoorbeeld de titel of de drempel). Draai /workshop-dashboard live: dat duurt ongeveer 2 tot 2,5 minuut (gemeten 124 tot 136 s). Loop daarna door de skill met de volgende dia's en sluit af met de onthulling van de uitkomst. Contrast: een gewone prompt telt de eerstejaars anders (2.449 in plaats van 2.809) en verbergt kleine groepen niet; zie docs/tijdmeting.md.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is de opbouw van /workshop-dashboard/SKILL.md. Let op het verschil met ronde 1: hier staan de responsible-checks niet in een aparte stap maar in de bouwinstructie zelf.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Vraag per rij: heb jij dit in je dashboard zelf gedaan? De skill doet het elke keer zonder dat je eraan hoeft te denken. Dat is het verschil tussen een prompt en een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onthulling: dit is wat een correcte analyse oplevert. Vraag of de skill dit ook vond. Wie in ronde 2 "vrouwen vallen vaker uit" had, ziet hier ruis. Gebruik dit als leermoment zonder beschuldiging. Antwoordsleutel: workshop-rad/data/verwachte_uitkomsten.txt.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Evaluatie en afsluiting zijn één blok van 16 minuten. Vraag eerst toestemming: de antwoorden zijn anoniem en gebruiken we om te bepalen of er een vervolg komt. Terugblik via de peiling (QR-code) of een kort rondje. Houd de tijd: loopt het uit, kort dan de afsluiting in, niet de peiling.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Laat de peiling lopen, twee minuten. Als de peiling-tool nog niet gekozen is, tel handopsteking en noteer de aantallen. Voeg de QR-code hier toe zodra de tool bekend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vraag, vier minuten. Alleen voor wie bij de vorige vraag niet "nee" koos. Vraag om concreet gedrag, niet om een onderwerp als "AI". Eén of twee zinnen is genoeg.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Rondje door de groep, één zin per persoon of op een kaartje (circa 6 minuten). Sluit af met de contactslide. Verwijs voor echte data naar het CEDA-pakket eencijferho.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Vaste afsluitslide: laat deze staan tijdens de vragen, zodat iedereen de links ziet.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 Id="rId4"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22.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3.png"/></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hyperlink" Target="https://github.com/cedanl" TargetMode="External"/><Relationship Id="rId3" Type="http://schemas.openxmlformats.org/officeDocument/2006/relationships/hyperlink" Target="https://community.npuls.nl/groups/data-ai" TargetMode="External"/><Relationship Id="rId4" Type="http://schemas.openxmlformats.org/officeDocument/2006/relationships/hyperlink" Target="mailto:ceda@surf.nl" TargetMode="External"/><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D68EC"/>
        </a:solidFill>
      </p:bgPr>
    </p:bg>
    <p:spTree>
      <p:nvGrpSpPr>
        <p:cNvPr id="1" name=""/>
        <p:cNvGrpSpPr/>
        <p:nvPr/>
      </p:nvGrpSpPr>
      <p:grpSpPr>
        <a:xfrm>
          <a:off x="0" y="0"/>
          <a:ext cx="0" cy="0"/>
          <a:chOff x="0" y="0"/>
          <a:chExt cx="0" cy="0"/>
        </a:xfrm>
      </p:grpSpPr>
      <p:pic>
        <p:nvPicPr>
          <p:cNvPr id="91" name="Npuls achtergrond" descr="Slide15.PNG"/>
          <p:cNvPicPr>
            <a:picLocks noChangeAspect="1"/>
          </p:cNvPicPr>
          <p:nvPr/>
        </p:nvPicPr>
        <p:blipFill>
          <a:blip r:embed="rId3"/>
          <a:stretch>
            <a:fillRect/>
          </a:stretch>
        </p:blipFill>
        <p:spPr>
          <a:xfrm>
            <a:off x="0" y="0"/>
            <a:ext cx="12192000" cy="6858000"/>
          </a:xfrm>
          <a:prstGeom prst="rect">
            <a:avLst/>
          </a:prstGeom>
        </p:spPr>
      </p:pic>
      <p:sp>
        <p:nvSpPr>
          <p:cNvPr id="72" name="Shape 70"/>
          <p:cNvSpPr/>
          <p:nvPr/>
        </p:nvSpPr>
        <p:spPr>
          <a:xfrm>
            <a:off x="3840480" y="640080"/>
            <a:ext cx="3072384" cy="402336"/>
          </a:xfrm>
          <a:prstGeom prst="roundRect">
            <a:avLst>
              <a:gd name="adj" fmla="val 113636"/>
            </a:avLst>
          </a:prstGeom>
          <a:solidFill>
            <a:srgbClr val="F4D74B"/>
          </a:solidFill>
          <a:ln/>
        </p:spPr>
        <p:txBody>
          <a:bodyPr/>
          <a:p/>
        </p:txBody>
      </p:sp>
      <p:sp>
        <p:nvSpPr>
          <p:cNvPr id="73" name="Text 71"/>
          <p:cNvSpPr/>
          <p:nvPr/>
        </p:nvSpPr>
        <p:spPr>
          <a:xfrm>
            <a:off x="3931920" y="640080"/>
            <a:ext cx="2889504" cy="402336"/>
          </a:xfrm>
          <a:prstGeom prst="rect">
            <a:avLst/>
          </a:prstGeom>
          <a:noFill/>
          <a:ln/>
        </p:spPr>
        <p:txBody>
          <a:bodyPr wrap="square" lIns="0" tIns="0" rIns="0" bIns="0" rtlCol="0" anchor="ctr"/>
          <a:lstStyle/>
          <a:p>
            <a:pPr algn="ctr" indent="0" marL="0">
              <a:lnSpc>
                <a:spcPct val="105000"/>
              </a:lnSpc>
              <a:buNone/>
            </a:pPr>
            <a:r>
              <a:rPr lang="en-US" sz="1300" dirty="0">
                <a:solidFill>
                  <a:srgbClr val="3D68EC"/>
                </a:solidFill>
                <a:latin typeface="General Sans Semibold" pitchFamily="34" charset="0"/>
                <a:ea typeface="General Sans Semibold" pitchFamily="34" charset="-122"/>
                <a:cs typeface="General Sans Semibold" pitchFamily="34" charset="-120"/>
              </a:rPr>
              <a:t>CEDA · DAIR-bijeenkomst</a:t>
            </a:r>
            <a:endParaRPr lang="en-US" sz="1300" dirty="0"/>
          </a:p>
        </p:txBody>
      </p:sp>
      <p:sp>
        <p:nvSpPr>
          <p:cNvPr id="74" name="Text 72"/>
          <p:cNvSpPr/>
          <p:nvPr/>
        </p:nvSpPr>
        <p:spPr>
          <a:xfrm>
            <a:off x="548640" y="1691640"/>
            <a:ext cx="6766560" cy="1828800"/>
          </a:xfrm>
          <a:prstGeom prst="rect">
            <a:avLst/>
          </a:prstGeom>
          <a:noFill/>
          <a:ln/>
        </p:spPr>
        <p:txBody>
          <a:bodyPr wrap="square" lIns="0" tIns="0" rIns="0" bIns="0" rtlCol="0" anchor="b"/>
          <a:lstStyle/>
          <a:p>
            <a:pPr algn="l" indent="0" marL="0">
              <a:lnSpc>
                <a:spcPct val="105000"/>
              </a:lnSpc>
              <a:buNone/>
            </a:pPr>
            <a:r>
              <a:rPr lang="en-US" sz="4600" dirty="0">
                <a:solidFill>
                  <a:srgbClr val="F4D9DC"/>
                </a:solidFill>
                <a:latin typeface="General Sans Semibold" pitchFamily="34" charset="0"/>
                <a:ea typeface="General Sans Semibold" pitchFamily="34" charset="-122"/>
                <a:cs typeface="General Sans Semibold" pitchFamily="34" charset="-120"/>
              </a:rPr>
              <a:t>Jij stuurt, de agent bouwt</a:t>
            </a:r>
            <a:endParaRPr lang="en-US" sz="4600" dirty="0"/>
          </a:p>
        </p:txBody>
      </p:sp>
      <p:sp>
        <p:nvSpPr>
          <p:cNvPr id="75" name="Text 73"/>
          <p:cNvSpPr/>
          <p:nvPr/>
        </p:nvSpPr>
        <p:spPr>
          <a:xfrm>
            <a:off x="548640" y="3657600"/>
            <a:ext cx="6766560" cy="548640"/>
          </a:xfrm>
          <a:prstGeom prst="rect">
            <a:avLst/>
          </a:prstGeom>
          <a:noFill/>
          <a:ln/>
        </p:spPr>
        <p:txBody>
          <a:bodyPr wrap="square" lIns="0" tIns="0" rIns="0" bIns="0" rtlCol="0" anchor="t"/>
          <a:lstStyle/>
          <a:p>
            <a:pPr algn="l" indent="0" marL="0">
              <a:lnSpc>
                <a:spcPct val="105000"/>
              </a:lnSpc>
              <a:buNone/>
            </a:pPr>
            <a:r>
              <a:rPr lang="en-US" sz="2200" dirty="0">
                <a:solidFill>
                  <a:srgbClr val="F4D74B"/>
                </a:solidFill>
                <a:latin typeface="Cooper Lt BT" pitchFamily="34" charset="0"/>
                <a:ea typeface="Cooper Lt BT" pitchFamily="34" charset="-122"/>
                <a:cs typeface="Cooper Lt BT" pitchFamily="34" charset="-120"/>
              </a:rPr>
              <a:t>Agentic data science in het onderwijs</a:t>
            </a:r>
            <a:endParaRPr lang="en-US" sz="2200" dirty="0"/>
          </a:p>
        </p:txBody>
      </p:sp>
      <p:sp>
        <p:nvSpPr>
          <p:cNvPr id="76" name="Text 74"/>
          <p:cNvSpPr/>
          <p:nvPr/>
        </p:nvSpPr>
        <p:spPr>
          <a:xfrm>
            <a:off x="548640" y="4297680"/>
            <a:ext cx="6766560" cy="411480"/>
          </a:xfrm>
          <a:prstGeom prst="rect">
            <a:avLst/>
          </a:prstGeom>
          <a:noFill/>
          <a:ln/>
        </p:spPr>
        <p:txBody>
          <a:bodyPr wrap="square" lIns="0" tIns="0" rIns="0" bIns="0" rtlCol="0" anchor="t"/>
          <a:lstStyle/>
          <a:p>
            <a:pPr algn="l" indent="0" marL="0">
              <a:lnSpc>
                <a:spcPct val="105000"/>
              </a:lnSpc>
              <a:buNone/>
            </a:pPr>
            <a:r>
              <a:rPr lang="en-US" sz="1600" dirty="0">
                <a:solidFill>
                  <a:srgbClr val="F4D9DC"/>
                </a:solidFill>
                <a:latin typeface="General Sans" pitchFamily="34" charset="0"/>
                <a:ea typeface="General Sans" pitchFamily="34" charset="-122"/>
                <a:cs typeface="General Sans" pitchFamily="34" charset="-120"/>
              </a:rPr>
              <a:t>120 minuten · één casus · één dashboard</a:t>
            </a:r>
            <a:endParaRPr lang="en-US" sz="1600" dirty="0"/>
          </a:p>
        </p:txBody>
      </p:sp>
      <p:sp>
        <p:nvSpPr>
          <p:cNvPr id="77" name="Shape 75"/>
          <p:cNvSpPr/>
          <p:nvPr/>
        </p:nvSpPr>
        <p:spPr>
          <a:xfrm>
            <a:off x="8595360" y="2103120"/>
            <a:ext cx="0" cy="640080"/>
          </a:xfrm>
          <a:prstGeom prst="line">
            <a:avLst/>
          </a:prstGeom>
          <a:noFill/>
          <a:ln w="19050">
            <a:solidFill>
              <a:srgbClr val="F4D9DC"/>
            </a:solidFill>
            <a:prstDash val="dash"/>
          </a:ln>
        </p:spPr>
        <p:txBody>
          <a:bodyPr/>
          <a:p/>
        </p:txBody>
      </p:sp>
      <p:sp>
        <p:nvSpPr>
          <p:cNvPr id="78" name="Shape 76"/>
          <p:cNvSpPr/>
          <p:nvPr/>
        </p:nvSpPr>
        <p:spPr>
          <a:xfrm>
            <a:off x="8138160" y="1188720"/>
            <a:ext cx="914400" cy="914400"/>
          </a:xfrm>
          <a:prstGeom prst="ellipse">
            <a:avLst/>
          </a:prstGeom>
          <a:solidFill>
            <a:srgbClr val="F4D74B"/>
          </a:solidFill>
          <a:ln/>
        </p:spPr>
        <p:txBody>
          <a:bodyPr/>
          <a:p/>
        </p:txBody>
      </p:sp>
      <p:sp>
        <p:nvSpPr>
          <p:cNvPr id="79" name="Text 77"/>
          <p:cNvSpPr/>
          <p:nvPr/>
        </p:nvSpPr>
        <p:spPr>
          <a:xfrm>
            <a:off x="8138160" y="1188720"/>
            <a:ext cx="914400" cy="914400"/>
          </a:xfrm>
          <a:prstGeom prst="rect">
            <a:avLst/>
          </a:prstGeom>
          <a:noFill/>
          <a:ln/>
        </p:spPr>
        <p:txBody>
          <a:bodyPr wrap="square" lIns="0" tIns="0" rIns="0" bIns="0" rtlCol="0" anchor="ctr"/>
          <a:lstStyle/>
          <a:p>
            <a:pPr algn="ctr" indent="0" marL="0">
              <a:lnSpc>
                <a:spcPct val="105000"/>
              </a:lnSpc>
              <a:buNone/>
            </a:pPr>
            <a:r>
              <a:rPr lang="en-US" sz="2800" dirty="0">
                <a:solidFill>
                  <a:srgbClr val="3D68EC"/>
                </a:solidFill>
                <a:latin typeface="General Sans Semibold" pitchFamily="34" charset="0"/>
                <a:ea typeface="General Sans Semibold" pitchFamily="34" charset="-122"/>
                <a:cs typeface="General Sans Semibold" pitchFamily="34" charset="-120"/>
              </a:rPr>
              <a:t>1</a:t>
            </a:r>
            <a:endParaRPr lang="en-US" sz="2800" dirty="0"/>
          </a:p>
        </p:txBody>
      </p:sp>
      <p:sp>
        <p:nvSpPr>
          <p:cNvPr id="80" name="Text 78"/>
          <p:cNvSpPr/>
          <p:nvPr/>
        </p:nvSpPr>
        <p:spPr>
          <a:xfrm>
            <a:off x="9326880" y="1188720"/>
            <a:ext cx="2331720" cy="914400"/>
          </a:xfrm>
          <a:prstGeom prst="rect">
            <a:avLst/>
          </a:prstGeom>
          <a:noFill/>
          <a:ln/>
        </p:spPr>
        <p:txBody>
          <a:bodyPr wrap="square" lIns="0" tIns="0" rIns="0" bIns="0" rtlCol="0" anchor="ctr"/>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Data verkennen</a:t>
            </a:r>
            <a:endParaRPr lang="en-US" sz="2000" dirty="0"/>
          </a:p>
        </p:txBody>
      </p:sp>
      <p:sp>
        <p:nvSpPr>
          <p:cNvPr id="81" name="Shape 79"/>
          <p:cNvSpPr/>
          <p:nvPr/>
        </p:nvSpPr>
        <p:spPr>
          <a:xfrm>
            <a:off x="8595360" y="3657600"/>
            <a:ext cx="0" cy="640080"/>
          </a:xfrm>
          <a:prstGeom prst="line">
            <a:avLst/>
          </a:prstGeom>
          <a:noFill/>
          <a:ln w="19050">
            <a:solidFill>
              <a:srgbClr val="F4D9DC"/>
            </a:solidFill>
            <a:prstDash val="dash"/>
          </a:ln>
        </p:spPr>
        <p:txBody>
          <a:bodyPr/>
          <a:p/>
        </p:txBody>
      </p:sp>
      <p:sp>
        <p:nvSpPr>
          <p:cNvPr id="82" name="Shape 80"/>
          <p:cNvSpPr/>
          <p:nvPr/>
        </p:nvSpPr>
        <p:spPr>
          <a:xfrm>
            <a:off x="8138160" y="2743200"/>
            <a:ext cx="914400" cy="914400"/>
          </a:xfrm>
          <a:prstGeom prst="ellipse">
            <a:avLst/>
          </a:prstGeom>
          <a:solidFill>
            <a:srgbClr val="F4D9DC"/>
          </a:solidFill>
          <a:ln/>
        </p:spPr>
        <p:txBody>
          <a:bodyPr/>
          <a:p/>
        </p:txBody>
      </p:sp>
      <p:sp>
        <p:nvSpPr>
          <p:cNvPr id="83" name="Text 81"/>
          <p:cNvSpPr/>
          <p:nvPr/>
        </p:nvSpPr>
        <p:spPr>
          <a:xfrm>
            <a:off x="8138160" y="2743200"/>
            <a:ext cx="914400" cy="914400"/>
          </a:xfrm>
          <a:prstGeom prst="rect">
            <a:avLst/>
          </a:prstGeom>
          <a:noFill/>
          <a:ln/>
        </p:spPr>
        <p:txBody>
          <a:bodyPr wrap="square" lIns="0" tIns="0" rIns="0" bIns="0" rtlCol="0" anchor="ctr"/>
          <a:lstStyle/>
          <a:p>
            <a:pPr algn="ctr" indent="0" marL="0">
              <a:lnSpc>
                <a:spcPct val="105000"/>
              </a:lnSpc>
              <a:buNone/>
            </a:pPr>
            <a:r>
              <a:rPr lang="en-US" sz="2800" dirty="0">
                <a:solidFill>
                  <a:srgbClr val="3D68EC"/>
                </a:solidFill>
                <a:latin typeface="General Sans Semibold" pitchFamily="34" charset="0"/>
                <a:ea typeface="General Sans Semibold" pitchFamily="34" charset="-122"/>
                <a:cs typeface="General Sans Semibold" pitchFamily="34" charset="-120"/>
              </a:rPr>
              <a:t>2</a:t>
            </a:r>
            <a:endParaRPr lang="en-US" sz="2800" dirty="0"/>
          </a:p>
        </p:txBody>
      </p:sp>
      <p:sp>
        <p:nvSpPr>
          <p:cNvPr id="84" name="Text 82"/>
          <p:cNvSpPr/>
          <p:nvPr/>
        </p:nvSpPr>
        <p:spPr>
          <a:xfrm>
            <a:off x="9326880" y="2743200"/>
            <a:ext cx="2331720" cy="914400"/>
          </a:xfrm>
          <a:prstGeom prst="rect">
            <a:avLst/>
          </a:prstGeom>
          <a:noFill/>
          <a:ln/>
        </p:spPr>
        <p:txBody>
          <a:bodyPr wrap="square" lIns="0" tIns="0" rIns="0" bIns="0" rtlCol="0" anchor="ctr"/>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Dashboard bouwen</a:t>
            </a:r>
            <a:endParaRPr lang="en-US" sz="2000" dirty="0"/>
          </a:p>
        </p:txBody>
      </p:sp>
      <p:sp>
        <p:nvSpPr>
          <p:cNvPr id="85" name="Shape 83"/>
          <p:cNvSpPr/>
          <p:nvPr/>
        </p:nvSpPr>
        <p:spPr>
          <a:xfrm>
            <a:off x="8138160" y="4297680"/>
            <a:ext cx="914400" cy="914400"/>
          </a:xfrm>
          <a:prstGeom prst="ellipse">
            <a:avLst/>
          </a:prstGeom>
          <a:solidFill>
            <a:srgbClr val="F4D74B"/>
          </a:solidFill>
          <a:ln/>
        </p:spPr>
        <p:txBody>
          <a:bodyPr/>
          <a:p/>
        </p:txBody>
      </p:sp>
      <p:sp>
        <p:nvSpPr>
          <p:cNvPr id="86" name="Text 84"/>
          <p:cNvSpPr/>
          <p:nvPr/>
        </p:nvSpPr>
        <p:spPr>
          <a:xfrm>
            <a:off x="8138160" y="4297680"/>
            <a:ext cx="914400" cy="914400"/>
          </a:xfrm>
          <a:prstGeom prst="rect">
            <a:avLst/>
          </a:prstGeom>
          <a:noFill/>
          <a:ln/>
        </p:spPr>
        <p:txBody>
          <a:bodyPr wrap="square" lIns="0" tIns="0" rIns="0" bIns="0" rtlCol="0" anchor="ctr"/>
          <a:lstStyle/>
          <a:p>
            <a:pPr algn="ctr" indent="0" marL="0">
              <a:lnSpc>
                <a:spcPct val="105000"/>
              </a:lnSpc>
              <a:buNone/>
            </a:pPr>
            <a:r>
              <a:rPr lang="en-US" sz="2800" dirty="0">
                <a:solidFill>
                  <a:srgbClr val="3D68EC"/>
                </a:solidFill>
                <a:latin typeface="General Sans Semibold" pitchFamily="34" charset="0"/>
                <a:ea typeface="General Sans Semibold" pitchFamily="34" charset="-122"/>
                <a:cs typeface="General Sans Semibold" pitchFamily="34" charset="-120"/>
              </a:rPr>
              <a:t>3</a:t>
            </a:r>
            <a:endParaRPr lang="en-US" sz="2800" dirty="0"/>
          </a:p>
        </p:txBody>
      </p:sp>
      <p:sp>
        <p:nvSpPr>
          <p:cNvPr id="87" name="Text 85"/>
          <p:cNvSpPr/>
          <p:nvPr/>
        </p:nvSpPr>
        <p:spPr>
          <a:xfrm>
            <a:off x="9326880" y="4297680"/>
            <a:ext cx="2331720" cy="914400"/>
          </a:xfrm>
          <a:prstGeom prst="rect">
            <a:avLst/>
          </a:prstGeom>
          <a:noFill/>
          <a:ln/>
        </p:spPr>
        <p:txBody>
          <a:bodyPr wrap="square" lIns="0" tIns="0" rIns="0" bIns="0" rtlCol="0" anchor="ctr"/>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Evaluatie en afsluiting</a:t>
            </a:r>
            <a:endParaRPr lang="en-US" sz="2000" dirty="0"/>
          </a:p>
        </p:txBody>
      </p:sp>
      <p:sp>
        <p:nvSpPr>
          <p:cNvPr id="88" name="Shape 86"/>
          <p:cNvSpPr/>
          <p:nvPr/>
        </p:nvSpPr>
        <p:spPr>
          <a:xfrm>
            <a:off x="548640" y="5257800"/>
            <a:ext cx="4023360" cy="960120"/>
          </a:xfrm>
          <a:custGeom>
            <a:avLst/>
            <a:gdLst/>
            <a:ahLst/>
            <a:cxnLst/>
            <a:rect l="l" t="t" r="r" b="b"/>
            <a:pathLst>
              <a:path w="4023360" h="960120">
                <a:moveTo>
                  <a:pt x="0" y="822960"/>
                </a:moveTo>
                <a:cubicBezTo>
                  <a:pt x="603504" y="-137160"/>
                  <a:pt x="1207008" y="137160"/>
                  <a:pt x="2011680" y="617220"/>
                </a:cubicBezTo>
                <a:cubicBezTo>
                  <a:pt x="2816352" y="1097280"/>
                  <a:pt x="3419856" y="685800"/>
                  <a:pt x="4023360" y="18288"/>
                </a:cubicBezTo>
              </a:path>
            </a:pathLst>
          </a:custGeom>
          <a:ln w="114300">
            <a:solidFill>
              <a:srgbClr val="F4D74B"/>
            </a:solidFill>
            <a:prstDash val="solid"/>
          </a:ln>
        </p:spPr>
        <p:txBody>
          <a:bodyPr/>
          <a:p/>
        </p:txBody>
      </p:sp>
      <p:sp>
        <p:nvSpPr>
          <p:cNvPr id="89" name="Shape 87"/>
          <p:cNvSpPr/>
          <p:nvPr/>
        </p:nvSpPr>
        <p:spPr>
          <a:xfrm>
            <a:off x="548640" y="5669280"/>
            <a:ext cx="4023360" cy="960120"/>
          </a:xfrm>
          <a:custGeom>
            <a:avLst/>
            <a:gdLst/>
            <a:ahLst/>
            <a:cxnLst/>
            <a:rect l="l" t="t" r="r" b="b"/>
            <a:pathLst>
              <a:path w="4023360" h="960120">
                <a:moveTo>
                  <a:pt x="0" y="822960"/>
                </a:moveTo>
                <a:cubicBezTo>
                  <a:pt x="603504" y="-137160"/>
                  <a:pt x="1207008" y="137160"/>
                  <a:pt x="2011680" y="617220"/>
                </a:cubicBezTo>
                <a:cubicBezTo>
                  <a:pt x="2816352" y="1097280"/>
                  <a:pt x="3419856" y="685800"/>
                  <a:pt x="4023360" y="18288"/>
                </a:cubicBezTo>
              </a:path>
            </a:pathLst>
          </a:custGeom>
          <a:ln w="114300">
            <a:solidFill>
              <a:srgbClr val="F4D9DC"/>
            </a:solidFill>
            <a:prstDash val="solid"/>
          </a:ln>
        </p:spPr>
        <p:txBody>
          <a:bodyPr/>
          <a:p/>
        </p:txBody>
      </p:sp>
      <p:sp>
        <p:nvSpPr>
          <p:cNvPr id="90" name="Text 88"/>
          <p:cNvSpPr/>
          <p:nvPr/>
        </p:nvSpPr>
        <p:spPr>
          <a:xfrm>
            <a:off x="548640" y="1325880"/>
            <a:ext cx="3657600" cy="365760"/>
          </a:xfrm>
          <a:prstGeom prst="rect">
            <a:avLst/>
          </a:prstGeom>
          <a:noFill/>
          <a:ln/>
        </p:spPr>
        <p:txBody>
          <a:bodyPr wrap="square" lIns="0" tIns="0" rIns="0" bIns="0" rtlCol="0" anchor="t"/>
          <a:lstStyle/>
          <a:p>
            <a:pPr algn="l" indent="0" marL="0">
              <a:lnSpc>
                <a:spcPct val="105000"/>
              </a:lnSpc>
              <a:buNone/>
            </a:pPr>
            <a:r>
              <a:rPr lang="en-US" sz="1400" dirty="0">
                <a:solidFill>
                  <a:srgbClr val="F4D74B"/>
                </a:solidFill>
                <a:latin typeface="General Sans Semibold" pitchFamily="34" charset="0"/>
                <a:ea typeface="General Sans Semibold" pitchFamily="34" charset="-122"/>
                <a:cs typeface="General Sans Semibold" pitchFamily="34" charset="-120"/>
              </a:rPr>
              <a:t>Moving Education.</a:t>
            </a:r>
            <a:endParaRPr lang="en-US" sz="1400" dirty="0"/>
          </a:p>
        </p:txBody>
      </p:sp>
      <p:pic>
        <p:nvPicPr>
          <p:cNvPr id="92" name="Npuls logo" descr="npuls-logo-horizontaal-wit.png"/>
          <p:cNvPicPr>
            <a:picLocks noChangeAspect="1"/>
          </p:cNvPicPr>
          <p:nvPr/>
        </p:nvPicPr>
        <p:blipFill>
          <a:blip r:embed="rId4"/>
          <a:stretch>
            <a:fillRect/>
          </a:stretch>
        </p:blipFill>
        <p:spPr>
          <a:xfrm>
            <a:off x="548640" y="457200"/>
            <a:ext cx="2011680" cy="72459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31520" y="1600200"/>
            <a:ext cx="5090008" cy="320040"/>
          </a:xfrm>
          <a:prstGeom prst="rect">
            <a:avLst/>
          </a:prstGeom>
          <a:noFill/>
          <a:ln/>
        </p:spPr>
        <p:txBody>
          <a:bodyPr wrap="square" lIns="0" tIns="0" rIns="0" bIns="0" rtlCol="0" anchor="t"/>
          <a:lstStyle/>
          <a:p>
            <a:pPr algn="l" indent="0" marL="0">
              <a:lnSpc>
                <a:spcPct val="105000"/>
              </a:lnSpc>
              <a:buNone/>
            </a:pPr>
            <a:r>
              <a:rPr lang="en-US" sz="1300" spc="300" kern="0" dirty="0">
                <a:solidFill>
                  <a:srgbClr val="DD784B"/>
                </a:solidFill>
                <a:latin typeface="General Sans Semibold" pitchFamily="34" charset="0"/>
                <a:ea typeface="General Sans Semibold" pitchFamily="34" charset="-122"/>
                <a:cs typeface="General Sans Semibold" pitchFamily="34" charset="-120"/>
              </a:rPr>
              <a:t>WIE IS CEDA</a:t>
            </a:r>
            <a:endParaRPr lang="en-US" sz="1300" dirty="0"/>
          </a:p>
        </p:txBody>
      </p:sp>
      <p:sp>
        <p:nvSpPr>
          <p:cNvPr id="3" name="Text 1"/>
          <p:cNvSpPr/>
          <p:nvPr/>
        </p:nvSpPr>
        <p:spPr>
          <a:xfrm>
            <a:off x="731520" y="1965960"/>
            <a:ext cx="5090008" cy="1188720"/>
          </a:xfrm>
          <a:prstGeom prst="rect">
            <a:avLst/>
          </a:prstGeom>
          <a:noFill/>
          <a:ln/>
        </p:spPr>
        <p:txBody>
          <a:bodyPr wrap="square" lIns="0" tIns="0" rIns="0" bIns="0" rtlCol="0" anchor="t"/>
          <a:lstStyle/>
          <a:p>
            <a:pPr algn="l"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Centre of Educational Data Analytics</a:t>
            </a:r>
            <a:endParaRPr lang="en-US" sz="3200" dirty="0"/>
          </a:p>
        </p:txBody>
      </p:sp>
      <p:sp>
        <p:nvSpPr>
          <p:cNvPr id="4" name="Text 2"/>
          <p:cNvSpPr/>
          <p:nvPr/>
        </p:nvSpPr>
        <p:spPr>
          <a:xfrm>
            <a:off x="731520" y="3200400"/>
            <a:ext cx="5090008" cy="82296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Cooper Lt BT" pitchFamily="34" charset="0"/>
                <a:ea typeface="Cooper Lt BT" pitchFamily="34" charset="-122"/>
                <a:cs typeface="Cooper Lt BT" pitchFamily="34" charset="-120"/>
              </a:rPr>
              <a:t>Eén team binnen Npuls. Van ruwe data tot AI-toepassing, open source.</a:t>
            </a:r>
            <a:endParaRPr lang="en-US" sz="1800" dirty="0"/>
          </a:p>
        </p:txBody>
      </p:sp>
      <p:sp>
        <p:nvSpPr>
          <p:cNvPr id="5" name="Shape 3"/>
          <p:cNvSpPr/>
          <p:nvPr/>
        </p:nvSpPr>
        <p:spPr>
          <a:xfrm>
            <a:off x="731520" y="4315968"/>
            <a:ext cx="155448" cy="155448"/>
          </a:xfrm>
          <a:prstGeom prst="ellipse">
            <a:avLst/>
          </a:prstGeom>
          <a:solidFill>
            <a:srgbClr val="3D68EC"/>
          </a:solidFill>
          <a:ln/>
        </p:spPr>
        <p:txBody>
          <a:bodyPr/>
          <a:p/>
        </p:txBody>
      </p:sp>
      <p:sp>
        <p:nvSpPr>
          <p:cNvPr id="6" name="Text 4"/>
          <p:cNvSpPr/>
          <p:nvPr/>
        </p:nvSpPr>
        <p:spPr>
          <a:xfrm>
            <a:off x="1051560" y="4206240"/>
            <a:ext cx="4769968" cy="50292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Data, analytics en generatieve AI in één keten</a:t>
            </a:r>
            <a:endParaRPr lang="en-US" sz="1600" dirty="0"/>
          </a:p>
        </p:txBody>
      </p:sp>
      <p:sp>
        <p:nvSpPr>
          <p:cNvPr id="7" name="Shape 5"/>
          <p:cNvSpPr/>
          <p:nvPr/>
        </p:nvSpPr>
        <p:spPr>
          <a:xfrm>
            <a:off x="731520" y="4818888"/>
            <a:ext cx="155448" cy="155448"/>
          </a:xfrm>
          <a:prstGeom prst="ellipse">
            <a:avLst/>
          </a:prstGeom>
          <a:solidFill>
            <a:srgbClr val="DD784B"/>
          </a:solidFill>
          <a:ln/>
        </p:spPr>
        <p:txBody>
          <a:bodyPr/>
          <a:p/>
        </p:txBody>
      </p:sp>
      <p:sp>
        <p:nvSpPr>
          <p:cNvPr id="8" name="Text 6"/>
          <p:cNvSpPr/>
          <p:nvPr/>
        </p:nvSpPr>
        <p:spPr>
          <a:xfrm>
            <a:off x="1051560" y="4709160"/>
            <a:ext cx="4769968" cy="50292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Altijd in co-creatie met mbo, hbo en wo</a:t>
            </a:r>
            <a:endParaRPr lang="en-US" sz="1600" dirty="0"/>
          </a:p>
        </p:txBody>
      </p:sp>
      <p:sp>
        <p:nvSpPr>
          <p:cNvPr id="9" name="Shape 7"/>
          <p:cNvSpPr/>
          <p:nvPr/>
        </p:nvSpPr>
        <p:spPr>
          <a:xfrm>
            <a:off x="731520" y="5321808"/>
            <a:ext cx="155448" cy="155448"/>
          </a:xfrm>
          <a:prstGeom prst="ellipse">
            <a:avLst/>
          </a:prstGeom>
          <a:solidFill>
            <a:srgbClr val="00AF81"/>
          </a:solidFill>
          <a:ln/>
        </p:spPr>
        <p:txBody>
          <a:bodyPr/>
          <a:p/>
        </p:txBody>
      </p:sp>
      <p:sp>
        <p:nvSpPr>
          <p:cNvPr id="10" name="Text 8"/>
          <p:cNvSpPr/>
          <p:nvPr/>
        </p:nvSpPr>
        <p:spPr>
          <a:xfrm>
            <a:off x="1051560" y="5212080"/>
            <a:ext cx="4769968" cy="50292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Open source, voor elke instelling</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E2FD"/>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loopt de middag</a:t>
            </a:r>
            <a:endParaRPr lang="en-US" sz="3400" dirty="0"/>
          </a:p>
        </p:txBody>
      </p:sp>
      <p:sp>
        <p:nvSpPr>
          <p:cNvPr id="73" name="TextBox 72"/>
          <p:cNvSpPr txBox="1"/>
          <p:nvPr/>
        </p:nvSpPr>
        <p:spPr>
          <a:xfrm>
            <a:off x="548640" y="1719072"/>
            <a:ext cx="914400" cy="274320"/>
          </a:xfrm>
          <a:prstGeom prst="rect">
            <a:avLst/>
          </a:prstGeom>
          <a:noFill/>
        </p:spPr>
        <p:txBody>
          <a:bodyPr wrap="square" lIns="0" rIns="0" tIns="0" bIns="0" anchor="t">
            <a:spAutoFit/>
          </a:bodyPr>
          <a:lstStyle/>
          <a:p>
            <a:pPr algn="l"/>
            <a:r>
              <a:rPr sz="1400">
                <a:solidFill>
                  <a:srgbClr val="3D68EC"/>
                </a:solidFill>
                <a:latin typeface="General Sans Semibold"/>
              </a:rPr>
              <a:t>0:00</a:t>
            </a:r>
          </a:p>
        </p:txBody>
      </p:sp>
      <p:sp>
        <p:nvSpPr>
          <p:cNvPr id="74" name="Rectangle 73"/>
          <p:cNvSpPr/>
          <p:nvPr/>
        </p:nvSpPr>
        <p:spPr>
          <a:xfrm>
            <a:off x="548640" y="2103120"/>
            <a:ext cx="1532458" cy="914400"/>
          </a:xfrm>
          <a:prstGeom prst="rect">
            <a:avLst/>
          </a:prstGeom>
          <a:solidFill>
            <a:srgbClr val="F4D74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800">
                <a:solidFill>
                  <a:srgbClr val="000000"/>
                </a:solidFill>
                <a:latin typeface="General Sans Semibold"/>
              </a:rPr>
              <a:t>17 min</a:t>
            </a:r>
          </a:p>
        </p:txBody>
      </p:sp>
      <p:sp>
        <p:nvSpPr>
          <p:cNvPr id="75" name="Rectangle 74"/>
          <p:cNvSpPr/>
          <p:nvPr/>
        </p:nvSpPr>
        <p:spPr>
          <a:xfrm>
            <a:off x="548640" y="3017520"/>
            <a:ext cx="1532458" cy="45720"/>
          </a:xfrm>
          <a:prstGeom prst="rect">
            <a:avLst/>
          </a:prstGeom>
          <a:solidFill>
            <a:srgbClr val="F4D7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566928" y="3291839"/>
            <a:ext cx="1441018" cy="731520"/>
          </a:xfrm>
          <a:prstGeom prst="rect">
            <a:avLst/>
          </a:prstGeom>
          <a:noFill/>
        </p:spPr>
        <p:txBody>
          <a:bodyPr wrap="square" lIns="0" rIns="0" tIns="0" bIns="0" anchor="t">
            <a:spAutoFit/>
          </a:bodyPr>
          <a:lstStyle/>
          <a:p>
            <a:pPr algn="l"/>
            <a:r>
              <a:rPr sz="1100">
                <a:solidFill>
                  <a:srgbClr val="000000"/>
                </a:solidFill>
                <a:latin typeface="General Sans Semibold"/>
              </a:rPr>
              <a:t>Intro, data en casus</a:t>
            </a:r>
          </a:p>
        </p:txBody>
      </p:sp>
      <p:sp>
        <p:nvSpPr>
          <p:cNvPr id="77" name="TextBox 76"/>
          <p:cNvSpPr txBox="1"/>
          <p:nvPr/>
        </p:nvSpPr>
        <p:spPr>
          <a:xfrm>
            <a:off x="566928" y="4160520"/>
            <a:ext cx="1441018" cy="822960"/>
          </a:xfrm>
          <a:prstGeom prst="rect">
            <a:avLst/>
          </a:prstGeom>
          <a:noFill/>
        </p:spPr>
        <p:txBody>
          <a:bodyPr wrap="square" lIns="0" rIns="0" tIns="0" bIns="0" anchor="t">
            <a:spAutoFit/>
          </a:bodyPr>
          <a:lstStyle/>
          <a:p>
            <a:pPr algn="l"/>
            <a:r>
              <a:rPr sz="1200">
                <a:solidFill>
                  <a:srgbClr val="000000"/>
                </a:solidFill>
                <a:latin typeface="General Sans"/>
              </a:rPr>
              <a:t>CEDA, synthetische data en de opdracht</a:t>
            </a:r>
          </a:p>
        </p:txBody>
      </p:sp>
      <p:sp>
        <p:nvSpPr>
          <p:cNvPr id="78" name="TextBox 77"/>
          <p:cNvSpPr txBox="1"/>
          <p:nvPr/>
        </p:nvSpPr>
        <p:spPr>
          <a:xfrm>
            <a:off x="2126818" y="1719072"/>
            <a:ext cx="914400" cy="274320"/>
          </a:xfrm>
          <a:prstGeom prst="rect">
            <a:avLst/>
          </a:prstGeom>
          <a:noFill/>
        </p:spPr>
        <p:txBody>
          <a:bodyPr wrap="square" lIns="0" rIns="0" tIns="0" bIns="0" anchor="t">
            <a:spAutoFit/>
          </a:bodyPr>
          <a:lstStyle/>
          <a:p>
            <a:pPr algn="l"/>
            <a:r>
              <a:rPr sz="1400">
                <a:solidFill>
                  <a:srgbClr val="3D68EC"/>
                </a:solidFill>
                <a:latin typeface="General Sans Semibold"/>
              </a:rPr>
              <a:t>0:17</a:t>
            </a:r>
          </a:p>
        </p:txBody>
      </p:sp>
      <p:sp>
        <p:nvSpPr>
          <p:cNvPr id="79" name="Rectangle 78"/>
          <p:cNvSpPr/>
          <p:nvPr/>
        </p:nvSpPr>
        <p:spPr>
          <a:xfrm>
            <a:off x="2126818" y="2103120"/>
            <a:ext cx="1171879" cy="914400"/>
          </a:xfrm>
          <a:prstGeom prst="rect">
            <a:avLst/>
          </a:prstGeom>
          <a:solidFill>
            <a:srgbClr val="F4D74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800">
                <a:solidFill>
                  <a:srgbClr val="000000"/>
                </a:solidFill>
                <a:latin typeface="General Sans Semibold"/>
              </a:rPr>
              <a:t>13 min</a:t>
            </a:r>
          </a:p>
        </p:txBody>
      </p:sp>
      <p:sp>
        <p:nvSpPr>
          <p:cNvPr id="80" name="Rectangle 79"/>
          <p:cNvSpPr/>
          <p:nvPr/>
        </p:nvSpPr>
        <p:spPr>
          <a:xfrm>
            <a:off x="2126818" y="3017520"/>
            <a:ext cx="1171879" cy="45720"/>
          </a:xfrm>
          <a:prstGeom prst="rect">
            <a:avLst/>
          </a:prstGeom>
          <a:solidFill>
            <a:srgbClr val="F4D7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2145106" y="3291839"/>
            <a:ext cx="1080439" cy="731520"/>
          </a:xfrm>
          <a:prstGeom prst="rect">
            <a:avLst/>
          </a:prstGeom>
          <a:noFill/>
        </p:spPr>
        <p:txBody>
          <a:bodyPr wrap="square" lIns="0" rIns="0" tIns="0" bIns="0" anchor="t">
            <a:spAutoFit/>
          </a:bodyPr>
          <a:lstStyle/>
          <a:p>
            <a:pPr algn="l"/>
            <a:r>
              <a:rPr sz="1100">
                <a:solidFill>
                  <a:srgbClr val="000000"/>
                </a:solidFill>
                <a:latin typeface="General Sans Semibold"/>
              </a:rPr>
              <a:t>Skills en devcontainer</a:t>
            </a:r>
          </a:p>
        </p:txBody>
      </p:sp>
      <p:sp>
        <p:nvSpPr>
          <p:cNvPr id="82" name="TextBox 81"/>
          <p:cNvSpPr txBox="1"/>
          <p:nvPr/>
        </p:nvSpPr>
        <p:spPr>
          <a:xfrm>
            <a:off x="2145106" y="4160520"/>
            <a:ext cx="1080439" cy="822960"/>
          </a:xfrm>
          <a:prstGeom prst="rect">
            <a:avLst/>
          </a:prstGeom>
          <a:noFill/>
        </p:spPr>
        <p:txBody>
          <a:bodyPr wrap="square" lIns="0" rIns="0" tIns="0" bIns="0" anchor="t">
            <a:spAutoFit/>
          </a:bodyPr>
          <a:lstStyle/>
          <a:p>
            <a:pPr algn="l"/>
            <a:r>
              <a:rPr sz="1200">
                <a:solidFill>
                  <a:srgbClr val="000000"/>
                </a:solidFill>
                <a:latin typeface="General Sans"/>
              </a:rPr>
              <a:t>Wat is een skill, eerste prompt</a:t>
            </a:r>
          </a:p>
        </p:txBody>
      </p:sp>
      <p:sp>
        <p:nvSpPr>
          <p:cNvPr id="83" name="TextBox 82"/>
          <p:cNvSpPr txBox="1"/>
          <p:nvPr/>
        </p:nvSpPr>
        <p:spPr>
          <a:xfrm>
            <a:off x="3344418" y="1719072"/>
            <a:ext cx="914400" cy="274320"/>
          </a:xfrm>
          <a:prstGeom prst="rect">
            <a:avLst/>
          </a:prstGeom>
          <a:noFill/>
        </p:spPr>
        <p:txBody>
          <a:bodyPr wrap="square" lIns="0" rIns="0" tIns="0" bIns="0" anchor="t">
            <a:spAutoFit/>
          </a:bodyPr>
          <a:lstStyle/>
          <a:p>
            <a:pPr algn="l"/>
            <a:r>
              <a:rPr sz="1400">
                <a:solidFill>
                  <a:srgbClr val="3D68EC"/>
                </a:solidFill>
                <a:latin typeface="General Sans Semibold"/>
              </a:rPr>
              <a:t>0:30</a:t>
            </a:r>
          </a:p>
        </p:txBody>
      </p:sp>
      <p:sp>
        <p:nvSpPr>
          <p:cNvPr id="84" name="Rectangle 83"/>
          <p:cNvSpPr/>
          <p:nvPr/>
        </p:nvSpPr>
        <p:spPr>
          <a:xfrm>
            <a:off x="3344418" y="2103120"/>
            <a:ext cx="1983181" cy="914400"/>
          </a:xfrm>
          <a:prstGeom prst="rect">
            <a:avLst/>
          </a:prstGeom>
          <a:solidFill>
            <a:srgbClr val="3D6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800">
                <a:solidFill>
                  <a:srgbClr val="FFFFFF"/>
                </a:solidFill>
                <a:latin typeface="General Sans Semibold"/>
              </a:rPr>
              <a:t>22 min</a:t>
            </a:r>
          </a:p>
        </p:txBody>
      </p:sp>
      <p:sp>
        <p:nvSpPr>
          <p:cNvPr id="85" name="Rectangle 84"/>
          <p:cNvSpPr/>
          <p:nvPr/>
        </p:nvSpPr>
        <p:spPr>
          <a:xfrm>
            <a:off x="3344418" y="3017520"/>
            <a:ext cx="1983181" cy="45720"/>
          </a:xfrm>
          <a:prstGeom prst="rect">
            <a:avLst/>
          </a:prstGeom>
          <a:solidFill>
            <a:srgbClr val="3D6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3362706" y="3291839"/>
            <a:ext cx="1891741" cy="731520"/>
          </a:xfrm>
          <a:prstGeom prst="rect">
            <a:avLst/>
          </a:prstGeom>
          <a:noFill/>
        </p:spPr>
        <p:txBody>
          <a:bodyPr wrap="square" lIns="0" rIns="0" tIns="0" bIns="0" anchor="t">
            <a:spAutoFit/>
          </a:bodyPr>
          <a:lstStyle/>
          <a:p>
            <a:pPr algn="l"/>
            <a:r>
              <a:rPr sz="1100">
                <a:solidFill>
                  <a:srgbClr val="000000"/>
                </a:solidFill>
                <a:latin typeface="General Sans Semibold"/>
              </a:rPr>
              <a:t>Ronde 1: data verkennen</a:t>
            </a:r>
          </a:p>
        </p:txBody>
      </p:sp>
      <p:sp>
        <p:nvSpPr>
          <p:cNvPr id="87" name="TextBox 86"/>
          <p:cNvSpPr txBox="1"/>
          <p:nvPr/>
        </p:nvSpPr>
        <p:spPr>
          <a:xfrm>
            <a:off x="3362706" y="4160520"/>
            <a:ext cx="1891741" cy="822960"/>
          </a:xfrm>
          <a:prstGeom prst="rect">
            <a:avLst/>
          </a:prstGeom>
          <a:noFill/>
        </p:spPr>
        <p:txBody>
          <a:bodyPr wrap="square" lIns="0" rIns="0" tIns="0" bIns="0" anchor="t">
            <a:spAutoFit/>
          </a:bodyPr>
          <a:lstStyle/>
          <a:p>
            <a:pPr algn="l"/>
            <a:r>
              <a:rPr sz="1200">
                <a:solidFill>
                  <a:srgbClr val="000000"/>
                </a:solidFill>
                <a:latin typeface="General Sans"/>
              </a:rPr>
              <a:t>Jullie prompten zelf</a:t>
            </a:r>
          </a:p>
        </p:txBody>
      </p:sp>
      <p:sp>
        <p:nvSpPr>
          <p:cNvPr id="88" name="TextBox 87"/>
          <p:cNvSpPr txBox="1"/>
          <p:nvPr/>
        </p:nvSpPr>
        <p:spPr>
          <a:xfrm>
            <a:off x="5373319" y="1719072"/>
            <a:ext cx="914400" cy="274320"/>
          </a:xfrm>
          <a:prstGeom prst="rect">
            <a:avLst/>
          </a:prstGeom>
          <a:noFill/>
        </p:spPr>
        <p:txBody>
          <a:bodyPr wrap="square" lIns="0" rIns="0" tIns="0" bIns="0" anchor="t">
            <a:spAutoFit/>
          </a:bodyPr>
          <a:lstStyle/>
          <a:p>
            <a:pPr algn="l"/>
            <a:r>
              <a:rPr sz="1400">
                <a:solidFill>
                  <a:srgbClr val="3D68EC"/>
                </a:solidFill>
                <a:latin typeface="General Sans Semibold"/>
              </a:rPr>
              <a:t>0:52</a:t>
            </a:r>
          </a:p>
        </p:txBody>
      </p:sp>
      <p:sp>
        <p:nvSpPr>
          <p:cNvPr id="89" name="Rectangle 88"/>
          <p:cNvSpPr/>
          <p:nvPr/>
        </p:nvSpPr>
        <p:spPr>
          <a:xfrm>
            <a:off x="5373319" y="2103120"/>
            <a:ext cx="1352169" cy="914400"/>
          </a:xfrm>
          <a:prstGeom prst="rect">
            <a:avLst/>
          </a:prstGeom>
          <a:solidFill>
            <a:srgbClr val="DD784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800">
                <a:solidFill>
                  <a:srgbClr val="000000"/>
                </a:solidFill>
                <a:latin typeface="General Sans Semibold"/>
              </a:rPr>
              <a:t>15 min</a:t>
            </a:r>
          </a:p>
        </p:txBody>
      </p:sp>
      <p:sp>
        <p:nvSpPr>
          <p:cNvPr id="90" name="Rectangle 89"/>
          <p:cNvSpPr/>
          <p:nvPr/>
        </p:nvSpPr>
        <p:spPr>
          <a:xfrm>
            <a:off x="5373319" y="3017520"/>
            <a:ext cx="1352169" cy="45720"/>
          </a:xfrm>
          <a:prstGeom prst="rect">
            <a:avLst/>
          </a:prstGeom>
          <a:solidFill>
            <a:srgbClr val="DD7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5391607" y="3291839"/>
            <a:ext cx="1260729" cy="731520"/>
          </a:xfrm>
          <a:prstGeom prst="rect">
            <a:avLst/>
          </a:prstGeom>
          <a:noFill/>
        </p:spPr>
        <p:txBody>
          <a:bodyPr wrap="square" lIns="0" rIns="0" tIns="0" bIns="0" anchor="t">
            <a:spAutoFit/>
          </a:bodyPr>
          <a:lstStyle/>
          <a:p>
            <a:pPr algn="l"/>
            <a:r>
              <a:rPr sz="1100">
                <a:solidFill>
                  <a:srgbClr val="000000"/>
                </a:solidFill>
                <a:latin typeface="General Sans Semibold"/>
              </a:rPr>
              <a:t>Spiegelmoment 1</a:t>
            </a:r>
          </a:p>
        </p:txBody>
      </p:sp>
      <p:sp>
        <p:nvSpPr>
          <p:cNvPr id="92" name="TextBox 91"/>
          <p:cNvSpPr txBox="1"/>
          <p:nvPr/>
        </p:nvSpPr>
        <p:spPr>
          <a:xfrm>
            <a:off x="5391607" y="4160520"/>
            <a:ext cx="1260729" cy="822960"/>
          </a:xfrm>
          <a:prstGeom prst="rect">
            <a:avLst/>
          </a:prstGeom>
          <a:noFill/>
        </p:spPr>
        <p:txBody>
          <a:bodyPr wrap="square" lIns="0" rIns="0" tIns="0" bIns="0" anchor="t">
            <a:spAutoFit/>
          </a:bodyPr>
          <a:lstStyle/>
          <a:p>
            <a:pPr algn="l"/>
            <a:r>
              <a:rPr sz="1200">
                <a:solidFill>
                  <a:srgbClr val="000000"/>
                </a:solidFill>
                <a:latin typeface="General Sans"/>
              </a:rPr>
              <a:t>Skill live: kijk wat erin zit</a:t>
            </a:r>
          </a:p>
        </p:txBody>
      </p:sp>
      <p:sp>
        <p:nvSpPr>
          <p:cNvPr id="93" name="Rounded Rectangle 92"/>
          <p:cNvSpPr/>
          <p:nvPr/>
        </p:nvSpPr>
        <p:spPr>
          <a:xfrm>
            <a:off x="5391607" y="5029200"/>
            <a:ext cx="1315593" cy="310896"/>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a:solidFill>
                  <a:srgbClr val="3D68EC"/>
                </a:solidFill>
                <a:latin typeface="General Sans Semibold"/>
              </a:rPr>
              <a:t>/workshop-verkennen</a:t>
            </a:r>
          </a:p>
        </p:txBody>
      </p:sp>
      <p:sp>
        <p:nvSpPr>
          <p:cNvPr id="94" name="TextBox 93"/>
          <p:cNvSpPr txBox="1"/>
          <p:nvPr/>
        </p:nvSpPr>
        <p:spPr>
          <a:xfrm>
            <a:off x="6771208" y="1719072"/>
            <a:ext cx="914400" cy="274320"/>
          </a:xfrm>
          <a:prstGeom prst="rect">
            <a:avLst/>
          </a:prstGeom>
          <a:noFill/>
        </p:spPr>
        <p:txBody>
          <a:bodyPr wrap="square" lIns="0" rIns="0" tIns="0" bIns="0" anchor="t">
            <a:spAutoFit/>
          </a:bodyPr>
          <a:lstStyle/>
          <a:p>
            <a:pPr algn="l"/>
            <a:r>
              <a:rPr sz="1400">
                <a:solidFill>
                  <a:srgbClr val="3D68EC"/>
                </a:solidFill>
                <a:latin typeface="General Sans Semibold"/>
              </a:rPr>
              <a:t>1:07</a:t>
            </a:r>
          </a:p>
        </p:txBody>
      </p:sp>
      <p:sp>
        <p:nvSpPr>
          <p:cNvPr id="95" name="Rectangle 94"/>
          <p:cNvSpPr/>
          <p:nvPr/>
        </p:nvSpPr>
        <p:spPr>
          <a:xfrm>
            <a:off x="6771208" y="2103120"/>
            <a:ext cx="1983181" cy="914400"/>
          </a:xfrm>
          <a:prstGeom prst="rect">
            <a:avLst/>
          </a:prstGeom>
          <a:solidFill>
            <a:srgbClr val="3D68E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800">
                <a:solidFill>
                  <a:srgbClr val="FFFFFF"/>
                </a:solidFill>
                <a:latin typeface="General Sans Semibold"/>
              </a:rPr>
              <a:t>22 min</a:t>
            </a:r>
          </a:p>
        </p:txBody>
      </p:sp>
      <p:sp>
        <p:nvSpPr>
          <p:cNvPr id="96" name="Rectangle 95"/>
          <p:cNvSpPr/>
          <p:nvPr/>
        </p:nvSpPr>
        <p:spPr>
          <a:xfrm>
            <a:off x="6771208" y="3017520"/>
            <a:ext cx="1983181" cy="45720"/>
          </a:xfrm>
          <a:prstGeom prst="rect">
            <a:avLst/>
          </a:prstGeom>
          <a:solidFill>
            <a:srgbClr val="3D6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6789496" y="3291839"/>
            <a:ext cx="1891741" cy="731520"/>
          </a:xfrm>
          <a:prstGeom prst="rect">
            <a:avLst/>
          </a:prstGeom>
          <a:noFill/>
        </p:spPr>
        <p:txBody>
          <a:bodyPr wrap="square" lIns="0" rIns="0" tIns="0" bIns="0" anchor="t">
            <a:spAutoFit/>
          </a:bodyPr>
          <a:lstStyle/>
          <a:p>
            <a:pPr algn="l"/>
            <a:r>
              <a:rPr sz="1100">
                <a:solidFill>
                  <a:srgbClr val="000000"/>
                </a:solidFill>
                <a:latin typeface="General Sans Semibold"/>
              </a:rPr>
              <a:t>Ronde 2: dashboard bouwen</a:t>
            </a:r>
          </a:p>
        </p:txBody>
      </p:sp>
      <p:sp>
        <p:nvSpPr>
          <p:cNvPr id="98" name="TextBox 97"/>
          <p:cNvSpPr txBox="1"/>
          <p:nvPr/>
        </p:nvSpPr>
        <p:spPr>
          <a:xfrm>
            <a:off x="6789496" y="4160520"/>
            <a:ext cx="1891741" cy="822960"/>
          </a:xfrm>
          <a:prstGeom prst="rect">
            <a:avLst/>
          </a:prstGeom>
          <a:noFill/>
        </p:spPr>
        <p:txBody>
          <a:bodyPr wrap="square" lIns="0" rIns="0" tIns="0" bIns="0" anchor="t">
            <a:spAutoFit/>
          </a:bodyPr>
          <a:lstStyle/>
          <a:p>
            <a:pPr algn="l"/>
            <a:r>
              <a:rPr sz="1200">
                <a:solidFill>
                  <a:srgbClr val="000000"/>
                </a:solidFill>
                <a:latin typeface="General Sans"/>
              </a:rPr>
              <a:t>Jullie prompten zelf, andere rol</a:t>
            </a:r>
          </a:p>
        </p:txBody>
      </p:sp>
      <p:sp>
        <p:nvSpPr>
          <p:cNvPr id="99" name="TextBox 98"/>
          <p:cNvSpPr txBox="1"/>
          <p:nvPr/>
        </p:nvSpPr>
        <p:spPr>
          <a:xfrm>
            <a:off x="8800109" y="1719072"/>
            <a:ext cx="914400" cy="274320"/>
          </a:xfrm>
          <a:prstGeom prst="rect">
            <a:avLst/>
          </a:prstGeom>
          <a:noFill/>
        </p:spPr>
        <p:txBody>
          <a:bodyPr wrap="square" lIns="0" rIns="0" tIns="0" bIns="0" anchor="t">
            <a:spAutoFit/>
          </a:bodyPr>
          <a:lstStyle/>
          <a:p>
            <a:pPr algn="l"/>
            <a:r>
              <a:rPr sz="1400">
                <a:solidFill>
                  <a:srgbClr val="3D68EC"/>
                </a:solidFill>
                <a:latin typeface="General Sans Semibold"/>
              </a:rPr>
              <a:t>1:29</a:t>
            </a:r>
          </a:p>
        </p:txBody>
      </p:sp>
      <p:sp>
        <p:nvSpPr>
          <p:cNvPr id="100" name="Rectangle 99"/>
          <p:cNvSpPr/>
          <p:nvPr/>
        </p:nvSpPr>
        <p:spPr>
          <a:xfrm>
            <a:off x="8800109" y="2103120"/>
            <a:ext cx="1352169" cy="914400"/>
          </a:xfrm>
          <a:prstGeom prst="rect">
            <a:avLst/>
          </a:prstGeom>
          <a:solidFill>
            <a:srgbClr val="DD784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800">
                <a:solidFill>
                  <a:srgbClr val="000000"/>
                </a:solidFill>
                <a:latin typeface="General Sans Semibold"/>
              </a:rPr>
              <a:t>15 min</a:t>
            </a:r>
          </a:p>
        </p:txBody>
      </p:sp>
      <p:sp>
        <p:nvSpPr>
          <p:cNvPr id="101" name="Rectangle 100"/>
          <p:cNvSpPr/>
          <p:nvPr/>
        </p:nvSpPr>
        <p:spPr>
          <a:xfrm>
            <a:off x="8800109" y="3017520"/>
            <a:ext cx="1352169" cy="45720"/>
          </a:xfrm>
          <a:prstGeom prst="rect">
            <a:avLst/>
          </a:prstGeom>
          <a:solidFill>
            <a:srgbClr val="DD7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8818397" y="3291839"/>
            <a:ext cx="1260729" cy="731520"/>
          </a:xfrm>
          <a:prstGeom prst="rect">
            <a:avLst/>
          </a:prstGeom>
          <a:noFill/>
        </p:spPr>
        <p:txBody>
          <a:bodyPr wrap="square" lIns="0" rIns="0" tIns="0" bIns="0" anchor="t">
            <a:spAutoFit/>
          </a:bodyPr>
          <a:lstStyle/>
          <a:p>
            <a:pPr algn="l"/>
            <a:r>
              <a:rPr sz="1100">
                <a:solidFill>
                  <a:srgbClr val="000000"/>
                </a:solidFill>
                <a:latin typeface="General Sans Semibold"/>
              </a:rPr>
              <a:t>Spiegelmoment 2</a:t>
            </a:r>
          </a:p>
        </p:txBody>
      </p:sp>
      <p:sp>
        <p:nvSpPr>
          <p:cNvPr id="103" name="TextBox 102"/>
          <p:cNvSpPr txBox="1"/>
          <p:nvPr/>
        </p:nvSpPr>
        <p:spPr>
          <a:xfrm>
            <a:off x="8818397" y="4160520"/>
            <a:ext cx="1260729" cy="822960"/>
          </a:xfrm>
          <a:prstGeom prst="rect">
            <a:avLst/>
          </a:prstGeom>
          <a:noFill/>
        </p:spPr>
        <p:txBody>
          <a:bodyPr wrap="square" lIns="0" rIns="0" tIns="0" bIns="0" anchor="t">
            <a:spAutoFit/>
          </a:bodyPr>
          <a:lstStyle/>
          <a:p>
            <a:pPr algn="l"/>
            <a:r>
              <a:rPr sz="1200">
                <a:solidFill>
                  <a:srgbClr val="000000"/>
                </a:solidFill>
                <a:latin typeface="General Sans"/>
              </a:rPr>
              <a:t>Skill live, daarna de onthulling</a:t>
            </a:r>
          </a:p>
        </p:txBody>
      </p:sp>
      <p:sp>
        <p:nvSpPr>
          <p:cNvPr id="104" name="Rounded Rectangle 103"/>
          <p:cNvSpPr/>
          <p:nvPr/>
        </p:nvSpPr>
        <p:spPr>
          <a:xfrm>
            <a:off x="8818397" y="5029200"/>
            <a:ext cx="1315593" cy="310896"/>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900">
                <a:solidFill>
                  <a:srgbClr val="3D68EC"/>
                </a:solidFill>
                <a:latin typeface="General Sans Semibold"/>
              </a:rPr>
              <a:t>/workshop-dashboard</a:t>
            </a:r>
          </a:p>
        </p:txBody>
      </p:sp>
      <p:sp>
        <p:nvSpPr>
          <p:cNvPr id="105" name="TextBox 104"/>
          <p:cNvSpPr txBox="1"/>
          <p:nvPr/>
        </p:nvSpPr>
        <p:spPr>
          <a:xfrm>
            <a:off x="10197998" y="1719072"/>
            <a:ext cx="914400" cy="274320"/>
          </a:xfrm>
          <a:prstGeom prst="rect">
            <a:avLst/>
          </a:prstGeom>
          <a:noFill/>
        </p:spPr>
        <p:txBody>
          <a:bodyPr wrap="square" lIns="0" rIns="0" tIns="0" bIns="0" anchor="t">
            <a:spAutoFit/>
          </a:bodyPr>
          <a:lstStyle/>
          <a:p>
            <a:pPr algn="l"/>
            <a:r>
              <a:rPr sz="1400">
                <a:solidFill>
                  <a:srgbClr val="3D68EC"/>
                </a:solidFill>
                <a:latin typeface="General Sans Semibold"/>
              </a:rPr>
              <a:t>1:44</a:t>
            </a:r>
          </a:p>
        </p:txBody>
      </p:sp>
      <p:sp>
        <p:nvSpPr>
          <p:cNvPr id="106" name="Rectangle 105"/>
          <p:cNvSpPr/>
          <p:nvPr/>
        </p:nvSpPr>
        <p:spPr>
          <a:xfrm>
            <a:off x="10197998" y="2103120"/>
            <a:ext cx="1442313" cy="914400"/>
          </a:xfrm>
          <a:prstGeom prst="rect">
            <a:avLst/>
          </a:prstGeom>
          <a:solidFill>
            <a:srgbClr val="00AF81"/>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800">
                <a:solidFill>
                  <a:srgbClr val="FFFFFF"/>
                </a:solidFill>
                <a:latin typeface="General Sans Semibold"/>
              </a:rPr>
              <a:t>16 min</a:t>
            </a:r>
          </a:p>
        </p:txBody>
      </p:sp>
      <p:sp>
        <p:nvSpPr>
          <p:cNvPr id="107" name="Rectangle 106"/>
          <p:cNvSpPr/>
          <p:nvPr/>
        </p:nvSpPr>
        <p:spPr>
          <a:xfrm>
            <a:off x="10197998" y="3017520"/>
            <a:ext cx="1442313" cy="45720"/>
          </a:xfrm>
          <a:prstGeom prst="rect">
            <a:avLst/>
          </a:prstGeom>
          <a:solidFill>
            <a:srgbClr val="00AF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10216286" y="3291839"/>
            <a:ext cx="1350873" cy="731520"/>
          </a:xfrm>
          <a:prstGeom prst="rect">
            <a:avLst/>
          </a:prstGeom>
          <a:noFill/>
        </p:spPr>
        <p:txBody>
          <a:bodyPr wrap="square" lIns="0" rIns="0" tIns="0" bIns="0" anchor="t">
            <a:spAutoFit/>
          </a:bodyPr>
          <a:lstStyle/>
          <a:p>
            <a:pPr algn="l"/>
            <a:r>
              <a:rPr sz="1100">
                <a:solidFill>
                  <a:srgbClr val="000000"/>
                </a:solidFill>
                <a:latin typeface="General Sans Semibold"/>
              </a:rPr>
              <a:t>Evaluatie en afsluiting</a:t>
            </a:r>
          </a:p>
        </p:txBody>
      </p:sp>
      <p:sp>
        <p:nvSpPr>
          <p:cNvPr id="109" name="TextBox 108"/>
          <p:cNvSpPr txBox="1"/>
          <p:nvPr/>
        </p:nvSpPr>
        <p:spPr>
          <a:xfrm>
            <a:off x="10216286" y="4160520"/>
            <a:ext cx="1350873" cy="822960"/>
          </a:xfrm>
          <a:prstGeom prst="rect">
            <a:avLst/>
          </a:prstGeom>
          <a:noFill/>
        </p:spPr>
        <p:txBody>
          <a:bodyPr wrap="square" lIns="0" rIns="0" tIns="0" bIns="0" anchor="t">
            <a:spAutoFit/>
          </a:bodyPr>
          <a:lstStyle/>
          <a:p>
            <a:pPr algn="l"/>
            <a:r>
              <a:rPr sz="1200">
                <a:solidFill>
                  <a:srgbClr val="000000"/>
                </a:solidFill>
                <a:latin typeface="General Sans"/>
              </a:rPr>
              <a:t>Terugblik, peiling, rondje</a:t>
            </a:r>
          </a:p>
        </p:txBody>
      </p:sp>
      <p:sp>
        <p:nvSpPr>
          <p:cNvPr id="110" name="TextBox 109"/>
          <p:cNvSpPr txBox="1"/>
          <p:nvPr/>
        </p:nvSpPr>
        <p:spPr>
          <a:xfrm>
            <a:off x="10725912" y="1719072"/>
            <a:ext cx="914400" cy="274320"/>
          </a:xfrm>
          <a:prstGeom prst="rect">
            <a:avLst/>
          </a:prstGeom>
          <a:noFill/>
        </p:spPr>
        <p:txBody>
          <a:bodyPr wrap="square" lIns="0" rIns="0" tIns="0" bIns="0" anchor="t">
            <a:spAutoFit/>
          </a:bodyPr>
          <a:lstStyle/>
          <a:p>
            <a:pPr algn="r"/>
            <a:r>
              <a:rPr sz="1400">
                <a:solidFill>
                  <a:srgbClr val="3D68EC"/>
                </a:solidFill>
                <a:latin typeface="General Sans Semibold"/>
              </a:rPr>
              <a:t>2:00</a:t>
            </a:r>
          </a:p>
        </p:txBody>
      </p:sp>
      <p:sp>
        <p:nvSpPr>
          <p:cNvPr id="111" name="Rectangle 110"/>
          <p:cNvSpPr/>
          <p:nvPr/>
        </p:nvSpPr>
        <p:spPr>
          <a:xfrm>
            <a:off x="548640" y="6025896"/>
            <a:ext cx="201168" cy="201168"/>
          </a:xfrm>
          <a:prstGeom prst="rect">
            <a:avLst/>
          </a:prstGeom>
          <a:solidFill>
            <a:srgbClr val="F4D7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841247" y="5989320"/>
            <a:ext cx="2194560" cy="274320"/>
          </a:xfrm>
          <a:prstGeom prst="rect">
            <a:avLst/>
          </a:prstGeom>
          <a:noFill/>
        </p:spPr>
        <p:txBody>
          <a:bodyPr wrap="square" lIns="0" rIns="0" tIns="0" bIns="0" anchor="ctr">
            <a:spAutoFit/>
          </a:bodyPr>
          <a:lstStyle/>
          <a:p>
            <a:pPr algn="l"/>
            <a:r>
              <a:rPr sz="1200">
                <a:solidFill>
                  <a:srgbClr val="000000"/>
                </a:solidFill>
                <a:latin typeface="General Sans"/>
              </a:rPr>
              <a:t>Uitleg</a:t>
            </a:r>
          </a:p>
        </p:txBody>
      </p:sp>
      <p:sp>
        <p:nvSpPr>
          <p:cNvPr id="113" name="Rectangle 112"/>
          <p:cNvSpPr/>
          <p:nvPr/>
        </p:nvSpPr>
        <p:spPr>
          <a:xfrm>
            <a:off x="1901952" y="6025896"/>
            <a:ext cx="201168" cy="201168"/>
          </a:xfrm>
          <a:prstGeom prst="rect">
            <a:avLst/>
          </a:prstGeom>
          <a:solidFill>
            <a:srgbClr val="3D6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2194560" y="5989320"/>
            <a:ext cx="2194560" cy="274320"/>
          </a:xfrm>
          <a:prstGeom prst="rect">
            <a:avLst/>
          </a:prstGeom>
          <a:noFill/>
        </p:spPr>
        <p:txBody>
          <a:bodyPr wrap="square" lIns="0" rIns="0" tIns="0" bIns="0" anchor="ctr">
            <a:spAutoFit/>
          </a:bodyPr>
          <a:lstStyle/>
          <a:p>
            <a:pPr algn="l"/>
            <a:r>
              <a:rPr sz="1200">
                <a:solidFill>
                  <a:srgbClr val="000000"/>
                </a:solidFill>
                <a:latin typeface="General Sans"/>
              </a:rPr>
              <a:t>Werken in tweetallen</a:t>
            </a:r>
          </a:p>
        </p:txBody>
      </p:sp>
      <p:sp>
        <p:nvSpPr>
          <p:cNvPr id="115" name="Rectangle 114"/>
          <p:cNvSpPr/>
          <p:nvPr/>
        </p:nvSpPr>
        <p:spPr>
          <a:xfrm>
            <a:off x="4663440" y="6025896"/>
            <a:ext cx="201168" cy="201168"/>
          </a:xfrm>
          <a:prstGeom prst="rect">
            <a:avLst/>
          </a:prstGeom>
          <a:solidFill>
            <a:srgbClr val="DD78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4956048" y="5989320"/>
            <a:ext cx="2194560" cy="274320"/>
          </a:xfrm>
          <a:prstGeom prst="rect">
            <a:avLst/>
          </a:prstGeom>
          <a:noFill/>
        </p:spPr>
        <p:txBody>
          <a:bodyPr wrap="square" lIns="0" rIns="0" tIns="0" bIns="0" anchor="ctr">
            <a:spAutoFit/>
          </a:bodyPr>
          <a:lstStyle/>
          <a:p>
            <a:pPr algn="l"/>
            <a:r>
              <a:rPr sz="1200">
                <a:solidFill>
                  <a:srgbClr val="000000"/>
                </a:solidFill>
                <a:latin typeface="General Sans"/>
              </a:rPr>
              <a:t>Spiegelmoment</a:t>
            </a:r>
          </a:p>
        </p:txBody>
      </p:sp>
      <p:sp>
        <p:nvSpPr>
          <p:cNvPr id="117" name="Rectangle 116"/>
          <p:cNvSpPr/>
          <p:nvPr/>
        </p:nvSpPr>
        <p:spPr>
          <a:xfrm>
            <a:off x="6720840" y="6025896"/>
            <a:ext cx="201168" cy="201168"/>
          </a:xfrm>
          <a:prstGeom prst="rect">
            <a:avLst/>
          </a:prstGeom>
          <a:solidFill>
            <a:srgbClr val="00AF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7013448" y="5989320"/>
            <a:ext cx="2194560" cy="274320"/>
          </a:xfrm>
          <a:prstGeom prst="rect">
            <a:avLst/>
          </a:prstGeom>
          <a:noFill/>
        </p:spPr>
        <p:txBody>
          <a:bodyPr wrap="square" lIns="0" rIns="0" tIns="0" bIns="0" anchor="ctr">
            <a:spAutoFit/>
          </a:bodyPr>
          <a:lstStyle/>
          <a:p>
            <a:pPr algn="l"/>
            <a:r>
              <a:rPr sz="1200">
                <a:solidFill>
                  <a:srgbClr val="000000"/>
                </a:solidFill>
                <a:latin typeface="General Sans"/>
              </a:rPr>
              <a:t>Evaluatie en afsluiting</a:t>
            </a:r>
          </a:p>
        </p:txBody>
      </p:sp>
      <p:pic>
        <p:nvPicPr>
          <p:cNvPr id="119"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3D68EC"/>
        </a:solidFill>
      </p:bgPr>
    </p:bg>
    <p:spTree>
      <p:nvGrpSpPr>
        <p:cNvPr id="1" name=""/>
        <p:cNvGrpSpPr/>
        <p:nvPr/>
      </p:nvGrpSpPr>
      <p:grpSpPr>
        <a:xfrm>
          <a:off x="0" y="0"/>
          <a:ext cx="0" cy="0"/>
          <a:chOff x="0" y="0"/>
          <a:chExt cx="0" cy="0"/>
        </a:xfrm>
      </p:grpSpPr>
      <p:sp>
        <p:nvSpPr>
          <p:cNvPr id="72" name="Text 70"/>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Jij stuurt, de agent programmeert</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F4D74B"/>
                </a:solidFill>
                <a:latin typeface="Cooper Lt BT" pitchFamily="34" charset="0"/>
                <a:ea typeface="Cooper Lt BT" pitchFamily="34" charset="-122"/>
                <a:cs typeface="Cooper Lt BT" pitchFamily="34" charset="-120"/>
              </a:rPr>
              <a:t>Er is geen goed of fout dashboard, alleen keuzes die je kunt uitleggen.</a:t>
            </a:r>
            <a:endParaRPr lang="en-US" sz="2200" dirty="0"/>
          </a:p>
        </p:txBody>
      </p:sp>
      <p:pic>
        <p:nvPicPr>
          <p:cNvPr id="74" name="Image 0" descr="exports\261005_workshop_rad_uitvoering\img\kunstmatigeintelligentie.png">    </p:cNvPr>
          <p:cNvPicPr>
            <a:picLocks noChangeAspect="1"/>
          </p:cNvPicPr>
          <p:nvPr/>
        </p:nvPicPr>
        <p:blipFill>
          <a:blip r:embed="rId1"/>
          <a:stretch>
            <a:fillRect/>
          </a:stretch>
        </p:blipFill>
        <p:spPr>
          <a:xfrm>
            <a:off x="8503920" y="1828800"/>
            <a:ext cx="3291840" cy="3291840"/>
          </a:xfrm>
          <a:prstGeom prst="rect">
            <a:avLst/>
          </a:prstGeom>
        </p:spPr>
      </p:pic>
      <p:pic>
        <p:nvPicPr>
          <p:cNvPr id="75" name="Npuls beeldmerk" descr="npuls-beeldmerk-wi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EAEA"/>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2700" dirty="0">
                <a:solidFill>
                  <a:srgbClr val="3D68EC"/>
                </a:solidFill>
                <a:latin typeface="General Sans Semibold" pitchFamily="34" charset="0"/>
                <a:ea typeface="General Sans Semibold" pitchFamily="34" charset="-122"/>
                <a:cs typeface="General Sans Semibold" pitchFamily="34" charset="-120"/>
              </a:rPr>
              <a:t>De data is synthetisch, het patroon is ingebouwd</a:t>
            </a:r>
            <a:endParaRPr lang="en-US" sz="2700" dirty="0"/>
          </a:p>
        </p:txBody>
      </p:sp>
      <p:sp>
        <p:nvSpPr>
          <p:cNvPr id="73" name="Shape 71"/>
          <p:cNvSpPr/>
          <p:nvPr/>
        </p:nvSpPr>
        <p:spPr>
          <a:xfrm>
            <a:off x="548640" y="1572768"/>
            <a:ext cx="201168" cy="201168"/>
          </a:xfrm>
          <a:prstGeom prst="ellipse">
            <a:avLst/>
          </a:prstGeom>
          <a:solidFill>
            <a:srgbClr val="3D68EC"/>
          </a:solidFill>
          <a:ln/>
        </p:spPr>
      </p:sp>
      <p:sp>
        <p:nvSpPr>
          <p:cNvPr id="74" name="Text 72"/>
          <p:cNvSpPr/>
          <p:nvPr/>
        </p:nvSpPr>
        <p:spPr>
          <a:xfrm>
            <a:off x="960120" y="14630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Fictief:</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zelfde kolommen en codes als 1CHO, maar geen echte personen</a:t>
            </a:r>
            <a:endParaRPr lang="en-US" sz="1900" dirty="0"/>
          </a:p>
        </p:txBody>
      </p:sp>
      <p:sp>
        <p:nvSpPr>
          <p:cNvPr id="75" name="Shape 73"/>
          <p:cNvSpPr/>
          <p:nvPr/>
        </p:nvSpPr>
        <p:spPr>
          <a:xfrm>
            <a:off x="548640" y="2487168"/>
            <a:ext cx="201168" cy="201168"/>
          </a:xfrm>
          <a:prstGeom prst="ellipse">
            <a:avLst/>
          </a:prstGeom>
          <a:solidFill>
            <a:srgbClr val="DD784B"/>
          </a:solidFill>
          <a:ln/>
        </p:spPr>
      </p:sp>
      <p:sp>
        <p:nvSpPr>
          <p:cNvPr id="76" name="Text 74"/>
          <p:cNvSpPr/>
          <p:nvPr/>
        </p:nvSpPr>
        <p:spPr>
          <a:xfrm>
            <a:off x="960120" y="23774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Mag de agent in:</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geen AVG-toets of verwerkersovereenkomst nodig</a:t>
            </a:r>
            <a:endParaRPr lang="en-US" sz="1900" dirty="0"/>
          </a:p>
        </p:txBody>
      </p:sp>
      <p:sp>
        <p:nvSpPr>
          <p:cNvPr id="77" name="Shape 75"/>
          <p:cNvSpPr/>
          <p:nvPr/>
        </p:nvSpPr>
        <p:spPr>
          <a:xfrm>
            <a:off x="548640" y="3401568"/>
            <a:ext cx="201168" cy="201168"/>
          </a:xfrm>
          <a:prstGeom prst="ellipse">
            <a:avLst/>
          </a:prstGeom>
          <a:solidFill>
            <a:srgbClr val="00AF81"/>
          </a:solidFill>
          <a:ln/>
        </p:spPr>
      </p:sp>
      <p:sp>
        <p:nvSpPr>
          <p:cNvPr id="78" name="Text 76"/>
          <p:cNvSpPr/>
          <p:nvPr/>
        </p:nvSpPr>
        <p:spPr>
          <a:xfrm>
            <a:off x="960120" y="32918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Bewust gemaakt:</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er zit een echt verschil én een nep-verschil in</a:t>
            </a:r>
            <a:endParaRPr lang="en-US" sz="1900" dirty="0"/>
          </a:p>
        </p:txBody>
      </p:sp>
      <p:sp>
        <p:nvSpPr>
          <p:cNvPr id="79" name="Shape 77"/>
          <p:cNvSpPr/>
          <p:nvPr/>
        </p:nvSpPr>
        <p:spPr>
          <a:xfrm>
            <a:off x="548640" y="4315968"/>
            <a:ext cx="201168" cy="201168"/>
          </a:xfrm>
          <a:prstGeom prst="ellipse">
            <a:avLst/>
          </a:prstGeom>
          <a:solidFill>
            <a:srgbClr val="F4D74B"/>
          </a:solidFill>
          <a:ln/>
        </p:spPr>
      </p:sp>
      <p:sp>
        <p:nvSpPr>
          <p:cNvPr id="80" name="Text 78"/>
          <p:cNvSpPr/>
          <p:nvPr/>
        </p:nvSpPr>
        <p:spPr>
          <a:xfrm>
            <a:off x="960120" y="42062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Alleen oefenen:</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de kansen zijn onze keuze, geen werkelijkheid</a:t>
            </a:r>
            <a:endParaRPr lang="en-US" sz="1900" dirty="0"/>
          </a:p>
        </p:txBody>
      </p:sp>
      <p:pic>
        <p:nvPicPr>
          <p:cNvPr id="81" name="Image 0" descr="exports\261005_workshop_rad_uitvoering\img\Slot.png">    </p:cNvPr>
          <p:cNvPicPr>
            <a:picLocks noChangeAspect="1"/>
          </p:cNvPicPr>
          <p:nvPr/>
        </p:nvPicPr>
        <p:blipFill>
          <a:blip r:embed="rId1"/>
          <a:stretch>
            <a:fillRect/>
          </a:stretch>
        </p:blipFill>
        <p:spPr>
          <a:xfrm>
            <a:off x="7498080" y="1417320"/>
            <a:ext cx="4206240" cy="4206240"/>
          </a:xfrm>
          <a:prstGeom prst="rect">
            <a:avLst/>
          </a:prstGeom>
        </p:spPr>
      </p:pic>
      <p:pic>
        <p:nvPicPr>
          <p:cNvPr id="82"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5D4"/>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Onze casus: eerstejaarsuitval</a:t>
            </a:r>
            <a:endParaRPr lang="en-US" sz="3400" dirty="0"/>
          </a:p>
        </p:txBody>
      </p:sp>
      <p:sp>
        <p:nvSpPr>
          <p:cNvPr id="73" name="Shape 71"/>
          <p:cNvSpPr/>
          <p:nvPr/>
        </p:nvSpPr>
        <p:spPr>
          <a:xfrm>
            <a:off x="548640" y="1371600"/>
            <a:ext cx="3515258" cy="3145536"/>
          </a:xfrm>
          <a:prstGeom prst="roundRect">
            <a:avLst>
              <a:gd name="adj" fmla="val 2366"/>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A</a:t>
            </a:r>
            <a:endParaRPr lang="en-US" sz="2000" dirty="0"/>
          </a:p>
        </p:txBody>
      </p:sp>
      <p:sp>
        <p:nvSpPr>
          <p:cNvPr id="76" name="Shape 74"/>
          <p:cNvSpPr/>
          <p:nvPr/>
        </p:nvSpPr>
        <p:spPr>
          <a:xfrm>
            <a:off x="1508760" y="1719072"/>
            <a:ext cx="2280818" cy="402336"/>
          </a:xfrm>
          <a:prstGeom prst="roundRect">
            <a:avLst>
              <a:gd name="adj" fmla="val 113636"/>
            </a:avLst>
          </a:prstGeom>
          <a:solidFill>
            <a:srgbClr val="F4D74B"/>
          </a:solidFill>
          <a:ln/>
        </p:spPr>
      </p:sp>
      <p:sp>
        <p:nvSpPr>
          <p:cNvPr id="77" name="Text 75"/>
          <p:cNvSpPr/>
          <p:nvPr/>
        </p:nvSpPr>
        <p:spPr>
          <a:xfrm>
            <a:off x="1600200"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De vraag</a:t>
            </a:r>
            <a:endParaRPr lang="en-US" sz="1200" dirty="0"/>
          </a:p>
        </p:txBody>
      </p:sp>
      <p:sp>
        <p:nvSpPr>
          <p:cNvPr id="78" name="Text 76"/>
          <p:cNvSpPr/>
          <p:nvPr/>
        </p:nvSpPr>
        <p:spPr>
          <a:xfrm>
            <a:off x="822960"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F4D9DC"/>
                </a:solidFill>
                <a:latin typeface="General Sans Semibold" pitchFamily="34" charset="0"/>
                <a:ea typeface="General Sans Semibold" pitchFamily="34" charset="-122"/>
                <a:cs typeface="General Sans Semibold" pitchFamily="34" charset="-120"/>
              </a:rPr>
              <a:t>Wie stopt na jaar 1?</a:t>
            </a:r>
            <a:endParaRPr lang="en-US" sz="2300" dirty="0"/>
          </a:p>
        </p:txBody>
      </p:sp>
      <p:sp>
        <p:nvSpPr>
          <p:cNvPr id="79" name="Text 77"/>
          <p:cNvSpPr/>
          <p:nvPr/>
        </p:nvSpPr>
        <p:spPr>
          <a:xfrm>
            <a:off x="822960"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Welke eerstejaars stoppen binnen een jaar, en verschilt dat per sector en opleidingsvorm?</a:t>
            </a:r>
            <a:endParaRPr lang="en-US" sz="1500" dirty="0"/>
          </a:p>
        </p:txBody>
      </p:sp>
      <p:sp>
        <p:nvSpPr>
          <p:cNvPr id="80" name="Shape 78"/>
          <p:cNvSpPr/>
          <p:nvPr/>
        </p:nvSpPr>
        <p:spPr>
          <a:xfrm>
            <a:off x="4338218" y="1371600"/>
            <a:ext cx="3515258" cy="3145536"/>
          </a:xfrm>
          <a:prstGeom prst="roundRect">
            <a:avLst>
              <a:gd name="adj" fmla="val 2366"/>
            </a:avLst>
          </a:prstGeom>
          <a:solidFill>
            <a:srgbClr val="DD784B"/>
          </a:solidFill>
          <a:ln/>
        </p:spPr>
      </p:sp>
      <p:sp>
        <p:nvSpPr>
          <p:cNvPr id="81" name="Shape 79"/>
          <p:cNvSpPr/>
          <p:nvPr/>
        </p:nvSpPr>
        <p:spPr>
          <a:xfrm>
            <a:off x="4612538" y="1645920"/>
            <a:ext cx="548640" cy="548640"/>
          </a:xfrm>
          <a:prstGeom prst="ellipse">
            <a:avLst/>
          </a:prstGeom>
          <a:solidFill>
            <a:srgbClr val="F4D9DC"/>
          </a:solidFill>
          <a:ln/>
        </p:spPr>
      </p:sp>
      <p:sp>
        <p:nvSpPr>
          <p:cNvPr id="82" name="Text 80"/>
          <p:cNvSpPr/>
          <p:nvPr/>
        </p:nvSpPr>
        <p:spPr>
          <a:xfrm>
            <a:off x="461253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a:t>
            </a:r>
            <a:endParaRPr lang="en-US" sz="2000" dirty="0"/>
          </a:p>
        </p:txBody>
      </p:sp>
      <p:sp>
        <p:nvSpPr>
          <p:cNvPr id="83" name="Shape 81"/>
          <p:cNvSpPr/>
          <p:nvPr/>
        </p:nvSpPr>
        <p:spPr>
          <a:xfrm>
            <a:off x="5298338" y="1719072"/>
            <a:ext cx="2280818" cy="402336"/>
          </a:xfrm>
          <a:prstGeom prst="roundRect">
            <a:avLst>
              <a:gd name="adj" fmla="val 113636"/>
            </a:avLst>
          </a:prstGeom>
          <a:solidFill>
            <a:srgbClr val="F4D9DC"/>
          </a:solidFill>
          <a:ln/>
        </p:spPr>
      </p:sp>
      <p:sp>
        <p:nvSpPr>
          <p:cNvPr id="84" name="Text 82"/>
          <p:cNvSpPr/>
          <p:nvPr/>
        </p:nvSpPr>
        <p:spPr>
          <a:xfrm>
            <a:off x="5389778"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Met de agent</a:t>
            </a:r>
            <a:endParaRPr lang="en-US" sz="1200" dirty="0"/>
          </a:p>
        </p:txBody>
      </p:sp>
      <p:sp>
        <p:nvSpPr>
          <p:cNvPr id="85" name="Text 83"/>
          <p:cNvSpPr/>
          <p:nvPr/>
        </p:nvSpPr>
        <p:spPr>
          <a:xfrm>
            <a:off x="4612538"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Uitval laten uitrekenen</a:t>
            </a:r>
            <a:endParaRPr lang="en-US" sz="2300" dirty="0"/>
          </a:p>
        </p:txBody>
      </p:sp>
      <p:sp>
        <p:nvSpPr>
          <p:cNvPr id="86" name="Text 84"/>
          <p:cNvSpPr/>
          <p:nvPr/>
        </p:nvSpPr>
        <p:spPr>
          <a:xfrm>
            <a:off x="4612538"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Jullie laten de agent per jaar uitrekenen hoeveel eerstejaars stoppen, en dat vergelijken per sector.</a:t>
            </a:r>
            <a:endParaRPr lang="en-US" sz="1500" dirty="0"/>
          </a:p>
        </p:txBody>
      </p:sp>
      <p:sp>
        <p:nvSpPr>
          <p:cNvPr id="87" name="Shape 85"/>
          <p:cNvSpPr/>
          <p:nvPr/>
        </p:nvSpPr>
        <p:spPr>
          <a:xfrm>
            <a:off x="8127797" y="1371600"/>
            <a:ext cx="3515258" cy="3145536"/>
          </a:xfrm>
          <a:prstGeom prst="roundRect">
            <a:avLst>
              <a:gd name="adj" fmla="val 2366"/>
            </a:avLst>
          </a:prstGeom>
          <a:solidFill>
            <a:srgbClr val="00AF81"/>
          </a:solidFill>
          <a:ln/>
        </p:spPr>
      </p:sp>
      <p:sp>
        <p:nvSpPr>
          <p:cNvPr id="88" name="Shape 86"/>
          <p:cNvSpPr/>
          <p:nvPr/>
        </p:nvSpPr>
        <p:spPr>
          <a:xfrm>
            <a:off x="8402117" y="1645920"/>
            <a:ext cx="548640" cy="548640"/>
          </a:xfrm>
          <a:prstGeom prst="ellipse">
            <a:avLst/>
          </a:prstGeom>
          <a:solidFill>
            <a:srgbClr val="F4D9DC"/>
          </a:solidFill>
          <a:ln/>
        </p:spPr>
      </p:sp>
      <p:sp>
        <p:nvSpPr>
          <p:cNvPr id="89" name="Text 87"/>
          <p:cNvSpPr/>
          <p:nvPr/>
        </p:nvSpPr>
        <p:spPr>
          <a:xfrm>
            <a:off x="8402117"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a:t>
            </a:r>
            <a:endParaRPr lang="en-US" sz="2000" dirty="0"/>
          </a:p>
        </p:txBody>
      </p:sp>
      <p:sp>
        <p:nvSpPr>
          <p:cNvPr id="90" name="Shape 88"/>
          <p:cNvSpPr/>
          <p:nvPr/>
        </p:nvSpPr>
        <p:spPr>
          <a:xfrm>
            <a:off x="9087917" y="1719072"/>
            <a:ext cx="2280818" cy="402336"/>
          </a:xfrm>
          <a:prstGeom prst="roundRect">
            <a:avLst>
              <a:gd name="adj" fmla="val 113636"/>
            </a:avLst>
          </a:prstGeom>
          <a:solidFill>
            <a:srgbClr val="F4D9DC"/>
          </a:solidFill>
          <a:ln/>
        </p:spPr>
      </p:sp>
      <p:sp>
        <p:nvSpPr>
          <p:cNvPr id="91" name="Text 89"/>
          <p:cNvSpPr/>
          <p:nvPr/>
        </p:nvSpPr>
        <p:spPr>
          <a:xfrm>
            <a:off x="9179357"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Wat je oplevert</a:t>
            </a:r>
            <a:endParaRPr lang="en-US" sz="1200" dirty="0"/>
          </a:p>
        </p:txBody>
      </p:sp>
      <p:sp>
        <p:nvSpPr>
          <p:cNvPr id="92" name="Text 90"/>
          <p:cNvSpPr/>
          <p:nvPr/>
        </p:nvSpPr>
        <p:spPr>
          <a:xfrm>
            <a:off x="8402117" y="2423160"/>
            <a:ext cx="2966618" cy="691896"/>
          </a:xfrm>
          <a:prstGeom prst="rect">
            <a:avLst/>
          </a:prstGeom>
          <a:noFill/>
          <a:ln/>
        </p:spPr>
        <p:txBody>
          <a:bodyPr wrap="square" lIns="0" tIns="0" rIns="0" bIns="0" rtlCol="0" anchor="t"/>
          <a:lstStyle/>
          <a:p>
            <a:pPr algn="l" indent="0" marL="0">
              <a:lnSpc>
                <a:spcPct val="105000"/>
              </a:lnSpc>
              <a:buNone/>
            </a:pPr>
            <a:r>
              <a:rPr lang="en-US" sz="2400" dirty="0">
                <a:solidFill>
                  <a:srgbClr val="000000"/>
                </a:solidFill>
                <a:latin typeface="General Sans Semibold" pitchFamily="34" charset="0"/>
                <a:ea typeface="General Sans Semibold" pitchFamily="34" charset="-122"/>
                <a:cs typeface="General Sans Semibold" pitchFamily="34" charset="-120"/>
              </a:rPr>
              <a:t>Eén dashboard</a:t>
            </a:r>
            <a:endParaRPr lang="en-US" sz="2400" dirty="0"/>
          </a:p>
        </p:txBody>
      </p:sp>
      <p:sp>
        <p:nvSpPr>
          <p:cNvPr id="93" name="Text 91"/>
          <p:cNvSpPr/>
          <p:nvPr/>
        </p:nvSpPr>
        <p:spPr>
          <a:xfrm>
            <a:off x="8402117"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dashboard dat de vraag beantwoordt, met de conclusie als titel.</a:t>
            </a:r>
            <a:endParaRPr lang="en-US" sz="1500" dirty="0"/>
          </a:p>
        </p:txBody>
      </p:sp>
      <p:sp>
        <p:nvSpPr>
          <p:cNvPr id="94" name="Text 92"/>
          <p:cNvSpPr/>
          <p:nvPr/>
        </p:nvSpPr>
        <p:spPr>
          <a:xfrm>
            <a:off x="548640" y="4700016"/>
            <a:ext cx="11094415" cy="457200"/>
          </a:xfrm>
          <a:prstGeom prst="rect">
            <a:avLst/>
          </a:prstGeom>
          <a:noFill/>
          <a:ln/>
        </p:spPr>
        <p:txBody>
          <a:bodyPr wrap="square" lIns="0" tIns="0" rIns="0" bIns="0" rtlCol="0" anchor="t"/>
          <a:lstStyle/>
          <a:p>
            <a:pPr algn="l" indent="0" marL="0">
              <a:lnSpc>
                <a:spcPct val="105000"/>
              </a:lnSpc>
              <a:buNone/>
            </a:pPr>
            <a:r>
              <a:rPr lang="en-US" sz="1700" dirty="0">
                <a:solidFill>
                  <a:srgbClr val="000000"/>
                </a:solidFill>
                <a:latin typeface="General Sans" pitchFamily="34" charset="0"/>
                <a:ea typeface="General Sans" pitchFamily="34" charset="-122"/>
                <a:cs typeface="General Sans" pitchFamily="34" charset="-120"/>
              </a:rPr>
              <a:t>Data: 3070 fictieve studenten, cohorten 2012-2023, één bestand: data/synthetisch_1cho.csv.</a:t>
            </a:r>
            <a:endParaRPr lang="en-US" sz="1700" dirty="0"/>
          </a:p>
        </p:txBody>
      </p:sp>
      <p:pic>
        <p:nvPicPr>
          <p:cNvPr id="95"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D6E2FD"/>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Werk in tweetallen, wissel per ronde</a:t>
            </a:r>
            <a:endParaRPr lang="en-US" sz="3400" dirty="0"/>
          </a:p>
        </p:txBody>
      </p:sp>
      <p:sp>
        <p:nvSpPr>
          <p:cNvPr id="73" name="Shape 71"/>
          <p:cNvSpPr/>
          <p:nvPr/>
        </p:nvSpPr>
        <p:spPr>
          <a:xfrm>
            <a:off x="548640" y="1572768"/>
            <a:ext cx="201168" cy="201168"/>
          </a:xfrm>
          <a:prstGeom prst="ellipse">
            <a:avLst/>
          </a:prstGeom>
          <a:solidFill>
            <a:srgbClr val="3D68EC"/>
          </a:solidFill>
          <a:ln/>
        </p:spPr>
      </p:sp>
      <p:sp>
        <p:nvSpPr>
          <p:cNvPr id="74" name="Text 72"/>
          <p:cNvSpPr/>
          <p:nvPr/>
        </p:nvSpPr>
        <p:spPr>
          <a:xfrm>
            <a:off x="960120" y="14630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Prompter:</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typt de opdrachten aan de agent</a:t>
            </a:r>
            <a:endParaRPr lang="en-US" sz="1900" dirty="0"/>
          </a:p>
        </p:txBody>
      </p:sp>
      <p:sp>
        <p:nvSpPr>
          <p:cNvPr id="75" name="Shape 73"/>
          <p:cNvSpPr/>
          <p:nvPr/>
        </p:nvSpPr>
        <p:spPr>
          <a:xfrm>
            <a:off x="548640" y="2487168"/>
            <a:ext cx="201168" cy="201168"/>
          </a:xfrm>
          <a:prstGeom prst="ellipse">
            <a:avLst/>
          </a:prstGeom>
          <a:solidFill>
            <a:srgbClr val="DD784B"/>
          </a:solidFill>
          <a:ln/>
        </p:spPr>
      </p:sp>
      <p:sp>
        <p:nvSpPr>
          <p:cNvPr id="76" name="Text 74"/>
          <p:cNvSpPr/>
          <p:nvPr/>
        </p:nvSpPr>
        <p:spPr>
          <a:xfrm>
            <a:off x="960120" y="2377440"/>
            <a:ext cx="5897880" cy="804672"/>
          </a:xfrm>
          <a:prstGeom prst="rect">
            <a:avLst/>
          </a:prstGeom>
          <a:noFill/>
          <a:ln/>
        </p:spPr>
        <p:txBody>
          <a:bodyPr wrap="square" lIns="0" tIns="0" rIns="0" bIns="0" rtlCol="0" anchor="t"/>
          <a:lstStyle/>
          <a:p>
            <a:pPr algn="l" indent="0" marL="0">
              <a:lnSpc>
                <a:spcPct val="105000"/>
              </a:lnSpc>
              <a:buNone/>
            </a:pPr>
            <a:r>
              <a:rPr lang="en-US" sz="1700" dirty="0">
                <a:solidFill>
                  <a:srgbClr val="3D68EC"/>
                </a:solidFill>
                <a:latin typeface="General Sans Semibold" pitchFamily="34" charset="0"/>
                <a:ea typeface="General Sans Semibold" pitchFamily="34" charset="-122"/>
                <a:cs typeface="General Sans Semibold" pitchFamily="34" charset="-120"/>
              </a:rPr>
              <a:t>Checker:</a:t>
            </a:r>
            <a:pPr algn="l" indent="0" marL="0">
              <a:lnSpc>
                <a:spcPct val="105000"/>
              </a:lnSpc>
              <a:buNone/>
            </a:pPr>
            <a:r>
              <a:rPr lang="en-US" sz="1700" dirty="0">
                <a:solidFill>
                  <a:srgbClr val="000000"/>
                </a:solidFill>
                <a:latin typeface="General Sans" pitchFamily="34" charset="0"/>
                <a:ea typeface="General Sans" pitchFamily="34" charset="-122"/>
                <a:cs typeface="General Sans" pitchFamily="34" charset="-120"/>
              </a:rPr>
              <a:t> leest wat de agent teruggeeft en vraagt: klopt dit, en kunnen we dit zo laten zien?</a:t>
            </a:r>
            <a:endParaRPr lang="en-US" sz="1700" dirty="0"/>
          </a:p>
        </p:txBody>
      </p:sp>
      <p:sp>
        <p:nvSpPr>
          <p:cNvPr id="77" name="Shape 75"/>
          <p:cNvSpPr/>
          <p:nvPr/>
        </p:nvSpPr>
        <p:spPr>
          <a:xfrm>
            <a:off x="548640" y="3401568"/>
            <a:ext cx="201168" cy="201168"/>
          </a:xfrm>
          <a:prstGeom prst="ellipse">
            <a:avLst/>
          </a:prstGeom>
          <a:solidFill>
            <a:srgbClr val="00AF81"/>
          </a:solidFill>
          <a:ln/>
        </p:spPr>
      </p:sp>
      <p:sp>
        <p:nvSpPr>
          <p:cNvPr id="78" name="Text 76"/>
          <p:cNvSpPr/>
          <p:nvPr/>
        </p:nvSpPr>
        <p:spPr>
          <a:xfrm>
            <a:off x="960120" y="32918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Wissel</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na ronde 1, zodat beiden beide rollen doen</a:t>
            </a:r>
            <a:endParaRPr lang="en-US" sz="1900" dirty="0"/>
          </a:p>
        </p:txBody>
      </p:sp>
      <p:sp>
        <p:nvSpPr>
          <p:cNvPr id="79" name="Shape 77"/>
          <p:cNvSpPr/>
          <p:nvPr/>
        </p:nvSpPr>
        <p:spPr>
          <a:xfrm>
            <a:off x="548640" y="4315968"/>
            <a:ext cx="201168" cy="201168"/>
          </a:xfrm>
          <a:prstGeom prst="ellipse">
            <a:avLst/>
          </a:prstGeom>
          <a:solidFill>
            <a:srgbClr val="F4D74B"/>
          </a:solidFill>
          <a:ln/>
        </p:spPr>
      </p:sp>
      <p:sp>
        <p:nvSpPr>
          <p:cNvPr id="80" name="Text 78"/>
          <p:cNvSpPr/>
          <p:nvPr/>
        </p:nvSpPr>
        <p:spPr>
          <a:xfrm>
            <a:off x="960120" y="42062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Loop je vast?</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Vraag de agent: leg uit wat je net deed</a:t>
            </a:r>
            <a:endParaRPr lang="en-US" sz="1900" dirty="0"/>
          </a:p>
        </p:txBody>
      </p:sp>
      <p:pic>
        <p:nvPicPr>
          <p:cNvPr id="81" name="Image 0" descr="exports\261005_workshop_rad_uitvoering\img\gesprek.png">    </p:cNvPr>
          <p:cNvPicPr>
            <a:picLocks noChangeAspect="1"/>
          </p:cNvPicPr>
          <p:nvPr/>
        </p:nvPicPr>
        <p:blipFill>
          <a:blip r:embed="rId1"/>
          <a:stretch>
            <a:fillRect/>
          </a:stretch>
        </p:blipFill>
        <p:spPr>
          <a:xfrm>
            <a:off x="7498080" y="1417320"/>
            <a:ext cx="4206240" cy="4206240"/>
          </a:xfrm>
          <a:prstGeom prst="rect">
            <a:avLst/>
          </a:prstGeom>
        </p:spPr>
      </p:pic>
      <p:pic>
        <p:nvPicPr>
          <p:cNvPr id="82"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3D68EC"/>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F4D9DC"/>
                </a:solidFill>
                <a:latin typeface="General Sans Semibold" pitchFamily="34" charset="0"/>
                <a:ea typeface="General Sans Semibold" pitchFamily="34" charset="-122"/>
                <a:cs typeface="General Sans Semibold" pitchFamily="34" charset="-120"/>
              </a:rPr>
              <a:t>Agent, prompt en skill</a:t>
            </a:r>
            <a:endParaRPr lang="en-US" sz="3400" dirty="0"/>
          </a:p>
        </p:txBody>
      </p:sp>
      <p:sp>
        <p:nvSpPr>
          <p:cNvPr id="73" name="Shape 71"/>
          <p:cNvSpPr/>
          <p:nvPr/>
        </p:nvSpPr>
        <p:spPr>
          <a:xfrm>
            <a:off x="548640" y="1371600"/>
            <a:ext cx="3515258" cy="3817620"/>
          </a:xfrm>
          <a:prstGeom prst="roundRect">
            <a:avLst>
              <a:gd name="adj" fmla="val 1895"/>
            </a:avLst>
          </a:prstGeom>
          <a:solidFill>
            <a:srgbClr val="F4D74B"/>
          </a:solidFill>
          <a:ln/>
        </p:spPr>
      </p:sp>
      <p:sp>
        <p:nvSpPr>
          <p:cNvPr id="74" name="Shape 72"/>
          <p:cNvSpPr/>
          <p:nvPr/>
        </p:nvSpPr>
        <p:spPr>
          <a:xfrm>
            <a:off x="822960" y="1719072"/>
            <a:ext cx="2966618" cy="402336"/>
          </a:xfrm>
          <a:prstGeom prst="roundRect">
            <a:avLst>
              <a:gd name="adj" fmla="val 113636"/>
            </a:avLst>
          </a:prstGeom>
          <a:solidFill>
            <a:srgbClr val="3D68EC"/>
          </a:solidFill>
          <a:ln/>
        </p:spPr>
      </p:sp>
      <p:sp>
        <p:nvSpPr>
          <p:cNvPr id="75" name="Text 73"/>
          <p:cNvSpPr/>
          <p:nvPr/>
        </p:nvSpPr>
        <p:spPr>
          <a:xfrm>
            <a:off x="914400" y="1719072"/>
            <a:ext cx="27837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De uitvoerder</a:t>
            </a:r>
            <a:endParaRPr lang="en-US" sz="1200" dirty="0"/>
          </a:p>
        </p:txBody>
      </p:sp>
      <p:sp>
        <p:nvSpPr>
          <p:cNvPr id="76" name="Text 74"/>
          <p:cNvSpPr/>
          <p:nvPr/>
        </p:nvSpPr>
        <p:spPr>
          <a:xfrm>
            <a:off x="822960"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Agent</a:t>
            </a:r>
            <a:endParaRPr lang="en-US" sz="2200" dirty="0"/>
          </a:p>
        </p:txBody>
      </p:sp>
      <p:sp>
        <p:nvSpPr>
          <p:cNvPr id="77" name="Text 75"/>
          <p:cNvSpPr/>
          <p:nvPr/>
        </p:nvSpPr>
        <p:spPr>
          <a:xfrm>
            <a:off x="822960" y="3035808"/>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De AI die het werk doet. Hij leest je opdracht, schrijft en draait de code. Wij gebruiken Claude Code.</a:t>
            </a:r>
            <a:endParaRPr lang="en-US" sz="1500" dirty="0"/>
          </a:p>
        </p:txBody>
      </p:sp>
      <p:sp>
        <p:nvSpPr>
          <p:cNvPr id="78" name="Text 76"/>
          <p:cNvSpPr/>
          <p:nvPr/>
        </p:nvSpPr>
        <p:spPr>
          <a:xfrm>
            <a:off x="822960" y="416356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79" name="Text 77"/>
          <p:cNvSpPr/>
          <p:nvPr/>
        </p:nvSpPr>
        <p:spPr>
          <a:xfrm>
            <a:off x="822960" y="451104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Claude Code in de terminal</a:t>
            </a:r>
            <a:endParaRPr lang="en-US" sz="1500" dirty="0"/>
          </a:p>
        </p:txBody>
      </p:sp>
      <p:sp>
        <p:nvSpPr>
          <p:cNvPr id="80" name="Shape 78"/>
          <p:cNvSpPr/>
          <p:nvPr/>
        </p:nvSpPr>
        <p:spPr>
          <a:xfrm>
            <a:off x="4338218" y="1371600"/>
            <a:ext cx="3515258" cy="3817620"/>
          </a:xfrm>
          <a:prstGeom prst="roundRect">
            <a:avLst>
              <a:gd name="adj" fmla="val 1895"/>
            </a:avLst>
          </a:prstGeom>
          <a:solidFill>
            <a:srgbClr val="F4D9DC"/>
          </a:solidFill>
          <a:ln/>
        </p:spPr>
      </p:sp>
      <p:sp>
        <p:nvSpPr>
          <p:cNvPr id="81" name="Shape 79"/>
          <p:cNvSpPr/>
          <p:nvPr/>
        </p:nvSpPr>
        <p:spPr>
          <a:xfrm>
            <a:off x="4612538" y="1719072"/>
            <a:ext cx="2966618" cy="402336"/>
          </a:xfrm>
          <a:prstGeom prst="roundRect">
            <a:avLst>
              <a:gd name="adj" fmla="val 113636"/>
            </a:avLst>
          </a:prstGeom>
          <a:solidFill>
            <a:srgbClr val="3D68EC"/>
          </a:solidFill>
          <a:ln/>
        </p:spPr>
      </p:sp>
      <p:sp>
        <p:nvSpPr>
          <p:cNvPr id="82" name="Text 80"/>
          <p:cNvSpPr/>
          <p:nvPr/>
        </p:nvSpPr>
        <p:spPr>
          <a:xfrm>
            <a:off x="4703978" y="1719072"/>
            <a:ext cx="27837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Een losse opdracht</a:t>
            </a:r>
            <a:endParaRPr lang="en-US" sz="1200" dirty="0"/>
          </a:p>
        </p:txBody>
      </p:sp>
      <p:sp>
        <p:nvSpPr>
          <p:cNvPr id="83" name="Text 81"/>
          <p:cNvSpPr/>
          <p:nvPr/>
        </p:nvSpPr>
        <p:spPr>
          <a:xfrm>
            <a:off x="4612538"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Prompt</a:t>
            </a:r>
            <a:endParaRPr lang="en-US" sz="2200" dirty="0"/>
          </a:p>
        </p:txBody>
      </p:sp>
      <p:sp>
        <p:nvSpPr>
          <p:cNvPr id="84" name="Text 82"/>
          <p:cNvSpPr/>
          <p:nvPr/>
        </p:nvSpPr>
        <p:spPr>
          <a:xfrm>
            <a:off x="4612538" y="3035808"/>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jij zelf typt. Elke keer anders, en het resultaat hangt af van hoe je het vraagt.</a:t>
            </a:r>
            <a:endParaRPr lang="en-US" sz="1500" dirty="0"/>
          </a:p>
        </p:txBody>
      </p:sp>
      <p:sp>
        <p:nvSpPr>
          <p:cNvPr id="85" name="Text 83"/>
          <p:cNvSpPr/>
          <p:nvPr/>
        </p:nvSpPr>
        <p:spPr>
          <a:xfrm>
            <a:off x="4612538" y="416356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86" name="Text 84"/>
          <p:cNvSpPr/>
          <p:nvPr/>
        </p:nvSpPr>
        <p:spPr>
          <a:xfrm>
            <a:off x="4612538" y="451104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"Laat zien wie er uitvalt"</a:t>
            </a:r>
            <a:endParaRPr lang="en-US" sz="1500" dirty="0"/>
          </a:p>
        </p:txBody>
      </p:sp>
      <p:sp>
        <p:nvSpPr>
          <p:cNvPr id="87" name="Shape 85"/>
          <p:cNvSpPr/>
          <p:nvPr/>
        </p:nvSpPr>
        <p:spPr>
          <a:xfrm>
            <a:off x="8127797" y="1371600"/>
            <a:ext cx="3515258" cy="3817620"/>
          </a:xfrm>
          <a:prstGeom prst="roundRect">
            <a:avLst>
              <a:gd name="adj" fmla="val 1895"/>
            </a:avLst>
          </a:prstGeom>
          <a:solidFill>
            <a:srgbClr val="F4D74B"/>
          </a:solidFill>
          <a:ln/>
        </p:spPr>
      </p:sp>
      <p:sp>
        <p:nvSpPr>
          <p:cNvPr id="88" name="Shape 86"/>
          <p:cNvSpPr/>
          <p:nvPr/>
        </p:nvSpPr>
        <p:spPr>
          <a:xfrm>
            <a:off x="8402117" y="1719072"/>
            <a:ext cx="2966618" cy="402336"/>
          </a:xfrm>
          <a:prstGeom prst="roundRect">
            <a:avLst>
              <a:gd name="adj" fmla="val 113636"/>
            </a:avLst>
          </a:prstGeom>
          <a:solidFill>
            <a:srgbClr val="3D68EC"/>
          </a:solidFill>
          <a:ln/>
        </p:spPr>
      </p:sp>
      <p:sp>
        <p:nvSpPr>
          <p:cNvPr id="89" name="Text 87"/>
          <p:cNvSpPr/>
          <p:nvPr/>
        </p:nvSpPr>
        <p:spPr>
          <a:xfrm>
            <a:off x="8493557" y="1719072"/>
            <a:ext cx="27837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Een vast stappenplan</a:t>
            </a:r>
            <a:endParaRPr lang="en-US" sz="1200" dirty="0"/>
          </a:p>
        </p:txBody>
      </p:sp>
      <p:sp>
        <p:nvSpPr>
          <p:cNvPr id="90" name="Text 88"/>
          <p:cNvSpPr/>
          <p:nvPr/>
        </p:nvSpPr>
        <p:spPr>
          <a:xfrm>
            <a:off x="8402117"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Skill</a:t>
            </a:r>
            <a:endParaRPr lang="en-US" sz="2200" dirty="0"/>
          </a:p>
        </p:txBody>
      </p:sp>
      <p:sp>
        <p:nvSpPr>
          <p:cNvPr id="91" name="Text 89"/>
          <p:cNvSpPr/>
          <p:nvPr/>
        </p:nvSpPr>
        <p:spPr>
          <a:xfrm>
            <a:off x="8402117" y="3035808"/>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tekstbestand met stappen en checks dat de agent volgt. Elke keer dezelfde werkwijze.</a:t>
            </a:r>
            <a:endParaRPr lang="en-US" sz="1500" dirty="0"/>
          </a:p>
        </p:txBody>
      </p:sp>
      <p:sp>
        <p:nvSpPr>
          <p:cNvPr id="92" name="Text 90"/>
          <p:cNvSpPr/>
          <p:nvPr/>
        </p:nvSpPr>
        <p:spPr>
          <a:xfrm>
            <a:off x="8402117" y="416356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93" name="Text 91"/>
          <p:cNvSpPr/>
          <p:nvPr/>
        </p:nvSpPr>
        <p:spPr>
          <a:xfrm>
            <a:off x="8402117" y="451104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Eerst profiel, dan definities, dan kleine groepen</a:t>
            </a:r>
            <a:endParaRPr lang="en-US" sz="1500" dirty="0"/>
          </a:p>
        </p:txBody>
      </p:sp>
      <p:sp>
        <p:nvSpPr>
          <p:cNvPr id="94" name="Text 92"/>
          <p:cNvSpPr/>
          <p:nvPr/>
        </p:nvSpPr>
        <p:spPr>
          <a:xfrm>
            <a:off x="548640" y="5372100"/>
            <a:ext cx="11094415" cy="4572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In de rondes prompten jullie zelf. Bij de spiegelmomenten laten wij zien hoe een skill hetzelfde doet.</a:t>
            </a:r>
            <a:endParaRPr lang="en-US" sz="1500" dirty="0"/>
          </a:p>
        </p:txBody>
      </p:sp>
      <p:pic>
        <p:nvPicPr>
          <p:cNvPr id="95" name="Npuls beeldmerk" descr="npuls-beeldmerk-wi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CCEEE6"/>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Twee skills die wij laten zien</a:t>
            </a:r>
            <a:endParaRPr lang="en-US" sz="3400" dirty="0"/>
          </a:p>
        </p:txBody>
      </p:sp>
      <p:sp>
        <p:nvSpPr>
          <p:cNvPr id="73" name="Shape 71"/>
          <p:cNvSpPr/>
          <p:nvPr/>
        </p:nvSpPr>
        <p:spPr>
          <a:xfrm>
            <a:off x="548640" y="1371600"/>
            <a:ext cx="5410048" cy="3490722"/>
          </a:xfrm>
          <a:prstGeom prst="roundRect">
            <a:avLst>
              <a:gd name="adj" fmla="val 1921"/>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4175608" cy="402336"/>
          </a:xfrm>
          <a:prstGeom prst="roundRect">
            <a:avLst>
              <a:gd name="adj" fmla="val 113636"/>
            </a:avLst>
          </a:prstGeom>
          <a:solidFill>
            <a:srgbClr val="F4D74B"/>
          </a:solidFill>
          <a:ln/>
        </p:spPr>
      </p:sp>
      <p:sp>
        <p:nvSpPr>
          <p:cNvPr id="77" name="Text 75"/>
          <p:cNvSpPr/>
          <p:nvPr/>
        </p:nvSpPr>
        <p:spPr>
          <a:xfrm>
            <a:off x="1600200" y="1719072"/>
            <a:ext cx="3992728"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Spiegelmoment 1</a:t>
            </a:r>
            <a:endParaRPr lang="en-US" sz="1200" dirty="0"/>
          </a:p>
        </p:txBody>
      </p:sp>
      <p:sp>
        <p:nvSpPr>
          <p:cNvPr id="78" name="Text 76"/>
          <p:cNvSpPr/>
          <p:nvPr/>
        </p:nvSpPr>
        <p:spPr>
          <a:xfrm>
            <a:off x="822960" y="2423160"/>
            <a:ext cx="4861408" cy="338328"/>
          </a:xfrm>
          <a:prstGeom prst="rect">
            <a:avLst/>
          </a:prstGeom>
          <a:noFill/>
          <a:ln/>
        </p:spPr>
        <p:txBody>
          <a:bodyPr wrap="square" lIns="0" tIns="0" rIns="0" bIns="0" rtlCol="0" anchor="t"/>
          <a:lstStyle/>
          <a:p>
            <a:pPr algn="l" indent="0" marL="0">
              <a:lnSpc>
                <a:spcPct val="105000"/>
              </a:lnSpc>
              <a:buNone/>
            </a:pPr>
            <a:r>
              <a:rPr lang="en-US" sz="2200" dirty="0">
                <a:solidFill>
                  <a:srgbClr val="F4D9DC"/>
                </a:solidFill>
                <a:latin typeface="General Sans Semibold" pitchFamily="34" charset="0"/>
                <a:ea typeface="General Sans Semibold" pitchFamily="34" charset="-122"/>
                <a:cs typeface="General Sans Semibold" pitchFamily="34" charset="-120"/>
              </a:rPr>
              <a:t>/workshop-verkennen</a:t>
            </a:r>
            <a:endParaRPr lang="en-US" sz="2200" dirty="0"/>
          </a:p>
        </p:txBody>
      </p:sp>
      <p:sp>
        <p:nvSpPr>
          <p:cNvPr id="79" name="Text 77"/>
          <p:cNvSpPr/>
          <p:nvPr/>
        </p:nvSpPr>
        <p:spPr>
          <a:xfrm>
            <a:off x="822960" y="3035808"/>
            <a:ext cx="486140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DOET</a:t>
            </a:r>
            <a:endParaRPr lang="en-US" sz="1100" dirty="0"/>
          </a:p>
        </p:txBody>
      </p:sp>
      <p:sp>
        <p:nvSpPr>
          <p:cNvPr id="80" name="Text 78"/>
          <p:cNvSpPr/>
          <p:nvPr/>
        </p:nvSpPr>
        <p:spPr>
          <a:xfrm>
            <a:off x="822960" y="3383280"/>
            <a:ext cx="4861408" cy="54102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Data verkennen, kleine groepen signaleren, schetsen.</a:t>
            </a:r>
            <a:endParaRPr lang="en-US" sz="1500" dirty="0"/>
          </a:p>
        </p:txBody>
      </p:sp>
      <p:sp>
        <p:nvSpPr>
          <p:cNvPr id="81" name="Text 79"/>
          <p:cNvSpPr/>
          <p:nvPr/>
        </p:nvSpPr>
        <p:spPr>
          <a:xfrm>
            <a:off x="822960" y="4061460"/>
            <a:ext cx="486140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2" name="Text 80"/>
          <p:cNvSpPr/>
          <p:nvPr/>
        </p:nvSpPr>
        <p:spPr>
          <a:xfrm>
            <a:off x="822960" y="4408932"/>
            <a:ext cx="4861408" cy="31623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data-profiel.md en schets.md</a:t>
            </a:r>
            <a:endParaRPr lang="en-US" sz="1500" dirty="0"/>
          </a:p>
        </p:txBody>
      </p:sp>
      <p:sp>
        <p:nvSpPr>
          <p:cNvPr id="83" name="Shape 81"/>
          <p:cNvSpPr/>
          <p:nvPr/>
        </p:nvSpPr>
        <p:spPr>
          <a:xfrm>
            <a:off x="6233008" y="1371600"/>
            <a:ext cx="5410048" cy="3490722"/>
          </a:xfrm>
          <a:prstGeom prst="roundRect">
            <a:avLst>
              <a:gd name="adj" fmla="val 1921"/>
            </a:avLst>
          </a:prstGeom>
          <a:solidFill>
            <a:srgbClr val="DD784B"/>
          </a:solidFill>
          <a:ln/>
        </p:spPr>
      </p:sp>
      <p:sp>
        <p:nvSpPr>
          <p:cNvPr id="84" name="Shape 82"/>
          <p:cNvSpPr/>
          <p:nvPr/>
        </p:nvSpPr>
        <p:spPr>
          <a:xfrm>
            <a:off x="6507328" y="1645920"/>
            <a:ext cx="548640" cy="548640"/>
          </a:xfrm>
          <a:prstGeom prst="ellipse">
            <a:avLst/>
          </a:prstGeom>
          <a:solidFill>
            <a:srgbClr val="F4D9DC"/>
          </a:solidFill>
          <a:ln/>
        </p:spPr>
      </p:sp>
      <p:sp>
        <p:nvSpPr>
          <p:cNvPr id="85" name="Text 83"/>
          <p:cNvSpPr/>
          <p:nvPr/>
        </p:nvSpPr>
        <p:spPr>
          <a:xfrm>
            <a:off x="650732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6" name="Shape 84"/>
          <p:cNvSpPr/>
          <p:nvPr/>
        </p:nvSpPr>
        <p:spPr>
          <a:xfrm>
            <a:off x="7193128" y="1719072"/>
            <a:ext cx="4175608" cy="402336"/>
          </a:xfrm>
          <a:prstGeom prst="roundRect">
            <a:avLst>
              <a:gd name="adj" fmla="val 113636"/>
            </a:avLst>
          </a:prstGeom>
          <a:solidFill>
            <a:srgbClr val="F4D9DC"/>
          </a:solidFill>
          <a:ln/>
        </p:spPr>
      </p:sp>
      <p:sp>
        <p:nvSpPr>
          <p:cNvPr id="87" name="Text 85"/>
          <p:cNvSpPr/>
          <p:nvPr/>
        </p:nvSpPr>
        <p:spPr>
          <a:xfrm>
            <a:off x="7284568" y="1719072"/>
            <a:ext cx="399272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Spiegelmoment 2</a:t>
            </a:r>
            <a:endParaRPr lang="en-US" sz="1200" dirty="0"/>
          </a:p>
        </p:txBody>
      </p:sp>
      <p:sp>
        <p:nvSpPr>
          <p:cNvPr id="88" name="Text 86"/>
          <p:cNvSpPr/>
          <p:nvPr/>
        </p:nvSpPr>
        <p:spPr>
          <a:xfrm>
            <a:off x="6507328" y="2423160"/>
            <a:ext cx="4861408" cy="338328"/>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General Sans Semibold" pitchFamily="34" charset="0"/>
                <a:ea typeface="General Sans Semibold" pitchFamily="34" charset="-122"/>
                <a:cs typeface="General Sans Semibold" pitchFamily="34" charset="-120"/>
              </a:rPr>
              <a:t>/workshop-dashboard</a:t>
            </a:r>
            <a:endParaRPr lang="en-US" sz="2200" dirty="0"/>
          </a:p>
        </p:txBody>
      </p:sp>
      <p:sp>
        <p:nvSpPr>
          <p:cNvPr id="89" name="Text 87"/>
          <p:cNvSpPr/>
          <p:nvPr/>
        </p:nvSpPr>
        <p:spPr>
          <a:xfrm>
            <a:off x="6507328" y="3035808"/>
            <a:ext cx="486140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DOET</a:t>
            </a:r>
            <a:endParaRPr lang="en-US" sz="1100" dirty="0"/>
          </a:p>
        </p:txBody>
      </p:sp>
      <p:sp>
        <p:nvSpPr>
          <p:cNvPr id="90" name="Text 88"/>
          <p:cNvSpPr/>
          <p:nvPr/>
        </p:nvSpPr>
        <p:spPr>
          <a:xfrm>
            <a:off x="6507328" y="3383280"/>
            <a:ext cx="486140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Dashboard bouwen, met de checks erin verweven.</a:t>
            </a:r>
            <a:endParaRPr lang="en-US" sz="1500" dirty="0"/>
          </a:p>
        </p:txBody>
      </p:sp>
      <p:sp>
        <p:nvSpPr>
          <p:cNvPr id="91" name="Text 89"/>
          <p:cNvSpPr/>
          <p:nvPr/>
        </p:nvSpPr>
        <p:spPr>
          <a:xfrm>
            <a:off x="6507328" y="4061460"/>
            <a:ext cx="486140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2" name="Text 90"/>
          <p:cNvSpPr/>
          <p:nvPr/>
        </p:nvSpPr>
        <p:spPr>
          <a:xfrm>
            <a:off x="6507328" y="4408932"/>
            <a:ext cx="4861408" cy="31623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app.py en berekeningen.py</a:t>
            </a:r>
            <a:endParaRPr lang="en-US" sz="1500" dirty="0"/>
          </a:p>
        </p:txBody>
      </p:sp>
      <p:sp>
        <p:nvSpPr>
          <p:cNvPr id="93" name="Text 91"/>
          <p:cNvSpPr/>
          <p:nvPr/>
        </p:nvSpPr>
        <p:spPr>
          <a:xfrm>
            <a:off x="548640" y="5045202"/>
            <a:ext cx="11094415" cy="45720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Jullie prompten zelf in de rondes. Wij laten de skills live draaien bij de spiegelmomenten.</a:t>
            </a:r>
            <a:endParaRPr lang="en-US" sz="1600" dirty="0"/>
          </a:p>
        </p:txBody>
      </p:sp>
      <p:pic>
        <p:nvPicPr>
          <p:cNvPr id="94"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CCEEE6"/>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start je met de agent</a:t>
            </a:r>
            <a:endParaRPr lang="en-US" sz="3400" dirty="0"/>
          </a:p>
        </p:txBody>
      </p:sp>
      <p:sp>
        <p:nvSpPr>
          <p:cNvPr id="73" name="Shape 71"/>
          <p:cNvSpPr/>
          <p:nvPr/>
        </p:nvSpPr>
        <p:spPr>
          <a:xfrm>
            <a:off x="548640" y="1417320"/>
            <a:ext cx="11094415" cy="868680"/>
          </a:xfrm>
          <a:prstGeom prst="roundRect">
            <a:avLst>
              <a:gd name="adj" fmla="val 15512"/>
            </a:avLst>
          </a:prstGeom>
          <a:solidFill>
            <a:srgbClr val="FFFFFF"/>
          </a:solidFill>
          <a:ln/>
        </p:spPr>
      </p:sp>
      <p:sp>
        <p:nvSpPr>
          <p:cNvPr id="74" name="Text 72"/>
          <p:cNvSpPr/>
          <p:nvPr/>
        </p:nvSpPr>
        <p:spPr>
          <a:xfrm>
            <a:off x="822960" y="147218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Open de devcontainer</a:t>
            </a:r>
            <a:endParaRPr lang="en-US" sz="1600" dirty="0"/>
          </a:p>
        </p:txBody>
      </p:sp>
      <p:sp>
        <p:nvSpPr>
          <p:cNvPr id="75" name="Text 73"/>
          <p:cNvSpPr/>
          <p:nvPr/>
        </p:nvSpPr>
        <p:spPr>
          <a:xfrm>
            <a:off x="4754880" y="147218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Alles staat klaar: Claude Code, Python en de data</a:t>
            </a:r>
            <a:endParaRPr lang="en-US" sz="1400" dirty="0"/>
          </a:p>
        </p:txBody>
      </p:sp>
      <p:sp>
        <p:nvSpPr>
          <p:cNvPr id="76" name="Shape 74"/>
          <p:cNvSpPr/>
          <p:nvPr/>
        </p:nvSpPr>
        <p:spPr>
          <a:xfrm>
            <a:off x="9859975" y="1687068"/>
            <a:ext cx="1554480" cy="329184"/>
          </a:xfrm>
          <a:prstGeom prst="roundRect">
            <a:avLst>
              <a:gd name="adj" fmla="val 138889"/>
            </a:avLst>
          </a:prstGeom>
          <a:solidFill>
            <a:srgbClr val="00AF81"/>
          </a:solidFill>
          <a:ln/>
        </p:spPr>
      </p:sp>
      <p:sp>
        <p:nvSpPr>
          <p:cNvPr id="77" name="Text 75"/>
          <p:cNvSpPr/>
          <p:nvPr/>
        </p:nvSpPr>
        <p:spPr>
          <a:xfrm>
            <a:off x="9951415" y="168706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Stap 1</a:t>
            </a:r>
            <a:endParaRPr lang="en-US" sz="1100" dirty="0"/>
          </a:p>
        </p:txBody>
      </p:sp>
      <p:sp>
        <p:nvSpPr>
          <p:cNvPr id="78" name="Shape 76"/>
          <p:cNvSpPr/>
          <p:nvPr/>
        </p:nvSpPr>
        <p:spPr>
          <a:xfrm>
            <a:off x="548640" y="2377440"/>
            <a:ext cx="11094415" cy="868680"/>
          </a:xfrm>
          <a:prstGeom prst="roundRect">
            <a:avLst>
              <a:gd name="adj" fmla="val 15512"/>
            </a:avLst>
          </a:prstGeom>
          <a:solidFill>
            <a:srgbClr val="FFFFFF"/>
          </a:solidFill>
          <a:ln/>
        </p:spPr>
      </p:sp>
      <p:sp>
        <p:nvSpPr>
          <p:cNvPr id="79" name="Text 77"/>
          <p:cNvSpPr/>
          <p:nvPr/>
        </p:nvSpPr>
        <p:spPr>
          <a:xfrm>
            <a:off x="822960" y="243230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Start Claude Code</a:t>
            </a:r>
            <a:endParaRPr lang="en-US" sz="1600" dirty="0"/>
          </a:p>
        </p:txBody>
      </p:sp>
      <p:sp>
        <p:nvSpPr>
          <p:cNvPr id="80" name="Text 78"/>
          <p:cNvSpPr/>
          <p:nvPr/>
        </p:nvSpPr>
        <p:spPr>
          <a:xfrm>
            <a:off x="4754880" y="243230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Typ claude in de terminal</a:t>
            </a:r>
            <a:endParaRPr lang="en-US" sz="1400" dirty="0"/>
          </a:p>
        </p:txBody>
      </p:sp>
      <p:sp>
        <p:nvSpPr>
          <p:cNvPr id="81" name="Shape 79"/>
          <p:cNvSpPr/>
          <p:nvPr/>
        </p:nvSpPr>
        <p:spPr>
          <a:xfrm>
            <a:off x="9859975" y="2647188"/>
            <a:ext cx="1554480" cy="329184"/>
          </a:xfrm>
          <a:prstGeom prst="roundRect">
            <a:avLst>
              <a:gd name="adj" fmla="val 138889"/>
            </a:avLst>
          </a:prstGeom>
          <a:solidFill>
            <a:srgbClr val="00AF81"/>
          </a:solidFill>
          <a:ln/>
        </p:spPr>
      </p:sp>
      <p:sp>
        <p:nvSpPr>
          <p:cNvPr id="82" name="Text 80"/>
          <p:cNvSpPr/>
          <p:nvPr/>
        </p:nvSpPr>
        <p:spPr>
          <a:xfrm>
            <a:off x="9951415" y="264718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Stap 2</a:t>
            </a:r>
            <a:endParaRPr lang="en-US" sz="1100" dirty="0"/>
          </a:p>
        </p:txBody>
      </p:sp>
      <p:sp>
        <p:nvSpPr>
          <p:cNvPr id="83" name="Shape 81"/>
          <p:cNvSpPr/>
          <p:nvPr/>
        </p:nvSpPr>
        <p:spPr>
          <a:xfrm>
            <a:off x="548640" y="3337560"/>
            <a:ext cx="11094415" cy="868680"/>
          </a:xfrm>
          <a:prstGeom prst="roundRect">
            <a:avLst>
              <a:gd name="adj" fmla="val 15512"/>
            </a:avLst>
          </a:prstGeom>
          <a:solidFill>
            <a:srgbClr val="FFFFFF"/>
          </a:solidFill>
          <a:ln/>
        </p:spPr>
      </p:sp>
      <p:sp>
        <p:nvSpPr>
          <p:cNvPr id="84" name="Text 82"/>
          <p:cNvSpPr/>
          <p:nvPr/>
        </p:nvSpPr>
        <p:spPr>
          <a:xfrm>
            <a:off x="822960" y="339242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Probeer een eerste instructie</a:t>
            </a:r>
            <a:endParaRPr lang="en-US" sz="1600" dirty="0"/>
          </a:p>
        </p:txBody>
      </p:sp>
      <p:sp>
        <p:nvSpPr>
          <p:cNvPr id="85" name="Text 83"/>
          <p:cNvSpPr/>
          <p:nvPr/>
        </p:nvSpPr>
        <p:spPr>
          <a:xfrm>
            <a:off x="4754880" y="339242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Lees data/synthetisch_1cho.csv en vertel in gewone taal wat erin zit</a:t>
            </a:r>
            <a:endParaRPr lang="en-US" sz="1400" dirty="0"/>
          </a:p>
        </p:txBody>
      </p:sp>
      <p:sp>
        <p:nvSpPr>
          <p:cNvPr id="86" name="Shape 84"/>
          <p:cNvSpPr/>
          <p:nvPr/>
        </p:nvSpPr>
        <p:spPr>
          <a:xfrm>
            <a:off x="9859975" y="3607308"/>
            <a:ext cx="1554480" cy="329184"/>
          </a:xfrm>
          <a:prstGeom prst="roundRect">
            <a:avLst>
              <a:gd name="adj" fmla="val 138889"/>
            </a:avLst>
          </a:prstGeom>
          <a:solidFill>
            <a:srgbClr val="3D68EC"/>
          </a:solidFill>
          <a:ln/>
        </p:spPr>
      </p:sp>
      <p:sp>
        <p:nvSpPr>
          <p:cNvPr id="87" name="Text 85"/>
          <p:cNvSpPr/>
          <p:nvPr/>
        </p:nvSpPr>
        <p:spPr>
          <a:xfrm>
            <a:off x="9951415" y="360730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Stap 3</a:t>
            </a:r>
            <a:endParaRPr lang="en-US" sz="1100" dirty="0"/>
          </a:p>
        </p:txBody>
      </p:sp>
      <p:sp>
        <p:nvSpPr>
          <p:cNvPr id="88" name="Shape 86"/>
          <p:cNvSpPr/>
          <p:nvPr/>
        </p:nvSpPr>
        <p:spPr>
          <a:xfrm>
            <a:off x="548640" y="4297680"/>
            <a:ext cx="11094415" cy="868680"/>
          </a:xfrm>
          <a:prstGeom prst="roundRect">
            <a:avLst>
              <a:gd name="adj" fmla="val 15512"/>
            </a:avLst>
          </a:prstGeom>
          <a:solidFill>
            <a:srgbClr val="FFFFFF"/>
          </a:solidFill>
          <a:ln/>
        </p:spPr>
      </p:sp>
      <p:sp>
        <p:nvSpPr>
          <p:cNvPr id="89" name="Text 87"/>
          <p:cNvSpPr/>
          <p:nvPr/>
        </p:nvSpPr>
        <p:spPr>
          <a:xfrm>
            <a:off x="822960" y="435254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Stuur de agent aan</a:t>
            </a:r>
            <a:endParaRPr lang="en-US" sz="1600" dirty="0"/>
          </a:p>
        </p:txBody>
      </p:sp>
      <p:sp>
        <p:nvSpPr>
          <p:cNvPr id="90" name="Text 88"/>
          <p:cNvSpPr/>
          <p:nvPr/>
        </p:nvSpPr>
        <p:spPr>
          <a:xfrm>
            <a:off x="4754880" y="435254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Jij prompt, de agent rekent en bouwt. De skills laten wij straks zien</a:t>
            </a:r>
            <a:endParaRPr lang="en-US" sz="1400" dirty="0"/>
          </a:p>
        </p:txBody>
      </p:sp>
      <p:sp>
        <p:nvSpPr>
          <p:cNvPr id="91" name="Shape 89"/>
          <p:cNvSpPr/>
          <p:nvPr/>
        </p:nvSpPr>
        <p:spPr>
          <a:xfrm>
            <a:off x="9859975" y="4567428"/>
            <a:ext cx="1554480" cy="329184"/>
          </a:xfrm>
          <a:prstGeom prst="roundRect">
            <a:avLst>
              <a:gd name="adj" fmla="val 138889"/>
            </a:avLst>
          </a:prstGeom>
          <a:solidFill>
            <a:srgbClr val="DD784B"/>
          </a:solidFill>
          <a:ln/>
        </p:spPr>
      </p:sp>
      <p:sp>
        <p:nvSpPr>
          <p:cNvPr id="92" name="Text 90"/>
          <p:cNvSpPr/>
          <p:nvPr/>
        </p:nvSpPr>
        <p:spPr>
          <a:xfrm>
            <a:off x="9951415" y="456742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Straks</a:t>
            </a:r>
            <a:endParaRPr lang="en-US" sz="1100" dirty="0"/>
          </a:p>
        </p:txBody>
      </p:sp>
      <p:sp>
        <p:nvSpPr>
          <p:cNvPr id="93" name="Text 91"/>
          <p:cNvSpPr/>
          <p:nvPr/>
        </p:nvSpPr>
        <p:spPr>
          <a:xfrm>
            <a:off x="548640" y="6291072"/>
            <a:ext cx="11094415" cy="274320"/>
          </a:xfrm>
          <a:prstGeom prst="rect">
            <a:avLst/>
          </a:prstGeom>
          <a:noFill/>
          <a:ln/>
        </p:spPr>
        <p:txBody>
          <a:bodyPr wrap="square" lIns="0" tIns="0" rIns="0" bIns="0" rtlCol="0" anchor="t"/>
          <a:lstStyle/>
          <a:p>
            <a:pPr algn="l" indent="0" marL="0">
              <a:lnSpc>
                <a:spcPct val="105000"/>
              </a:lnSpc>
              <a:buNone/>
            </a:pPr>
            <a:r>
              <a:rPr lang="en-US" sz="1100" dirty="0">
                <a:solidFill>
                  <a:srgbClr val="3D68EC"/>
                </a:solidFill>
                <a:latin typeface="General Sans" pitchFamily="34" charset="0"/>
                <a:ea typeface="General Sans" pitchFamily="34" charset="-122"/>
                <a:cs typeface="General Sans" pitchFamily="34" charset="-120"/>
              </a:rPr>
              <a:t>Duurt het starten langer dan een minuut? Roep iemand, dan zoeken we het samen uit.</a:t>
            </a:r>
            <a:endParaRPr lang="en-US" sz="1100" dirty="0"/>
          </a:p>
        </p:txBody>
      </p:sp>
      <p:pic>
        <p:nvPicPr>
          <p:cNvPr id="94"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AF81"/>
        </a:solidFill>
      </p:bgPr>
    </p:bg>
    <p:spTree>
      <p:nvGrpSpPr>
        <p:cNvPr id="1" name=""/>
        <p:cNvGrpSpPr/>
        <p:nvPr/>
      </p:nvGrpSpPr>
      <p:grpSpPr>
        <a:xfrm>
          <a:off x="0" y="0"/>
          <a:ext cx="0" cy="0"/>
          <a:chOff x="0" y="0"/>
          <a:chExt cx="0" cy="0"/>
        </a:xfrm>
      </p:grpSpPr>
      <p:sp>
        <p:nvSpPr>
          <p:cNvPr id="72" name="Shape 70"/>
          <p:cNvSpPr/>
          <p:nvPr/>
        </p:nvSpPr>
        <p:spPr>
          <a:xfrm>
            <a:off x="548640" y="1280160"/>
            <a:ext cx="1005840" cy="1005840"/>
          </a:xfrm>
          <a:prstGeom prst="ellipse">
            <a:avLst/>
          </a:prstGeom>
          <a:solidFill>
            <a:srgbClr val="F4D9DC"/>
          </a:solidFill>
          <a:ln/>
        </p:spPr>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1</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Ronde 1: ken je data</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22 minuten. Verken data en codebook voor je iets bouwt.</a:t>
            </a:r>
            <a:endParaRPr lang="en-US" sz="2200" dirty="0"/>
          </a:p>
        </p:txBody>
      </p:sp>
      <p:pic>
        <p:nvPicPr>
          <p:cNvPr id="76" name="Image 0" descr="exports\261005_workshop_rad_uitvoering\img\data.png">    </p:cNvPr>
          <p:cNvPicPr>
            <a:picLocks noChangeAspect="1"/>
          </p:cNvPicPr>
          <p:nvPr/>
        </p:nvPicPr>
        <p:blipFill>
          <a:blip r:embed="rId1"/>
          <a:stretch>
            <a:fillRect/>
          </a:stretch>
        </p:blipFill>
        <p:spPr>
          <a:xfrm>
            <a:off x="8503920" y="1828800"/>
            <a:ext cx="3291840" cy="3291840"/>
          </a:xfrm>
          <a:prstGeom prst="rect">
            <a:avLst/>
          </a:prstGeom>
        </p:spPr>
      </p:pic>
      <p:pic>
        <p:nvPicPr>
          <p:cNvPr id="77"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5D4"/>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Ronde 1: wat je doet en oplevert</a:t>
            </a:r>
            <a:endParaRPr lang="en-US" sz="3400" dirty="0"/>
          </a:p>
        </p:txBody>
      </p:sp>
      <p:sp>
        <p:nvSpPr>
          <p:cNvPr id="73" name="Shape 71"/>
          <p:cNvSpPr/>
          <p:nvPr/>
        </p:nvSpPr>
        <p:spPr>
          <a:xfrm>
            <a:off x="548640" y="1371600"/>
            <a:ext cx="3515258" cy="3145536"/>
          </a:xfrm>
          <a:prstGeom prst="roundRect">
            <a:avLst>
              <a:gd name="adj" fmla="val 2366"/>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2280818" cy="402336"/>
          </a:xfrm>
          <a:prstGeom prst="roundRect">
            <a:avLst>
              <a:gd name="adj" fmla="val 113636"/>
            </a:avLst>
          </a:prstGeom>
          <a:solidFill>
            <a:srgbClr val="F4D74B"/>
          </a:solidFill>
          <a:ln/>
        </p:spPr>
      </p:sp>
      <p:sp>
        <p:nvSpPr>
          <p:cNvPr id="77" name="Text 75"/>
          <p:cNvSpPr/>
          <p:nvPr/>
        </p:nvSpPr>
        <p:spPr>
          <a:xfrm>
            <a:off x="1600200"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Verken</a:t>
            </a:r>
            <a:endParaRPr lang="en-US" sz="1200" dirty="0"/>
          </a:p>
        </p:txBody>
      </p:sp>
      <p:sp>
        <p:nvSpPr>
          <p:cNvPr id="78" name="Text 76"/>
          <p:cNvSpPr/>
          <p:nvPr/>
        </p:nvSpPr>
        <p:spPr>
          <a:xfrm>
            <a:off x="822960" y="2423160"/>
            <a:ext cx="2966618" cy="691896"/>
          </a:xfrm>
          <a:prstGeom prst="rect">
            <a:avLst/>
          </a:prstGeom>
          <a:noFill/>
          <a:ln/>
        </p:spPr>
        <p:txBody>
          <a:bodyPr wrap="square" lIns="0" tIns="0" rIns="0" bIns="0" rtlCol="0" anchor="t"/>
          <a:lstStyle/>
          <a:p>
            <a:pPr algn="l" indent="0" marL="0">
              <a:lnSpc>
                <a:spcPct val="105000"/>
              </a:lnSpc>
              <a:buNone/>
            </a:pPr>
            <a:r>
              <a:rPr lang="en-US" sz="2400" dirty="0">
                <a:solidFill>
                  <a:srgbClr val="F4D9DC"/>
                </a:solidFill>
                <a:latin typeface="General Sans Semibold" pitchFamily="34" charset="0"/>
                <a:ea typeface="General Sans Semibold" pitchFamily="34" charset="-122"/>
                <a:cs typeface="General Sans Semibold" pitchFamily="34" charset="-120"/>
              </a:rPr>
              <a:t>Wat zit erin?</a:t>
            </a:r>
            <a:endParaRPr lang="en-US" sz="2400" dirty="0"/>
          </a:p>
        </p:txBody>
      </p:sp>
      <p:sp>
        <p:nvSpPr>
          <p:cNvPr id="79" name="Text 77"/>
          <p:cNvSpPr/>
          <p:nvPr/>
        </p:nvSpPr>
        <p:spPr>
          <a:xfrm>
            <a:off x="822960"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Rijen, studenten, jaren, ontbrekende waarden, de definitie van uitval en instroom.</a:t>
            </a:r>
            <a:endParaRPr lang="en-US" sz="1500" dirty="0"/>
          </a:p>
        </p:txBody>
      </p:sp>
      <p:sp>
        <p:nvSpPr>
          <p:cNvPr id="80" name="Shape 78"/>
          <p:cNvSpPr/>
          <p:nvPr/>
        </p:nvSpPr>
        <p:spPr>
          <a:xfrm>
            <a:off x="4338218" y="1371600"/>
            <a:ext cx="3515258" cy="3145536"/>
          </a:xfrm>
          <a:prstGeom prst="roundRect">
            <a:avLst>
              <a:gd name="adj" fmla="val 2366"/>
            </a:avLst>
          </a:prstGeom>
          <a:solidFill>
            <a:srgbClr val="DD784B"/>
          </a:solidFill>
          <a:ln/>
        </p:spPr>
      </p:sp>
      <p:sp>
        <p:nvSpPr>
          <p:cNvPr id="81" name="Shape 79"/>
          <p:cNvSpPr/>
          <p:nvPr/>
        </p:nvSpPr>
        <p:spPr>
          <a:xfrm>
            <a:off x="4612538" y="1645920"/>
            <a:ext cx="548640" cy="548640"/>
          </a:xfrm>
          <a:prstGeom prst="ellipse">
            <a:avLst/>
          </a:prstGeom>
          <a:solidFill>
            <a:srgbClr val="F4D9DC"/>
          </a:solidFill>
          <a:ln/>
        </p:spPr>
      </p:sp>
      <p:sp>
        <p:nvSpPr>
          <p:cNvPr id="82" name="Text 80"/>
          <p:cNvSpPr/>
          <p:nvPr/>
        </p:nvSpPr>
        <p:spPr>
          <a:xfrm>
            <a:off x="461253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3" name="Shape 81"/>
          <p:cNvSpPr/>
          <p:nvPr/>
        </p:nvSpPr>
        <p:spPr>
          <a:xfrm>
            <a:off x="5298338" y="1719072"/>
            <a:ext cx="2280818" cy="402336"/>
          </a:xfrm>
          <a:prstGeom prst="roundRect">
            <a:avLst>
              <a:gd name="adj" fmla="val 113636"/>
            </a:avLst>
          </a:prstGeom>
          <a:solidFill>
            <a:srgbClr val="F4D9DC"/>
          </a:solidFill>
          <a:ln/>
        </p:spPr>
      </p:sp>
      <p:sp>
        <p:nvSpPr>
          <p:cNvPr id="84" name="Text 82"/>
          <p:cNvSpPr/>
          <p:nvPr/>
        </p:nvSpPr>
        <p:spPr>
          <a:xfrm>
            <a:off x="5389778"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Controleer</a:t>
            </a:r>
            <a:endParaRPr lang="en-US" sz="1200" dirty="0"/>
          </a:p>
        </p:txBody>
      </p:sp>
      <p:sp>
        <p:nvSpPr>
          <p:cNvPr id="85" name="Text 83"/>
          <p:cNvSpPr/>
          <p:nvPr/>
        </p:nvSpPr>
        <p:spPr>
          <a:xfrm>
            <a:off x="4612538"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Wat mag je laten zien?</a:t>
            </a:r>
            <a:endParaRPr lang="en-US" sz="2300" dirty="0"/>
          </a:p>
        </p:txBody>
      </p:sp>
      <p:sp>
        <p:nvSpPr>
          <p:cNvPr id="86" name="Text 84"/>
          <p:cNvSpPr/>
          <p:nvPr/>
        </p:nvSpPr>
        <p:spPr>
          <a:xfrm>
            <a:off x="4612538"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Kleine groepen en cohorten die nog niet afgelopen zijn. Wat telt wel en niet mee?</a:t>
            </a:r>
            <a:endParaRPr lang="en-US" sz="1500" dirty="0"/>
          </a:p>
        </p:txBody>
      </p:sp>
      <p:sp>
        <p:nvSpPr>
          <p:cNvPr id="87" name="Shape 85"/>
          <p:cNvSpPr/>
          <p:nvPr/>
        </p:nvSpPr>
        <p:spPr>
          <a:xfrm>
            <a:off x="8127797" y="1371600"/>
            <a:ext cx="3515258" cy="3145536"/>
          </a:xfrm>
          <a:prstGeom prst="roundRect">
            <a:avLst>
              <a:gd name="adj" fmla="val 2366"/>
            </a:avLst>
          </a:prstGeom>
          <a:solidFill>
            <a:srgbClr val="00AF81"/>
          </a:solidFill>
          <a:ln/>
        </p:spPr>
      </p:sp>
      <p:sp>
        <p:nvSpPr>
          <p:cNvPr id="88" name="Shape 86"/>
          <p:cNvSpPr/>
          <p:nvPr/>
        </p:nvSpPr>
        <p:spPr>
          <a:xfrm>
            <a:off x="8402117" y="1645920"/>
            <a:ext cx="548640" cy="548640"/>
          </a:xfrm>
          <a:prstGeom prst="ellipse">
            <a:avLst/>
          </a:prstGeom>
          <a:solidFill>
            <a:srgbClr val="F4D9DC"/>
          </a:solidFill>
          <a:ln/>
        </p:spPr>
      </p:sp>
      <p:sp>
        <p:nvSpPr>
          <p:cNvPr id="89" name="Text 87"/>
          <p:cNvSpPr/>
          <p:nvPr/>
        </p:nvSpPr>
        <p:spPr>
          <a:xfrm>
            <a:off x="8402117"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0" name="Shape 88"/>
          <p:cNvSpPr/>
          <p:nvPr/>
        </p:nvSpPr>
        <p:spPr>
          <a:xfrm>
            <a:off x="9087917" y="1719072"/>
            <a:ext cx="2280818" cy="402336"/>
          </a:xfrm>
          <a:prstGeom prst="roundRect">
            <a:avLst>
              <a:gd name="adj" fmla="val 113636"/>
            </a:avLst>
          </a:prstGeom>
          <a:solidFill>
            <a:srgbClr val="F4D9DC"/>
          </a:solidFill>
          <a:ln/>
        </p:spPr>
      </p:sp>
      <p:sp>
        <p:nvSpPr>
          <p:cNvPr id="91" name="Text 89"/>
          <p:cNvSpPr/>
          <p:nvPr/>
        </p:nvSpPr>
        <p:spPr>
          <a:xfrm>
            <a:off x="9179357"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Schets</a:t>
            </a:r>
            <a:endParaRPr lang="en-US" sz="1200" dirty="0"/>
          </a:p>
        </p:txBody>
      </p:sp>
      <p:sp>
        <p:nvSpPr>
          <p:cNvPr id="92" name="Text 90"/>
          <p:cNvSpPr/>
          <p:nvPr/>
        </p:nvSpPr>
        <p:spPr>
          <a:xfrm>
            <a:off x="8402117"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Twee of drie views</a:t>
            </a:r>
            <a:endParaRPr lang="en-US" sz="2300" dirty="0"/>
          </a:p>
        </p:txBody>
      </p:sp>
      <p:sp>
        <p:nvSpPr>
          <p:cNvPr id="93" name="Text 91"/>
          <p:cNvSpPr/>
          <p:nvPr/>
        </p:nvSpPr>
        <p:spPr>
          <a:xfrm>
            <a:off x="8402117"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schets op papier of in tekst van wat je gaat bouwen, met een conclusie als titel.</a:t>
            </a:r>
            <a:endParaRPr lang="en-US" sz="1500" dirty="0"/>
          </a:p>
        </p:txBody>
      </p:sp>
      <p:sp>
        <p:nvSpPr>
          <p:cNvPr id="94" name="Text 92"/>
          <p:cNvSpPr/>
          <p:nvPr/>
        </p:nvSpPr>
        <p:spPr>
          <a:xfrm>
            <a:off x="548640" y="4700016"/>
            <a:ext cx="11094415" cy="457200"/>
          </a:xfrm>
          <a:prstGeom prst="rect">
            <a:avLst/>
          </a:prstGeom>
          <a:noFill/>
          <a:ln/>
        </p:spPr>
        <p:txBody>
          <a:bodyPr wrap="square" lIns="0" tIns="0" rIns="0" bIns="0" rtlCol="0" anchor="t"/>
          <a:lstStyle/>
          <a:p>
            <a:pPr algn="l" indent="0" marL="0">
              <a:lnSpc>
                <a:spcPct val="105000"/>
              </a:lnSpc>
              <a:buNone/>
            </a:pPr>
            <a:r>
              <a:rPr lang="en-US" sz="1500" dirty="0">
                <a:solidFill>
                  <a:srgbClr val="DD784B"/>
                </a:solidFill>
                <a:latin typeface="General Sans Semibold" pitchFamily="34" charset="0"/>
                <a:ea typeface="General Sans Semibold" pitchFamily="34" charset="-122"/>
                <a:cs typeface="General Sans Semibold" pitchFamily="34" charset="-120"/>
              </a:rPr>
              <a:t>Probeer:</a:t>
            </a:r>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 "Vertel in gewone taal wat er in data/synthetisch_1cho.csv zit." </a:t>
            </a:r>
            <a:pPr algn="l" indent="0" marL="0">
              <a:lnSpc>
                <a:spcPct val="105000"/>
              </a:lnSpc>
              <a:buNone/>
            </a:pPr>
            <a:r>
              <a:rPr lang="en-US" sz="1500" dirty="0">
                <a:solidFill>
                  <a:srgbClr val="DD784B"/>
                </a:solidFill>
                <a:latin typeface="General Sans Semibold" pitchFamily="34" charset="0"/>
                <a:ea typeface="General Sans Semibold" pitchFamily="34" charset="-122"/>
                <a:cs typeface="General Sans Semibold" pitchFamily="34" charset="-120"/>
              </a:rPr>
              <a:t>Oplevering:</a:t>
            </a:r>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 begrip van de data, een schets en een eerste privacy-check.</a:t>
            </a:r>
            <a:endParaRPr lang="en-US" sz="1500" dirty="0"/>
          </a:p>
        </p:txBody>
      </p:sp>
      <p:pic>
        <p:nvPicPr>
          <p:cNvPr id="95"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DD784B"/>
        </a:solidFill>
      </p:bgPr>
    </p:bg>
    <p:spTree>
      <p:nvGrpSpPr>
        <p:cNvPr id="1" name=""/>
        <p:cNvGrpSpPr/>
        <p:nvPr/>
      </p:nvGrpSpPr>
      <p:grpSpPr>
        <a:xfrm>
          <a:off x="0" y="0"/>
          <a:ext cx="0" cy="0"/>
          <a:chOff x="0" y="0"/>
          <a:chExt cx="0" cy="0"/>
        </a:xfrm>
      </p:grpSpPr>
      <p:sp>
        <p:nvSpPr>
          <p:cNvPr id="72" name="Shape 70"/>
          <p:cNvSpPr/>
          <p:nvPr/>
        </p:nvSpPr>
        <p:spPr>
          <a:xfrm>
            <a:off x="548640" y="1280160"/>
            <a:ext cx="1005840" cy="1005840"/>
          </a:xfrm>
          <a:prstGeom prst="ellipse">
            <a:avLst/>
          </a:prstGeom>
          <a:solidFill>
            <a:srgbClr val="F4D9DC"/>
          </a:solidFill>
          <a:ln/>
        </p:spPr>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2</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000000"/>
                </a:solidFill>
                <a:latin typeface="General Sans Semibold" pitchFamily="34" charset="0"/>
                <a:ea typeface="General Sans Semibold" pitchFamily="34" charset="-122"/>
                <a:cs typeface="General Sans Semibold" pitchFamily="34" charset="-120"/>
              </a:rPr>
              <a:t>Spiegelmoment 1: kijk in de skill</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Wat zit er in /workshop-verkennen, en wat deed jij anders?</a:t>
            </a:r>
            <a:endParaRPr lang="en-US" sz="2200" dirty="0"/>
          </a:p>
        </p:txBody>
      </p:sp>
      <p:pic>
        <p:nvPicPr>
          <p:cNvPr id="76" name="Image 0" descr="exports\261005_workshop_rad_uitvoering\img\Boek puzzelstuk.png">    </p:cNvPr>
          <p:cNvPicPr>
            <a:picLocks noChangeAspect="1"/>
          </p:cNvPicPr>
          <p:nvPr/>
        </p:nvPicPr>
        <p:blipFill>
          <a:blip r:embed="rId1"/>
          <a:stretch>
            <a:fillRect/>
          </a:stretch>
        </p:blipFill>
        <p:spPr>
          <a:xfrm>
            <a:off x="8503920" y="1828800"/>
            <a:ext cx="3291840" cy="3291840"/>
          </a:xfrm>
          <a:prstGeom prst="rect">
            <a:avLst/>
          </a:prstGeom>
        </p:spPr>
      </p:pic>
      <p:pic>
        <p:nvPicPr>
          <p:cNvPr id="77"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D6E2FD"/>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/workshop-verkennen: vier stappen</a:t>
            </a:r>
            <a:endParaRPr lang="en-US" sz="3400" dirty="0"/>
          </a:p>
        </p:txBody>
      </p:sp>
      <p:sp>
        <p:nvSpPr>
          <p:cNvPr id="73" name="Shape 71"/>
          <p:cNvSpPr/>
          <p:nvPr/>
        </p:nvSpPr>
        <p:spPr>
          <a:xfrm>
            <a:off x="548640" y="1371600"/>
            <a:ext cx="2430704" cy="4160520"/>
          </a:xfrm>
          <a:prstGeom prst="roundRect">
            <a:avLst>
              <a:gd name="adj" fmla="val 3962"/>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196264" cy="402336"/>
          </a:xfrm>
          <a:prstGeom prst="roundRect">
            <a:avLst>
              <a:gd name="adj" fmla="val 113636"/>
            </a:avLst>
          </a:prstGeom>
          <a:solidFill>
            <a:srgbClr val="F4D74B"/>
          </a:solidFill>
          <a:ln/>
        </p:spPr>
      </p:sp>
      <p:sp>
        <p:nvSpPr>
          <p:cNvPr id="77" name="Text 75"/>
          <p:cNvSpPr/>
          <p:nvPr/>
        </p:nvSpPr>
        <p:spPr>
          <a:xfrm>
            <a:off x="1600200"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Stap 1</a:t>
            </a:r>
            <a:endParaRPr lang="en-US" sz="1200" dirty="0"/>
          </a:p>
        </p:txBody>
      </p:sp>
      <p:sp>
        <p:nvSpPr>
          <p:cNvPr id="78" name="Text 76"/>
          <p:cNvSpPr/>
          <p:nvPr/>
        </p:nvSpPr>
        <p:spPr>
          <a:xfrm>
            <a:off x="822960"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Profileren</a:t>
            </a:r>
            <a:endParaRPr lang="en-US" sz="2000" dirty="0"/>
          </a:p>
        </p:txBody>
      </p:sp>
      <p:sp>
        <p:nvSpPr>
          <p:cNvPr id="79" name="Text 77"/>
          <p:cNvSpPr/>
          <p:nvPr/>
        </p:nvSpPr>
        <p:spPr>
          <a:xfrm>
            <a:off x="822960"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Rijen, studenten, jaren, ontbrekende waarden en instroom per jaar.</a:t>
            </a:r>
            <a:endParaRPr lang="en-US" sz="1500" dirty="0"/>
          </a:p>
        </p:txBody>
      </p:sp>
      <p:sp>
        <p:nvSpPr>
          <p:cNvPr id="80" name="Text 78"/>
          <p:cNvSpPr/>
          <p:nvPr/>
        </p:nvSpPr>
        <p:spPr>
          <a:xfrm>
            <a:off x="822960"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1" name="Text 79"/>
          <p:cNvSpPr/>
          <p:nvPr/>
        </p:nvSpPr>
        <p:spPr>
          <a:xfrm>
            <a:off x="822960"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Overzicht in gewone taal</a:t>
            </a:r>
            <a:endParaRPr lang="en-US" sz="1500" dirty="0"/>
          </a:p>
        </p:txBody>
      </p:sp>
      <p:sp>
        <p:nvSpPr>
          <p:cNvPr id="82" name="Shape 80"/>
          <p:cNvSpPr/>
          <p:nvPr/>
        </p:nvSpPr>
        <p:spPr>
          <a:xfrm>
            <a:off x="3089072" y="3177540"/>
            <a:ext cx="237744" cy="548640"/>
          </a:xfrm>
          <a:prstGeom prst="chevron">
            <a:avLst/>
          </a:prstGeom>
          <a:solidFill>
            <a:srgbClr val="3D68EC"/>
          </a:solidFill>
          <a:ln/>
        </p:spPr>
      </p:sp>
      <p:sp>
        <p:nvSpPr>
          <p:cNvPr id="83" name="Shape 81"/>
          <p:cNvSpPr/>
          <p:nvPr/>
        </p:nvSpPr>
        <p:spPr>
          <a:xfrm>
            <a:off x="3436544" y="1371600"/>
            <a:ext cx="2430704" cy="4160520"/>
          </a:xfrm>
          <a:prstGeom prst="roundRect">
            <a:avLst>
              <a:gd name="adj" fmla="val 3962"/>
            </a:avLst>
          </a:prstGeom>
          <a:solidFill>
            <a:srgbClr val="DD784B"/>
          </a:solidFill>
          <a:ln/>
        </p:spPr>
      </p:sp>
      <p:sp>
        <p:nvSpPr>
          <p:cNvPr id="84" name="Shape 82"/>
          <p:cNvSpPr/>
          <p:nvPr/>
        </p:nvSpPr>
        <p:spPr>
          <a:xfrm>
            <a:off x="3710864" y="1645920"/>
            <a:ext cx="548640" cy="548640"/>
          </a:xfrm>
          <a:prstGeom prst="ellipse">
            <a:avLst/>
          </a:prstGeom>
          <a:solidFill>
            <a:srgbClr val="F4D9DC"/>
          </a:solidFill>
          <a:ln/>
        </p:spPr>
      </p:sp>
      <p:sp>
        <p:nvSpPr>
          <p:cNvPr id="85" name="Text 83"/>
          <p:cNvSpPr/>
          <p:nvPr/>
        </p:nvSpPr>
        <p:spPr>
          <a:xfrm>
            <a:off x="371086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6" name="Shape 84"/>
          <p:cNvSpPr/>
          <p:nvPr/>
        </p:nvSpPr>
        <p:spPr>
          <a:xfrm>
            <a:off x="4396664" y="1719072"/>
            <a:ext cx="1196264" cy="402336"/>
          </a:xfrm>
          <a:prstGeom prst="roundRect">
            <a:avLst>
              <a:gd name="adj" fmla="val 113636"/>
            </a:avLst>
          </a:prstGeom>
          <a:solidFill>
            <a:srgbClr val="F4D9DC"/>
          </a:solidFill>
          <a:ln/>
        </p:spPr>
      </p:sp>
      <p:sp>
        <p:nvSpPr>
          <p:cNvPr id="87" name="Text 85"/>
          <p:cNvSpPr/>
          <p:nvPr/>
        </p:nvSpPr>
        <p:spPr>
          <a:xfrm>
            <a:off x="4488104"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Stap 2</a:t>
            </a:r>
            <a:endParaRPr lang="en-US" sz="1200" dirty="0"/>
          </a:p>
        </p:txBody>
      </p:sp>
      <p:sp>
        <p:nvSpPr>
          <p:cNvPr id="88" name="Text 86"/>
          <p:cNvSpPr/>
          <p:nvPr/>
        </p:nvSpPr>
        <p:spPr>
          <a:xfrm>
            <a:off x="3710864"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Definities</a:t>
            </a:r>
            <a:endParaRPr lang="en-US" sz="2000" dirty="0"/>
          </a:p>
        </p:txBody>
      </p:sp>
      <p:sp>
        <p:nvSpPr>
          <p:cNvPr id="89" name="Text 87"/>
          <p:cNvSpPr/>
          <p:nvPr/>
        </p:nvSpPr>
        <p:spPr>
          <a:xfrm>
            <a:off x="3710864"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Uitval, instroom en rendement volgens staat1cho, letterlijk vastgelegd.</a:t>
            </a:r>
            <a:endParaRPr lang="en-US" sz="1500" dirty="0"/>
          </a:p>
        </p:txBody>
      </p:sp>
      <p:sp>
        <p:nvSpPr>
          <p:cNvPr id="90" name="Text 88"/>
          <p:cNvSpPr/>
          <p:nvPr/>
        </p:nvSpPr>
        <p:spPr>
          <a:xfrm>
            <a:off x="3710864"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1" name="Text 89"/>
          <p:cNvSpPr/>
          <p:nvPr/>
        </p:nvSpPr>
        <p:spPr>
          <a:xfrm>
            <a:off x="3710864"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Afspraken</a:t>
            </a:r>
            <a:endParaRPr lang="en-US" sz="1500" dirty="0"/>
          </a:p>
        </p:txBody>
      </p:sp>
      <p:sp>
        <p:nvSpPr>
          <p:cNvPr id="92" name="Shape 90"/>
          <p:cNvSpPr/>
          <p:nvPr/>
        </p:nvSpPr>
        <p:spPr>
          <a:xfrm>
            <a:off x="5976976" y="3177540"/>
            <a:ext cx="237744" cy="548640"/>
          </a:xfrm>
          <a:prstGeom prst="chevron">
            <a:avLst/>
          </a:prstGeom>
          <a:solidFill>
            <a:srgbClr val="3D68EC"/>
          </a:solidFill>
          <a:ln/>
        </p:spPr>
      </p:sp>
      <p:sp>
        <p:nvSpPr>
          <p:cNvPr id="93" name="Shape 91"/>
          <p:cNvSpPr/>
          <p:nvPr/>
        </p:nvSpPr>
        <p:spPr>
          <a:xfrm>
            <a:off x="6324448" y="1371600"/>
            <a:ext cx="2430704" cy="4160520"/>
          </a:xfrm>
          <a:prstGeom prst="roundRect">
            <a:avLst>
              <a:gd name="adj" fmla="val 3962"/>
            </a:avLst>
          </a:prstGeom>
          <a:solidFill>
            <a:srgbClr val="00AF81"/>
          </a:solidFill>
          <a:ln/>
        </p:spPr>
      </p:sp>
      <p:sp>
        <p:nvSpPr>
          <p:cNvPr id="94" name="Shape 92"/>
          <p:cNvSpPr/>
          <p:nvPr/>
        </p:nvSpPr>
        <p:spPr>
          <a:xfrm>
            <a:off x="6598768" y="1645920"/>
            <a:ext cx="548640" cy="548640"/>
          </a:xfrm>
          <a:prstGeom prst="ellipse">
            <a:avLst/>
          </a:prstGeom>
          <a:solidFill>
            <a:srgbClr val="F4D9DC"/>
          </a:solidFill>
          <a:ln/>
        </p:spPr>
      </p:sp>
      <p:sp>
        <p:nvSpPr>
          <p:cNvPr id="95" name="Text 93"/>
          <p:cNvSpPr/>
          <p:nvPr/>
        </p:nvSpPr>
        <p:spPr>
          <a:xfrm>
            <a:off x="659876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6" name="Shape 94"/>
          <p:cNvSpPr/>
          <p:nvPr/>
        </p:nvSpPr>
        <p:spPr>
          <a:xfrm>
            <a:off x="7284568" y="1719072"/>
            <a:ext cx="1196264" cy="402336"/>
          </a:xfrm>
          <a:prstGeom prst="roundRect">
            <a:avLst>
              <a:gd name="adj" fmla="val 113636"/>
            </a:avLst>
          </a:prstGeom>
          <a:solidFill>
            <a:srgbClr val="F4D9DC"/>
          </a:solidFill>
          <a:ln/>
        </p:spPr>
      </p:sp>
      <p:sp>
        <p:nvSpPr>
          <p:cNvPr id="97" name="Text 95"/>
          <p:cNvSpPr/>
          <p:nvPr/>
        </p:nvSpPr>
        <p:spPr>
          <a:xfrm>
            <a:off x="7376008"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Stap 3</a:t>
            </a:r>
            <a:endParaRPr lang="en-US" sz="1200" dirty="0"/>
          </a:p>
        </p:txBody>
      </p:sp>
      <p:sp>
        <p:nvSpPr>
          <p:cNvPr id="98" name="Text 96"/>
          <p:cNvSpPr/>
          <p:nvPr/>
        </p:nvSpPr>
        <p:spPr>
          <a:xfrm>
            <a:off x="6598768" y="2423160"/>
            <a:ext cx="1882064" cy="572008"/>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Kleine groepen</a:t>
            </a:r>
            <a:endParaRPr lang="en-US" sz="1900" dirty="0"/>
          </a:p>
        </p:txBody>
      </p:sp>
      <p:sp>
        <p:nvSpPr>
          <p:cNvPr id="99" name="Text 97"/>
          <p:cNvSpPr/>
          <p:nvPr/>
        </p:nvSpPr>
        <p:spPr>
          <a:xfrm>
            <a:off x="6598768"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Groepen onder 30 tellen en uitleggen waarom ze verborgen blijven.</a:t>
            </a:r>
            <a:endParaRPr lang="en-US" sz="1500" dirty="0"/>
          </a:p>
        </p:txBody>
      </p:sp>
      <p:sp>
        <p:nvSpPr>
          <p:cNvPr id="100" name="Text 98"/>
          <p:cNvSpPr/>
          <p:nvPr/>
        </p:nvSpPr>
        <p:spPr>
          <a:xfrm>
            <a:off x="6598768"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01" name="Text 99"/>
          <p:cNvSpPr/>
          <p:nvPr/>
        </p:nvSpPr>
        <p:spPr>
          <a:xfrm>
            <a:off x="6598768"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Privacy-check</a:t>
            </a:r>
            <a:endParaRPr lang="en-US" sz="1500" dirty="0"/>
          </a:p>
        </p:txBody>
      </p:sp>
      <p:sp>
        <p:nvSpPr>
          <p:cNvPr id="102" name="Shape 100"/>
          <p:cNvSpPr/>
          <p:nvPr/>
        </p:nvSpPr>
        <p:spPr>
          <a:xfrm>
            <a:off x="8864879" y="3177540"/>
            <a:ext cx="237744" cy="548640"/>
          </a:xfrm>
          <a:prstGeom prst="chevron">
            <a:avLst/>
          </a:prstGeom>
          <a:solidFill>
            <a:srgbClr val="3D68EC"/>
          </a:solidFill>
          <a:ln/>
        </p:spPr>
      </p:sp>
      <p:sp>
        <p:nvSpPr>
          <p:cNvPr id="103" name="Shape 101"/>
          <p:cNvSpPr/>
          <p:nvPr/>
        </p:nvSpPr>
        <p:spPr>
          <a:xfrm>
            <a:off x="9212351" y="1371600"/>
            <a:ext cx="2430704" cy="4160520"/>
          </a:xfrm>
          <a:prstGeom prst="roundRect">
            <a:avLst>
              <a:gd name="adj" fmla="val 3962"/>
            </a:avLst>
          </a:prstGeom>
          <a:solidFill>
            <a:srgbClr val="F4D74B"/>
          </a:solidFill>
          <a:ln/>
        </p:spPr>
      </p:sp>
      <p:sp>
        <p:nvSpPr>
          <p:cNvPr id="104" name="Shape 102"/>
          <p:cNvSpPr/>
          <p:nvPr/>
        </p:nvSpPr>
        <p:spPr>
          <a:xfrm>
            <a:off x="9486671" y="1645920"/>
            <a:ext cx="548640" cy="548640"/>
          </a:xfrm>
          <a:prstGeom prst="ellipse">
            <a:avLst/>
          </a:prstGeom>
          <a:solidFill>
            <a:srgbClr val="3D68EC"/>
          </a:solidFill>
          <a:ln/>
        </p:spPr>
      </p:sp>
      <p:sp>
        <p:nvSpPr>
          <p:cNvPr id="105" name="Text 103"/>
          <p:cNvSpPr/>
          <p:nvPr/>
        </p:nvSpPr>
        <p:spPr>
          <a:xfrm>
            <a:off x="948667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106" name="Shape 104"/>
          <p:cNvSpPr/>
          <p:nvPr/>
        </p:nvSpPr>
        <p:spPr>
          <a:xfrm>
            <a:off x="10172471" y="1719072"/>
            <a:ext cx="1196264" cy="402336"/>
          </a:xfrm>
          <a:prstGeom prst="roundRect">
            <a:avLst>
              <a:gd name="adj" fmla="val 113636"/>
            </a:avLst>
          </a:prstGeom>
          <a:solidFill>
            <a:srgbClr val="3D68EC"/>
          </a:solidFill>
          <a:ln/>
        </p:spPr>
      </p:sp>
      <p:sp>
        <p:nvSpPr>
          <p:cNvPr id="107" name="Text 105"/>
          <p:cNvSpPr/>
          <p:nvPr/>
        </p:nvSpPr>
        <p:spPr>
          <a:xfrm>
            <a:off x="10263911"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Stap 4</a:t>
            </a:r>
            <a:endParaRPr lang="en-US" sz="1200" dirty="0"/>
          </a:p>
        </p:txBody>
      </p:sp>
      <p:sp>
        <p:nvSpPr>
          <p:cNvPr id="108" name="Text 106"/>
          <p:cNvSpPr/>
          <p:nvPr/>
        </p:nvSpPr>
        <p:spPr>
          <a:xfrm>
            <a:off x="9486671"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Schetsen</a:t>
            </a:r>
            <a:endParaRPr lang="en-US" sz="2000" dirty="0"/>
          </a:p>
        </p:txBody>
      </p:sp>
      <p:sp>
        <p:nvSpPr>
          <p:cNvPr id="109" name="Text 107"/>
          <p:cNvSpPr/>
          <p:nvPr/>
        </p:nvSpPr>
        <p:spPr>
          <a:xfrm>
            <a:off x="9486671"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Twee of drie views met de conclusie als titel, plus wat het niet kan zeggen.</a:t>
            </a:r>
            <a:endParaRPr lang="en-US" sz="1500" dirty="0"/>
          </a:p>
        </p:txBody>
      </p:sp>
      <p:sp>
        <p:nvSpPr>
          <p:cNvPr id="110" name="Text 108"/>
          <p:cNvSpPr/>
          <p:nvPr/>
        </p:nvSpPr>
        <p:spPr>
          <a:xfrm>
            <a:off x="9486671"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11" name="Text 109"/>
          <p:cNvSpPr/>
          <p:nvPr/>
        </p:nvSpPr>
        <p:spPr>
          <a:xfrm>
            <a:off x="9486671"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schets.md</a:t>
            </a:r>
            <a:endParaRPr lang="en-US" sz="1500" dirty="0"/>
          </a:p>
        </p:txBody>
      </p:sp>
      <p:sp>
        <p:nvSpPr>
          <p:cNvPr id="112" name="Text 110"/>
          <p:cNvSpPr/>
          <p:nvPr/>
        </p:nvSpPr>
        <p:spPr>
          <a:xfrm>
            <a:off x="548640" y="5715000"/>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In:</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data/synthetisch_1cho.csv en de casusvraag. </a:t>
            </a:r>
            <a:pPr algn="l"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Uit:</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data-profiel.md en schets.md.</a:t>
            </a:r>
            <a:endParaRPr lang="en-US" sz="1800" dirty="0"/>
          </a:p>
        </p:txBody>
      </p:sp>
      <p:pic>
        <p:nvPicPr>
          <p:cNvPr id="113"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EAEA"/>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Wat skill 1 voor je afvangt</a:t>
            </a:r>
            <a:endParaRPr lang="en-US" sz="3400" dirty="0"/>
          </a:p>
        </p:txBody>
      </p:sp>
      <p:sp>
        <p:nvSpPr>
          <p:cNvPr id="73" name="Shape 71"/>
          <p:cNvSpPr/>
          <p:nvPr/>
        </p:nvSpPr>
        <p:spPr>
          <a:xfrm>
            <a:off x="548640" y="1371600"/>
            <a:ext cx="2567864" cy="3475228"/>
          </a:xfrm>
          <a:prstGeom prst="roundRect">
            <a:avLst>
              <a:gd name="adj" fmla="val 3550"/>
            </a:avLst>
          </a:prstGeom>
          <a:solidFill>
            <a:srgbClr val="3D68EC"/>
          </a:solidFill>
          <a:ln/>
        </p:spPr>
      </p:sp>
      <p:sp>
        <p:nvSpPr>
          <p:cNvPr id="74" name="Shape 72"/>
          <p:cNvSpPr/>
          <p:nvPr/>
        </p:nvSpPr>
        <p:spPr>
          <a:xfrm>
            <a:off x="822960" y="1719072"/>
            <a:ext cx="2019224" cy="402336"/>
          </a:xfrm>
          <a:prstGeom prst="roundRect">
            <a:avLst>
              <a:gd name="adj" fmla="val 113636"/>
            </a:avLst>
          </a:prstGeom>
          <a:solidFill>
            <a:srgbClr val="F4D74B"/>
          </a:solidFill>
          <a:ln/>
        </p:spPr>
      </p:sp>
      <p:sp>
        <p:nvSpPr>
          <p:cNvPr id="75" name="Text 73"/>
          <p:cNvSpPr/>
          <p:nvPr/>
        </p:nvSpPr>
        <p:spPr>
          <a:xfrm>
            <a:off x="914400"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Valkuil</a:t>
            </a:r>
            <a:endParaRPr lang="en-US" sz="1200" dirty="0"/>
          </a:p>
        </p:txBody>
      </p:sp>
      <p:sp>
        <p:nvSpPr>
          <p:cNvPr id="76" name="Text 74"/>
          <p:cNvSpPr/>
          <p:nvPr/>
        </p:nvSpPr>
        <p:spPr>
          <a:xfrm>
            <a:off x="822960"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Laatste cohort</a:t>
            </a:r>
            <a:endParaRPr lang="en-US" sz="1900" dirty="0"/>
          </a:p>
        </p:txBody>
      </p:sp>
      <p:sp>
        <p:nvSpPr>
          <p:cNvPr id="77" name="Text 75"/>
          <p:cNvSpPr/>
          <p:nvPr/>
        </p:nvSpPr>
        <p:spPr>
          <a:xfrm>
            <a:off x="822960" y="3269488"/>
            <a:ext cx="2019224" cy="144018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Cohort 2023 is nog niet afgelopen en geeft 100% uitval. De skill sluit het uit en meldt dat.</a:t>
            </a:r>
            <a:endParaRPr lang="en-US" sz="1500" dirty="0"/>
          </a:p>
        </p:txBody>
      </p:sp>
      <p:sp>
        <p:nvSpPr>
          <p:cNvPr id="78" name="Shape 76"/>
          <p:cNvSpPr/>
          <p:nvPr/>
        </p:nvSpPr>
        <p:spPr>
          <a:xfrm>
            <a:off x="3390824" y="1371600"/>
            <a:ext cx="2567864" cy="3475228"/>
          </a:xfrm>
          <a:prstGeom prst="roundRect">
            <a:avLst>
              <a:gd name="adj" fmla="val 3550"/>
            </a:avLst>
          </a:prstGeom>
          <a:solidFill>
            <a:srgbClr val="DD784B"/>
          </a:solidFill>
          <a:ln/>
        </p:spPr>
      </p:sp>
      <p:sp>
        <p:nvSpPr>
          <p:cNvPr id="79" name="Shape 77"/>
          <p:cNvSpPr/>
          <p:nvPr/>
        </p:nvSpPr>
        <p:spPr>
          <a:xfrm>
            <a:off x="3665144" y="1719072"/>
            <a:ext cx="2019224" cy="402336"/>
          </a:xfrm>
          <a:prstGeom prst="roundRect">
            <a:avLst>
              <a:gd name="adj" fmla="val 113636"/>
            </a:avLst>
          </a:prstGeom>
          <a:solidFill>
            <a:srgbClr val="F4D9DC"/>
          </a:solidFill>
          <a:ln/>
        </p:spPr>
      </p:sp>
      <p:sp>
        <p:nvSpPr>
          <p:cNvPr id="80" name="Text 78"/>
          <p:cNvSpPr/>
          <p:nvPr/>
        </p:nvSpPr>
        <p:spPr>
          <a:xfrm>
            <a:off x="3756584"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Valkuil</a:t>
            </a:r>
            <a:endParaRPr lang="en-US" sz="1200" dirty="0"/>
          </a:p>
        </p:txBody>
      </p:sp>
      <p:sp>
        <p:nvSpPr>
          <p:cNvPr id="81" name="Text 79"/>
          <p:cNvSpPr/>
          <p:nvPr/>
        </p:nvSpPr>
        <p:spPr>
          <a:xfrm>
            <a:off x="3665144" y="2423160"/>
            <a:ext cx="2019224" cy="57200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Eén waarde</a:t>
            </a:r>
            <a:endParaRPr lang="en-US" sz="2000" dirty="0"/>
          </a:p>
        </p:txBody>
      </p:sp>
      <p:sp>
        <p:nvSpPr>
          <p:cNvPr id="82" name="Text 80"/>
          <p:cNvSpPr/>
          <p:nvPr/>
        </p:nvSpPr>
        <p:spPr>
          <a:xfrm>
            <a:off x="3665144" y="3269488"/>
            <a:ext cx="2019224" cy="144018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Opleidingsvorm is overal voltijd. De skill meldt dat en laat die uitsplitsing weg.</a:t>
            </a:r>
            <a:endParaRPr lang="en-US" sz="1500" dirty="0"/>
          </a:p>
        </p:txBody>
      </p:sp>
      <p:sp>
        <p:nvSpPr>
          <p:cNvPr id="83" name="Shape 81"/>
          <p:cNvSpPr/>
          <p:nvPr/>
        </p:nvSpPr>
        <p:spPr>
          <a:xfrm>
            <a:off x="6233008" y="1371600"/>
            <a:ext cx="2567864" cy="3475228"/>
          </a:xfrm>
          <a:prstGeom prst="roundRect">
            <a:avLst>
              <a:gd name="adj" fmla="val 3550"/>
            </a:avLst>
          </a:prstGeom>
          <a:solidFill>
            <a:srgbClr val="00AF81"/>
          </a:solidFill>
          <a:ln/>
        </p:spPr>
      </p:sp>
      <p:sp>
        <p:nvSpPr>
          <p:cNvPr id="84" name="Shape 82"/>
          <p:cNvSpPr/>
          <p:nvPr/>
        </p:nvSpPr>
        <p:spPr>
          <a:xfrm>
            <a:off x="6507328" y="1719072"/>
            <a:ext cx="2019224" cy="402336"/>
          </a:xfrm>
          <a:prstGeom prst="roundRect">
            <a:avLst>
              <a:gd name="adj" fmla="val 113636"/>
            </a:avLst>
          </a:prstGeom>
          <a:solidFill>
            <a:srgbClr val="F4D9DC"/>
          </a:solidFill>
          <a:ln/>
        </p:spPr>
      </p:sp>
      <p:sp>
        <p:nvSpPr>
          <p:cNvPr id="85" name="Text 83"/>
          <p:cNvSpPr/>
          <p:nvPr/>
        </p:nvSpPr>
        <p:spPr>
          <a:xfrm>
            <a:off x="6598768"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Privacy</a:t>
            </a:r>
            <a:endParaRPr lang="en-US" sz="1200" dirty="0"/>
          </a:p>
        </p:txBody>
      </p:sp>
      <p:sp>
        <p:nvSpPr>
          <p:cNvPr id="86" name="Text 84"/>
          <p:cNvSpPr/>
          <p:nvPr/>
        </p:nvSpPr>
        <p:spPr>
          <a:xfrm>
            <a:off x="6507328"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Kleine groepen</a:t>
            </a:r>
            <a:endParaRPr lang="en-US" sz="1900" dirty="0"/>
          </a:p>
        </p:txBody>
      </p:sp>
      <p:sp>
        <p:nvSpPr>
          <p:cNvPr id="87" name="Text 85"/>
          <p:cNvSpPr/>
          <p:nvPr/>
        </p:nvSpPr>
        <p:spPr>
          <a:xfrm>
            <a:off x="6507328" y="3269488"/>
            <a:ext cx="2019224" cy="144018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28 van de 96 groepen hebben minder dan 30 studenten en worden niet getoond.</a:t>
            </a:r>
            <a:endParaRPr lang="en-US" sz="1500" dirty="0"/>
          </a:p>
        </p:txBody>
      </p:sp>
      <p:sp>
        <p:nvSpPr>
          <p:cNvPr id="88" name="Shape 86"/>
          <p:cNvSpPr/>
          <p:nvPr/>
        </p:nvSpPr>
        <p:spPr>
          <a:xfrm>
            <a:off x="9075191" y="1371600"/>
            <a:ext cx="2567864" cy="3475228"/>
          </a:xfrm>
          <a:prstGeom prst="roundRect">
            <a:avLst>
              <a:gd name="adj" fmla="val 3550"/>
            </a:avLst>
          </a:prstGeom>
          <a:solidFill>
            <a:srgbClr val="F4D74B"/>
          </a:solidFill>
          <a:ln/>
        </p:spPr>
      </p:sp>
      <p:sp>
        <p:nvSpPr>
          <p:cNvPr id="89" name="Shape 87"/>
          <p:cNvSpPr/>
          <p:nvPr/>
        </p:nvSpPr>
        <p:spPr>
          <a:xfrm>
            <a:off x="9349511" y="1719072"/>
            <a:ext cx="2019224" cy="402336"/>
          </a:xfrm>
          <a:prstGeom prst="roundRect">
            <a:avLst>
              <a:gd name="adj" fmla="val 113636"/>
            </a:avLst>
          </a:prstGeom>
          <a:solidFill>
            <a:srgbClr val="3D68EC"/>
          </a:solidFill>
          <a:ln/>
        </p:spPr>
      </p:sp>
      <p:sp>
        <p:nvSpPr>
          <p:cNvPr id="90" name="Text 88"/>
          <p:cNvSpPr/>
          <p:nvPr/>
        </p:nvSpPr>
        <p:spPr>
          <a:xfrm>
            <a:off x="9440951"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Framing</a:t>
            </a:r>
            <a:endParaRPr lang="en-US" sz="1200" dirty="0"/>
          </a:p>
        </p:txBody>
      </p:sp>
      <p:sp>
        <p:nvSpPr>
          <p:cNvPr id="91" name="Text 89"/>
          <p:cNvSpPr/>
          <p:nvPr/>
        </p:nvSpPr>
        <p:spPr>
          <a:xfrm>
            <a:off x="9349511" y="2423160"/>
            <a:ext cx="2019224" cy="57200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Geen oorzaak</a:t>
            </a:r>
            <a:endParaRPr lang="en-US" sz="2000" dirty="0"/>
          </a:p>
        </p:txBody>
      </p:sp>
      <p:sp>
        <p:nvSpPr>
          <p:cNvPr id="92" name="Text 90"/>
          <p:cNvSpPr/>
          <p:nvPr/>
        </p:nvSpPr>
        <p:spPr>
          <a:xfrm>
            <a:off x="9349511" y="3269488"/>
            <a:ext cx="2019224" cy="144018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verschil heet nooit effect. De skill schrijft op wat het dashboard niet kan zeggen.</a:t>
            </a:r>
            <a:endParaRPr lang="en-US" sz="1500" dirty="0"/>
          </a:p>
        </p:txBody>
      </p:sp>
      <p:sp>
        <p:nvSpPr>
          <p:cNvPr id="93" name="Text 91"/>
          <p:cNvSpPr/>
          <p:nvPr/>
        </p:nvSpPr>
        <p:spPr>
          <a:xfrm>
            <a:off x="548640" y="5029708"/>
            <a:ext cx="11094415" cy="457200"/>
          </a:xfrm>
          <a:prstGeom prst="rect">
            <a:avLst/>
          </a:prstGeom>
          <a:noFill/>
          <a:ln/>
        </p:spPr>
        <p:txBody>
          <a:bodyPr wrap="square" lIns="0" tIns="0" rIns="0" bIns="0" rtlCol="0" anchor="t"/>
          <a:lstStyle/>
          <a:p>
            <a:pPr algn="l" indent="0" marL="0">
              <a:lnSpc>
                <a:spcPct val="105000"/>
              </a:lnSpc>
              <a:buNone/>
            </a:pPr>
            <a:r>
              <a:rPr lang="en-US" sz="1700" dirty="0">
                <a:solidFill>
                  <a:srgbClr val="000000"/>
                </a:solidFill>
                <a:latin typeface="General Sans" pitchFamily="34" charset="0"/>
                <a:ea typeface="General Sans" pitchFamily="34" charset="-122"/>
                <a:cs typeface="General Sans" pitchFamily="34" charset="-120"/>
              </a:rPr>
              <a:t>Wat misten jullie zelf, en wat zagen jullie juist wel? Dat is de vraag voor dit moment.</a:t>
            </a:r>
            <a:endParaRPr lang="en-US" sz="1700" dirty="0"/>
          </a:p>
        </p:txBody>
      </p:sp>
      <p:pic>
        <p:nvPicPr>
          <p:cNvPr id="94"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3D68EC"/>
        </a:solidFill>
      </p:bgPr>
    </p:bg>
    <p:spTree>
      <p:nvGrpSpPr>
        <p:cNvPr id="1" name=""/>
        <p:cNvGrpSpPr/>
        <p:nvPr/>
      </p:nvGrpSpPr>
      <p:grpSpPr>
        <a:xfrm>
          <a:off x="0" y="0"/>
          <a:ext cx="0" cy="0"/>
          <a:chOff x="0" y="0"/>
          <a:chExt cx="0" cy="0"/>
        </a:xfrm>
      </p:grpSpPr>
      <p:sp>
        <p:nvSpPr>
          <p:cNvPr id="72" name="Shape 70"/>
          <p:cNvSpPr/>
          <p:nvPr/>
        </p:nvSpPr>
        <p:spPr>
          <a:xfrm>
            <a:off x="548640" y="1280160"/>
            <a:ext cx="1005840" cy="1005840"/>
          </a:xfrm>
          <a:prstGeom prst="ellipse">
            <a:avLst/>
          </a:prstGeom>
          <a:solidFill>
            <a:srgbClr val="F4D74B"/>
          </a:solidFill>
          <a:ln/>
        </p:spPr>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3</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Ronde 2: bouw het dashboard</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F4D74B"/>
                </a:solidFill>
                <a:latin typeface="Cooper Lt BT" pitchFamily="34" charset="0"/>
                <a:ea typeface="Cooper Lt BT" pitchFamily="34" charset="-122"/>
                <a:cs typeface="Cooper Lt BT" pitchFamily="34" charset="-120"/>
              </a:rPr>
              <a:t>22 minuten. Wissel van rol en maak de conclusie zichtbaar.</a:t>
            </a:r>
            <a:endParaRPr lang="en-US" sz="2200" dirty="0"/>
          </a:p>
        </p:txBody>
      </p:sp>
      <p:pic>
        <p:nvPicPr>
          <p:cNvPr id="76" name="Image 0" descr="exports\261005_workshop_rad_uitvoering\img\Laptopman.png">    </p:cNvPr>
          <p:cNvPicPr>
            <a:picLocks noChangeAspect="1"/>
          </p:cNvPicPr>
          <p:nvPr/>
        </p:nvPicPr>
        <p:blipFill>
          <a:blip r:embed="rId1"/>
          <a:stretch>
            <a:fillRect/>
          </a:stretch>
        </p:blipFill>
        <p:spPr>
          <a:xfrm>
            <a:off x="8503920" y="1828800"/>
            <a:ext cx="3291840" cy="3291840"/>
          </a:xfrm>
          <a:prstGeom prst="rect">
            <a:avLst/>
          </a:prstGeom>
        </p:spPr>
      </p:pic>
      <p:pic>
        <p:nvPicPr>
          <p:cNvPr id="77" name="Npuls beeldmerk" descr="npuls-beeldmerk-wi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CCEEE6"/>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Wat je dashboard minimaal heeft</a:t>
            </a:r>
            <a:endParaRPr lang="en-US" sz="3400" dirty="0"/>
          </a:p>
        </p:txBody>
      </p:sp>
      <p:sp>
        <p:nvSpPr>
          <p:cNvPr id="73" name="Shape 71"/>
          <p:cNvSpPr/>
          <p:nvPr/>
        </p:nvSpPr>
        <p:spPr>
          <a:xfrm>
            <a:off x="548640" y="1371600"/>
            <a:ext cx="2567864" cy="3025648"/>
          </a:xfrm>
          <a:prstGeom prst="roundRect">
            <a:avLst>
              <a:gd name="adj" fmla="val 3550"/>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333424" cy="402336"/>
          </a:xfrm>
          <a:prstGeom prst="roundRect">
            <a:avLst>
              <a:gd name="adj" fmla="val 113636"/>
            </a:avLst>
          </a:prstGeom>
          <a:solidFill>
            <a:srgbClr val="F4D74B"/>
          </a:solidFill>
          <a:ln/>
        </p:spPr>
      </p:sp>
      <p:sp>
        <p:nvSpPr>
          <p:cNvPr id="77" name="Text 75"/>
          <p:cNvSpPr/>
          <p:nvPr/>
        </p:nvSpPr>
        <p:spPr>
          <a:xfrm>
            <a:off x="1600200"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Grafiek</a:t>
            </a:r>
            <a:endParaRPr lang="en-US" sz="1200" dirty="0"/>
          </a:p>
        </p:txBody>
      </p:sp>
      <p:sp>
        <p:nvSpPr>
          <p:cNvPr id="78" name="Text 76"/>
          <p:cNvSpPr/>
          <p:nvPr/>
        </p:nvSpPr>
        <p:spPr>
          <a:xfrm>
            <a:off x="822960"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Conclusie als titel</a:t>
            </a:r>
            <a:endParaRPr lang="en-US" sz="1900" dirty="0"/>
          </a:p>
        </p:txBody>
      </p:sp>
      <p:sp>
        <p:nvSpPr>
          <p:cNvPr id="79" name="Text 77"/>
          <p:cNvSpPr/>
          <p:nvPr/>
        </p:nvSpPr>
        <p:spPr>
          <a:xfrm>
            <a:off x="822960"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"Uitval is het hoogst in techniek" in plaats van "Uitval per sector".</a:t>
            </a:r>
            <a:endParaRPr lang="en-US" sz="1500" dirty="0"/>
          </a:p>
        </p:txBody>
      </p:sp>
      <p:sp>
        <p:nvSpPr>
          <p:cNvPr id="80" name="Shape 78"/>
          <p:cNvSpPr/>
          <p:nvPr/>
        </p:nvSpPr>
        <p:spPr>
          <a:xfrm>
            <a:off x="3390824" y="1371600"/>
            <a:ext cx="2567864" cy="3025648"/>
          </a:xfrm>
          <a:prstGeom prst="roundRect">
            <a:avLst>
              <a:gd name="adj" fmla="val 3550"/>
            </a:avLst>
          </a:prstGeom>
          <a:solidFill>
            <a:srgbClr val="DD784B"/>
          </a:solidFill>
          <a:ln/>
        </p:spPr>
      </p:sp>
      <p:sp>
        <p:nvSpPr>
          <p:cNvPr id="81" name="Shape 79"/>
          <p:cNvSpPr/>
          <p:nvPr/>
        </p:nvSpPr>
        <p:spPr>
          <a:xfrm>
            <a:off x="3665144" y="1645920"/>
            <a:ext cx="548640" cy="548640"/>
          </a:xfrm>
          <a:prstGeom prst="ellipse">
            <a:avLst/>
          </a:prstGeom>
          <a:solidFill>
            <a:srgbClr val="F4D9DC"/>
          </a:solidFill>
          <a:ln/>
        </p:spPr>
      </p:sp>
      <p:sp>
        <p:nvSpPr>
          <p:cNvPr id="82" name="Text 80"/>
          <p:cNvSpPr/>
          <p:nvPr/>
        </p:nvSpPr>
        <p:spPr>
          <a:xfrm>
            <a:off x="366514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3" name="Shape 81"/>
          <p:cNvSpPr/>
          <p:nvPr/>
        </p:nvSpPr>
        <p:spPr>
          <a:xfrm>
            <a:off x="4350944" y="1719072"/>
            <a:ext cx="1333424" cy="402336"/>
          </a:xfrm>
          <a:prstGeom prst="roundRect">
            <a:avLst>
              <a:gd name="adj" fmla="val 113636"/>
            </a:avLst>
          </a:prstGeom>
          <a:solidFill>
            <a:srgbClr val="F4D9DC"/>
          </a:solidFill>
          <a:ln/>
        </p:spPr>
      </p:sp>
      <p:sp>
        <p:nvSpPr>
          <p:cNvPr id="84" name="Text 82"/>
          <p:cNvSpPr/>
          <p:nvPr/>
        </p:nvSpPr>
        <p:spPr>
          <a:xfrm>
            <a:off x="4442384"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Vergelijking</a:t>
            </a:r>
            <a:endParaRPr lang="en-US" sz="1200" dirty="0"/>
          </a:p>
        </p:txBody>
      </p:sp>
      <p:sp>
        <p:nvSpPr>
          <p:cNvPr id="85" name="Text 83"/>
          <p:cNvSpPr/>
          <p:nvPr/>
        </p:nvSpPr>
        <p:spPr>
          <a:xfrm>
            <a:off x="3665144" y="2423160"/>
            <a:ext cx="2019224" cy="57200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Eén nul-as</a:t>
            </a:r>
            <a:endParaRPr lang="en-US" sz="2000" dirty="0"/>
          </a:p>
        </p:txBody>
      </p:sp>
      <p:sp>
        <p:nvSpPr>
          <p:cNvPr id="86" name="Text 84"/>
          <p:cNvSpPr/>
          <p:nvPr/>
        </p:nvSpPr>
        <p:spPr>
          <a:xfrm>
            <a:off x="3665144"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Groepen of cohorten naast elkaar, vergelijkbaar en eerlijk.</a:t>
            </a:r>
            <a:endParaRPr lang="en-US" sz="1500" dirty="0"/>
          </a:p>
        </p:txBody>
      </p:sp>
      <p:sp>
        <p:nvSpPr>
          <p:cNvPr id="87" name="Shape 85"/>
          <p:cNvSpPr/>
          <p:nvPr/>
        </p:nvSpPr>
        <p:spPr>
          <a:xfrm>
            <a:off x="6233008" y="1371600"/>
            <a:ext cx="2567864" cy="3025648"/>
          </a:xfrm>
          <a:prstGeom prst="roundRect">
            <a:avLst>
              <a:gd name="adj" fmla="val 3550"/>
            </a:avLst>
          </a:prstGeom>
          <a:solidFill>
            <a:srgbClr val="00AF81"/>
          </a:solidFill>
          <a:ln/>
        </p:spPr>
      </p:sp>
      <p:sp>
        <p:nvSpPr>
          <p:cNvPr id="88" name="Shape 86"/>
          <p:cNvSpPr/>
          <p:nvPr/>
        </p:nvSpPr>
        <p:spPr>
          <a:xfrm>
            <a:off x="6507328" y="1645920"/>
            <a:ext cx="548640" cy="548640"/>
          </a:xfrm>
          <a:prstGeom prst="ellipse">
            <a:avLst/>
          </a:prstGeom>
          <a:solidFill>
            <a:srgbClr val="F4D9DC"/>
          </a:solidFill>
          <a:ln/>
        </p:spPr>
      </p:sp>
      <p:sp>
        <p:nvSpPr>
          <p:cNvPr id="89" name="Text 87"/>
          <p:cNvSpPr/>
          <p:nvPr/>
        </p:nvSpPr>
        <p:spPr>
          <a:xfrm>
            <a:off x="650732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0" name="Shape 88"/>
          <p:cNvSpPr/>
          <p:nvPr/>
        </p:nvSpPr>
        <p:spPr>
          <a:xfrm>
            <a:off x="7193128" y="1719072"/>
            <a:ext cx="1333424" cy="402336"/>
          </a:xfrm>
          <a:prstGeom prst="roundRect">
            <a:avLst>
              <a:gd name="adj" fmla="val 113636"/>
            </a:avLst>
          </a:prstGeom>
          <a:solidFill>
            <a:srgbClr val="F4D9DC"/>
          </a:solidFill>
          <a:ln/>
        </p:spPr>
      </p:sp>
      <p:sp>
        <p:nvSpPr>
          <p:cNvPr id="91" name="Text 89"/>
          <p:cNvSpPr/>
          <p:nvPr/>
        </p:nvSpPr>
        <p:spPr>
          <a:xfrm>
            <a:off x="7284568"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Filter</a:t>
            </a:r>
            <a:endParaRPr lang="en-US" sz="1200" dirty="0"/>
          </a:p>
        </p:txBody>
      </p:sp>
      <p:sp>
        <p:nvSpPr>
          <p:cNvPr id="92" name="Text 90"/>
          <p:cNvSpPr/>
          <p:nvPr/>
        </p:nvSpPr>
        <p:spPr>
          <a:xfrm>
            <a:off x="6507328"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Sector of cohort</a:t>
            </a:r>
            <a:endParaRPr lang="en-US" sz="1900" dirty="0"/>
          </a:p>
        </p:txBody>
      </p:sp>
      <p:sp>
        <p:nvSpPr>
          <p:cNvPr id="93" name="Text 91"/>
          <p:cNvSpPr/>
          <p:nvPr/>
        </p:nvSpPr>
        <p:spPr>
          <a:xfrm>
            <a:off x="6507328"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Ook na het filteren worden kleine groepen niet getoond.</a:t>
            </a:r>
            <a:endParaRPr lang="en-US" sz="1500" dirty="0"/>
          </a:p>
        </p:txBody>
      </p:sp>
      <p:sp>
        <p:nvSpPr>
          <p:cNvPr id="94" name="Shape 92"/>
          <p:cNvSpPr/>
          <p:nvPr/>
        </p:nvSpPr>
        <p:spPr>
          <a:xfrm>
            <a:off x="9075191" y="1371600"/>
            <a:ext cx="2567864" cy="3025648"/>
          </a:xfrm>
          <a:prstGeom prst="roundRect">
            <a:avLst>
              <a:gd name="adj" fmla="val 3550"/>
            </a:avLst>
          </a:prstGeom>
          <a:solidFill>
            <a:srgbClr val="F4D74B"/>
          </a:solidFill>
          <a:ln/>
        </p:spPr>
      </p:sp>
      <p:sp>
        <p:nvSpPr>
          <p:cNvPr id="95" name="Shape 93"/>
          <p:cNvSpPr/>
          <p:nvPr/>
        </p:nvSpPr>
        <p:spPr>
          <a:xfrm>
            <a:off x="9349511" y="1645920"/>
            <a:ext cx="548640" cy="548640"/>
          </a:xfrm>
          <a:prstGeom prst="ellipse">
            <a:avLst/>
          </a:prstGeom>
          <a:solidFill>
            <a:srgbClr val="3D68EC"/>
          </a:solidFill>
          <a:ln/>
        </p:spPr>
      </p:sp>
      <p:sp>
        <p:nvSpPr>
          <p:cNvPr id="96" name="Text 94"/>
          <p:cNvSpPr/>
          <p:nvPr/>
        </p:nvSpPr>
        <p:spPr>
          <a:xfrm>
            <a:off x="934951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97" name="Shape 95"/>
          <p:cNvSpPr/>
          <p:nvPr/>
        </p:nvSpPr>
        <p:spPr>
          <a:xfrm>
            <a:off x="10035311" y="1719072"/>
            <a:ext cx="1333424" cy="402336"/>
          </a:xfrm>
          <a:prstGeom prst="roundRect">
            <a:avLst>
              <a:gd name="adj" fmla="val 113636"/>
            </a:avLst>
          </a:prstGeom>
          <a:solidFill>
            <a:srgbClr val="3D68EC"/>
          </a:solidFill>
          <a:ln/>
        </p:spPr>
      </p:sp>
      <p:sp>
        <p:nvSpPr>
          <p:cNvPr id="98" name="Text 96"/>
          <p:cNvSpPr/>
          <p:nvPr/>
        </p:nvSpPr>
        <p:spPr>
          <a:xfrm>
            <a:off x="10126751"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Uitleg</a:t>
            </a:r>
            <a:endParaRPr lang="en-US" sz="1200" dirty="0"/>
          </a:p>
        </p:txBody>
      </p:sp>
      <p:sp>
        <p:nvSpPr>
          <p:cNvPr id="99" name="Text 97"/>
          <p:cNvSpPr/>
          <p:nvPr/>
        </p:nvSpPr>
        <p:spPr>
          <a:xfrm>
            <a:off x="9349511"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Zo lees je dit</a:t>
            </a:r>
            <a:endParaRPr lang="en-US" sz="1900" dirty="0"/>
          </a:p>
        </p:txBody>
      </p:sp>
      <p:sp>
        <p:nvSpPr>
          <p:cNvPr id="100" name="Text 98"/>
          <p:cNvSpPr/>
          <p:nvPr/>
        </p:nvSpPr>
        <p:spPr>
          <a:xfrm>
            <a:off x="9349511"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Definities, bron en wat het dashboard niet kan zeggen.</a:t>
            </a:r>
            <a:endParaRPr lang="en-US" sz="1500" dirty="0"/>
          </a:p>
        </p:txBody>
      </p:sp>
      <p:sp>
        <p:nvSpPr>
          <p:cNvPr id="101" name="Text 99"/>
          <p:cNvSpPr/>
          <p:nvPr/>
        </p:nvSpPr>
        <p:spPr>
          <a:xfrm>
            <a:off x="548640" y="4580128"/>
            <a:ext cx="11094415" cy="457200"/>
          </a:xfrm>
          <a:prstGeom prst="rect">
            <a:avLst/>
          </a:prstGeom>
          <a:noFill/>
          <a:ln/>
        </p:spPr>
        <p:txBody>
          <a:bodyPr wrap="square" lIns="0" tIns="0" rIns="0" bIns="0" rtlCol="0" anchor="t"/>
          <a:lstStyle/>
          <a:p>
            <a:pPr algn="l" indent="0" marL="0">
              <a:lnSpc>
                <a:spcPct val="105000"/>
              </a:lnSpc>
              <a:buNone/>
            </a:pPr>
            <a:r>
              <a:rPr lang="en-US" sz="1500" dirty="0">
                <a:solidFill>
                  <a:srgbClr val="00AF81"/>
                </a:solidFill>
                <a:latin typeface="General Sans Semibold" pitchFamily="34" charset="0"/>
                <a:ea typeface="General Sans Semibold" pitchFamily="34" charset="-122"/>
                <a:cs typeface="General Sans Semibold" pitchFamily="34" charset="-120"/>
              </a:rPr>
              <a:t>Probeer:</a:t>
            </a:r>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 "Bouw een Streamlit-dashboard dat laat zien welke eerstejaars binnen een jaar stoppen, per sector." Het dashboard is het middel, de casusvraag het doel.</a:t>
            </a:r>
            <a:endParaRPr lang="en-US" sz="1500" dirty="0"/>
          </a:p>
        </p:txBody>
      </p:sp>
      <p:pic>
        <p:nvPicPr>
          <p:cNvPr id="102"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EAEA"/>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Responsible zit in het bouwen</a:t>
            </a:r>
            <a:endParaRPr lang="en-US" sz="3400" dirty="0"/>
          </a:p>
        </p:txBody>
      </p:sp>
      <p:sp>
        <p:nvSpPr>
          <p:cNvPr id="73" name="Shape 71"/>
          <p:cNvSpPr/>
          <p:nvPr/>
        </p:nvSpPr>
        <p:spPr>
          <a:xfrm>
            <a:off x="548640" y="1371600"/>
            <a:ext cx="2567864" cy="3016758"/>
          </a:xfrm>
          <a:prstGeom prst="roundRect">
            <a:avLst>
              <a:gd name="adj" fmla="val 3550"/>
            </a:avLst>
          </a:prstGeom>
          <a:solidFill>
            <a:srgbClr val="3D68EC"/>
          </a:solidFill>
          <a:ln/>
        </p:spPr>
      </p:sp>
      <p:sp>
        <p:nvSpPr>
          <p:cNvPr id="74" name="Shape 72"/>
          <p:cNvSpPr/>
          <p:nvPr/>
        </p:nvSpPr>
        <p:spPr>
          <a:xfrm>
            <a:off x="822960" y="1719072"/>
            <a:ext cx="2019224" cy="402336"/>
          </a:xfrm>
          <a:prstGeom prst="roundRect">
            <a:avLst>
              <a:gd name="adj" fmla="val 113636"/>
            </a:avLst>
          </a:prstGeom>
          <a:solidFill>
            <a:srgbClr val="F4D74B"/>
          </a:solidFill>
          <a:ln/>
        </p:spPr>
      </p:sp>
      <p:sp>
        <p:nvSpPr>
          <p:cNvPr id="75" name="Text 73"/>
          <p:cNvSpPr/>
          <p:nvPr/>
        </p:nvSpPr>
        <p:spPr>
          <a:xfrm>
            <a:off x="914400"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Privacy</a:t>
            </a:r>
            <a:endParaRPr lang="en-US" sz="1200" dirty="0"/>
          </a:p>
        </p:txBody>
      </p:sp>
      <p:sp>
        <p:nvSpPr>
          <p:cNvPr id="76" name="Text 74"/>
          <p:cNvSpPr/>
          <p:nvPr/>
        </p:nvSpPr>
        <p:spPr>
          <a:xfrm>
            <a:off x="822960"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Drempel</a:t>
            </a:r>
            <a:endParaRPr lang="en-US" sz="2000" dirty="0"/>
          </a:p>
        </p:txBody>
      </p:sp>
      <p:sp>
        <p:nvSpPr>
          <p:cNvPr id="77" name="Text 75"/>
          <p:cNvSpPr/>
          <p:nvPr/>
        </p:nvSpPr>
        <p:spPr>
          <a:xfrm>
            <a:off x="822960" y="3035808"/>
            <a:ext cx="2019224" cy="121539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Geen groepen onder de 30 studenten, geen percentages onder 5.</a:t>
            </a:r>
            <a:endParaRPr lang="en-US" sz="1500" dirty="0"/>
          </a:p>
        </p:txBody>
      </p:sp>
      <p:sp>
        <p:nvSpPr>
          <p:cNvPr id="78" name="Shape 76"/>
          <p:cNvSpPr/>
          <p:nvPr/>
        </p:nvSpPr>
        <p:spPr>
          <a:xfrm>
            <a:off x="3390824" y="1371600"/>
            <a:ext cx="2567864" cy="3016758"/>
          </a:xfrm>
          <a:prstGeom prst="roundRect">
            <a:avLst>
              <a:gd name="adj" fmla="val 3550"/>
            </a:avLst>
          </a:prstGeom>
          <a:solidFill>
            <a:srgbClr val="DD784B"/>
          </a:solidFill>
          <a:ln/>
        </p:spPr>
      </p:sp>
      <p:sp>
        <p:nvSpPr>
          <p:cNvPr id="79" name="Shape 77"/>
          <p:cNvSpPr/>
          <p:nvPr/>
        </p:nvSpPr>
        <p:spPr>
          <a:xfrm>
            <a:off x="3665144" y="1719072"/>
            <a:ext cx="2019224" cy="402336"/>
          </a:xfrm>
          <a:prstGeom prst="roundRect">
            <a:avLst>
              <a:gd name="adj" fmla="val 113636"/>
            </a:avLst>
          </a:prstGeom>
          <a:solidFill>
            <a:srgbClr val="F4D9DC"/>
          </a:solidFill>
          <a:ln/>
        </p:spPr>
      </p:sp>
      <p:sp>
        <p:nvSpPr>
          <p:cNvPr id="80" name="Text 78"/>
          <p:cNvSpPr/>
          <p:nvPr/>
        </p:nvSpPr>
        <p:spPr>
          <a:xfrm>
            <a:off x="3756584"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Eerlijk</a:t>
            </a:r>
            <a:endParaRPr lang="en-US" sz="1200" dirty="0"/>
          </a:p>
        </p:txBody>
      </p:sp>
      <p:sp>
        <p:nvSpPr>
          <p:cNvPr id="81" name="Text 79"/>
          <p:cNvSpPr/>
          <p:nvPr/>
        </p:nvSpPr>
        <p:spPr>
          <a:xfrm>
            <a:off x="3665144"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Geen oorzaak</a:t>
            </a:r>
            <a:endParaRPr lang="en-US" sz="2000" dirty="0"/>
          </a:p>
        </p:txBody>
      </p:sp>
      <p:sp>
        <p:nvSpPr>
          <p:cNvPr id="82" name="Text 80"/>
          <p:cNvSpPr/>
          <p:nvPr/>
        </p:nvSpPr>
        <p:spPr>
          <a:xfrm>
            <a:off x="3665144" y="3035808"/>
            <a:ext cx="2019224" cy="121539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verschil is nog geen oorzaak, en groepen worden niet gestigmatiseerd.</a:t>
            </a:r>
            <a:endParaRPr lang="en-US" sz="1500" dirty="0"/>
          </a:p>
        </p:txBody>
      </p:sp>
      <p:sp>
        <p:nvSpPr>
          <p:cNvPr id="83" name="Shape 81"/>
          <p:cNvSpPr/>
          <p:nvPr/>
        </p:nvSpPr>
        <p:spPr>
          <a:xfrm>
            <a:off x="6233008" y="1371600"/>
            <a:ext cx="2567864" cy="3016758"/>
          </a:xfrm>
          <a:prstGeom prst="roundRect">
            <a:avLst>
              <a:gd name="adj" fmla="val 3550"/>
            </a:avLst>
          </a:prstGeom>
          <a:solidFill>
            <a:srgbClr val="00AF81"/>
          </a:solidFill>
          <a:ln/>
        </p:spPr>
      </p:sp>
      <p:sp>
        <p:nvSpPr>
          <p:cNvPr id="84" name="Shape 82"/>
          <p:cNvSpPr/>
          <p:nvPr/>
        </p:nvSpPr>
        <p:spPr>
          <a:xfrm>
            <a:off x="6507328" y="1719072"/>
            <a:ext cx="2019224" cy="402336"/>
          </a:xfrm>
          <a:prstGeom prst="roundRect">
            <a:avLst>
              <a:gd name="adj" fmla="val 113636"/>
            </a:avLst>
          </a:prstGeom>
          <a:solidFill>
            <a:srgbClr val="F4D9DC"/>
          </a:solidFill>
          <a:ln/>
        </p:spPr>
      </p:sp>
      <p:sp>
        <p:nvSpPr>
          <p:cNvPr id="85" name="Text 83"/>
          <p:cNvSpPr/>
          <p:nvPr/>
        </p:nvSpPr>
        <p:spPr>
          <a:xfrm>
            <a:off x="6598768"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Toegankelijk</a:t>
            </a:r>
            <a:endParaRPr lang="en-US" sz="1200" dirty="0"/>
          </a:p>
        </p:txBody>
      </p:sp>
      <p:sp>
        <p:nvSpPr>
          <p:cNvPr id="86" name="Text 84"/>
          <p:cNvSpPr/>
          <p:nvPr/>
        </p:nvSpPr>
        <p:spPr>
          <a:xfrm>
            <a:off x="6507328"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Leesbaar</a:t>
            </a:r>
            <a:endParaRPr lang="en-US" sz="2000" dirty="0"/>
          </a:p>
        </p:txBody>
      </p:sp>
      <p:sp>
        <p:nvSpPr>
          <p:cNvPr id="87" name="Text 85"/>
          <p:cNvSpPr/>
          <p:nvPr/>
        </p:nvSpPr>
        <p:spPr>
          <a:xfrm>
            <a:off x="6507328" y="3035808"/>
            <a:ext cx="2019224" cy="121539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Kleurcontrast, alt-tekst en kleuren die ook zonder rood-groen werken.</a:t>
            </a:r>
            <a:endParaRPr lang="en-US" sz="1500" dirty="0"/>
          </a:p>
        </p:txBody>
      </p:sp>
      <p:sp>
        <p:nvSpPr>
          <p:cNvPr id="88" name="Shape 86"/>
          <p:cNvSpPr/>
          <p:nvPr/>
        </p:nvSpPr>
        <p:spPr>
          <a:xfrm>
            <a:off x="9075191" y="1371600"/>
            <a:ext cx="2567864" cy="3016758"/>
          </a:xfrm>
          <a:prstGeom prst="roundRect">
            <a:avLst>
              <a:gd name="adj" fmla="val 3550"/>
            </a:avLst>
          </a:prstGeom>
          <a:solidFill>
            <a:srgbClr val="F4D74B"/>
          </a:solidFill>
          <a:ln/>
        </p:spPr>
      </p:sp>
      <p:sp>
        <p:nvSpPr>
          <p:cNvPr id="89" name="Shape 87"/>
          <p:cNvSpPr/>
          <p:nvPr/>
        </p:nvSpPr>
        <p:spPr>
          <a:xfrm>
            <a:off x="9349511" y="1719072"/>
            <a:ext cx="2019224" cy="402336"/>
          </a:xfrm>
          <a:prstGeom prst="roundRect">
            <a:avLst>
              <a:gd name="adj" fmla="val 113636"/>
            </a:avLst>
          </a:prstGeom>
          <a:solidFill>
            <a:srgbClr val="3D68EC"/>
          </a:solidFill>
          <a:ln/>
        </p:spPr>
      </p:sp>
      <p:sp>
        <p:nvSpPr>
          <p:cNvPr id="90" name="Text 88"/>
          <p:cNvSpPr/>
          <p:nvPr/>
        </p:nvSpPr>
        <p:spPr>
          <a:xfrm>
            <a:off x="9440951"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Bron</a:t>
            </a:r>
            <a:endParaRPr lang="en-US" sz="1200" dirty="0"/>
          </a:p>
        </p:txBody>
      </p:sp>
      <p:sp>
        <p:nvSpPr>
          <p:cNvPr id="91" name="Text 89"/>
          <p:cNvSpPr/>
          <p:nvPr/>
        </p:nvSpPr>
        <p:spPr>
          <a:xfrm>
            <a:off x="9349511"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Uitleg</a:t>
            </a:r>
            <a:endParaRPr lang="en-US" sz="2000" dirty="0"/>
          </a:p>
        </p:txBody>
      </p:sp>
      <p:sp>
        <p:nvSpPr>
          <p:cNvPr id="92" name="Text 90"/>
          <p:cNvSpPr/>
          <p:nvPr/>
        </p:nvSpPr>
        <p:spPr>
          <a:xfrm>
            <a:off x="9349511" y="3035808"/>
            <a:ext cx="2019224" cy="121539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Bron, definities en peildatum bij elke grafiek.</a:t>
            </a:r>
            <a:endParaRPr lang="en-US" sz="1500" dirty="0"/>
          </a:p>
        </p:txBody>
      </p:sp>
      <p:sp>
        <p:nvSpPr>
          <p:cNvPr id="93" name="Text 91"/>
          <p:cNvSpPr/>
          <p:nvPr/>
        </p:nvSpPr>
        <p:spPr>
          <a:xfrm>
            <a:off x="548640" y="4571238"/>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Geen aparte stap achteraf: de skill past deze checks toe tijdens het bouwen.</a:t>
            </a:r>
            <a:endParaRPr lang="en-US" sz="1800" dirty="0"/>
          </a:p>
        </p:txBody>
      </p:sp>
      <p:pic>
        <p:nvPicPr>
          <p:cNvPr id="94"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DD784B"/>
        </a:solidFill>
      </p:bgPr>
    </p:bg>
    <p:spTree>
      <p:nvGrpSpPr>
        <p:cNvPr id="1" name=""/>
        <p:cNvGrpSpPr/>
        <p:nvPr/>
      </p:nvGrpSpPr>
      <p:grpSpPr>
        <a:xfrm>
          <a:off x="0" y="0"/>
          <a:ext cx="0" cy="0"/>
          <a:chOff x="0" y="0"/>
          <a:chExt cx="0" cy="0"/>
        </a:xfrm>
      </p:grpSpPr>
      <p:sp>
        <p:nvSpPr>
          <p:cNvPr id="72" name="Shape 70"/>
          <p:cNvSpPr/>
          <p:nvPr/>
        </p:nvSpPr>
        <p:spPr>
          <a:xfrm>
            <a:off x="548640" y="1280160"/>
            <a:ext cx="1005840" cy="1005840"/>
          </a:xfrm>
          <a:prstGeom prst="ellipse">
            <a:avLst/>
          </a:prstGeom>
          <a:solidFill>
            <a:srgbClr val="F4D9DC"/>
          </a:solidFill>
          <a:ln/>
        </p:spPr>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4</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000000"/>
                </a:solidFill>
                <a:latin typeface="General Sans Semibold" pitchFamily="34" charset="0"/>
                <a:ea typeface="General Sans Semibold" pitchFamily="34" charset="-122"/>
                <a:cs typeface="General Sans Semibold" pitchFamily="34" charset="-120"/>
              </a:rPr>
              <a:t>Spiegelmoment 2: kijk in de skill</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Wat zit er in /workshop-dashboard, en wat miste je dashboard?</a:t>
            </a:r>
            <a:endParaRPr lang="en-US" sz="2200" dirty="0"/>
          </a:p>
        </p:txBody>
      </p:sp>
      <p:pic>
        <p:nvPicPr>
          <p:cNvPr id="76" name="Image 0" descr="exports\261005_workshop_rad_uitvoering\img\Puzzelstuk 3D.png">    </p:cNvPr>
          <p:cNvPicPr>
            <a:picLocks noChangeAspect="1"/>
          </p:cNvPicPr>
          <p:nvPr/>
        </p:nvPicPr>
        <p:blipFill>
          <a:blip r:embed="rId1"/>
          <a:stretch>
            <a:fillRect/>
          </a:stretch>
        </p:blipFill>
        <p:spPr>
          <a:xfrm>
            <a:off x="8503920" y="1828800"/>
            <a:ext cx="3291840" cy="3291840"/>
          </a:xfrm>
          <a:prstGeom prst="rect">
            <a:avLst/>
          </a:prstGeom>
        </p:spPr>
      </p:pic>
      <p:pic>
        <p:nvPicPr>
          <p:cNvPr id="77"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D6E2FD"/>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/workshop-dashboard: wat de skill doet</a:t>
            </a:r>
            <a:endParaRPr lang="en-US" sz="3400" dirty="0"/>
          </a:p>
        </p:txBody>
      </p:sp>
      <p:sp>
        <p:nvSpPr>
          <p:cNvPr id="73" name="Shape 71"/>
          <p:cNvSpPr/>
          <p:nvPr/>
        </p:nvSpPr>
        <p:spPr>
          <a:xfrm>
            <a:off x="548640" y="1371600"/>
            <a:ext cx="2430704" cy="4160520"/>
          </a:xfrm>
          <a:prstGeom prst="roundRect">
            <a:avLst>
              <a:gd name="adj" fmla="val 3962"/>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196264" cy="402336"/>
          </a:xfrm>
          <a:prstGeom prst="roundRect">
            <a:avLst>
              <a:gd name="adj" fmla="val 113636"/>
            </a:avLst>
          </a:prstGeom>
          <a:solidFill>
            <a:srgbClr val="F4D74B"/>
          </a:solidFill>
          <a:ln/>
        </p:spPr>
      </p:sp>
      <p:sp>
        <p:nvSpPr>
          <p:cNvPr id="77" name="Text 75"/>
          <p:cNvSpPr/>
          <p:nvPr/>
        </p:nvSpPr>
        <p:spPr>
          <a:xfrm>
            <a:off x="1600200"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Leest in</a:t>
            </a:r>
            <a:endParaRPr lang="en-US" sz="1200" dirty="0"/>
          </a:p>
        </p:txBody>
      </p:sp>
      <p:sp>
        <p:nvSpPr>
          <p:cNvPr id="78" name="Text 76"/>
          <p:cNvSpPr/>
          <p:nvPr/>
        </p:nvSpPr>
        <p:spPr>
          <a:xfrm>
            <a:off x="822960" y="2423160"/>
            <a:ext cx="1882064" cy="572008"/>
          </a:xfrm>
          <a:prstGeom prst="rect">
            <a:avLst/>
          </a:prstGeom>
          <a:noFill/>
          <a:ln/>
        </p:spPr>
        <p:txBody>
          <a:bodyPr wrap="square" lIns="0" tIns="0" rIns="0" bIns="0" rtlCol="0" anchor="t"/>
          <a:lstStyle/>
          <a:p>
            <a:pPr algn="l" indent="0" marL="0">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Profiel en schets</a:t>
            </a:r>
            <a:endParaRPr lang="en-US" sz="1900" dirty="0"/>
          </a:p>
        </p:txBody>
      </p:sp>
      <p:sp>
        <p:nvSpPr>
          <p:cNvPr id="79" name="Text 77"/>
          <p:cNvSpPr/>
          <p:nvPr/>
        </p:nvSpPr>
        <p:spPr>
          <a:xfrm>
            <a:off x="822960"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data-profiel.md, schets.md en de data zelf.</a:t>
            </a:r>
            <a:endParaRPr lang="en-US" sz="1500" dirty="0"/>
          </a:p>
        </p:txBody>
      </p:sp>
      <p:sp>
        <p:nvSpPr>
          <p:cNvPr id="80" name="Text 78"/>
          <p:cNvSpPr/>
          <p:nvPr/>
        </p:nvSpPr>
        <p:spPr>
          <a:xfrm>
            <a:off x="822960"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1" name="Text 79"/>
          <p:cNvSpPr/>
          <p:nvPr/>
        </p:nvSpPr>
        <p:spPr>
          <a:xfrm>
            <a:off x="822960"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Vaste invoer</a:t>
            </a:r>
            <a:endParaRPr lang="en-US" sz="1500" dirty="0"/>
          </a:p>
        </p:txBody>
      </p:sp>
      <p:sp>
        <p:nvSpPr>
          <p:cNvPr id="82" name="Shape 80"/>
          <p:cNvSpPr/>
          <p:nvPr/>
        </p:nvSpPr>
        <p:spPr>
          <a:xfrm>
            <a:off x="3089072" y="3177540"/>
            <a:ext cx="237744" cy="548640"/>
          </a:xfrm>
          <a:prstGeom prst="chevron">
            <a:avLst/>
          </a:prstGeom>
          <a:solidFill>
            <a:srgbClr val="3D68EC"/>
          </a:solidFill>
          <a:ln/>
        </p:spPr>
      </p:sp>
      <p:sp>
        <p:nvSpPr>
          <p:cNvPr id="83" name="Shape 81"/>
          <p:cNvSpPr/>
          <p:nvPr/>
        </p:nvSpPr>
        <p:spPr>
          <a:xfrm>
            <a:off x="3436544" y="1371600"/>
            <a:ext cx="2430704" cy="4160520"/>
          </a:xfrm>
          <a:prstGeom prst="roundRect">
            <a:avLst>
              <a:gd name="adj" fmla="val 3962"/>
            </a:avLst>
          </a:prstGeom>
          <a:solidFill>
            <a:srgbClr val="DD784B"/>
          </a:solidFill>
          <a:ln/>
        </p:spPr>
      </p:sp>
      <p:sp>
        <p:nvSpPr>
          <p:cNvPr id="84" name="Shape 82"/>
          <p:cNvSpPr/>
          <p:nvPr/>
        </p:nvSpPr>
        <p:spPr>
          <a:xfrm>
            <a:off x="3710864" y="1645920"/>
            <a:ext cx="548640" cy="548640"/>
          </a:xfrm>
          <a:prstGeom prst="ellipse">
            <a:avLst/>
          </a:prstGeom>
          <a:solidFill>
            <a:srgbClr val="F4D9DC"/>
          </a:solidFill>
          <a:ln/>
        </p:spPr>
      </p:sp>
      <p:sp>
        <p:nvSpPr>
          <p:cNvPr id="85" name="Text 83"/>
          <p:cNvSpPr/>
          <p:nvPr/>
        </p:nvSpPr>
        <p:spPr>
          <a:xfrm>
            <a:off x="371086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6" name="Shape 84"/>
          <p:cNvSpPr/>
          <p:nvPr/>
        </p:nvSpPr>
        <p:spPr>
          <a:xfrm>
            <a:off x="4396664" y="1719072"/>
            <a:ext cx="1196264" cy="402336"/>
          </a:xfrm>
          <a:prstGeom prst="roundRect">
            <a:avLst>
              <a:gd name="adj" fmla="val 113636"/>
            </a:avLst>
          </a:prstGeom>
          <a:solidFill>
            <a:srgbClr val="F4D9DC"/>
          </a:solidFill>
          <a:ln/>
        </p:spPr>
      </p:sp>
      <p:sp>
        <p:nvSpPr>
          <p:cNvPr id="87" name="Text 85"/>
          <p:cNvSpPr/>
          <p:nvPr/>
        </p:nvSpPr>
        <p:spPr>
          <a:xfrm>
            <a:off x="4488104"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Bouwt</a:t>
            </a:r>
            <a:endParaRPr lang="en-US" sz="1200" dirty="0"/>
          </a:p>
        </p:txBody>
      </p:sp>
      <p:sp>
        <p:nvSpPr>
          <p:cNvPr id="88" name="Text 86"/>
          <p:cNvSpPr/>
          <p:nvPr/>
        </p:nvSpPr>
        <p:spPr>
          <a:xfrm>
            <a:off x="3710864" y="2423160"/>
            <a:ext cx="1882064" cy="572008"/>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Het dashboard</a:t>
            </a:r>
            <a:endParaRPr lang="en-US" sz="1900" dirty="0"/>
          </a:p>
        </p:txBody>
      </p:sp>
      <p:sp>
        <p:nvSpPr>
          <p:cNvPr id="89" name="Text 87"/>
          <p:cNvSpPr/>
          <p:nvPr/>
        </p:nvSpPr>
        <p:spPr>
          <a:xfrm>
            <a:off x="3710864"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app.py voor de weergave, berekeningen.py voor de rekenregels.</a:t>
            </a:r>
            <a:endParaRPr lang="en-US" sz="1500" dirty="0"/>
          </a:p>
        </p:txBody>
      </p:sp>
      <p:sp>
        <p:nvSpPr>
          <p:cNvPr id="90" name="Text 88"/>
          <p:cNvSpPr/>
          <p:nvPr/>
        </p:nvSpPr>
        <p:spPr>
          <a:xfrm>
            <a:off x="3710864"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1" name="Text 89"/>
          <p:cNvSpPr/>
          <p:nvPr/>
        </p:nvSpPr>
        <p:spPr>
          <a:xfrm>
            <a:off x="3710864"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Werkend dashboard</a:t>
            </a:r>
            <a:endParaRPr lang="en-US" sz="1500" dirty="0"/>
          </a:p>
        </p:txBody>
      </p:sp>
      <p:sp>
        <p:nvSpPr>
          <p:cNvPr id="92" name="Shape 90"/>
          <p:cNvSpPr/>
          <p:nvPr/>
        </p:nvSpPr>
        <p:spPr>
          <a:xfrm>
            <a:off x="5976976" y="3177540"/>
            <a:ext cx="237744" cy="548640"/>
          </a:xfrm>
          <a:prstGeom prst="chevron">
            <a:avLst/>
          </a:prstGeom>
          <a:solidFill>
            <a:srgbClr val="3D68EC"/>
          </a:solidFill>
          <a:ln/>
        </p:spPr>
      </p:sp>
      <p:sp>
        <p:nvSpPr>
          <p:cNvPr id="93" name="Shape 91"/>
          <p:cNvSpPr/>
          <p:nvPr/>
        </p:nvSpPr>
        <p:spPr>
          <a:xfrm>
            <a:off x="6324448" y="1371600"/>
            <a:ext cx="2430704" cy="4160520"/>
          </a:xfrm>
          <a:prstGeom prst="roundRect">
            <a:avLst>
              <a:gd name="adj" fmla="val 3962"/>
            </a:avLst>
          </a:prstGeom>
          <a:solidFill>
            <a:srgbClr val="00AF81"/>
          </a:solidFill>
          <a:ln/>
        </p:spPr>
      </p:sp>
      <p:sp>
        <p:nvSpPr>
          <p:cNvPr id="94" name="Shape 92"/>
          <p:cNvSpPr/>
          <p:nvPr/>
        </p:nvSpPr>
        <p:spPr>
          <a:xfrm>
            <a:off x="6598768" y="1645920"/>
            <a:ext cx="548640" cy="548640"/>
          </a:xfrm>
          <a:prstGeom prst="ellipse">
            <a:avLst/>
          </a:prstGeom>
          <a:solidFill>
            <a:srgbClr val="F4D9DC"/>
          </a:solidFill>
          <a:ln/>
        </p:spPr>
      </p:sp>
      <p:sp>
        <p:nvSpPr>
          <p:cNvPr id="95" name="Text 93"/>
          <p:cNvSpPr/>
          <p:nvPr/>
        </p:nvSpPr>
        <p:spPr>
          <a:xfrm>
            <a:off x="659876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6" name="Shape 94"/>
          <p:cNvSpPr/>
          <p:nvPr/>
        </p:nvSpPr>
        <p:spPr>
          <a:xfrm>
            <a:off x="7284568" y="1719072"/>
            <a:ext cx="1196264" cy="402336"/>
          </a:xfrm>
          <a:prstGeom prst="roundRect">
            <a:avLst>
              <a:gd name="adj" fmla="val 113636"/>
            </a:avLst>
          </a:prstGeom>
          <a:solidFill>
            <a:srgbClr val="F4D9DC"/>
          </a:solidFill>
          <a:ln/>
        </p:spPr>
      </p:sp>
      <p:sp>
        <p:nvSpPr>
          <p:cNvPr id="97" name="Text 95"/>
          <p:cNvSpPr/>
          <p:nvPr/>
        </p:nvSpPr>
        <p:spPr>
          <a:xfrm>
            <a:off x="7376008"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Verweeft</a:t>
            </a:r>
            <a:endParaRPr lang="en-US" sz="1200" dirty="0"/>
          </a:p>
        </p:txBody>
      </p:sp>
      <p:sp>
        <p:nvSpPr>
          <p:cNvPr id="98" name="Text 96"/>
          <p:cNvSpPr/>
          <p:nvPr/>
        </p:nvSpPr>
        <p:spPr>
          <a:xfrm>
            <a:off x="6598768"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De checks</a:t>
            </a:r>
            <a:endParaRPr lang="en-US" sz="2000" dirty="0"/>
          </a:p>
        </p:txBody>
      </p:sp>
      <p:sp>
        <p:nvSpPr>
          <p:cNvPr id="99" name="Text 97"/>
          <p:cNvSpPr/>
          <p:nvPr/>
        </p:nvSpPr>
        <p:spPr>
          <a:xfrm>
            <a:off x="6598768"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Drempel, framing, toegankelijkheid en bron.</a:t>
            </a:r>
            <a:endParaRPr lang="en-US" sz="1500" dirty="0"/>
          </a:p>
        </p:txBody>
      </p:sp>
      <p:sp>
        <p:nvSpPr>
          <p:cNvPr id="100" name="Text 98"/>
          <p:cNvSpPr/>
          <p:nvPr/>
        </p:nvSpPr>
        <p:spPr>
          <a:xfrm>
            <a:off x="6598768"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01" name="Text 99"/>
          <p:cNvSpPr/>
          <p:nvPr/>
        </p:nvSpPr>
        <p:spPr>
          <a:xfrm>
            <a:off x="6598768"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Verantwoord</a:t>
            </a:r>
            <a:endParaRPr lang="en-US" sz="1500" dirty="0"/>
          </a:p>
        </p:txBody>
      </p:sp>
      <p:sp>
        <p:nvSpPr>
          <p:cNvPr id="102" name="Shape 100"/>
          <p:cNvSpPr/>
          <p:nvPr/>
        </p:nvSpPr>
        <p:spPr>
          <a:xfrm>
            <a:off x="8864879" y="3177540"/>
            <a:ext cx="237744" cy="548640"/>
          </a:xfrm>
          <a:prstGeom prst="chevron">
            <a:avLst/>
          </a:prstGeom>
          <a:solidFill>
            <a:srgbClr val="3D68EC"/>
          </a:solidFill>
          <a:ln/>
        </p:spPr>
      </p:sp>
      <p:sp>
        <p:nvSpPr>
          <p:cNvPr id="103" name="Shape 101"/>
          <p:cNvSpPr/>
          <p:nvPr/>
        </p:nvSpPr>
        <p:spPr>
          <a:xfrm>
            <a:off x="9212351" y="1371600"/>
            <a:ext cx="2430704" cy="4160520"/>
          </a:xfrm>
          <a:prstGeom prst="roundRect">
            <a:avLst>
              <a:gd name="adj" fmla="val 3962"/>
            </a:avLst>
          </a:prstGeom>
          <a:solidFill>
            <a:srgbClr val="F4D74B"/>
          </a:solidFill>
          <a:ln/>
        </p:spPr>
      </p:sp>
      <p:sp>
        <p:nvSpPr>
          <p:cNvPr id="104" name="Shape 102"/>
          <p:cNvSpPr/>
          <p:nvPr/>
        </p:nvSpPr>
        <p:spPr>
          <a:xfrm>
            <a:off x="9486671" y="1645920"/>
            <a:ext cx="548640" cy="548640"/>
          </a:xfrm>
          <a:prstGeom prst="ellipse">
            <a:avLst/>
          </a:prstGeom>
          <a:solidFill>
            <a:srgbClr val="3D68EC"/>
          </a:solidFill>
          <a:ln/>
        </p:spPr>
      </p:sp>
      <p:sp>
        <p:nvSpPr>
          <p:cNvPr id="105" name="Text 103"/>
          <p:cNvSpPr/>
          <p:nvPr/>
        </p:nvSpPr>
        <p:spPr>
          <a:xfrm>
            <a:off x="948667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106" name="Shape 104"/>
          <p:cNvSpPr/>
          <p:nvPr/>
        </p:nvSpPr>
        <p:spPr>
          <a:xfrm>
            <a:off x="10172471" y="1719072"/>
            <a:ext cx="1196264" cy="402336"/>
          </a:xfrm>
          <a:prstGeom prst="roundRect">
            <a:avLst>
              <a:gd name="adj" fmla="val 113636"/>
            </a:avLst>
          </a:prstGeom>
          <a:solidFill>
            <a:srgbClr val="3D68EC"/>
          </a:solidFill>
          <a:ln/>
        </p:spPr>
      </p:sp>
      <p:sp>
        <p:nvSpPr>
          <p:cNvPr id="107" name="Text 105"/>
          <p:cNvSpPr/>
          <p:nvPr/>
        </p:nvSpPr>
        <p:spPr>
          <a:xfrm>
            <a:off x="10263911"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Test</a:t>
            </a:r>
            <a:endParaRPr lang="en-US" sz="1200" dirty="0"/>
          </a:p>
        </p:txBody>
      </p:sp>
      <p:sp>
        <p:nvSpPr>
          <p:cNvPr id="108" name="Text 106"/>
          <p:cNvSpPr/>
          <p:nvPr/>
        </p:nvSpPr>
        <p:spPr>
          <a:xfrm>
            <a:off x="9486671"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Headless</a:t>
            </a:r>
            <a:endParaRPr lang="en-US" sz="2000" dirty="0"/>
          </a:p>
        </p:txBody>
      </p:sp>
      <p:sp>
        <p:nvSpPr>
          <p:cNvPr id="109" name="Text 107"/>
          <p:cNvSpPr/>
          <p:nvPr/>
        </p:nvSpPr>
        <p:spPr>
          <a:xfrm>
            <a:off x="9486671"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AppTest: geen fouten en een kleine groep geeft "te weinig studenten".</a:t>
            </a:r>
            <a:endParaRPr lang="en-US" sz="1500" dirty="0"/>
          </a:p>
        </p:txBody>
      </p:sp>
      <p:sp>
        <p:nvSpPr>
          <p:cNvPr id="110" name="Text 108"/>
          <p:cNvSpPr/>
          <p:nvPr/>
        </p:nvSpPr>
        <p:spPr>
          <a:xfrm>
            <a:off x="9486671"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11" name="Text 109"/>
          <p:cNvSpPr/>
          <p:nvPr/>
        </p:nvSpPr>
        <p:spPr>
          <a:xfrm>
            <a:off x="9486671"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Aantoonbaar</a:t>
            </a:r>
            <a:endParaRPr lang="en-US" sz="1500" dirty="0"/>
          </a:p>
        </p:txBody>
      </p:sp>
      <p:sp>
        <p:nvSpPr>
          <p:cNvPr id="112" name="Text 110"/>
          <p:cNvSpPr/>
          <p:nvPr/>
        </p:nvSpPr>
        <p:spPr>
          <a:xfrm>
            <a:off x="548640" y="5715000"/>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In:</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de twee bestanden uit ronde 1. </a:t>
            </a:r>
            <a:pPr algn="l"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Uit:</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een werkend, verantwoord dashboard.</a:t>
            </a:r>
            <a:endParaRPr lang="en-US" sz="1800" dirty="0"/>
          </a:p>
        </p:txBody>
      </p:sp>
      <p:pic>
        <p:nvPicPr>
          <p:cNvPr id="113"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5D4"/>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verweeft de skill de checks</a:t>
            </a:r>
            <a:endParaRPr lang="en-US" sz="3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73604"/>
                <a:gridCol w="8320811"/>
              </a:tblGrid>
              <a:tr h="0">
                <a:tc>
                  <a:txBody>
                    <a:bodyPr/>
                    <a:lstStyle/>
                    <a:p>
                      <a:pPr indent="0" marL="0">
                        <a:buNone/>
                      </a:pPr>
                      <a:r>
                        <a:rPr lang="en-US" sz="1400" dirty="0">
                          <a:solidFill>
                            <a:srgbClr val="F4D9DC"/>
                          </a:solidFill>
                          <a:latin typeface="General Sans Semibold" pitchFamily="34" charset="0"/>
                          <a:ea typeface="General Sans Semibold" pitchFamily="34" charset="-122"/>
                          <a:cs typeface="General Sans Semibold" pitchFamily="34" charset="-120"/>
                        </a:rPr>
                        <a:t>Check</a:t>
                      </a:r>
                      <a:endParaRPr lang="en-US" sz="1400" dirty="0">
                        <a:latin typeface="General Sans Semibold" charset="0"/>
                        <a:ea typeface="General Sans Semibold" charset="0"/>
                        <a:cs typeface="General Sans Semibold"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3D68EC"/>
                    </a:solidFill>
                  </a:tcPr>
                </a:tc>
                <a:tc>
                  <a:txBody>
                    <a:bodyPr/>
                    <a:lstStyle/>
                    <a:p>
                      <a:pPr indent="0" marL="0">
                        <a:buNone/>
                      </a:pPr>
                      <a:r>
                        <a:rPr lang="en-US" sz="1400" dirty="0">
                          <a:solidFill>
                            <a:srgbClr val="F4D9DC"/>
                          </a:solidFill>
                          <a:latin typeface="General Sans Semibold" pitchFamily="34" charset="0"/>
                          <a:ea typeface="General Sans Semibold" pitchFamily="34" charset="-122"/>
                          <a:cs typeface="General Sans Semibold" pitchFamily="34" charset="-120"/>
                        </a:rPr>
                        <a:t>Wat de skill in het dashboard doet</a:t>
                      </a:r>
                      <a:endParaRPr lang="en-US" sz="1400" dirty="0">
                        <a:latin typeface="General Sans Semibold" charset="0"/>
                        <a:ea typeface="General Sans Semibold" charset="0"/>
                        <a:cs typeface="General Sans Semibold"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3D68EC"/>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Privacy</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Groepen onder 30 en percentages onder 5 niet tonen; de drempel is een parameter</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Waarneembaarheid</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Cohorten waarvan de termijn nog niet af is uitsluiten en dat melden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Eerlijke framing</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Conclusie als titel, geen oorzaak, geen stigmatiserende woorden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Toegankelijkheid</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Kleurenblind-veilig palet, contrast 4,5:1, tekstuele samenvatting per grafiek</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Bron en uitleg</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Bron, definities, peildatum, n per groep en wat het niet kan zeggen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r>
            </a:tbl>
          </a:graphicData>
        </a:graphic>
      </p:graphicFrame>
      <p:pic>
        <p:nvPicPr>
          <p:cNvPr id="73"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5D4"/>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2500" dirty="0">
                <a:solidFill>
                  <a:srgbClr val="3D68EC"/>
                </a:solidFill>
                <a:latin typeface="General Sans Semibold" pitchFamily="34" charset="0"/>
                <a:ea typeface="General Sans Semibold" pitchFamily="34" charset="-122"/>
                <a:cs typeface="General Sans Semibold" pitchFamily="34" charset="-120"/>
              </a:rPr>
              <a:t>Techniek valt het vaakst uit, geslacht laat geen verschil zien</a:t>
            </a:r>
            <a:endParaRPr lang="en-US" sz="2500" dirty="0"/>
          </a:p>
        </p:txBody>
      </p:sp>
      <p:graphicFrame>
        <p:nvGraphicFramePr>
          <p:cNvPr id="73" name="Chart 0" descr=""/>
          <p:cNvGraphicFramePr/>
          <p:nvPr/>
        </p:nvGraphicFramePr>
        <p:xfrm>
          <a:off x="731520" y="1554480"/>
          <a:ext cx="6796735" cy="4206240"/>
        </p:xfrm>
        <a:graphic xmlns:a="http://schemas.openxmlformats.org/drawingml/2006/main">
          <a:graphicData uri="http://schemas.openxmlformats.org/drawingml/2006/chart">
            <c:chart xmlns:c="http://schemas.openxmlformats.org/drawingml/2006/chart" r:id="rId1"/>
          </a:graphicData>
        </a:graphic>
      </p:graphicFrame>
      <p:sp>
        <p:nvSpPr>
          <p:cNvPr id="74" name="Shape 71"/>
          <p:cNvSpPr/>
          <p:nvPr/>
        </p:nvSpPr>
        <p:spPr>
          <a:xfrm>
            <a:off x="7985455" y="1371600"/>
            <a:ext cx="3657600" cy="2895600"/>
          </a:xfrm>
          <a:prstGeom prst="roundRect">
            <a:avLst>
              <a:gd name="adj" fmla="val 2792"/>
            </a:avLst>
          </a:prstGeom>
          <a:solidFill>
            <a:srgbClr val="3D68EC"/>
          </a:solidFill>
          <a:ln/>
        </p:spPr>
      </p:sp>
      <p:sp>
        <p:nvSpPr>
          <p:cNvPr id="75" name="Text 72"/>
          <p:cNvSpPr/>
          <p:nvPr/>
        </p:nvSpPr>
        <p:spPr>
          <a:xfrm>
            <a:off x="8259775" y="1691640"/>
            <a:ext cx="3108960"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WAT VALT OP</a:t>
            </a:r>
            <a:endParaRPr lang="en-US" sz="1100" dirty="0"/>
          </a:p>
        </p:txBody>
      </p:sp>
      <p:sp>
        <p:nvSpPr>
          <p:cNvPr id="76" name="Text 73"/>
          <p:cNvSpPr/>
          <p:nvPr/>
        </p:nvSpPr>
        <p:spPr>
          <a:xfrm>
            <a:off x="8259775" y="2103120"/>
            <a:ext cx="3108960" cy="1981200"/>
          </a:xfrm>
          <a:prstGeom prst="rect">
            <a:avLst/>
          </a:prstGeom>
          <a:noFill/>
          <a:ln/>
        </p:spPr>
        <p:txBody>
          <a:bodyPr wrap="square" lIns="0" tIns="0" rIns="0" bIns="0" rtlCol="0" anchor="t"/>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Het verschil tussen sectoren hebben wij ingebouwd. Man (16,1%) en vrouw (17,3%) verschillen niet echt: dat is toeval.</a:t>
            </a:r>
            <a:endParaRPr lang="en-US" sz="2000" dirty="0"/>
          </a:p>
        </p:txBody>
      </p:sp>
      <p:sp>
        <p:nvSpPr>
          <p:cNvPr id="77" name="Text 74"/>
          <p:cNvSpPr/>
          <p:nvPr/>
        </p:nvSpPr>
        <p:spPr>
          <a:xfrm>
            <a:off x="548640" y="6291072"/>
            <a:ext cx="11094415" cy="274320"/>
          </a:xfrm>
          <a:prstGeom prst="rect">
            <a:avLst/>
          </a:prstGeom>
          <a:noFill/>
          <a:ln/>
        </p:spPr>
        <p:txBody>
          <a:bodyPr wrap="square" lIns="0" tIns="0" rIns="0" bIns="0" rtlCol="0" anchor="t"/>
          <a:lstStyle/>
          <a:p>
            <a:pPr algn="l" indent="0" marL="0">
              <a:lnSpc>
                <a:spcPct val="105000"/>
              </a:lnSpc>
              <a:buNone/>
            </a:pPr>
            <a:r>
              <a:rPr lang="en-US" sz="1100" dirty="0">
                <a:solidFill>
                  <a:srgbClr val="3D68EC"/>
                </a:solidFill>
                <a:latin typeface="General Sans" pitchFamily="34" charset="0"/>
                <a:ea typeface="General Sans" pitchFamily="34" charset="-122"/>
                <a:cs typeface="General Sans" pitchFamily="34" charset="-120"/>
              </a:rPr>
              <a:t>Bron: synthetische data, cohorten 2012-2022 (2023 is nog niet waarneembaar)</a:t>
            </a:r>
            <a:endParaRPr lang="en-US" sz="1100" dirty="0"/>
          </a:p>
        </p:txBody>
      </p:sp>
      <p:pic>
        <p:nvPicPr>
          <p:cNvPr id="78"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AF81"/>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F4D9DC"/>
                </a:solidFill>
                <a:latin typeface="General Sans Semibold" pitchFamily="34" charset="0"/>
                <a:ea typeface="General Sans Semibold" pitchFamily="34" charset="-122"/>
                <a:cs typeface="General Sans Semibold" pitchFamily="34" charset="-120"/>
              </a:rPr>
              <a:t>Evaluatie en afsluiting: 16 minuten</a:t>
            </a:r>
            <a:endParaRPr lang="en-US" sz="3400" dirty="0"/>
          </a:p>
        </p:txBody>
      </p:sp>
      <p:sp>
        <p:nvSpPr>
          <p:cNvPr id="73" name="Shape 71"/>
          <p:cNvSpPr/>
          <p:nvPr/>
        </p:nvSpPr>
        <p:spPr>
          <a:xfrm>
            <a:off x="548640" y="1371600"/>
            <a:ext cx="2567864" cy="2567178"/>
          </a:xfrm>
          <a:prstGeom prst="roundRect">
            <a:avLst>
              <a:gd name="adj" fmla="val 3552"/>
            </a:avLst>
          </a:prstGeom>
          <a:solidFill>
            <a:srgbClr val="F4D9DC"/>
          </a:solidFill>
          <a:ln/>
        </p:spPr>
      </p:sp>
      <p:sp>
        <p:nvSpPr>
          <p:cNvPr id="74" name="Shape 72"/>
          <p:cNvSpPr/>
          <p:nvPr/>
        </p:nvSpPr>
        <p:spPr>
          <a:xfrm>
            <a:off x="822960" y="1645920"/>
            <a:ext cx="548640" cy="548640"/>
          </a:xfrm>
          <a:prstGeom prst="ellipse">
            <a:avLst/>
          </a:prstGeom>
          <a:solidFill>
            <a:srgbClr val="3D68EC"/>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333424" cy="402336"/>
          </a:xfrm>
          <a:prstGeom prst="roundRect">
            <a:avLst>
              <a:gd name="adj" fmla="val 113636"/>
            </a:avLst>
          </a:prstGeom>
          <a:solidFill>
            <a:srgbClr val="3D68EC"/>
          </a:solidFill>
          <a:ln/>
        </p:spPr>
      </p:sp>
      <p:sp>
        <p:nvSpPr>
          <p:cNvPr id="77" name="Text 75"/>
          <p:cNvSpPr/>
          <p:nvPr/>
        </p:nvSpPr>
        <p:spPr>
          <a:xfrm>
            <a:off x="1600200"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4 min</a:t>
            </a:r>
            <a:endParaRPr lang="en-US" sz="1200" dirty="0"/>
          </a:p>
        </p:txBody>
      </p:sp>
      <p:sp>
        <p:nvSpPr>
          <p:cNvPr id="78" name="Text 76"/>
          <p:cNvSpPr/>
          <p:nvPr/>
        </p:nvSpPr>
        <p:spPr>
          <a:xfrm>
            <a:off x="822960"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Terugblik</a:t>
            </a:r>
            <a:endParaRPr lang="en-US" sz="2000" dirty="0"/>
          </a:p>
        </p:txBody>
      </p:sp>
      <p:sp>
        <p:nvSpPr>
          <p:cNvPr id="79" name="Text 77"/>
          <p:cNvSpPr/>
          <p:nvPr/>
        </p:nvSpPr>
        <p:spPr>
          <a:xfrm>
            <a:off x="822960" y="3035808"/>
            <a:ext cx="2019224"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vond je ervan? Wat ging goed, wat zag je nu pas?</a:t>
            </a:r>
            <a:endParaRPr lang="en-US" sz="1500" dirty="0"/>
          </a:p>
        </p:txBody>
      </p:sp>
      <p:sp>
        <p:nvSpPr>
          <p:cNvPr id="80" name="Shape 78"/>
          <p:cNvSpPr/>
          <p:nvPr/>
        </p:nvSpPr>
        <p:spPr>
          <a:xfrm>
            <a:off x="3390824" y="1371600"/>
            <a:ext cx="2567864" cy="2567178"/>
          </a:xfrm>
          <a:prstGeom prst="roundRect">
            <a:avLst>
              <a:gd name="adj" fmla="val 3552"/>
            </a:avLst>
          </a:prstGeom>
          <a:solidFill>
            <a:srgbClr val="F4D9DC"/>
          </a:solidFill>
          <a:ln/>
        </p:spPr>
      </p:sp>
      <p:sp>
        <p:nvSpPr>
          <p:cNvPr id="81" name="Shape 79"/>
          <p:cNvSpPr/>
          <p:nvPr/>
        </p:nvSpPr>
        <p:spPr>
          <a:xfrm>
            <a:off x="3665144" y="1645920"/>
            <a:ext cx="548640" cy="548640"/>
          </a:xfrm>
          <a:prstGeom prst="ellipse">
            <a:avLst/>
          </a:prstGeom>
          <a:solidFill>
            <a:srgbClr val="3D68EC"/>
          </a:solidFill>
          <a:ln/>
        </p:spPr>
      </p:sp>
      <p:sp>
        <p:nvSpPr>
          <p:cNvPr id="82" name="Text 80"/>
          <p:cNvSpPr/>
          <p:nvPr/>
        </p:nvSpPr>
        <p:spPr>
          <a:xfrm>
            <a:off x="366514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2</a:t>
            </a:r>
            <a:endParaRPr lang="en-US" sz="2000" dirty="0"/>
          </a:p>
        </p:txBody>
      </p:sp>
      <p:sp>
        <p:nvSpPr>
          <p:cNvPr id="83" name="Shape 81"/>
          <p:cNvSpPr/>
          <p:nvPr/>
        </p:nvSpPr>
        <p:spPr>
          <a:xfrm>
            <a:off x="4350944" y="1719072"/>
            <a:ext cx="1333424" cy="402336"/>
          </a:xfrm>
          <a:prstGeom prst="roundRect">
            <a:avLst>
              <a:gd name="adj" fmla="val 113636"/>
            </a:avLst>
          </a:prstGeom>
          <a:solidFill>
            <a:srgbClr val="3D68EC"/>
          </a:solidFill>
          <a:ln/>
        </p:spPr>
      </p:sp>
      <p:sp>
        <p:nvSpPr>
          <p:cNvPr id="84" name="Text 82"/>
          <p:cNvSpPr/>
          <p:nvPr/>
        </p:nvSpPr>
        <p:spPr>
          <a:xfrm>
            <a:off x="4442384"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2 min</a:t>
            </a:r>
            <a:endParaRPr lang="en-US" sz="1200" dirty="0"/>
          </a:p>
        </p:txBody>
      </p:sp>
      <p:sp>
        <p:nvSpPr>
          <p:cNvPr id="85" name="Text 83"/>
          <p:cNvSpPr/>
          <p:nvPr/>
        </p:nvSpPr>
        <p:spPr>
          <a:xfrm>
            <a:off x="3665144"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Meerkeuze</a:t>
            </a:r>
            <a:endParaRPr lang="en-US" sz="2000" dirty="0"/>
          </a:p>
        </p:txBody>
      </p:sp>
      <p:sp>
        <p:nvSpPr>
          <p:cNvPr id="86" name="Text 84"/>
          <p:cNvSpPr/>
          <p:nvPr/>
        </p:nvSpPr>
        <p:spPr>
          <a:xfrm>
            <a:off x="3665144" y="3035808"/>
            <a:ext cx="2019224"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Zou je een vervolg willen, en hoe groot?</a:t>
            </a:r>
            <a:endParaRPr lang="en-US" sz="1500" dirty="0"/>
          </a:p>
        </p:txBody>
      </p:sp>
      <p:sp>
        <p:nvSpPr>
          <p:cNvPr id="87" name="Shape 85"/>
          <p:cNvSpPr/>
          <p:nvPr/>
        </p:nvSpPr>
        <p:spPr>
          <a:xfrm>
            <a:off x="6233008" y="1371600"/>
            <a:ext cx="2567864" cy="2567178"/>
          </a:xfrm>
          <a:prstGeom prst="roundRect">
            <a:avLst>
              <a:gd name="adj" fmla="val 3552"/>
            </a:avLst>
          </a:prstGeom>
          <a:solidFill>
            <a:srgbClr val="F4D9DC"/>
          </a:solidFill>
          <a:ln/>
        </p:spPr>
      </p:sp>
      <p:sp>
        <p:nvSpPr>
          <p:cNvPr id="88" name="Shape 86"/>
          <p:cNvSpPr/>
          <p:nvPr/>
        </p:nvSpPr>
        <p:spPr>
          <a:xfrm>
            <a:off x="6507328" y="1645920"/>
            <a:ext cx="548640" cy="548640"/>
          </a:xfrm>
          <a:prstGeom prst="ellipse">
            <a:avLst/>
          </a:prstGeom>
          <a:solidFill>
            <a:srgbClr val="3D68EC"/>
          </a:solidFill>
          <a:ln/>
        </p:spPr>
      </p:sp>
      <p:sp>
        <p:nvSpPr>
          <p:cNvPr id="89" name="Text 87"/>
          <p:cNvSpPr/>
          <p:nvPr/>
        </p:nvSpPr>
        <p:spPr>
          <a:xfrm>
            <a:off x="650732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3</a:t>
            </a:r>
            <a:endParaRPr lang="en-US" sz="2000" dirty="0"/>
          </a:p>
        </p:txBody>
      </p:sp>
      <p:sp>
        <p:nvSpPr>
          <p:cNvPr id="90" name="Shape 88"/>
          <p:cNvSpPr/>
          <p:nvPr/>
        </p:nvSpPr>
        <p:spPr>
          <a:xfrm>
            <a:off x="7193128" y="1719072"/>
            <a:ext cx="1333424" cy="402336"/>
          </a:xfrm>
          <a:prstGeom prst="roundRect">
            <a:avLst>
              <a:gd name="adj" fmla="val 113636"/>
            </a:avLst>
          </a:prstGeom>
          <a:solidFill>
            <a:srgbClr val="3D68EC"/>
          </a:solidFill>
          <a:ln/>
        </p:spPr>
      </p:sp>
      <p:sp>
        <p:nvSpPr>
          <p:cNvPr id="91" name="Text 89"/>
          <p:cNvSpPr/>
          <p:nvPr/>
        </p:nvSpPr>
        <p:spPr>
          <a:xfrm>
            <a:off x="7284568"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4 min</a:t>
            </a:r>
            <a:endParaRPr lang="en-US" sz="1200" dirty="0"/>
          </a:p>
        </p:txBody>
      </p:sp>
      <p:sp>
        <p:nvSpPr>
          <p:cNvPr id="92" name="Text 90"/>
          <p:cNvSpPr/>
          <p:nvPr/>
        </p:nvSpPr>
        <p:spPr>
          <a:xfrm>
            <a:off x="6507328"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Open vraag</a:t>
            </a:r>
            <a:endParaRPr lang="en-US" sz="2000" dirty="0"/>
          </a:p>
        </p:txBody>
      </p:sp>
      <p:sp>
        <p:nvSpPr>
          <p:cNvPr id="93" name="Text 91"/>
          <p:cNvSpPr/>
          <p:nvPr/>
        </p:nvSpPr>
        <p:spPr>
          <a:xfrm>
            <a:off x="6507328" y="3035808"/>
            <a:ext cx="2019224"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wil je precies leren in zo’n training?</a:t>
            </a:r>
            <a:endParaRPr lang="en-US" sz="1500" dirty="0"/>
          </a:p>
        </p:txBody>
      </p:sp>
      <p:sp>
        <p:nvSpPr>
          <p:cNvPr id="94" name="Shape 92"/>
          <p:cNvSpPr/>
          <p:nvPr/>
        </p:nvSpPr>
        <p:spPr>
          <a:xfrm>
            <a:off x="9075191" y="1371600"/>
            <a:ext cx="2567864" cy="2567178"/>
          </a:xfrm>
          <a:prstGeom prst="roundRect">
            <a:avLst>
              <a:gd name="adj" fmla="val 3552"/>
            </a:avLst>
          </a:prstGeom>
          <a:solidFill>
            <a:srgbClr val="F4D9DC"/>
          </a:solidFill>
          <a:ln/>
        </p:spPr>
      </p:sp>
      <p:sp>
        <p:nvSpPr>
          <p:cNvPr id="95" name="Shape 93"/>
          <p:cNvSpPr/>
          <p:nvPr/>
        </p:nvSpPr>
        <p:spPr>
          <a:xfrm>
            <a:off x="9349511" y="1645920"/>
            <a:ext cx="548640" cy="548640"/>
          </a:xfrm>
          <a:prstGeom prst="ellipse">
            <a:avLst/>
          </a:prstGeom>
          <a:solidFill>
            <a:srgbClr val="3D68EC"/>
          </a:solidFill>
          <a:ln/>
        </p:spPr>
      </p:sp>
      <p:sp>
        <p:nvSpPr>
          <p:cNvPr id="96" name="Text 94"/>
          <p:cNvSpPr/>
          <p:nvPr/>
        </p:nvSpPr>
        <p:spPr>
          <a:xfrm>
            <a:off x="934951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4</a:t>
            </a:r>
            <a:endParaRPr lang="en-US" sz="2000" dirty="0"/>
          </a:p>
        </p:txBody>
      </p:sp>
      <p:sp>
        <p:nvSpPr>
          <p:cNvPr id="97" name="Shape 95"/>
          <p:cNvSpPr/>
          <p:nvPr/>
        </p:nvSpPr>
        <p:spPr>
          <a:xfrm>
            <a:off x="10035311" y="1719072"/>
            <a:ext cx="1333424" cy="402336"/>
          </a:xfrm>
          <a:prstGeom prst="roundRect">
            <a:avLst>
              <a:gd name="adj" fmla="val 113636"/>
            </a:avLst>
          </a:prstGeom>
          <a:solidFill>
            <a:srgbClr val="3D68EC"/>
          </a:solidFill>
          <a:ln/>
        </p:spPr>
      </p:sp>
      <p:sp>
        <p:nvSpPr>
          <p:cNvPr id="98" name="Text 96"/>
          <p:cNvSpPr/>
          <p:nvPr/>
        </p:nvSpPr>
        <p:spPr>
          <a:xfrm>
            <a:off x="10126751"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6 min</a:t>
            </a:r>
            <a:endParaRPr lang="en-US" sz="1200" dirty="0"/>
          </a:p>
        </p:txBody>
      </p:sp>
      <p:sp>
        <p:nvSpPr>
          <p:cNvPr id="99" name="Text 97"/>
          <p:cNvSpPr/>
          <p:nvPr/>
        </p:nvSpPr>
        <p:spPr>
          <a:xfrm>
            <a:off x="9349511"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Afsluiting</a:t>
            </a:r>
            <a:endParaRPr lang="en-US" sz="2000" dirty="0"/>
          </a:p>
        </p:txBody>
      </p:sp>
      <p:sp>
        <p:nvSpPr>
          <p:cNvPr id="100" name="Text 98"/>
          <p:cNvSpPr/>
          <p:nvPr/>
        </p:nvSpPr>
        <p:spPr>
          <a:xfrm>
            <a:off x="9349511" y="3035808"/>
            <a:ext cx="2019224"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verloor en won je, en wat doe je morgen anders?</a:t>
            </a:r>
            <a:endParaRPr lang="en-US" sz="1500" dirty="0"/>
          </a:p>
        </p:txBody>
      </p:sp>
      <p:sp>
        <p:nvSpPr>
          <p:cNvPr id="101" name="Text 99"/>
          <p:cNvSpPr/>
          <p:nvPr/>
        </p:nvSpPr>
        <p:spPr>
          <a:xfrm>
            <a:off x="548640" y="4121658"/>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Anoniem en vrijwillig. De antwoorden bepalen of en hoe CEDA een vervolg inricht.</a:t>
            </a:r>
            <a:endParaRPr lang="en-US" sz="1800" dirty="0"/>
          </a:p>
        </p:txBody>
      </p:sp>
      <p:pic>
        <p:nvPicPr>
          <p:cNvPr id="102"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D6E2FD"/>
        </a:solidFill>
      </p:bgPr>
    </p:bg>
    <p:spTree>
      <p:nvGrpSpPr>
        <p:cNvPr id="1" name=""/>
        <p:cNvGrpSpPr/>
        <p:nvPr/>
      </p:nvGrpSpPr>
      <p:grpSpPr>
        <a:xfrm>
          <a:off x="0" y="0"/>
          <a:ext cx="0" cy="0"/>
          <a:chOff x="0" y="0"/>
          <a:chExt cx="0" cy="0"/>
        </a:xfrm>
      </p:grpSpPr>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000" dirty="0">
                <a:solidFill>
                  <a:srgbClr val="3D68EC"/>
                </a:solidFill>
                <a:latin typeface="General Sans Semibold" pitchFamily="34" charset="0"/>
                <a:ea typeface="General Sans Semibold" pitchFamily="34" charset="-122"/>
                <a:cs typeface="General Sans Semibold" pitchFamily="34" charset="-120"/>
              </a:rPr>
              <a:t>Zou je een vervolg op deze workshop willen?</a:t>
            </a:r>
            <a:endParaRPr lang="en-US" sz="3000" dirty="0"/>
          </a:p>
        </p:txBody>
      </p:sp>
      <p:sp>
        <p:nvSpPr>
          <p:cNvPr id="73" name="Shape 71"/>
          <p:cNvSpPr/>
          <p:nvPr/>
        </p:nvSpPr>
        <p:spPr>
          <a:xfrm>
            <a:off x="548640" y="1417320"/>
            <a:ext cx="11094415" cy="868680"/>
          </a:xfrm>
          <a:prstGeom prst="roundRect">
            <a:avLst>
              <a:gd name="adj" fmla="val 15512"/>
            </a:avLst>
          </a:prstGeom>
          <a:solidFill>
            <a:srgbClr val="FFFFFF"/>
          </a:solidFill>
          <a:ln/>
        </p:spPr>
      </p:sp>
      <p:sp>
        <p:nvSpPr>
          <p:cNvPr id="74" name="Text 72"/>
          <p:cNvSpPr/>
          <p:nvPr/>
        </p:nvSpPr>
        <p:spPr>
          <a:xfrm>
            <a:off x="822960" y="147218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Nee, niet nodig</a:t>
            </a:r>
            <a:endParaRPr lang="en-US" sz="1600" dirty="0"/>
          </a:p>
        </p:txBody>
      </p:sp>
      <p:sp>
        <p:nvSpPr>
          <p:cNvPr id="75" name="Text 73"/>
          <p:cNvSpPr/>
          <p:nvPr/>
        </p:nvSpPr>
        <p:spPr>
          <a:xfrm>
            <a:off x="4754880" y="147218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Deze workshop was genoeg</a:t>
            </a:r>
            <a:endParaRPr lang="en-US" sz="1400" dirty="0"/>
          </a:p>
        </p:txBody>
      </p:sp>
      <p:sp>
        <p:nvSpPr>
          <p:cNvPr id="76" name="Shape 74"/>
          <p:cNvSpPr/>
          <p:nvPr/>
        </p:nvSpPr>
        <p:spPr>
          <a:xfrm>
            <a:off x="9859975" y="1687068"/>
            <a:ext cx="1554480" cy="329184"/>
          </a:xfrm>
          <a:prstGeom prst="roundRect">
            <a:avLst>
              <a:gd name="adj" fmla="val 138889"/>
            </a:avLst>
          </a:prstGeom>
          <a:solidFill>
            <a:srgbClr val="3D68EC"/>
          </a:solidFill>
          <a:ln/>
        </p:spPr>
      </p:sp>
      <p:sp>
        <p:nvSpPr>
          <p:cNvPr id="77" name="Text 75"/>
          <p:cNvSpPr/>
          <p:nvPr/>
        </p:nvSpPr>
        <p:spPr>
          <a:xfrm>
            <a:off x="9951415" y="168706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A</a:t>
            </a:r>
            <a:endParaRPr lang="en-US" sz="1100" dirty="0"/>
          </a:p>
        </p:txBody>
      </p:sp>
      <p:sp>
        <p:nvSpPr>
          <p:cNvPr id="78" name="Shape 76"/>
          <p:cNvSpPr/>
          <p:nvPr/>
        </p:nvSpPr>
        <p:spPr>
          <a:xfrm>
            <a:off x="548640" y="2377440"/>
            <a:ext cx="11094415" cy="868680"/>
          </a:xfrm>
          <a:prstGeom prst="roundRect">
            <a:avLst>
              <a:gd name="adj" fmla="val 15512"/>
            </a:avLst>
          </a:prstGeom>
          <a:solidFill>
            <a:srgbClr val="FFFFFF"/>
          </a:solidFill>
          <a:ln/>
        </p:spPr>
      </p:sp>
      <p:sp>
        <p:nvSpPr>
          <p:cNvPr id="79" name="Text 77"/>
          <p:cNvSpPr/>
          <p:nvPr/>
        </p:nvSpPr>
        <p:spPr>
          <a:xfrm>
            <a:off x="822960" y="243230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Een losse sessie van een paar uur</a:t>
            </a:r>
            <a:endParaRPr lang="en-US" sz="1600" dirty="0"/>
          </a:p>
        </p:txBody>
      </p:sp>
      <p:sp>
        <p:nvSpPr>
          <p:cNvPr id="80" name="Text 78"/>
          <p:cNvSpPr/>
          <p:nvPr/>
        </p:nvSpPr>
        <p:spPr>
          <a:xfrm>
            <a:off x="4754880" y="243230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Een vervolgworkshop, bijvoorbeeld met eigen data</a:t>
            </a:r>
            <a:endParaRPr lang="en-US" sz="1400" dirty="0"/>
          </a:p>
        </p:txBody>
      </p:sp>
      <p:sp>
        <p:nvSpPr>
          <p:cNvPr id="81" name="Shape 79"/>
          <p:cNvSpPr/>
          <p:nvPr/>
        </p:nvSpPr>
        <p:spPr>
          <a:xfrm>
            <a:off x="9859975" y="2647188"/>
            <a:ext cx="1554480" cy="329184"/>
          </a:xfrm>
          <a:prstGeom prst="roundRect">
            <a:avLst>
              <a:gd name="adj" fmla="val 138889"/>
            </a:avLst>
          </a:prstGeom>
          <a:solidFill>
            <a:srgbClr val="3D68EC"/>
          </a:solidFill>
          <a:ln/>
        </p:spPr>
      </p:sp>
      <p:sp>
        <p:nvSpPr>
          <p:cNvPr id="82" name="Text 80"/>
          <p:cNvSpPr/>
          <p:nvPr/>
        </p:nvSpPr>
        <p:spPr>
          <a:xfrm>
            <a:off x="9951415" y="264718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B</a:t>
            </a:r>
            <a:endParaRPr lang="en-US" sz="1100" dirty="0"/>
          </a:p>
        </p:txBody>
      </p:sp>
      <p:sp>
        <p:nvSpPr>
          <p:cNvPr id="83" name="Shape 81"/>
          <p:cNvSpPr/>
          <p:nvPr/>
        </p:nvSpPr>
        <p:spPr>
          <a:xfrm>
            <a:off x="548640" y="3337560"/>
            <a:ext cx="11094415" cy="868680"/>
          </a:xfrm>
          <a:prstGeom prst="roundRect">
            <a:avLst>
              <a:gd name="adj" fmla="val 15512"/>
            </a:avLst>
          </a:prstGeom>
          <a:solidFill>
            <a:srgbClr val="FFFFFF"/>
          </a:solidFill>
          <a:ln/>
        </p:spPr>
      </p:sp>
      <p:sp>
        <p:nvSpPr>
          <p:cNvPr id="84" name="Text 82"/>
          <p:cNvSpPr/>
          <p:nvPr/>
        </p:nvSpPr>
        <p:spPr>
          <a:xfrm>
            <a:off x="822960" y="339242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Een paar dagdelen over enkele weken</a:t>
            </a:r>
            <a:endParaRPr lang="en-US" sz="1600" dirty="0"/>
          </a:p>
        </p:txBody>
      </p:sp>
      <p:sp>
        <p:nvSpPr>
          <p:cNvPr id="85" name="Text 83"/>
          <p:cNvSpPr/>
          <p:nvPr/>
        </p:nvSpPr>
        <p:spPr>
          <a:xfrm>
            <a:off x="4754880" y="339242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Verdieping verspreid over meerdere dagen</a:t>
            </a:r>
            <a:endParaRPr lang="en-US" sz="1400" dirty="0"/>
          </a:p>
        </p:txBody>
      </p:sp>
      <p:sp>
        <p:nvSpPr>
          <p:cNvPr id="86" name="Shape 84"/>
          <p:cNvSpPr/>
          <p:nvPr/>
        </p:nvSpPr>
        <p:spPr>
          <a:xfrm>
            <a:off x="9859975" y="3607308"/>
            <a:ext cx="1554480" cy="329184"/>
          </a:xfrm>
          <a:prstGeom prst="roundRect">
            <a:avLst>
              <a:gd name="adj" fmla="val 138889"/>
            </a:avLst>
          </a:prstGeom>
          <a:solidFill>
            <a:srgbClr val="3D68EC"/>
          </a:solidFill>
          <a:ln/>
        </p:spPr>
      </p:sp>
      <p:sp>
        <p:nvSpPr>
          <p:cNvPr id="87" name="Text 85"/>
          <p:cNvSpPr/>
          <p:nvPr/>
        </p:nvSpPr>
        <p:spPr>
          <a:xfrm>
            <a:off x="9951415" y="360730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C</a:t>
            </a:r>
            <a:endParaRPr lang="en-US" sz="1100" dirty="0"/>
          </a:p>
        </p:txBody>
      </p:sp>
      <p:sp>
        <p:nvSpPr>
          <p:cNvPr id="88" name="Shape 86"/>
          <p:cNvSpPr/>
          <p:nvPr/>
        </p:nvSpPr>
        <p:spPr>
          <a:xfrm>
            <a:off x="548640" y="4297680"/>
            <a:ext cx="11094415" cy="868680"/>
          </a:xfrm>
          <a:prstGeom prst="roundRect">
            <a:avLst>
              <a:gd name="adj" fmla="val 15512"/>
            </a:avLst>
          </a:prstGeom>
          <a:solidFill>
            <a:srgbClr val="FFFFFF"/>
          </a:solidFill>
          <a:ln/>
        </p:spPr>
      </p:sp>
      <p:sp>
        <p:nvSpPr>
          <p:cNvPr id="89" name="Text 87"/>
          <p:cNvSpPr/>
          <p:nvPr/>
        </p:nvSpPr>
        <p:spPr>
          <a:xfrm>
            <a:off x="822960" y="435254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4 uur per week, één semester</a:t>
            </a:r>
            <a:endParaRPr lang="en-US" sz="1600" dirty="0"/>
          </a:p>
        </p:txBody>
      </p:sp>
      <p:sp>
        <p:nvSpPr>
          <p:cNvPr id="90" name="Text 88"/>
          <p:cNvSpPr/>
          <p:nvPr/>
        </p:nvSpPr>
        <p:spPr>
          <a:xfrm>
            <a:off x="4754880" y="435254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Een volledig trainingsprogramma</a:t>
            </a:r>
            <a:endParaRPr lang="en-US" sz="1400" dirty="0"/>
          </a:p>
        </p:txBody>
      </p:sp>
      <p:sp>
        <p:nvSpPr>
          <p:cNvPr id="91" name="Shape 89"/>
          <p:cNvSpPr/>
          <p:nvPr/>
        </p:nvSpPr>
        <p:spPr>
          <a:xfrm>
            <a:off x="9859975" y="4567428"/>
            <a:ext cx="1554480" cy="329184"/>
          </a:xfrm>
          <a:prstGeom prst="roundRect">
            <a:avLst>
              <a:gd name="adj" fmla="val 138889"/>
            </a:avLst>
          </a:prstGeom>
          <a:solidFill>
            <a:srgbClr val="3D68EC"/>
          </a:solidFill>
          <a:ln/>
        </p:spPr>
      </p:sp>
      <p:sp>
        <p:nvSpPr>
          <p:cNvPr id="92" name="Text 90"/>
          <p:cNvSpPr/>
          <p:nvPr/>
        </p:nvSpPr>
        <p:spPr>
          <a:xfrm>
            <a:off x="9951415" y="456742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D</a:t>
            </a:r>
            <a:endParaRPr lang="en-US" sz="1100" dirty="0"/>
          </a:p>
        </p:txBody>
      </p:sp>
      <p:sp>
        <p:nvSpPr>
          <p:cNvPr id="93" name="Text 91"/>
          <p:cNvSpPr/>
          <p:nvPr/>
        </p:nvSpPr>
        <p:spPr>
          <a:xfrm>
            <a:off x="548640" y="6291072"/>
            <a:ext cx="11094415" cy="274320"/>
          </a:xfrm>
          <a:prstGeom prst="rect">
            <a:avLst/>
          </a:prstGeom>
          <a:noFill/>
          <a:ln/>
        </p:spPr>
        <p:txBody>
          <a:bodyPr wrap="square" lIns="0" tIns="0" rIns="0" bIns="0" rtlCol="0" anchor="t"/>
          <a:lstStyle/>
          <a:p>
            <a:pPr algn="l" indent="0" marL="0">
              <a:lnSpc>
                <a:spcPct val="105000"/>
              </a:lnSpc>
              <a:buNone/>
            </a:pPr>
            <a:r>
              <a:rPr lang="en-US" sz="1100" dirty="0">
                <a:solidFill>
                  <a:srgbClr val="3D68EC"/>
                </a:solidFill>
                <a:latin typeface="General Sans" pitchFamily="34" charset="0"/>
                <a:ea typeface="General Sans" pitchFamily="34" charset="-122"/>
                <a:cs typeface="General Sans" pitchFamily="34" charset="-120"/>
              </a:rPr>
              <a:t>Kies wat het best past. Scan de QR-code of steek je hand op.</a:t>
            </a:r>
            <a:endParaRPr lang="en-US" sz="1100" dirty="0"/>
          </a:p>
        </p:txBody>
      </p:sp>
      <p:pic>
        <p:nvPicPr>
          <p:cNvPr id="94" name="Npuls beeldmerk" descr="npuls-beeldmerk-zwart.png"/>
          <p:cNvPicPr>
            <a:picLocks noChangeAspect="1"/>
          </p:cNvPicPr>
          <p:nvPr/>
        </p:nvPicPr>
        <p:blipFill>
          <a:blip r:embed="rId3"/>
          <a:stretch>
            <a:fillRect/>
          </a:stretch>
        </p:blipFill>
        <p:spPr>
          <a:xfrm>
            <a:off x="11036757" y="417830"/>
            <a:ext cx="572516" cy="572516"/>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D74B"/>
        </a:solidFill>
      </p:bgPr>
    </p:bg>
    <p:spTree>
      <p:nvGrpSpPr>
        <p:cNvPr id="1" name=""/>
        <p:cNvGrpSpPr/>
        <p:nvPr/>
      </p:nvGrpSpPr>
      <p:grpSpPr>
        <a:xfrm>
          <a:off x="0" y="0"/>
          <a:ext cx="0" cy="0"/>
          <a:chOff x="0" y="0"/>
          <a:chExt cx="0" cy="0"/>
        </a:xfrm>
      </p:grpSpPr>
      <p:sp>
        <p:nvSpPr>
          <p:cNvPr id="72" name="Text 70"/>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3D68EC"/>
                </a:solidFill>
                <a:latin typeface="General Sans Semibold" pitchFamily="34" charset="0"/>
                <a:ea typeface="General Sans Semibold" pitchFamily="34" charset="-122"/>
                <a:cs typeface="General Sans Semibold" pitchFamily="34" charset="-120"/>
              </a:rPr>
              <a:t>Wat wil je precies leren?</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Kort en concreet. Bijvoorbeeld: een eigen skill schrijven voor onze data.</a:t>
            </a:r>
            <a:endParaRPr lang="en-US" sz="2200" dirty="0"/>
          </a:p>
        </p:txBody>
      </p:sp>
      <p:pic>
        <p:nvPicPr>
          <p:cNvPr id="74" name="Image 0" descr="exports\261005_workshop_rad_uitvoering\img\Lamp.png">    </p:cNvPr>
          <p:cNvPicPr>
            <a:picLocks noChangeAspect="1"/>
          </p:cNvPicPr>
          <p:nvPr/>
        </p:nvPicPr>
        <p:blipFill>
          <a:blip r:embed="rId1"/>
          <a:stretch>
            <a:fillRect/>
          </a:stretch>
        </p:blipFill>
        <p:spPr>
          <a:xfrm>
            <a:off x="8503920" y="1828800"/>
            <a:ext cx="3291840" cy="3291840"/>
          </a:xfrm>
          <a:prstGeom prst="rect">
            <a:avLst/>
          </a:prstGeom>
        </p:spPr>
      </p:pic>
      <p:pic>
        <p:nvPicPr>
          <p:cNvPr id="75" name="Npuls beeldmerk" descr="npuls-beeldmerk-zwart.png"/>
          <p:cNvPicPr>
            <a:picLocks noChangeAspect="1"/>
          </p:cNvPicPr>
          <p:nvPr/>
        </p:nvPicPr>
        <p:blipFill>
          <a:blip r:embed="rId4"/>
          <a:stretch>
            <a:fillRect/>
          </a:stretch>
        </p:blipFill>
        <p:spPr>
          <a:xfrm>
            <a:off x="11036757" y="417830"/>
            <a:ext cx="572516" cy="572516"/>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D9DC"/>
        </a:solidFill>
      </p:bgPr>
    </p:bg>
    <p:spTree>
      <p:nvGrpSpPr>
        <p:cNvPr id="1" name=""/>
        <p:cNvGrpSpPr/>
        <p:nvPr/>
      </p:nvGrpSpPr>
      <p:grpSpPr>
        <a:xfrm>
          <a:off x="0" y="0"/>
          <a:ext cx="0" cy="0"/>
          <a:chOff x="0" y="0"/>
          <a:chExt cx="0" cy="0"/>
        </a:xfrm>
      </p:grpSpPr>
      <p:sp>
        <p:nvSpPr>
          <p:cNvPr id="2" name="Text 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Afsluiting</a:t>
            </a:r>
            <a:endParaRPr lang="en-US" sz="3400" dirty="0"/>
          </a:p>
        </p:txBody>
      </p:sp>
      <p:sp>
        <p:nvSpPr>
          <p:cNvPr id="3" name="Text 1"/>
          <p:cNvSpPr/>
          <p:nvPr/>
        </p:nvSpPr>
        <p:spPr>
          <a:xfrm>
            <a:off x="548640" y="1645920"/>
            <a:ext cx="5120640" cy="1290320"/>
          </a:xfrm>
          <a:prstGeom prst="rect">
            <a:avLst/>
          </a:prstGeom>
          <a:noFill/>
          <a:ln/>
        </p:spPr>
        <p:txBody>
          <a:bodyPr wrap="square" lIns="0" tIns="0" rIns="0" bIns="0" rtlCol="0" anchor="t"/>
          <a:lstStyle/>
          <a:p>
            <a:pPr algn="l" indent="0" marL="0">
              <a:lnSpc>
                <a:spcPct val="105000"/>
              </a:lnSpc>
              <a:buNone/>
            </a:pPr>
            <a:r>
              <a:rPr lang="en-US" sz="4000" dirty="0">
                <a:solidFill>
                  <a:srgbClr val="000000"/>
                </a:solidFill>
                <a:latin typeface="Cooper Lt BT" pitchFamily="34" charset="0"/>
                <a:ea typeface="Cooper Lt BT" pitchFamily="34" charset="-122"/>
                <a:cs typeface="Cooper Lt BT" pitchFamily="34" charset="-120"/>
              </a:rPr>
              <a:t>Wat verloor en won je?</a:t>
            </a:r>
            <a:endParaRPr lang="en-US" sz="4000" dirty="0"/>
          </a:p>
        </p:txBody>
      </p:sp>
      <p:sp>
        <p:nvSpPr>
          <p:cNvPr id="4" name="Text 2"/>
          <p:cNvSpPr/>
          <p:nvPr/>
        </p:nvSpPr>
        <p:spPr>
          <a:xfrm>
            <a:off x="548640" y="3256280"/>
            <a:ext cx="5120640" cy="82296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En wat doe je morgen anders?</a:t>
            </a:r>
            <a:endParaRPr lang="en-US" sz="1800" dirty="0"/>
          </a:p>
        </p:txBody>
      </p:sp>
      <p:sp>
        <p:nvSpPr>
          <p:cNvPr id="5" name="Text 3"/>
          <p:cNvSpPr/>
          <p:nvPr/>
        </p:nvSpPr>
        <p:spPr>
          <a:xfrm>
            <a:off x="6400800" y="1600200"/>
            <a:ext cx="5242255" cy="457200"/>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Voor onderweg</a:t>
            </a:r>
            <a:endParaRPr lang="en-US" sz="2200" dirty="0"/>
          </a:p>
        </p:txBody>
      </p:sp>
      <p:sp>
        <p:nvSpPr>
          <p:cNvPr id="6" name="Shape 4"/>
          <p:cNvSpPr/>
          <p:nvPr/>
        </p:nvSpPr>
        <p:spPr>
          <a:xfrm>
            <a:off x="6400800" y="2240280"/>
            <a:ext cx="5242255" cy="1371600"/>
          </a:xfrm>
          <a:prstGeom prst="roundRect">
            <a:avLst>
              <a:gd name="adj" fmla="val 11111"/>
            </a:avLst>
          </a:prstGeom>
          <a:solidFill>
            <a:srgbClr val="00AF81"/>
          </a:solidFill>
          <a:ln/>
        </p:spPr>
      </p:sp>
      <p:sp>
        <p:nvSpPr>
          <p:cNvPr id="7" name="Shape 5"/>
          <p:cNvSpPr/>
          <p:nvPr/>
        </p:nvSpPr>
        <p:spPr>
          <a:xfrm>
            <a:off x="6675120" y="2441448"/>
            <a:ext cx="1371600" cy="347472"/>
          </a:xfrm>
          <a:prstGeom prst="roundRect">
            <a:avLst>
              <a:gd name="adj" fmla="val 131579"/>
            </a:avLst>
          </a:prstGeom>
          <a:solidFill>
            <a:srgbClr val="F4D9DC"/>
          </a:solidFill>
          <a:ln/>
        </p:spPr>
      </p:sp>
      <p:sp>
        <p:nvSpPr>
          <p:cNvPr id="8" name="Text 6"/>
          <p:cNvSpPr/>
          <p:nvPr/>
        </p:nvSpPr>
        <p:spPr>
          <a:xfrm>
            <a:off x="6766560" y="2441448"/>
            <a:ext cx="1188720" cy="347472"/>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Meenemen</a:t>
            </a:r>
            <a:endParaRPr lang="en-US" sz="1100" dirty="0"/>
          </a:p>
        </p:txBody>
      </p:sp>
      <p:sp>
        <p:nvSpPr>
          <p:cNvPr id="9" name="Text 7"/>
          <p:cNvSpPr/>
          <p:nvPr/>
        </p:nvSpPr>
        <p:spPr>
          <a:xfrm>
            <a:off x="6675120" y="2880360"/>
            <a:ext cx="4693615" cy="59436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De twee skills staan in de repo, je kunt ze zelf aanpassen.</a:t>
            </a:r>
            <a:endParaRPr lang="en-US" sz="1500" dirty="0"/>
          </a:p>
        </p:txBody>
      </p:sp>
      <p:sp>
        <p:nvSpPr>
          <p:cNvPr id="10" name="Shape 8"/>
          <p:cNvSpPr/>
          <p:nvPr/>
        </p:nvSpPr>
        <p:spPr>
          <a:xfrm>
            <a:off x="6400800" y="3749040"/>
            <a:ext cx="5242255" cy="1371600"/>
          </a:xfrm>
          <a:prstGeom prst="roundRect">
            <a:avLst>
              <a:gd name="adj" fmla="val 11111"/>
            </a:avLst>
          </a:prstGeom>
          <a:solidFill>
            <a:srgbClr val="00AF81"/>
          </a:solidFill>
          <a:ln/>
        </p:spPr>
      </p:sp>
      <p:sp>
        <p:nvSpPr>
          <p:cNvPr id="11" name="Shape 9"/>
          <p:cNvSpPr/>
          <p:nvPr/>
        </p:nvSpPr>
        <p:spPr>
          <a:xfrm>
            <a:off x="6675120" y="3950208"/>
            <a:ext cx="1371600" cy="347472"/>
          </a:xfrm>
          <a:prstGeom prst="roundRect">
            <a:avLst>
              <a:gd name="adj" fmla="val 131579"/>
            </a:avLst>
          </a:prstGeom>
          <a:solidFill>
            <a:srgbClr val="F4D9DC"/>
          </a:solidFill>
          <a:ln/>
        </p:spPr>
      </p:sp>
      <p:sp>
        <p:nvSpPr>
          <p:cNvPr id="12" name="Text 10"/>
          <p:cNvSpPr/>
          <p:nvPr/>
        </p:nvSpPr>
        <p:spPr>
          <a:xfrm>
            <a:off x="6766560" y="3950208"/>
            <a:ext cx="1188720" cy="347472"/>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Nog even</a:t>
            </a:r>
            <a:endParaRPr lang="en-US" sz="1100" dirty="0"/>
          </a:p>
        </p:txBody>
      </p:sp>
      <p:sp>
        <p:nvSpPr>
          <p:cNvPr id="13" name="Text 11"/>
          <p:cNvSpPr/>
          <p:nvPr/>
        </p:nvSpPr>
        <p:spPr>
          <a:xfrm>
            <a:off x="6675120" y="4389120"/>
            <a:ext cx="4693615" cy="59436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verschil is nog geen oorzaak.</a:t>
            </a:r>
            <a:endParaRPr lang="en-US" sz="1500" dirty="0"/>
          </a:p>
        </p:txBody>
      </p:sp>
      <p:pic>
        <p:nvPicPr>
          <p:cNvPr id="14" name="Image 0" descr="Npuls">    </p:cNvPr>
          <p:cNvPicPr>
            <a:picLocks noChangeAspect="1"/>
          </p:cNvPicPr>
          <p:nvPr/>
        </p:nvPicPr>
        <p:blipFill>
          <a:blip r:embed="rId1"/>
          <a:stretch>
            <a:fillRect/>
          </a:stretch>
        </p:blipFill>
        <p:spPr>
          <a:xfrm>
            <a:off x="10454335" y="5120640"/>
            <a:ext cx="1188720" cy="118872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1600200"/>
            <a:ext cx="11094415" cy="320040"/>
          </a:xfrm>
          <a:prstGeom prst="rect">
            <a:avLst/>
          </a:prstGeom>
          <a:noFill/>
          <a:ln/>
        </p:spPr>
        <p:txBody>
          <a:bodyPr wrap="square" lIns="0" tIns="0" rIns="0" bIns="0" rtlCol="0" anchor="t"/>
          <a:lstStyle/>
          <a:p>
            <a:pPr algn="ctr" indent="0" marL="0">
              <a:lnSpc>
                <a:spcPct val="105000"/>
              </a:lnSpc>
              <a:buNone/>
            </a:pPr>
            <a:r>
              <a:rPr lang="en-US" sz="1300" spc="300" kern="0" dirty="0">
                <a:solidFill>
                  <a:srgbClr val="DD784B"/>
                </a:solidFill>
                <a:latin typeface="General Sans Semibold" pitchFamily="34" charset="0"/>
                <a:ea typeface="General Sans Semibold" pitchFamily="34" charset="-122"/>
                <a:cs typeface="General Sans Semibold" pitchFamily="34" charset="-120"/>
              </a:rPr>
              <a:t>TOT SLOT</a:t>
            </a:r>
            <a:endParaRPr lang="en-US" sz="1300" dirty="0"/>
          </a:p>
        </p:txBody>
      </p:sp>
      <p:sp>
        <p:nvSpPr>
          <p:cNvPr id="3" name="Text 1"/>
          <p:cNvSpPr/>
          <p:nvPr/>
        </p:nvSpPr>
        <p:spPr>
          <a:xfrm>
            <a:off x="548640" y="1965960"/>
            <a:ext cx="11094415" cy="868680"/>
          </a:xfrm>
          <a:prstGeom prst="rect">
            <a:avLst/>
          </a:prstGeom>
          <a:noFill/>
          <a:ln/>
        </p:spPr>
        <p:txBody>
          <a:bodyPr wrap="square" lIns="0" tIns="0" rIns="0" bIns="0" rtlCol="0" anchor="t"/>
          <a:lstStyle/>
          <a:p>
            <a:pPr algn="ctr" indent="0" marL="0">
              <a:lnSpc>
                <a:spcPct val="105000"/>
              </a:lnSpc>
              <a:buNone/>
            </a:pPr>
            <a:r>
              <a:rPr lang="en-US" sz="4400" dirty="0">
                <a:solidFill>
                  <a:srgbClr val="3D68EC"/>
                </a:solidFill>
                <a:latin typeface="General Sans Semibold" pitchFamily="34" charset="0"/>
                <a:ea typeface="General Sans Semibold" pitchFamily="34" charset="-122"/>
                <a:cs typeface="General Sans Semibold" pitchFamily="34" charset="-120"/>
              </a:rPr>
              <a:t>Blijf in contact</a:t>
            </a:r>
            <a:endParaRPr lang="en-US" sz="4400" dirty="0"/>
          </a:p>
        </p:txBody>
      </p:sp>
      <p:sp>
        <p:nvSpPr>
          <p:cNvPr id="4" name="Text 2"/>
          <p:cNvSpPr/>
          <p:nvPr/>
        </p:nvSpPr>
        <p:spPr>
          <a:xfrm>
            <a:off x="2286000" y="2880360"/>
            <a:ext cx="7619695" cy="457200"/>
          </a:xfrm>
          <a:prstGeom prst="rect">
            <a:avLst/>
          </a:prstGeom>
          <a:noFill/>
          <a:ln/>
        </p:spPr>
        <p:txBody>
          <a:bodyPr wrap="square" lIns="0" tIns="0" rIns="0" bIns="0" rtlCol="0" anchor="t"/>
          <a:lstStyle/>
          <a:p>
            <a:pPr algn="ctr"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Vragen, feedback of zin om mee te bouwen? We horen graag van je.</a:t>
            </a:r>
            <a:endParaRPr lang="en-US" sz="1600" dirty="0"/>
          </a:p>
        </p:txBody>
      </p:sp>
      <p:sp>
        <p:nvSpPr>
          <p:cNvPr id="5" name="Shape 3"/>
          <p:cNvSpPr/>
          <p:nvPr/>
        </p:nvSpPr>
        <p:spPr>
          <a:xfrm>
            <a:off x="1020928" y="3657600"/>
            <a:ext cx="3200400" cy="1234440"/>
          </a:xfrm>
          <a:prstGeom prst="roundRect">
            <a:avLst>
              <a:gd name="adj" fmla="val 10974"/>
            </a:avLst>
          </a:prstGeom>
          <a:solidFill>
            <a:srgbClr val="FFFFFF"/>
          </a:solidFill>
          <a:ln/>
        </p:spPr>
      </p:sp>
      <p:sp>
        <p:nvSpPr>
          <p:cNvPr id="6" name="Shape 4"/>
          <p:cNvSpPr/>
          <p:nvPr/>
        </p:nvSpPr>
        <p:spPr>
          <a:xfrm>
            <a:off x="1889608" y="3858768"/>
            <a:ext cx="1463040" cy="365760"/>
          </a:xfrm>
          <a:prstGeom prst="roundRect">
            <a:avLst>
              <a:gd name="adj" fmla="val 125000"/>
            </a:avLst>
          </a:prstGeom>
          <a:solidFill>
            <a:srgbClr val="3D68EC"/>
          </a:solidFill>
          <a:ln/>
        </p:spPr>
      </p:sp>
      <p:sp>
        <p:nvSpPr>
          <p:cNvPr id="7" name="Text 5"/>
          <p:cNvSpPr/>
          <p:nvPr/>
        </p:nvSpPr>
        <p:spPr>
          <a:xfrm>
            <a:off x="1981048" y="3858768"/>
            <a:ext cx="1280160" cy="365760"/>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GitHub</a:t>
            </a:r>
            <a:endParaRPr lang="en-US" sz="1200" dirty="0"/>
          </a:p>
        </p:txBody>
      </p:sp>
      <p:sp>
        <p:nvSpPr>
          <p:cNvPr id="8" name="Text 6">
            <a:hlinkClick r:id="rId2" tooltip=""/>
          </p:cNvPr>
          <p:cNvSpPr/>
          <p:nvPr/>
        </p:nvSpPr>
        <p:spPr>
          <a:xfrm>
            <a:off x="1158088" y="4370832"/>
            <a:ext cx="2926080" cy="365760"/>
          </a:xfrm>
          <a:prstGeom prst="rect">
            <a:avLst/>
          </a:prstGeom>
          <a:noFill/>
          <a:ln/>
        </p:spPr>
        <p:txBody>
          <a:bodyPr wrap="square" lIns="0" tIns="0" rIns="0" bIns="0" rtlCol="0" anchor="ctr"/>
          <a:lstStyle/>
          <a:p>
            <a:pPr algn="ctr" indent="0" marL="0">
              <a:buNone/>
            </a:pPr>
            <a:r>
              <a:rPr lang="en-US" sz="1400" u="sng" dirty="0">
                <a:solidFill>
                  <a:srgbClr val="000000"/>
                </a:solidFill>
                <a:latin typeface="General Sans" pitchFamily="34" charset="0"/>
                <a:ea typeface="General Sans" pitchFamily="34" charset="-122"/>
                <a:cs typeface="General Sans"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github.com/cedanl</a:t>
            </a:r>
            <a:endParaRPr lang="en-US" sz="1400" dirty="0"/>
          </a:p>
        </p:txBody>
      </p:sp>
      <p:sp>
        <p:nvSpPr>
          <p:cNvPr id="9" name="Shape 7"/>
          <p:cNvSpPr/>
          <p:nvPr/>
        </p:nvSpPr>
        <p:spPr>
          <a:xfrm>
            <a:off x="4495648" y="3657600"/>
            <a:ext cx="3200400" cy="1234440"/>
          </a:xfrm>
          <a:prstGeom prst="roundRect">
            <a:avLst>
              <a:gd name="adj" fmla="val 10974"/>
            </a:avLst>
          </a:prstGeom>
          <a:solidFill>
            <a:srgbClr val="FFFFFF"/>
          </a:solidFill>
          <a:ln/>
        </p:spPr>
      </p:sp>
      <p:sp>
        <p:nvSpPr>
          <p:cNvPr id="10" name="Shape 8"/>
          <p:cNvSpPr/>
          <p:nvPr/>
        </p:nvSpPr>
        <p:spPr>
          <a:xfrm>
            <a:off x="5364328" y="3858768"/>
            <a:ext cx="1463040" cy="365760"/>
          </a:xfrm>
          <a:prstGeom prst="roundRect">
            <a:avLst>
              <a:gd name="adj" fmla="val 125000"/>
            </a:avLst>
          </a:prstGeom>
          <a:solidFill>
            <a:srgbClr val="00AF81"/>
          </a:solidFill>
          <a:ln/>
        </p:spPr>
      </p:sp>
      <p:sp>
        <p:nvSpPr>
          <p:cNvPr id="11" name="Text 9"/>
          <p:cNvSpPr/>
          <p:nvPr/>
        </p:nvSpPr>
        <p:spPr>
          <a:xfrm>
            <a:off x="5455768" y="3858768"/>
            <a:ext cx="1280160" cy="365760"/>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Community</a:t>
            </a:r>
            <a:endParaRPr lang="en-US" sz="1200" dirty="0"/>
          </a:p>
        </p:txBody>
      </p:sp>
      <p:sp>
        <p:nvSpPr>
          <p:cNvPr id="12" name="Text 10">
            <a:hlinkClick r:id="rId3" tooltip=""/>
          </p:cNvPr>
          <p:cNvSpPr/>
          <p:nvPr/>
        </p:nvSpPr>
        <p:spPr>
          <a:xfrm>
            <a:off x="4632808" y="4370832"/>
            <a:ext cx="2926080" cy="365760"/>
          </a:xfrm>
          <a:prstGeom prst="rect">
            <a:avLst/>
          </a:prstGeom>
          <a:noFill/>
          <a:ln/>
        </p:spPr>
        <p:txBody>
          <a:bodyPr wrap="square" lIns="0" tIns="0" rIns="0" bIns="0" rtlCol="0" anchor="ctr"/>
          <a:lstStyle/>
          <a:p>
            <a:pPr algn="ctr" indent="0" marL="0">
              <a:buNone/>
            </a:pPr>
            <a:r>
              <a:rPr lang="en-US" sz="1400" u="sng" dirty="0">
                <a:solidFill>
                  <a:srgbClr val="000000"/>
                </a:solidFill>
                <a:latin typeface="General Sans" pitchFamily="34" charset="0"/>
                <a:ea typeface="General Sans" pitchFamily="34" charset="-122"/>
                <a:cs typeface="General Sans"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community.npuls.nl/groups/data-ai</a:t>
            </a:r>
            <a:endParaRPr lang="en-US" sz="1400" dirty="0"/>
          </a:p>
        </p:txBody>
      </p:sp>
      <p:sp>
        <p:nvSpPr>
          <p:cNvPr id="13" name="Shape 11"/>
          <p:cNvSpPr/>
          <p:nvPr/>
        </p:nvSpPr>
        <p:spPr>
          <a:xfrm>
            <a:off x="7970368" y="3657600"/>
            <a:ext cx="3200400" cy="1234440"/>
          </a:xfrm>
          <a:prstGeom prst="roundRect">
            <a:avLst>
              <a:gd name="adj" fmla="val 10974"/>
            </a:avLst>
          </a:prstGeom>
          <a:solidFill>
            <a:srgbClr val="FFFFFF"/>
          </a:solidFill>
          <a:ln/>
        </p:spPr>
      </p:sp>
      <p:sp>
        <p:nvSpPr>
          <p:cNvPr id="14" name="Shape 12"/>
          <p:cNvSpPr/>
          <p:nvPr/>
        </p:nvSpPr>
        <p:spPr>
          <a:xfrm>
            <a:off x="8839048" y="3858768"/>
            <a:ext cx="1463040" cy="365760"/>
          </a:xfrm>
          <a:prstGeom prst="roundRect">
            <a:avLst>
              <a:gd name="adj" fmla="val 125000"/>
            </a:avLst>
          </a:prstGeom>
          <a:solidFill>
            <a:srgbClr val="DD784B"/>
          </a:solidFill>
          <a:ln/>
        </p:spPr>
      </p:sp>
      <p:sp>
        <p:nvSpPr>
          <p:cNvPr id="15" name="Text 13"/>
          <p:cNvSpPr/>
          <p:nvPr/>
        </p:nvSpPr>
        <p:spPr>
          <a:xfrm>
            <a:off x="8930488" y="3858768"/>
            <a:ext cx="1280160" cy="365760"/>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Email</a:t>
            </a:r>
            <a:endParaRPr lang="en-US" sz="1200" dirty="0"/>
          </a:p>
        </p:txBody>
      </p:sp>
      <p:sp>
        <p:nvSpPr>
          <p:cNvPr id="16" name="Text 14">
            <a:hlinkClick r:id="rId4" tooltip=""/>
          </p:cNvPr>
          <p:cNvSpPr/>
          <p:nvPr/>
        </p:nvSpPr>
        <p:spPr>
          <a:xfrm>
            <a:off x="8107528" y="4370832"/>
            <a:ext cx="2926080" cy="365760"/>
          </a:xfrm>
          <a:prstGeom prst="rect">
            <a:avLst/>
          </a:prstGeom>
          <a:noFill/>
          <a:ln/>
        </p:spPr>
        <p:txBody>
          <a:bodyPr wrap="square" lIns="0" tIns="0" rIns="0" bIns="0" rtlCol="0" anchor="ctr"/>
          <a:lstStyle/>
          <a:p>
            <a:pPr algn="ctr" indent="0" marL="0">
              <a:buNone/>
            </a:pPr>
            <a:r>
              <a:rPr lang="en-US" sz="1400" u="sng" dirty="0">
                <a:solidFill>
                  <a:srgbClr val="000000"/>
                </a:solidFill>
                <a:latin typeface="General Sans" pitchFamily="34" charset="0"/>
                <a:ea typeface="General Sans" pitchFamily="34" charset="-122"/>
                <a:cs typeface="General Sans" pitchFamily="34" charset="-120"/>
                <a:hlinkClick r:id="rId4" invalidUrl="" action="" tgtFrame="" tooltip="" history="1" highlightClick="0" endSnd="0">
                  <a:extLst>
                    <a:ext uri="{A12FA001-AC4F-418D-AE19-62706E023703}">
                      <ahyp:hlinkClr xmlns:ahyp="http://schemas.microsoft.com/office/drawing/2018/hyperlinkcolor" val="tx"/>
                    </a:ext>
                  </a:extLst>
                </a:hlinkClick>
              </a:rPr>
              <a:t>ceda@surf.nl</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neral Sans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neral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Npuls · CEDA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data science in het onderwijs: jij stuurt, de agent bouwt</dc:title>
  <dc:subject>PptxGenJS Presentation</dc:subject>
  <dc:creator>CEDA</dc:creator>
  <cp:lastModifiedBy>CEDA</cp:lastModifiedBy>
  <cp:revision>1</cp:revision>
  <dcterms:created xsi:type="dcterms:W3CDTF">2026-10-05T17:17:39Z</dcterms:created>
  <dcterms:modified xsi:type="dcterms:W3CDTF">2026-10-05T17:17:39Z</dcterms:modified>
</cp:coreProperties>
</file>