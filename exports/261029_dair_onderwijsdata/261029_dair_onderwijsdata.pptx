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Deze sessie is voor wie vragen stelt en inzichten levert, niet voor wie programmeert. In 90 minuten stel je zelf een vraag aan open onderwijsdata, krijg je een rapport en beoordeel je of het klopt.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Twee rondes zelf werken, na elke ronde een spiegelmoment. Tussen de rondes vertellen we kort wat er achter de tool zit, zodat je in ronde 2 kunt beoordelen of een rapport klopt.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kernboodschap. Je hoeft geen Python, R of SQL te kennen om een goede datavraag te stellen. Vandaag zijn jullie de experts die testen en beoordelen; straks moet dit werken voor eindgebruikers zonder data-achtergrond. Daarom is jullie oordeel zo waardevol.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Eén: er is veel open onderwijsdata, maar die staat op sites van DUO en CBS, met bestandsbeschrijvingen die voor de gemiddelde collega lastig te volgen zijn. Onderwijsdata-chat maakt die data toegankelijk. Twee: het bredere principe, praat met je data. Jullie krijgen allerlei ad-hoc vragen. Als collega's die zelf kunnen stellen, houden jullie tijd over voor het echte werk.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tool heeft toegang tot drie open bronnen. Aantallen uit de README van onderwijsdata-chat; check vóór de sessie of ze nog kloppen voor de playground-versie.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met de demovraag van Steven of Amir. Back-up: de opgenomen demo. Laat drie dingen zien: de verhelderende vragen, de stappen die de tool zet, en het rapport dat eruit rolt.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de demo: zo zag je het gebeuren. Benadruk stap 2. De tool helpt de vraag te formuleren, net zoals jullie dat doen als een collega met een vage vraag komt.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1. Tweetallen, zodat iedereen meedoet en niemand alleen zit te kijken.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Voorbeeldvragen invullen zodra Steven en Amir ze aanleveren. Eigen vraag mag altijd, zolang het over open data gaat.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1. De link verwijst naar onderwijsdata-chat.playground.sdp.surf.nl. Doe het samen met je buur.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 zo'n 70 mensen geen microfoon langs de hele zaal. Eerst twee minuten met de buren, dan twee of drie tafels kort aan het woord. Strak in tijd houden.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het buurgesprek. Haal daarna twee of drie korte reacties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achterkant, kort. Dit hebben we gebouwd. Vijf stappen; drie werken goed, twee zijn in ontwikkeling. Juist bij die twee hebben we jullie oordeel nodig in ronde 2. Status volgens de teamsessie van 12 oktober.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Drie bekende valkuilen. Het rij-voorbeeld uit 1CijferHO: vier rijen, drie studenten. Een taalmodel maakt die fout als niemand hem vertelt wat een rij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2. Weer samen met je buur.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Optie B is het vangnet voor wie in ronde 1 niet tot een rapport kwam. Laat de klaargezette rapporten zien of noem waar ze 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2. Vijf vragen die jullie als data-professionals ook bij een collega zouden 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Zelfde vorm als spiegelmoment 1: eerst buren, dan twee tafels. Vraag vooral naar fouten die mensen vonden. Die zijn voor ons het waardevolst.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Plenaire afronding. Een dashboard kan nooit alle vragen beantwoorden; dan ga je het eindeloos uitbreiden. Specifieke vragen kunnen mensen zelf beantwoorden, met een rapportje dat ze kunnen delen. Houd het onderscheid helder: het ene is afgestemd en gefaciliteerd, het andere is een ad-hoc antwoord op een eigen vraag.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zaadje. Nu draait het op open onderwijsdata. Met de AI Hub van SURF kan het taalmodel binnen de sector blijven, en dan wordt het interessant voor de data van je eigen instelling. Dat vraagt afgestemde definities: daar werken we aan, met jullie.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vraag even hangen. Wijs op de feedbacklink voor de sessie.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1" Type="http://schemas.openxmlformats.org/officeDocument/2006/relationships/image" Target="../media/Slide-23-image-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691640"/>
            <a:ext cx="10088575" cy="1828800"/>
          </a:xfrm>
          <a:prstGeom prst="rect">
            <a:avLst/>
          </a:prstGeom>
          <a:noFill/>
          <a:ln/>
        </p:spPr>
        <p:txBody>
          <a:bodyPr wrap="square" lIns="0" tIns="0" rIns="0" bIns="0" rtlCol="0" anchor="b"/>
          <a:lstStyle/>
          <a:p>
            <a:pPr algn="l" indent="0" marL="0">
              <a:lnSpc>
                <a:spcPct val="105000"/>
              </a:lnSpc>
              <a:buNone/>
            </a:pPr>
            <a:r>
              <a:rPr lang="en-US" sz="4600" dirty="0">
                <a:solidFill>
                  <a:srgbClr val="3D68EC"/>
                </a:solidFill>
                <a:latin typeface="General Sans Semibold" pitchFamily="34" charset="0"/>
                <a:ea typeface="General Sans Semibold" pitchFamily="34" charset="-122"/>
                <a:cs typeface="General Sans Semibold" pitchFamily="34" charset="-120"/>
              </a:rPr>
              <a:t>Praat met onderwijsdata</a:t>
            </a:r>
            <a:endParaRPr lang="en-US" sz="4600" dirty="0"/>
          </a:p>
        </p:txBody>
      </p:sp>
      <p:sp>
        <p:nvSpPr>
          <p:cNvPr id="3" name="Text 1"/>
          <p:cNvSpPr/>
          <p:nvPr/>
        </p:nvSpPr>
        <p:spPr>
          <a:xfrm>
            <a:off x="914400" y="3657600"/>
            <a:ext cx="10088575" cy="54864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Van vraag naar rapport, zonder één regel code</a:t>
            </a:r>
            <a:endParaRPr lang="en-US" sz="2200" dirty="0"/>
          </a:p>
        </p:txBody>
      </p:sp>
      <p:sp>
        <p:nvSpPr>
          <p:cNvPr id="4" name="Text 2"/>
          <p:cNvSpPr/>
          <p:nvPr/>
        </p:nvSpPr>
        <p:spPr>
          <a:xfrm>
            <a:off x="914400" y="4297680"/>
            <a:ext cx="10088575" cy="41148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CEDA · DAIR-seminar · 29 oktober 2026 · 90 minuten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2414626" cy="914400"/>
          </a:xfrm>
          <a:prstGeom prst="rect">
            <a:avLst/>
          </a:prstGeom>
          <a:solidFill>
            <a:srgbClr val="F4D74B"/>
          </a:solidFill>
          <a:ln/>
        </p:spPr>
      </p:sp>
      <p:sp>
        <p:nvSpPr>
          <p:cNvPr id="75" name="Text 73"/>
          <p:cNvSpPr/>
          <p:nvPr/>
        </p:nvSpPr>
        <p:spPr>
          <a:xfrm>
            <a:off x="548640"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76" name="Shape 74"/>
          <p:cNvSpPr/>
          <p:nvPr/>
        </p:nvSpPr>
        <p:spPr>
          <a:xfrm>
            <a:off x="548640" y="3017520"/>
            <a:ext cx="2414626" cy="45720"/>
          </a:xfrm>
          <a:prstGeom prst="rect">
            <a:avLst/>
          </a:prstGeom>
          <a:solidFill>
            <a:srgbClr val="F4D74B"/>
          </a:solidFill>
          <a:ln/>
        </p:spPr>
      </p:sp>
      <p:sp>
        <p:nvSpPr>
          <p:cNvPr id="77" name="Text 75"/>
          <p:cNvSpPr/>
          <p:nvPr/>
        </p:nvSpPr>
        <p:spPr>
          <a:xfrm>
            <a:off x="566928"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en demo</a:t>
            </a:r>
            <a:endParaRPr lang="en-US" sz="1100" dirty="0"/>
          </a:p>
        </p:txBody>
      </p:sp>
      <p:sp>
        <p:nvSpPr>
          <p:cNvPr id="78" name="Text 76"/>
          <p:cNvSpPr/>
          <p:nvPr/>
        </p:nvSpPr>
        <p:spPr>
          <a:xfrm>
            <a:off x="566928"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Waarom, en hoe het werkt</a:t>
            </a:r>
            <a:endParaRPr lang="en-US" sz="1200" dirty="0"/>
          </a:p>
        </p:txBody>
      </p:sp>
      <p:sp>
        <p:nvSpPr>
          <p:cNvPr id="79" name="Text 77"/>
          <p:cNvSpPr/>
          <p:nvPr/>
        </p:nvSpPr>
        <p:spPr>
          <a:xfrm>
            <a:off x="3008986"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0:20</a:t>
            </a:r>
            <a:endParaRPr lang="en-US" sz="1400" dirty="0"/>
          </a:p>
        </p:txBody>
      </p:sp>
      <p:sp>
        <p:nvSpPr>
          <p:cNvPr id="80" name="Shape 78"/>
          <p:cNvSpPr/>
          <p:nvPr/>
        </p:nvSpPr>
        <p:spPr>
          <a:xfrm>
            <a:off x="3008986" y="2103120"/>
            <a:ext cx="2414626" cy="914400"/>
          </a:xfrm>
          <a:prstGeom prst="rect">
            <a:avLst/>
          </a:prstGeom>
          <a:solidFill>
            <a:srgbClr val="3D68EC"/>
          </a:solidFill>
          <a:ln/>
        </p:spPr>
      </p:sp>
      <p:sp>
        <p:nvSpPr>
          <p:cNvPr id="81" name="Text 79"/>
          <p:cNvSpPr/>
          <p:nvPr/>
        </p:nvSpPr>
        <p:spPr>
          <a:xfrm>
            <a:off x="3008986"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2" name="Shape 80"/>
          <p:cNvSpPr/>
          <p:nvPr/>
        </p:nvSpPr>
        <p:spPr>
          <a:xfrm>
            <a:off x="3008986" y="3017520"/>
            <a:ext cx="2414626" cy="45720"/>
          </a:xfrm>
          <a:prstGeom prst="rect">
            <a:avLst/>
          </a:prstGeom>
          <a:solidFill>
            <a:srgbClr val="3D68EC"/>
          </a:solidFill>
          <a:ln/>
        </p:spPr>
      </p:sp>
      <p:sp>
        <p:nvSpPr>
          <p:cNvPr id="83" name="Text 81"/>
          <p:cNvSpPr/>
          <p:nvPr/>
        </p:nvSpPr>
        <p:spPr>
          <a:xfrm>
            <a:off x="3027274"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stel je vraag</a:t>
            </a:r>
            <a:endParaRPr lang="en-US" sz="1100" dirty="0"/>
          </a:p>
        </p:txBody>
      </p:sp>
      <p:sp>
        <p:nvSpPr>
          <p:cNvPr id="84" name="Text 82"/>
          <p:cNvSpPr/>
          <p:nvPr/>
        </p:nvSpPr>
        <p:spPr>
          <a:xfrm>
            <a:off x="3027274"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Van vraag naar rapport</a:t>
            </a:r>
            <a:endParaRPr lang="en-US" sz="1200" dirty="0"/>
          </a:p>
        </p:txBody>
      </p:sp>
      <p:sp>
        <p:nvSpPr>
          <p:cNvPr id="85" name="Shape 83"/>
          <p:cNvSpPr/>
          <p:nvPr/>
        </p:nvSpPr>
        <p:spPr>
          <a:xfrm>
            <a:off x="3027274" y="5029200"/>
            <a:ext cx="2378050" cy="310896"/>
          </a:xfrm>
          <a:prstGeom prst="roundRect">
            <a:avLst>
              <a:gd name="adj" fmla="val 147059"/>
            </a:avLst>
          </a:prstGeom>
          <a:solidFill>
            <a:srgbClr val="FFFFFF"/>
          </a:solidFill>
          <a:ln/>
        </p:spPr>
      </p:sp>
      <p:sp>
        <p:nvSpPr>
          <p:cNvPr id="86" name="Text 84"/>
          <p:cNvSpPr/>
          <p:nvPr/>
        </p:nvSpPr>
        <p:spPr>
          <a:xfrm>
            <a:off x="3027274" y="5029200"/>
            <a:ext cx="2378050"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edu.nl/n4kfh</a:t>
            </a:r>
            <a:endParaRPr lang="en-US" sz="900" dirty="0"/>
          </a:p>
        </p:txBody>
      </p:sp>
      <p:sp>
        <p:nvSpPr>
          <p:cNvPr id="87" name="Text 85"/>
          <p:cNvSpPr/>
          <p:nvPr/>
        </p:nvSpPr>
        <p:spPr>
          <a:xfrm>
            <a:off x="5469331" y="1719072"/>
            <a:ext cx="120731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0:40</a:t>
            </a:r>
            <a:endParaRPr lang="en-US" sz="1400" dirty="0"/>
          </a:p>
        </p:txBody>
      </p:sp>
      <p:sp>
        <p:nvSpPr>
          <p:cNvPr id="88" name="Shape 86"/>
          <p:cNvSpPr/>
          <p:nvPr/>
        </p:nvSpPr>
        <p:spPr>
          <a:xfrm>
            <a:off x="5469331" y="2103120"/>
            <a:ext cx="1207313" cy="914400"/>
          </a:xfrm>
          <a:prstGeom prst="rect">
            <a:avLst/>
          </a:prstGeom>
          <a:solidFill>
            <a:srgbClr val="DD784B"/>
          </a:solidFill>
          <a:ln/>
        </p:spPr>
      </p:sp>
      <p:sp>
        <p:nvSpPr>
          <p:cNvPr id="89" name="Text 87"/>
          <p:cNvSpPr/>
          <p:nvPr/>
        </p:nvSpPr>
        <p:spPr>
          <a:xfrm>
            <a:off x="5469331" y="2103120"/>
            <a:ext cx="1207313"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90" name="Shape 88"/>
          <p:cNvSpPr/>
          <p:nvPr/>
        </p:nvSpPr>
        <p:spPr>
          <a:xfrm>
            <a:off x="5469331" y="3017520"/>
            <a:ext cx="1207313" cy="45720"/>
          </a:xfrm>
          <a:prstGeom prst="rect">
            <a:avLst/>
          </a:prstGeom>
          <a:solidFill>
            <a:srgbClr val="DD784B"/>
          </a:solidFill>
          <a:ln/>
        </p:spPr>
      </p:sp>
      <p:sp>
        <p:nvSpPr>
          <p:cNvPr id="91" name="Text 89"/>
          <p:cNvSpPr/>
          <p:nvPr/>
        </p:nvSpPr>
        <p:spPr>
          <a:xfrm>
            <a:off x="5487619" y="3291840"/>
            <a:ext cx="111587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2" name="Text 90"/>
          <p:cNvSpPr/>
          <p:nvPr/>
        </p:nvSpPr>
        <p:spPr>
          <a:xfrm>
            <a:off x="5487619" y="4160520"/>
            <a:ext cx="111587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Hoe beviel het?</a:t>
            </a:r>
            <a:endParaRPr lang="en-US" sz="1200" dirty="0"/>
          </a:p>
        </p:txBody>
      </p:sp>
      <p:sp>
        <p:nvSpPr>
          <p:cNvPr id="93" name="Text 91"/>
          <p:cNvSpPr/>
          <p:nvPr/>
        </p:nvSpPr>
        <p:spPr>
          <a:xfrm>
            <a:off x="6722364" y="1719072"/>
            <a:ext cx="301828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94" name="Shape 92"/>
          <p:cNvSpPr/>
          <p:nvPr/>
        </p:nvSpPr>
        <p:spPr>
          <a:xfrm>
            <a:off x="6722364" y="2103120"/>
            <a:ext cx="3018282" cy="914400"/>
          </a:xfrm>
          <a:prstGeom prst="rect">
            <a:avLst/>
          </a:prstGeom>
          <a:solidFill>
            <a:srgbClr val="3D68EC"/>
          </a:solidFill>
          <a:ln/>
        </p:spPr>
      </p:sp>
      <p:sp>
        <p:nvSpPr>
          <p:cNvPr id="95" name="Text 93"/>
          <p:cNvSpPr/>
          <p:nvPr/>
        </p:nvSpPr>
        <p:spPr>
          <a:xfrm>
            <a:off x="6722364" y="2103120"/>
            <a:ext cx="3018282"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96" name="Shape 94"/>
          <p:cNvSpPr/>
          <p:nvPr/>
        </p:nvSpPr>
        <p:spPr>
          <a:xfrm>
            <a:off x="6722364" y="3017520"/>
            <a:ext cx="3018282" cy="45720"/>
          </a:xfrm>
          <a:prstGeom prst="rect">
            <a:avLst/>
          </a:prstGeom>
          <a:solidFill>
            <a:srgbClr val="3D68EC"/>
          </a:solidFill>
          <a:ln/>
        </p:spPr>
      </p:sp>
      <p:sp>
        <p:nvSpPr>
          <p:cNvPr id="97" name="Text 95"/>
          <p:cNvSpPr/>
          <p:nvPr/>
        </p:nvSpPr>
        <p:spPr>
          <a:xfrm>
            <a:off x="6740652" y="3291840"/>
            <a:ext cx="292684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klopt het?</a:t>
            </a:r>
            <a:endParaRPr lang="en-US" sz="1100" dirty="0"/>
          </a:p>
        </p:txBody>
      </p:sp>
      <p:sp>
        <p:nvSpPr>
          <p:cNvPr id="98" name="Text 96"/>
          <p:cNvSpPr/>
          <p:nvPr/>
        </p:nvSpPr>
        <p:spPr>
          <a:xfrm>
            <a:off x="6740652" y="4160520"/>
            <a:ext cx="292684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Eerst de achterkant, dan beoordelen</a:t>
            </a:r>
            <a:endParaRPr lang="en-US" sz="1200" dirty="0"/>
          </a:p>
        </p:txBody>
      </p:sp>
      <p:sp>
        <p:nvSpPr>
          <p:cNvPr id="99" name="Text 97"/>
          <p:cNvSpPr/>
          <p:nvPr/>
        </p:nvSpPr>
        <p:spPr>
          <a:xfrm>
            <a:off x="9786366" y="1719072"/>
            <a:ext cx="84511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0" name="Shape 98"/>
          <p:cNvSpPr/>
          <p:nvPr/>
        </p:nvSpPr>
        <p:spPr>
          <a:xfrm>
            <a:off x="9786366" y="2103120"/>
            <a:ext cx="845119" cy="914400"/>
          </a:xfrm>
          <a:prstGeom prst="rect">
            <a:avLst/>
          </a:prstGeom>
          <a:solidFill>
            <a:srgbClr val="DD784B"/>
          </a:solidFill>
          <a:ln/>
        </p:spPr>
      </p:sp>
      <p:sp>
        <p:nvSpPr>
          <p:cNvPr id="101" name="Text 99"/>
          <p:cNvSpPr/>
          <p:nvPr/>
        </p:nvSpPr>
        <p:spPr>
          <a:xfrm>
            <a:off x="9786366" y="2103120"/>
            <a:ext cx="84511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02" name="Shape 100"/>
          <p:cNvSpPr/>
          <p:nvPr/>
        </p:nvSpPr>
        <p:spPr>
          <a:xfrm>
            <a:off x="9786366" y="3017520"/>
            <a:ext cx="845119" cy="45720"/>
          </a:xfrm>
          <a:prstGeom prst="rect">
            <a:avLst/>
          </a:prstGeom>
          <a:solidFill>
            <a:srgbClr val="DD784B"/>
          </a:solidFill>
          <a:ln/>
        </p:spPr>
      </p:sp>
      <p:sp>
        <p:nvSpPr>
          <p:cNvPr id="103" name="Text 101"/>
          <p:cNvSpPr/>
          <p:nvPr/>
        </p:nvSpPr>
        <p:spPr>
          <a:xfrm>
            <a:off x="9804654" y="3291840"/>
            <a:ext cx="75367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04" name="Text 102"/>
          <p:cNvSpPr/>
          <p:nvPr/>
        </p:nvSpPr>
        <p:spPr>
          <a:xfrm>
            <a:off x="9804654" y="4160520"/>
            <a:ext cx="75367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Klopt het?</a:t>
            </a:r>
            <a:endParaRPr lang="en-US" sz="1200" dirty="0"/>
          </a:p>
        </p:txBody>
      </p:sp>
      <p:sp>
        <p:nvSpPr>
          <p:cNvPr id="105" name="Text 103"/>
          <p:cNvSpPr/>
          <p:nvPr/>
        </p:nvSpPr>
        <p:spPr>
          <a:xfrm>
            <a:off x="10677205" y="1719072"/>
            <a:ext cx="965850"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1:22</a:t>
            </a:r>
            <a:endParaRPr lang="en-US" sz="1400" dirty="0"/>
          </a:p>
        </p:txBody>
      </p:sp>
      <p:sp>
        <p:nvSpPr>
          <p:cNvPr id="106" name="Shape 104"/>
          <p:cNvSpPr/>
          <p:nvPr/>
        </p:nvSpPr>
        <p:spPr>
          <a:xfrm>
            <a:off x="10677205" y="2103120"/>
            <a:ext cx="965850" cy="914400"/>
          </a:xfrm>
          <a:prstGeom prst="rect">
            <a:avLst/>
          </a:prstGeom>
          <a:solidFill>
            <a:srgbClr val="00AF81"/>
          </a:solidFill>
          <a:ln/>
        </p:spPr>
      </p:sp>
      <p:sp>
        <p:nvSpPr>
          <p:cNvPr id="107" name="Text 105"/>
          <p:cNvSpPr/>
          <p:nvPr/>
        </p:nvSpPr>
        <p:spPr>
          <a:xfrm>
            <a:off x="10677205" y="2103120"/>
            <a:ext cx="965850"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08" name="Shape 106"/>
          <p:cNvSpPr/>
          <p:nvPr/>
        </p:nvSpPr>
        <p:spPr>
          <a:xfrm>
            <a:off x="10677205" y="3017520"/>
            <a:ext cx="965850" cy="45720"/>
          </a:xfrm>
          <a:prstGeom prst="rect">
            <a:avLst/>
          </a:prstGeom>
          <a:solidFill>
            <a:srgbClr val="00AF81"/>
          </a:solidFill>
          <a:ln/>
        </p:spPr>
      </p:sp>
      <p:sp>
        <p:nvSpPr>
          <p:cNvPr id="109" name="Text 107"/>
          <p:cNvSpPr/>
          <p:nvPr/>
        </p:nvSpPr>
        <p:spPr>
          <a:xfrm>
            <a:off x="10695493" y="3291840"/>
            <a:ext cx="874410"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Afronding</a:t>
            </a:r>
            <a:endParaRPr lang="en-US" sz="1100" dirty="0"/>
          </a:p>
        </p:txBody>
      </p:sp>
      <p:sp>
        <p:nvSpPr>
          <p:cNvPr id="110" name="Text 108"/>
          <p:cNvSpPr/>
          <p:nvPr/>
        </p:nvSpPr>
        <p:spPr>
          <a:xfrm>
            <a:off x="10695493" y="4160520"/>
            <a:ext cx="874410"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nu?</a:t>
            </a:r>
            <a:endParaRPr lang="en-US" sz="1200" dirty="0"/>
          </a:p>
        </p:txBody>
      </p:sp>
      <p:sp>
        <p:nvSpPr>
          <p:cNvPr id="111" name="Text 109"/>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12" name="Shape 110"/>
          <p:cNvSpPr/>
          <p:nvPr/>
        </p:nvSpPr>
        <p:spPr>
          <a:xfrm>
            <a:off x="548640" y="6025896"/>
            <a:ext cx="201168" cy="201168"/>
          </a:xfrm>
          <a:prstGeom prst="rect">
            <a:avLst/>
          </a:prstGeom>
          <a:solidFill>
            <a:srgbClr val="F4D74B"/>
          </a:solidFill>
          <a:ln/>
        </p:spPr>
      </p:sp>
      <p:sp>
        <p:nvSpPr>
          <p:cNvPr id="113" name="Text 111"/>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14" name="Shape 112"/>
          <p:cNvSpPr/>
          <p:nvPr/>
        </p:nvSpPr>
        <p:spPr>
          <a:xfrm>
            <a:off x="1901952" y="6025896"/>
            <a:ext cx="201168" cy="201168"/>
          </a:xfrm>
          <a:prstGeom prst="rect">
            <a:avLst/>
          </a:prstGeom>
          <a:solidFill>
            <a:srgbClr val="3D68EC"/>
          </a:solidFill>
          <a:ln/>
        </p:spPr>
      </p:sp>
      <p:sp>
        <p:nvSpPr>
          <p:cNvPr id="115" name="Text 113"/>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Zelf aan de slag</a:t>
            </a:r>
            <a:endParaRPr lang="en-US" sz="1200" dirty="0"/>
          </a:p>
        </p:txBody>
      </p:sp>
      <p:sp>
        <p:nvSpPr>
          <p:cNvPr id="116" name="Shape 114"/>
          <p:cNvSpPr/>
          <p:nvPr/>
        </p:nvSpPr>
        <p:spPr>
          <a:xfrm>
            <a:off x="4261104" y="6025896"/>
            <a:ext cx="201168" cy="201168"/>
          </a:xfrm>
          <a:prstGeom prst="rect">
            <a:avLst/>
          </a:prstGeom>
          <a:solidFill>
            <a:srgbClr val="DD784B"/>
          </a:solidFill>
          <a:ln/>
        </p:spPr>
      </p:sp>
      <p:sp>
        <p:nvSpPr>
          <p:cNvPr id="117" name="Text 115"/>
          <p:cNvSpPr/>
          <p:nvPr/>
        </p:nvSpPr>
        <p:spPr>
          <a:xfrm>
            <a:off x="45537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18" name="Shape 116"/>
          <p:cNvSpPr/>
          <p:nvPr/>
        </p:nvSpPr>
        <p:spPr>
          <a:xfrm>
            <a:off x="6318504" y="6025896"/>
            <a:ext cx="201168" cy="201168"/>
          </a:xfrm>
          <a:prstGeom prst="rect">
            <a:avLst/>
          </a:prstGeom>
          <a:solidFill>
            <a:srgbClr val="00AF81"/>
          </a:solidFill>
          <a:ln/>
        </p:spPr>
      </p:sp>
      <p:sp>
        <p:nvSpPr>
          <p:cNvPr id="119" name="Text 117"/>
          <p:cNvSpPr/>
          <p:nvPr/>
        </p:nvSpPr>
        <p:spPr>
          <a:xfrm>
            <a:off x="66111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Afronding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Data bevragen zonder te programmeren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stelt de vraag. De tool verheldert, rekent en schrijft.</a:t>
            </a:r>
            <a:endParaRPr lang="en-US" sz="2200" dirty="0"/>
          </a:p>
        </p:txBody>
      </p:sp>
      <p:pic>
        <p:nvPicPr>
          <p:cNvPr id="74" name="Image 0" descr="exports/261029_dair_onderwijsdata/img/gespre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Waarom: twee problemen, één oplossing</a:t>
            </a:r>
            <a:endParaRPr lang="en-US" sz="3400" dirty="0"/>
          </a:p>
        </p:txBody>
      </p:sp>
      <p:sp>
        <p:nvSpPr>
          <p:cNvPr id="73" name="Shape 71"/>
          <p:cNvSpPr/>
          <p:nvPr/>
        </p:nvSpPr>
        <p:spPr>
          <a:xfrm>
            <a:off x="548640" y="1371600"/>
            <a:ext cx="5410048" cy="2713482"/>
          </a:xfrm>
          <a:prstGeom prst="roundRect">
            <a:avLst>
              <a:gd name="adj" fmla="val 3180"/>
            </a:avLst>
          </a:prstGeom>
          <a:solidFill>
            <a:srgbClr val="3D68EC"/>
          </a:solidFill>
          <a:ln/>
        </p:spPr>
      </p:sp>
      <p:pic>
        <p:nvPicPr>
          <p:cNvPr id="74" name="Image 0" descr="exports/261029_dair_onderwijsdata/img/verrekijker.png">    </p:cNvPr>
          <p:cNvPicPr>
            <a:picLocks noChangeAspect="1"/>
          </p:cNvPicPr>
          <p:nvPr/>
        </p:nvPicPr>
        <p:blipFill>
          <a:blip r:embed="rId1"/>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Veel is er, maar waar?</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PROBLEEM</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Verspreid over DUO, CBS en RIO, met lastige bestandsbeschrijvingen.</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OPLOSSING</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Vraag het in gewone taal.</a:t>
            </a:r>
            <a:endParaRPr lang="en-US" sz="1500" dirty="0"/>
          </a:p>
        </p:txBody>
      </p:sp>
      <p:sp>
        <p:nvSpPr>
          <p:cNvPr id="80" name="Shape 77"/>
          <p:cNvSpPr/>
          <p:nvPr/>
        </p:nvSpPr>
        <p:spPr>
          <a:xfrm>
            <a:off x="6233008" y="1371600"/>
            <a:ext cx="5410048" cy="2713482"/>
          </a:xfrm>
          <a:prstGeom prst="roundRect">
            <a:avLst>
              <a:gd name="adj" fmla="val 3180"/>
            </a:avLst>
          </a:prstGeom>
          <a:solidFill>
            <a:srgbClr val="DD784B"/>
          </a:solidFill>
          <a:ln/>
        </p:spPr>
      </p:sp>
      <p:pic>
        <p:nvPicPr>
          <p:cNvPr id="81" name="Image 1" descr="exports/261029_dair_onderwijsdata/img/Laptopman.png">    </p:cNvPr>
          <p:cNvPicPr>
            <a:picLocks noChangeAspect="1"/>
          </p:cNvPicPr>
          <p:nvPr/>
        </p:nvPicPr>
        <p:blipFill>
          <a:blip r:embed="rId2"/>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Ad-hoc vragen kosten tijd</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PROBLEEM</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"Hoeveel studenten heeft mijn opleiding?" Elke vraag gaat via jou.</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OPLOSSING</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Collega's vragen het zelf.</a:t>
            </a:r>
            <a:endParaRPr lang="en-US" sz="1500" dirty="0"/>
          </a:p>
        </p:txBody>
      </p:sp>
      <p:sp>
        <p:nvSpPr>
          <p:cNvPr id="87" name="Text 83"/>
          <p:cNvSpPr/>
          <p:nvPr/>
        </p:nvSpPr>
        <p:spPr>
          <a:xfrm>
            <a:off x="548640" y="4267962"/>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DD784B"/>
                </a:solidFill>
                <a:latin typeface="General Sans Semibold" pitchFamily="34" charset="0"/>
                <a:ea typeface="General Sans Semibold" pitchFamily="34" charset="-122"/>
                <a:cs typeface="General Sans Semibold" pitchFamily="34" charset="-120"/>
              </a:rPr>
              <a:t>Vandaag:</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open onderwijsdata. Hetzelfde principe werkt op de data van je eigen instelling.</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D9D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open bronnen, één gesprek</a:t>
            </a:r>
            <a:endParaRPr lang="en-US" sz="3400" dirty="0"/>
          </a:p>
        </p:txBody>
      </p:sp>
      <p:sp>
        <p:nvSpPr>
          <p:cNvPr id="73" name="Shape 71"/>
          <p:cNvSpPr/>
          <p:nvPr/>
        </p:nvSpPr>
        <p:spPr>
          <a:xfrm>
            <a:off x="548640" y="1325880"/>
            <a:ext cx="3551834" cy="2522728"/>
          </a:xfrm>
          <a:prstGeom prst="roundRect">
            <a:avLst>
              <a:gd name="adj" fmla="val 3679"/>
            </a:avLst>
          </a:prstGeom>
          <a:solidFill>
            <a:srgbClr val="3D68EC"/>
          </a:solidFill>
          <a:ln/>
        </p:spPr>
      </p:sp>
      <p:sp>
        <p:nvSpPr>
          <p:cNvPr id="74" name="Text 72"/>
          <p:cNvSpPr/>
          <p:nvPr/>
        </p:nvSpPr>
        <p:spPr>
          <a:xfrm>
            <a:off x="82296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74B"/>
                </a:solidFill>
                <a:latin typeface="General Sans Semibold" pitchFamily="34" charset="0"/>
                <a:ea typeface="General Sans Semibold" pitchFamily="34" charset="-122"/>
                <a:cs typeface="General Sans Semibold" pitchFamily="34" charset="-120"/>
              </a:rPr>
              <a:t>68</a:t>
            </a:r>
            <a:endParaRPr lang="en-US" sz="6400" dirty="0"/>
          </a:p>
        </p:txBody>
      </p:sp>
      <p:sp>
        <p:nvSpPr>
          <p:cNvPr id="75" name="Text 73"/>
          <p:cNvSpPr/>
          <p:nvPr/>
        </p:nvSpPr>
        <p:spPr>
          <a:xfrm>
            <a:off x="82296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CBS-datasets</a:t>
            </a:r>
            <a:endParaRPr lang="en-US" sz="1900" dirty="0"/>
          </a:p>
        </p:txBody>
      </p:sp>
      <p:sp>
        <p:nvSpPr>
          <p:cNvPr id="76" name="Text 74"/>
          <p:cNvSpPr/>
          <p:nvPr/>
        </p:nvSpPr>
        <p:spPr>
          <a:xfrm>
            <a:off x="82296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F4D9DC"/>
                </a:solidFill>
                <a:latin typeface="General Sans" pitchFamily="34" charset="0"/>
                <a:ea typeface="General Sans" pitchFamily="34" charset="-122"/>
                <a:cs typeface="General Sans" pitchFamily="34" charset="-120"/>
              </a:rPr>
              <a:t>onderwijsstatistieken</a:t>
            </a:r>
            <a:endParaRPr lang="en-US" sz="1400" dirty="0"/>
          </a:p>
        </p:txBody>
      </p:sp>
      <p:sp>
        <p:nvSpPr>
          <p:cNvPr id="77" name="Shape 75"/>
          <p:cNvSpPr/>
          <p:nvPr/>
        </p:nvSpPr>
        <p:spPr>
          <a:xfrm>
            <a:off x="4319930" y="1325880"/>
            <a:ext cx="3551834" cy="2522728"/>
          </a:xfrm>
          <a:prstGeom prst="roundRect">
            <a:avLst>
              <a:gd name="adj" fmla="val 3679"/>
            </a:avLst>
          </a:prstGeom>
          <a:solidFill>
            <a:srgbClr val="DD784B"/>
          </a:solidFill>
          <a:ln/>
        </p:spPr>
      </p:sp>
      <p:sp>
        <p:nvSpPr>
          <p:cNvPr id="78" name="Text 76"/>
          <p:cNvSpPr/>
          <p:nvPr/>
        </p:nvSpPr>
        <p:spPr>
          <a:xfrm>
            <a:off x="459425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000000"/>
                </a:solidFill>
                <a:latin typeface="General Sans Semibold" pitchFamily="34" charset="0"/>
                <a:ea typeface="General Sans Semibold" pitchFamily="34" charset="-122"/>
                <a:cs typeface="General Sans Semibold" pitchFamily="34" charset="-120"/>
              </a:rPr>
              <a:t>57</a:t>
            </a:r>
            <a:endParaRPr lang="en-US" sz="6400" dirty="0"/>
          </a:p>
        </p:txBody>
      </p:sp>
      <p:sp>
        <p:nvSpPr>
          <p:cNvPr id="79" name="Text 77"/>
          <p:cNvSpPr/>
          <p:nvPr/>
        </p:nvSpPr>
        <p:spPr>
          <a:xfrm>
            <a:off x="459425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DUO-datasets</a:t>
            </a:r>
            <a:endParaRPr lang="en-US" sz="1900" dirty="0"/>
          </a:p>
        </p:txBody>
      </p:sp>
      <p:sp>
        <p:nvSpPr>
          <p:cNvPr id="80" name="Text 78"/>
          <p:cNvSpPr/>
          <p:nvPr/>
        </p:nvSpPr>
        <p:spPr>
          <a:xfrm>
            <a:off x="459425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instroom, diploma's, prognoses</a:t>
            </a:r>
            <a:endParaRPr lang="en-US" sz="1400" dirty="0"/>
          </a:p>
        </p:txBody>
      </p:sp>
      <p:sp>
        <p:nvSpPr>
          <p:cNvPr id="81" name="Shape 79"/>
          <p:cNvSpPr/>
          <p:nvPr/>
        </p:nvSpPr>
        <p:spPr>
          <a:xfrm>
            <a:off x="8091221" y="1325880"/>
            <a:ext cx="3551834" cy="2522728"/>
          </a:xfrm>
          <a:prstGeom prst="roundRect">
            <a:avLst>
              <a:gd name="adj" fmla="val 3679"/>
            </a:avLst>
          </a:prstGeom>
          <a:solidFill>
            <a:srgbClr val="00AF81"/>
          </a:solidFill>
          <a:ln/>
        </p:spPr>
      </p:sp>
      <p:sp>
        <p:nvSpPr>
          <p:cNvPr id="82" name="Text 80"/>
          <p:cNvSpPr/>
          <p:nvPr/>
        </p:nvSpPr>
        <p:spPr>
          <a:xfrm>
            <a:off x="8365541"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9DC"/>
                </a:solidFill>
                <a:latin typeface="General Sans Semibold" pitchFamily="34" charset="0"/>
                <a:ea typeface="General Sans Semibold" pitchFamily="34" charset="-122"/>
                <a:cs typeface="General Sans Semibold" pitchFamily="34" charset="-120"/>
              </a:rPr>
              <a:t>14</a:t>
            </a:r>
            <a:endParaRPr lang="en-US" sz="6400" dirty="0"/>
          </a:p>
        </p:txBody>
      </p:sp>
      <p:sp>
        <p:nvSpPr>
          <p:cNvPr id="83" name="Text 81"/>
          <p:cNvSpPr/>
          <p:nvPr/>
        </p:nvSpPr>
        <p:spPr>
          <a:xfrm>
            <a:off x="8365541"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RIO-onderdelen</a:t>
            </a:r>
            <a:endParaRPr lang="en-US" sz="1900" dirty="0"/>
          </a:p>
        </p:txBody>
      </p:sp>
      <p:sp>
        <p:nvSpPr>
          <p:cNvPr id="84" name="Text 82"/>
          <p:cNvSpPr/>
          <p:nvPr/>
        </p:nvSpPr>
        <p:spPr>
          <a:xfrm>
            <a:off x="8365541"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instellingen en opleidingen</a:t>
            </a:r>
            <a:endParaRPr lang="en-US" sz="1400" dirty="0"/>
          </a:p>
        </p:txBody>
      </p:sp>
      <p:sp>
        <p:nvSpPr>
          <p:cNvPr id="85" name="Shape 83"/>
          <p:cNvSpPr/>
          <p:nvPr/>
        </p:nvSpPr>
        <p:spPr>
          <a:xfrm>
            <a:off x="548640" y="4122928"/>
            <a:ext cx="11094415" cy="777240"/>
          </a:xfrm>
          <a:prstGeom prst="roundRect">
            <a:avLst>
              <a:gd name="adj" fmla="val 27682"/>
            </a:avLst>
          </a:prstGeom>
          <a:solidFill>
            <a:srgbClr val="FFFFFF"/>
          </a:solidFill>
          <a:ln/>
        </p:spPr>
      </p:sp>
      <p:sp>
        <p:nvSpPr>
          <p:cNvPr id="86" name="Text 84"/>
          <p:cNvSpPr/>
          <p:nvPr/>
        </p:nvSpPr>
        <p:spPr>
          <a:xfrm>
            <a:off x="868680" y="4122928"/>
            <a:ext cx="10454335" cy="777240"/>
          </a:xfrm>
          <a:prstGeom prst="rect">
            <a:avLst/>
          </a:prstGeom>
          <a:noFill/>
          <a:ln/>
        </p:spPr>
        <p:txBody>
          <a:bodyPr wrap="square" lIns="0" tIns="0" rIns="0" bIns="0" rtlCol="0" anchor="ctr"/>
          <a:lstStyle/>
          <a:p>
            <a:pPr algn="l"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Geen persoonsgegevens:</a:t>
            </a:r>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 alleen open, geaggregeerde data. Veilig om mee te oefenen.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Demo: van vraag naar rapport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de tool eerst je vraag scherper maakt en pas dan gaat rekenen.</a:t>
            </a:r>
            <a:endParaRPr lang="en-US" sz="2200" dirty="0"/>
          </a:p>
        </p:txBody>
      </p:sp>
      <p:pic>
        <p:nvPicPr>
          <p:cNvPr id="74" name="Image 0" descr="exports/261029_dair_onderwijsdata/img/Laptop met beel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komt een rapport tot stand</a:t>
            </a:r>
            <a:endParaRPr lang="en-US" sz="3400" dirty="0"/>
          </a:p>
        </p:txBody>
      </p:sp>
      <p:sp>
        <p:nvSpPr>
          <p:cNvPr id="73" name="Shape 71"/>
          <p:cNvSpPr/>
          <p:nvPr/>
        </p:nvSpPr>
        <p:spPr>
          <a:xfrm>
            <a:off x="548640" y="1371600"/>
            <a:ext cx="2430704" cy="2567178"/>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Text 74"/>
          <p:cNvSpPr/>
          <p:nvPr/>
        </p:nvSpPr>
        <p:spPr>
          <a:xfrm>
            <a:off x="822960"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Vraag</a:t>
            </a:r>
            <a:endParaRPr lang="en-US" sz="2000" dirty="0"/>
          </a:p>
        </p:txBody>
      </p:sp>
      <p:sp>
        <p:nvSpPr>
          <p:cNvPr id="77" name="Text 75"/>
          <p:cNvSpPr/>
          <p:nvPr/>
        </p:nvSpPr>
        <p:spPr>
          <a:xfrm>
            <a:off x="822960" y="3035808"/>
            <a:ext cx="1882064"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Je stelt je vraag in gewone taal.</a:t>
            </a:r>
            <a:endParaRPr lang="en-US" sz="1500" dirty="0"/>
          </a:p>
        </p:txBody>
      </p:sp>
      <p:sp>
        <p:nvSpPr>
          <p:cNvPr id="78" name="Shape 76"/>
          <p:cNvSpPr/>
          <p:nvPr/>
        </p:nvSpPr>
        <p:spPr>
          <a:xfrm>
            <a:off x="3089072" y="2380869"/>
            <a:ext cx="237744" cy="548640"/>
          </a:xfrm>
          <a:prstGeom prst="chevron">
            <a:avLst/>
          </a:prstGeom>
          <a:solidFill>
            <a:srgbClr val="3D68EC"/>
          </a:solidFill>
          <a:ln/>
        </p:spPr>
      </p:sp>
      <p:sp>
        <p:nvSpPr>
          <p:cNvPr id="79" name="Shape 77"/>
          <p:cNvSpPr/>
          <p:nvPr/>
        </p:nvSpPr>
        <p:spPr>
          <a:xfrm>
            <a:off x="3436544" y="1371600"/>
            <a:ext cx="2430704" cy="2567178"/>
          </a:xfrm>
          <a:prstGeom prst="roundRect">
            <a:avLst>
              <a:gd name="adj" fmla="val 3962"/>
            </a:avLst>
          </a:prstGeom>
          <a:solidFill>
            <a:srgbClr val="DD784B"/>
          </a:solidFill>
          <a:ln/>
        </p:spPr>
      </p:sp>
      <p:sp>
        <p:nvSpPr>
          <p:cNvPr id="80" name="Shape 78"/>
          <p:cNvSpPr/>
          <p:nvPr/>
        </p:nvSpPr>
        <p:spPr>
          <a:xfrm>
            <a:off x="3710864" y="1645920"/>
            <a:ext cx="548640" cy="548640"/>
          </a:xfrm>
          <a:prstGeom prst="ellipse">
            <a:avLst/>
          </a:prstGeom>
          <a:solidFill>
            <a:srgbClr val="F4D9DC"/>
          </a:solidFill>
          <a:ln/>
        </p:spPr>
      </p:sp>
      <p:sp>
        <p:nvSpPr>
          <p:cNvPr id="81" name="Text 79"/>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2" name="Text 80"/>
          <p:cNvSpPr/>
          <p:nvPr/>
        </p:nvSpPr>
        <p:spPr>
          <a:xfrm>
            <a:off x="3710864"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Verhelderen</a:t>
            </a:r>
            <a:endParaRPr lang="en-US" sz="2000" dirty="0"/>
          </a:p>
        </p:txBody>
      </p:sp>
      <p:sp>
        <p:nvSpPr>
          <p:cNvPr id="83" name="Text 81"/>
          <p:cNvSpPr/>
          <p:nvPr/>
        </p:nvSpPr>
        <p:spPr>
          <a:xfrm>
            <a:off x="3710864" y="3035808"/>
            <a:ext cx="188206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tool vraagt door: welk jaar, welke instelling?</a:t>
            </a:r>
            <a:endParaRPr lang="en-US" sz="1500" dirty="0"/>
          </a:p>
        </p:txBody>
      </p:sp>
      <p:sp>
        <p:nvSpPr>
          <p:cNvPr id="84" name="Shape 82"/>
          <p:cNvSpPr/>
          <p:nvPr/>
        </p:nvSpPr>
        <p:spPr>
          <a:xfrm>
            <a:off x="5976976" y="2380869"/>
            <a:ext cx="237744" cy="548640"/>
          </a:xfrm>
          <a:prstGeom prst="chevron">
            <a:avLst/>
          </a:prstGeom>
          <a:solidFill>
            <a:srgbClr val="3D68EC"/>
          </a:solidFill>
          <a:ln/>
        </p:spPr>
      </p:sp>
      <p:sp>
        <p:nvSpPr>
          <p:cNvPr id="85" name="Shape 83"/>
          <p:cNvSpPr/>
          <p:nvPr/>
        </p:nvSpPr>
        <p:spPr>
          <a:xfrm>
            <a:off x="6324448" y="1371600"/>
            <a:ext cx="2430704" cy="2567178"/>
          </a:xfrm>
          <a:prstGeom prst="roundRect">
            <a:avLst>
              <a:gd name="adj" fmla="val 3962"/>
            </a:avLst>
          </a:prstGeom>
          <a:solidFill>
            <a:srgbClr val="00AF81"/>
          </a:solidFill>
          <a:ln/>
        </p:spPr>
      </p:sp>
      <p:sp>
        <p:nvSpPr>
          <p:cNvPr id="86" name="Shape 84"/>
          <p:cNvSpPr/>
          <p:nvPr/>
        </p:nvSpPr>
        <p:spPr>
          <a:xfrm>
            <a:off x="6598768" y="1645920"/>
            <a:ext cx="548640" cy="548640"/>
          </a:xfrm>
          <a:prstGeom prst="ellipse">
            <a:avLst/>
          </a:prstGeom>
          <a:solidFill>
            <a:srgbClr val="F4D9DC"/>
          </a:solidFill>
          <a:ln/>
        </p:spPr>
      </p:sp>
      <p:sp>
        <p:nvSpPr>
          <p:cNvPr id="87" name="Text 85"/>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88" name="Text 86"/>
          <p:cNvSpPr/>
          <p:nvPr/>
        </p:nvSpPr>
        <p:spPr>
          <a:xfrm>
            <a:off x="6598768"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Rekenen</a:t>
            </a:r>
            <a:endParaRPr lang="en-US" sz="2000" dirty="0"/>
          </a:p>
        </p:txBody>
      </p:sp>
      <p:sp>
        <p:nvSpPr>
          <p:cNvPr id="89" name="Text 87"/>
          <p:cNvSpPr/>
          <p:nvPr/>
        </p:nvSpPr>
        <p:spPr>
          <a:xfrm>
            <a:off x="6598768" y="3035808"/>
            <a:ext cx="188206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Zoekt de juiste dataset en rekent het uit.</a:t>
            </a:r>
            <a:endParaRPr lang="en-US" sz="1500" dirty="0"/>
          </a:p>
        </p:txBody>
      </p:sp>
      <p:sp>
        <p:nvSpPr>
          <p:cNvPr id="90" name="Shape 88"/>
          <p:cNvSpPr/>
          <p:nvPr/>
        </p:nvSpPr>
        <p:spPr>
          <a:xfrm>
            <a:off x="8864879" y="2380869"/>
            <a:ext cx="237744" cy="548640"/>
          </a:xfrm>
          <a:prstGeom prst="chevron">
            <a:avLst/>
          </a:prstGeom>
          <a:solidFill>
            <a:srgbClr val="3D68EC"/>
          </a:solidFill>
          <a:ln/>
        </p:spPr>
      </p:sp>
      <p:sp>
        <p:nvSpPr>
          <p:cNvPr id="91" name="Shape 89"/>
          <p:cNvSpPr/>
          <p:nvPr/>
        </p:nvSpPr>
        <p:spPr>
          <a:xfrm>
            <a:off x="9212351" y="1371600"/>
            <a:ext cx="2430704" cy="2567178"/>
          </a:xfrm>
          <a:prstGeom prst="roundRect">
            <a:avLst>
              <a:gd name="adj" fmla="val 3962"/>
            </a:avLst>
          </a:prstGeom>
          <a:solidFill>
            <a:srgbClr val="F4D74B"/>
          </a:solidFill>
          <a:ln/>
        </p:spPr>
      </p:sp>
      <p:sp>
        <p:nvSpPr>
          <p:cNvPr id="92" name="Shape 90"/>
          <p:cNvSpPr/>
          <p:nvPr/>
        </p:nvSpPr>
        <p:spPr>
          <a:xfrm>
            <a:off x="9486671" y="1645920"/>
            <a:ext cx="548640" cy="548640"/>
          </a:xfrm>
          <a:prstGeom prst="ellipse">
            <a:avLst/>
          </a:prstGeom>
          <a:solidFill>
            <a:srgbClr val="3D68EC"/>
          </a:solidFill>
          <a:ln/>
        </p:spPr>
      </p:sp>
      <p:sp>
        <p:nvSpPr>
          <p:cNvPr id="93" name="Text 91"/>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4" name="Text 92"/>
          <p:cNvSpPr/>
          <p:nvPr/>
        </p:nvSpPr>
        <p:spPr>
          <a:xfrm>
            <a:off x="9486671"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Rapport</a:t>
            </a:r>
            <a:endParaRPr lang="en-US" sz="2000" dirty="0"/>
          </a:p>
        </p:txBody>
      </p:sp>
      <p:sp>
        <p:nvSpPr>
          <p:cNvPr id="95" name="Text 93"/>
          <p:cNvSpPr/>
          <p:nvPr/>
        </p:nvSpPr>
        <p:spPr>
          <a:xfrm>
            <a:off x="9486671" y="3035808"/>
            <a:ext cx="188206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rapport met bron en grafiek, om te delen.</a:t>
            </a:r>
            <a:endParaRPr lang="en-US" sz="1500" dirty="0"/>
          </a:p>
        </p:txBody>
      </p:sp>
      <p:sp>
        <p:nvSpPr>
          <p:cNvPr id="96" name="Text 94"/>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Vraagarticulatie</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is de eerste stap: een scherpe vraag geeft een beter antwoord.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stel je eigen vraag</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20 minuten, in tweetallen. Kies een voorbeeldvraag of neem je eigen vraag.</a:t>
            </a:r>
            <a:endParaRPr lang="en-US" sz="2200" dirty="0"/>
          </a:p>
        </p:txBody>
      </p:sp>
      <p:pic>
        <p:nvPicPr>
          <p:cNvPr id="76" name="Image 0" descr="exports/261029_dair_onderwijsdata/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vraag</a:t>
            </a:r>
            <a:endParaRPr lang="en-US" sz="3400" dirty="0"/>
          </a:p>
        </p:txBody>
      </p:sp>
      <p:sp>
        <p:nvSpPr>
          <p:cNvPr id="73" name="Shape 71"/>
          <p:cNvSpPr/>
          <p:nvPr/>
        </p:nvSpPr>
        <p:spPr>
          <a:xfrm>
            <a:off x="548640" y="1371600"/>
            <a:ext cx="3515258" cy="2920746"/>
          </a:xfrm>
          <a:prstGeom prst="roundRect">
            <a:avLst>
              <a:gd name="adj" fmla="val 2744"/>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Voorbeeld</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[Voorbeeldvraag A]</a:t>
            </a:r>
            <a:endParaRPr lang="en-US" sz="2300" dirty="0"/>
          </a:p>
        </p:txBody>
      </p:sp>
      <p:sp>
        <p:nvSpPr>
          <p:cNvPr id="79" name="Text 77"/>
          <p:cNvSpPr/>
          <p:nvPr/>
        </p:nvSpPr>
        <p:spPr>
          <a:xfrm>
            <a:off x="822960" y="3389376"/>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Wordt aangeleverd door Steven of Amir.</a:t>
            </a:r>
            <a:endParaRPr lang="en-US" sz="1500" dirty="0"/>
          </a:p>
        </p:txBody>
      </p:sp>
      <p:sp>
        <p:nvSpPr>
          <p:cNvPr id="80" name="Shape 78"/>
          <p:cNvSpPr/>
          <p:nvPr/>
        </p:nvSpPr>
        <p:spPr>
          <a:xfrm>
            <a:off x="4338218" y="1371600"/>
            <a:ext cx="3515258" cy="2920746"/>
          </a:xfrm>
          <a:prstGeom prst="roundRect">
            <a:avLst>
              <a:gd name="adj" fmla="val 2744"/>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Voorbeeld</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[Voorbeeldvraag B]</a:t>
            </a:r>
            <a:endParaRPr lang="en-US" sz="2300" dirty="0"/>
          </a:p>
        </p:txBody>
      </p:sp>
      <p:sp>
        <p:nvSpPr>
          <p:cNvPr id="86" name="Text 84"/>
          <p:cNvSpPr/>
          <p:nvPr/>
        </p:nvSpPr>
        <p:spPr>
          <a:xfrm>
            <a:off x="4612538" y="3389376"/>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Wordt aangeleverd door Steven of Amir.</a:t>
            </a:r>
            <a:endParaRPr lang="en-US" sz="1500" dirty="0"/>
          </a:p>
        </p:txBody>
      </p:sp>
      <p:sp>
        <p:nvSpPr>
          <p:cNvPr id="87" name="Shape 85"/>
          <p:cNvSpPr/>
          <p:nvPr/>
        </p:nvSpPr>
        <p:spPr>
          <a:xfrm>
            <a:off x="8127797" y="1371600"/>
            <a:ext cx="3515258" cy="2920746"/>
          </a:xfrm>
          <a:prstGeom prst="roundRect">
            <a:avLst>
              <a:gd name="adj" fmla="val 2744"/>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Eigen vraag</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wil jij weten?</a:t>
            </a:r>
            <a:endParaRPr lang="en-US" sz="2300" dirty="0"/>
          </a:p>
        </p:txBody>
      </p:sp>
      <p:sp>
        <p:nvSpPr>
          <p:cNvPr id="93" name="Text 91"/>
          <p:cNvSpPr/>
          <p:nvPr/>
        </p:nvSpPr>
        <p:spPr>
          <a:xfrm>
            <a:off x="8402117" y="3389376"/>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Over instroom, diploma's of instellingen. Open data, dus geen eigen studenten.</a:t>
            </a:r>
            <a:endParaRPr lang="en-US" sz="1500" dirty="0"/>
          </a:p>
        </p:txBody>
      </p:sp>
      <p:sp>
        <p:nvSpPr>
          <p:cNvPr id="94" name="Text 92"/>
          <p:cNvSpPr/>
          <p:nvPr/>
        </p:nvSpPr>
        <p:spPr>
          <a:xfrm>
            <a:off x="548640" y="4475226"/>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Tip:</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laat de tool doorvragen. Antwoord op zijn vragen, dan wordt het rapport beter.</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Ga naar edu.nl/n4kfh</a:t>
            </a:r>
            <a:endParaRPr lang="en-US" sz="3400" dirty="0"/>
          </a:p>
        </p:txBody>
      </p:sp>
      <p:pic>
        <p:nvPicPr>
          <p:cNvPr id="73" name="Image 0" descr="QR-code naar edu.nl/n4kfh">    </p:cNvPr>
          <p:cNvPicPr>
            <a:picLocks noChangeAspect="1"/>
          </p:cNvPicPr>
          <p:nvPr/>
        </p:nvPicPr>
        <p:blipFill>
          <a:blip r:embed="rId1"/>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1.</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Scan de code of typ de link.</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2.</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Log in.</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3.</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Stel je vraag en vraag om een rapport.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hoe beviel het?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Twee minuten met je buren, daarna twee tafels aan het woord.</a:t>
            </a:r>
            <a:endParaRPr lang="en-US" sz="2200" dirty="0"/>
          </a:p>
        </p:txBody>
      </p:sp>
      <p:pic>
        <p:nvPicPr>
          <p:cNvPr id="76" name="Image 0" descr="exports/261029_dair_onderwijsdata/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vragen voor je buren</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sp>
      <p:sp>
        <p:nvSpPr>
          <p:cNvPr id="74" name="Text 72"/>
          <p:cNvSpPr/>
          <p:nvPr/>
        </p:nvSpPr>
        <p:spPr>
          <a:xfrm>
            <a:off x="822960" y="1645920"/>
            <a:ext cx="2966618" cy="1051560"/>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ging vanzelf?</a:t>
            </a:r>
            <a:endParaRPr lang="en-US" sz="2400" dirty="0"/>
          </a:p>
        </p:txBody>
      </p:sp>
      <p:sp>
        <p:nvSpPr>
          <p:cNvPr id="75" name="Text 73"/>
          <p:cNvSpPr/>
          <p:nvPr/>
        </p:nvSpPr>
        <p:spPr>
          <a:xfrm>
            <a:off x="822960" y="29718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Waar verraste de tool je?</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sp>
      <p:sp>
        <p:nvSpPr>
          <p:cNvPr id="77" name="Text 75"/>
          <p:cNvSpPr/>
          <p:nvPr/>
        </p:nvSpPr>
        <p:spPr>
          <a:xfrm>
            <a:off x="4612538" y="1645920"/>
            <a:ext cx="2966618" cy="1051560"/>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Ben je tevreden met het antwoord?</a:t>
            </a:r>
            <a:endParaRPr lang="en-US" sz="2300" dirty="0"/>
          </a:p>
        </p:txBody>
      </p:sp>
      <p:sp>
        <p:nvSpPr>
          <p:cNvPr id="78" name="Text 76"/>
          <p:cNvSpPr/>
          <p:nvPr/>
        </p:nvSpPr>
        <p:spPr>
          <a:xfrm>
            <a:off x="4612538" y="29718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het rapport zo delen?</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sp>
      <p:sp>
        <p:nvSpPr>
          <p:cNvPr id="80" name="Text 78"/>
          <p:cNvSpPr/>
          <p:nvPr/>
        </p:nvSpPr>
        <p:spPr>
          <a:xfrm>
            <a:off x="8402117" y="1645920"/>
            <a:ext cx="2966618" cy="1051560"/>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Werd je vraag scherper?</a:t>
            </a:r>
            <a:endParaRPr lang="en-US" sz="2400" dirty="0"/>
          </a:p>
        </p:txBody>
      </p:sp>
      <p:sp>
        <p:nvSpPr>
          <p:cNvPr id="81" name="Text 79"/>
          <p:cNvSpPr/>
          <p:nvPr/>
        </p:nvSpPr>
        <p:spPr>
          <a:xfrm>
            <a:off x="8402117" y="29718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Hielpen de doorvragen van de tool?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Achter elk antwoord zitten vijf stappen</a:t>
            </a:r>
            <a:endParaRPr lang="en-US" sz="3300" dirty="0"/>
          </a:p>
        </p:txBody>
      </p:sp>
      <p:sp>
        <p:nvSpPr>
          <p:cNvPr id="73" name="Shape 71"/>
          <p:cNvSpPr/>
          <p:nvPr/>
        </p:nvSpPr>
        <p:spPr>
          <a:xfrm>
            <a:off x="548640" y="1417320"/>
            <a:ext cx="11094415" cy="822960"/>
          </a:xfrm>
          <a:prstGeom prst="roundRect">
            <a:avLst>
              <a:gd name="adj" fmla="val 17284"/>
            </a:avLst>
          </a:prstGeom>
          <a:solidFill>
            <a:srgbClr val="FFFFFF"/>
          </a:solidFill>
          <a:ln/>
        </p:spPr>
      </p:sp>
      <p:sp>
        <p:nvSpPr>
          <p:cNvPr id="74" name="Text 72"/>
          <p:cNvSpPr/>
          <p:nvPr/>
        </p:nvSpPr>
        <p:spPr>
          <a:xfrm>
            <a:off x="822960" y="14721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Verhelderen</a:t>
            </a:r>
            <a:endParaRPr lang="en-US" sz="1600" dirty="0"/>
          </a:p>
        </p:txBody>
      </p:sp>
      <p:sp>
        <p:nvSpPr>
          <p:cNvPr id="75" name="Text 73"/>
          <p:cNvSpPr/>
          <p:nvPr/>
        </p:nvSpPr>
        <p:spPr>
          <a:xfrm>
            <a:off x="4754880" y="1472184"/>
            <a:ext cx="457200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 tool vraagt door voordat hij gaat rekenen</a:t>
            </a:r>
            <a:endParaRPr lang="en-US" sz="1400" dirty="0"/>
          </a:p>
        </p:txBody>
      </p:sp>
      <p:sp>
        <p:nvSpPr>
          <p:cNvPr id="76" name="Shape 74"/>
          <p:cNvSpPr/>
          <p:nvPr/>
        </p:nvSpPr>
        <p:spPr>
          <a:xfrm>
            <a:off x="9859975" y="1664208"/>
            <a:ext cx="1554480" cy="329184"/>
          </a:xfrm>
          <a:prstGeom prst="roundRect">
            <a:avLst>
              <a:gd name="adj" fmla="val 138889"/>
            </a:avLst>
          </a:prstGeom>
          <a:solidFill>
            <a:srgbClr val="00AF81"/>
          </a:solidFill>
          <a:ln/>
        </p:spPr>
      </p:sp>
      <p:sp>
        <p:nvSpPr>
          <p:cNvPr id="77" name="Text 75"/>
          <p:cNvSpPr/>
          <p:nvPr/>
        </p:nvSpPr>
        <p:spPr>
          <a:xfrm>
            <a:off x="9951415" y="16642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Werkt</a:t>
            </a:r>
            <a:endParaRPr lang="en-US" sz="1100" dirty="0"/>
          </a:p>
        </p:txBody>
      </p:sp>
      <p:sp>
        <p:nvSpPr>
          <p:cNvPr id="78" name="Shape 76"/>
          <p:cNvSpPr/>
          <p:nvPr/>
        </p:nvSpPr>
        <p:spPr>
          <a:xfrm>
            <a:off x="548640" y="2331720"/>
            <a:ext cx="11094415" cy="822960"/>
          </a:xfrm>
          <a:prstGeom prst="roundRect">
            <a:avLst>
              <a:gd name="adj" fmla="val 17284"/>
            </a:avLst>
          </a:prstGeom>
          <a:solidFill>
            <a:srgbClr val="FFFFFF"/>
          </a:solidFill>
          <a:ln/>
        </p:spPr>
      </p:sp>
      <p:sp>
        <p:nvSpPr>
          <p:cNvPr id="79" name="Text 77"/>
          <p:cNvSpPr/>
          <p:nvPr/>
        </p:nvSpPr>
        <p:spPr>
          <a:xfrm>
            <a:off x="822960" y="23865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Betekenis</a:t>
            </a:r>
            <a:endParaRPr lang="en-US" sz="1600" dirty="0"/>
          </a:p>
        </p:txBody>
      </p:sp>
      <p:sp>
        <p:nvSpPr>
          <p:cNvPr id="80" name="Text 78"/>
          <p:cNvSpPr/>
          <p:nvPr/>
        </p:nvSpPr>
        <p:spPr>
          <a:xfrm>
            <a:off x="4754880" y="2386584"/>
            <a:ext cx="457200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beschrijvingen van datasets en kolommen, uit de bron zelf</a:t>
            </a:r>
            <a:endParaRPr lang="en-US" sz="1400" dirty="0"/>
          </a:p>
        </p:txBody>
      </p:sp>
      <p:sp>
        <p:nvSpPr>
          <p:cNvPr id="81" name="Shape 79"/>
          <p:cNvSpPr/>
          <p:nvPr/>
        </p:nvSpPr>
        <p:spPr>
          <a:xfrm>
            <a:off x="9859975" y="2578608"/>
            <a:ext cx="1554480" cy="329184"/>
          </a:xfrm>
          <a:prstGeom prst="roundRect">
            <a:avLst>
              <a:gd name="adj" fmla="val 138889"/>
            </a:avLst>
          </a:prstGeom>
          <a:solidFill>
            <a:srgbClr val="DD784B"/>
          </a:solidFill>
          <a:ln/>
        </p:spPr>
      </p:sp>
      <p:sp>
        <p:nvSpPr>
          <p:cNvPr id="82" name="Text 80"/>
          <p:cNvSpPr/>
          <p:nvPr/>
        </p:nvSpPr>
        <p:spPr>
          <a:xfrm>
            <a:off x="9951415" y="25786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Deels</a:t>
            </a:r>
            <a:endParaRPr lang="en-US" sz="1100" dirty="0"/>
          </a:p>
        </p:txBody>
      </p:sp>
      <p:sp>
        <p:nvSpPr>
          <p:cNvPr id="83" name="Shape 81"/>
          <p:cNvSpPr/>
          <p:nvPr/>
        </p:nvSpPr>
        <p:spPr>
          <a:xfrm>
            <a:off x="548640" y="3246120"/>
            <a:ext cx="11094415" cy="822960"/>
          </a:xfrm>
          <a:prstGeom prst="roundRect">
            <a:avLst>
              <a:gd name="adj" fmla="val 17284"/>
            </a:avLst>
          </a:prstGeom>
          <a:solidFill>
            <a:srgbClr val="FFFFFF"/>
          </a:solidFill>
          <a:ln/>
        </p:spPr>
      </p:sp>
      <p:sp>
        <p:nvSpPr>
          <p:cNvPr id="84" name="Text 82"/>
          <p:cNvSpPr/>
          <p:nvPr/>
        </p:nvSpPr>
        <p:spPr>
          <a:xfrm>
            <a:off x="822960" y="33009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Data ophalen</a:t>
            </a:r>
            <a:endParaRPr lang="en-US" sz="1600" dirty="0"/>
          </a:p>
        </p:txBody>
      </p:sp>
      <p:sp>
        <p:nvSpPr>
          <p:cNvPr id="85" name="Text 83"/>
          <p:cNvSpPr/>
          <p:nvPr/>
        </p:nvSpPr>
        <p:spPr>
          <a:xfrm>
            <a:off x="4754880" y="3300984"/>
            <a:ext cx="457200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rechtstreeks uit CBS, DUO en RIO</a:t>
            </a:r>
            <a:endParaRPr lang="en-US" sz="1400" dirty="0"/>
          </a:p>
        </p:txBody>
      </p:sp>
      <p:sp>
        <p:nvSpPr>
          <p:cNvPr id="86" name="Shape 84"/>
          <p:cNvSpPr/>
          <p:nvPr/>
        </p:nvSpPr>
        <p:spPr>
          <a:xfrm>
            <a:off x="9859975" y="3493008"/>
            <a:ext cx="1554480" cy="329184"/>
          </a:xfrm>
          <a:prstGeom prst="roundRect">
            <a:avLst>
              <a:gd name="adj" fmla="val 138889"/>
            </a:avLst>
          </a:prstGeom>
          <a:solidFill>
            <a:srgbClr val="00AF81"/>
          </a:solidFill>
          <a:ln/>
        </p:spPr>
      </p:sp>
      <p:sp>
        <p:nvSpPr>
          <p:cNvPr id="87" name="Text 85"/>
          <p:cNvSpPr/>
          <p:nvPr/>
        </p:nvSpPr>
        <p:spPr>
          <a:xfrm>
            <a:off x="9951415" y="34930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Werkt</a:t>
            </a:r>
            <a:endParaRPr lang="en-US" sz="1100" dirty="0"/>
          </a:p>
        </p:txBody>
      </p:sp>
      <p:sp>
        <p:nvSpPr>
          <p:cNvPr id="88" name="Shape 86"/>
          <p:cNvSpPr/>
          <p:nvPr/>
        </p:nvSpPr>
        <p:spPr>
          <a:xfrm>
            <a:off x="548640" y="4160520"/>
            <a:ext cx="11094415" cy="822960"/>
          </a:xfrm>
          <a:prstGeom prst="roundRect">
            <a:avLst>
              <a:gd name="adj" fmla="val 17284"/>
            </a:avLst>
          </a:prstGeom>
          <a:solidFill>
            <a:srgbClr val="FFFFFF"/>
          </a:solidFill>
          <a:ln/>
        </p:spPr>
      </p:sp>
      <p:sp>
        <p:nvSpPr>
          <p:cNvPr id="89" name="Text 87"/>
          <p:cNvSpPr/>
          <p:nvPr/>
        </p:nvSpPr>
        <p:spPr>
          <a:xfrm>
            <a:off x="822960" y="42153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Rekenen</a:t>
            </a:r>
            <a:endParaRPr lang="en-US" sz="1600" dirty="0"/>
          </a:p>
        </p:txBody>
      </p:sp>
      <p:sp>
        <p:nvSpPr>
          <p:cNvPr id="90" name="Text 88"/>
          <p:cNvSpPr/>
          <p:nvPr/>
        </p:nvSpPr>
        <p:spPr>
          <a:xfrm>
            <a:off x="4754880" y="4215384"/>
            <a:ext cx="457200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 een afgeschermde omgeving, met de code erbij</a:t>
            </a:r>
            <a:endParaRPr lang="en-US" sz="1400" dirty="0"/>
          </a:p>
        </p:txBody>
      </p:sp>
      <p:sp>
        <p:nvSpPr>
          <p:cNvPr id="91" name="Shape 89"/>
          <p:cNvSpPr/>
          <p:nvPr/>
        </p:nvSpPr>
        <p:spPr>
          <a:xfrm>
            <a:off x="9859975" y="4407408"/>
            <a:ext cx="1554480" cy="329184"/>
          </a:xfrm>
          <a:prstGeom prst="roundRect">
            <a:avLst>
              <a:gd name="adj" fmla="val 138889"/>
            </a:avLst>
          </a:prstGeom>
          <a:solidFill>
            <a:srgbClr val="00AF81"/>
          </a:solidFill>
          <a:ln/>
        </p:spPr>
      </p:sp>
      <p:sp>
        <p:nvSpPr>
          <p:cNvPr id="92" name="Text 90"/>
          <p:cNvSpPr/>
          <p:nvPr/>
        </p:nvSpPr>
        <p:spPr>
          <a:xfrm>
            <a:off x="9951415" y="44074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Werkt</a:t>
            </a:r>
            <a:endParaRPr lang="en-US" sz="1100" dirty="0"/>
          </a:p>
        </p:txBody>
      </p:sp>
      <p:sp>
        <p:nvSpPr>
          <p:cNvPr id="93" name="Shape 91"/>
          <p:cNvSpPr/>
          <p:nvPr/>
        </p:nvSpPr>
        <p:spPr>
          <a:xfrm>
            <a:off x="548640" y="5074920"/>
            <a:ext cx="11094415" cy="822960"/>
          </a:xfrm>
          <a:prstGeom prst="roundRect">
            <a:avLst>
              <a:gd name="adj" fmla="val 17284"/>
            </a:avLst>
          </a:prstGeom>
          <a:solidFill>
            <a:srgbClr val="FFFFFF"/>
          </a:solidFill>
          <a:ln/>
        </p:spPr>
      </p:sp>
      <p:sp>
        <p:nvSpPr>
          <p:cNvPr id="94" name="Text 92"/>
          <p:cNvSpPr/>
          <p:nvPr/>
        </p:nvSpPr>
        <p:spPr>
          <a:xfrm>
            <a:off x="822960" y="51297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Controleren</a:t>
            </a:r>
            <a:endParaRPr lang="en-US" sz="1600" dirty="0"/>
          </a:p>
        </p:txBody>
      </p:sp>
      <p:sp>
        <p:nvSpPr>
          <p:cNvPr id="95" name="Text 93"/>
          <p:cNvSpPr/>
          <p:nvPr/>
        </p:nvSpPr>
        <p:spPr>
          <a:xfrm>
            <a:off x="4754880" y="5129784"/>
            <a:ext cx="457200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klopt het jaar, de instelling, het label?</a:t>
            </a:r>
            <a:endParaRPr lang="en-US" sz="1400" dirty="0"/>
          </a:p>
        </p:txBody>
      </p:sp>
      <p:sp>
        <p:nvSpPr>
          <p:cNvPr id="96" name="Shape 94"/>
          <p:cNvSpPr/>
          <p:nvPr/>
        </p:nvSpPr>
        <p:spPr>
          <a:xfrm>
            <a:off x="9859975" y="5321808"/>
            <a:ext cx="1554480" cy="329184"/>
          </a:xfrm>
          <a:prstGeom prst="roundRect">
            <a:avLst>
              <a:gd name="adj" fmla="val 138889"/>
            </a:avLst>
          </a:prstGeom>
          <a:solidFill>
            <a:srgbClr val="DD784B"/>
          </a:solidFill>
          <a:ln/>
        </p:spPr>
      </p:sp>
      <p:sp>
        <p:nvSpPr>
          <p:cNvPr id="97" name="Text 95"/>
          <p:cNvSpPr/>
          <p:nvPr/>
        </p:nvSpPr>
        <p:spPr>
          <a:xfrm>
            <a:off x="9951415" y="53218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 ontwikkeling</a:t>
            </a:r>
            <a:endParaRPr lang="en-US" sz="1100" dirty="0"/>
          </a:p>
        </p:txBody>
      </p:sp>
      <p:sp>
        <p:nvSpPr>
          <p:cNvPr id="98" name="Text 96"/>
          <p:cNvSpPr/>
          <p:nvPr/>
        </p:nvSpPr>
        <p:spPr>
          <a:xfrm>
            <a:off x="548640" y="6126480"/>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Eerlijk:</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de betekenis komt nu uit de bronbeschrijvingen, niet uit afgestemde definities.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Hier kan het misgaan</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sp>
      <p:sp>
        <p:nvSpPr>
          <p:cNvPr id="74" name="Text 72"/>
          <p:cNvSpPr/>
          <p:nvPr/>
        </p:nvSpPr>
        <p:spPr>
          <a:xfrm>
            <a:off x="822960"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Rijen zijn geen studenten</a:t>
            </a:r>
            <a:endParaRPr lang="en-US" sz="2300" dirty="0"/>
          </a:p>
        </p:txBody>
      </p:sp>
      <p:sp>
        <p:nvSpPr>
          <p:cNvPr id="75" name="Text 73"/>
          <p:cNvSpPr/>
          <p:nvPr/>
        </p:nvSpPr>
        <p:spPr>
          <a:xfrm>
            <a:off x="822960" y="2612136"/>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Eén student kan twee inschrijvingen hebben. Wie rijen telt, komt te hoog uit.</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sp>
      <p:sp>
        <p:nvSpPr>
          <p:cNvPr id="77" name="Text 75"/>
          <p:cNvSpPr/>
          <p:nvPr/>
        </p:nvSpPr>
        <p:spPr>
          <a:xfrm>
            <a:off x="4612538"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Definitie uit de bron</a:t>
            </a:r>
            <a:endParaRPr lang="en-US" sz="2300" dirty="0"/>
          </a:p>
        </p:txBody>
      </p:sp>
      <p:sp>
        <p:nvSpPr>
          <p:cNvPr id="78" name="Text 76"/>
          <p:cNvSpPr/>
          <p:nvPr/>
        </p:nvSpPr>
        <p:spPr>
          <a:xfrm>
            <a:off x="4612538" y="2612136"/>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telt als instroom? De tool leest de bron, niet jullie afspraak.</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sp>
      <p:sp>
        <p:nvSpPr>
          <p:cNvPr id="80" name="Text 78"/>
          <p:cNvSpPr/>
          <p:nvPr/>
        </p:nvSpPr>
        <p:spPr>
          <a:xfrm>
            <a:off x="8402117"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Verkeerd jaar of instelling</a:t>
            </a:r>
            <a:endParaRPr lang="en-US" sz="2300" dirty="0"/>
          </a:p>
        </p:txBody>
      </p:sp>
      <p:sp>
        <p:nvSpPr>
          <p:cNvPr id="81" name="Text 79"/>
          <p:cNvSpPr/>
          <p:nvPr/>
        </p:nvSpPr>
        <p:spPr>
          <a:xfrm>
            <a:off x="8402117" y="2612136"/>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Studiejaar of peiljaar? Een naam die op twee instellingen lijkt?</a:t>
            </a:r>
            <a:endParaRPr lang="en-US" sz="1500" dirty="0"/>
          </a:p>
        </p:txBody>
      </p:sp>
      <p:sp>
        <p:nvSpPr>
          <p:cNvPr id="82" name="Text 80"/>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Hier let je op in ronde 2.</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klopt het rapport?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Jullie zijn de data-experts: beoordeel de uitkomst.</a:t>
            </a:r>
            <a:endParaRPr lang="en-US" sz="2200" dirty="0"/>
          </a:p>
        </p:txBody>
      </p:sp>
      <p:pic>
        <p:nvPicPr>
          <p:cNvPr id="76" name="Image 0" descr="exports/261029_dair_onderwijsdata/img/Vaantje geel met vin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wat je beoordeelt</a:t>
            </a:r>
            <a:endParaRPr lang="en-US" sz="3400" dirty="0"/>
          </a:p>
        </p:txBody>
      </p:sp>
      <p:sp>
        <p:nvSpPr>
          <p:cNvPr id="73" name="Shape 71"/>
          <p:cNvSpPr/>
          <p:nvPr/>
        </p:nvSpPr>
        <p:spPr>
          <a:xfrm>
            <a:off x="548640" y="1371600"/>
            <a:ext cx="5410048" cy="2560320"/>
          </a:xfrm>
          <a:prstGeom prst="roundRect">
            <a:avLst>
              <a:gd name="adj" fmla="val 357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Eigen rapport</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Je rapport uit ronde 1</a:t>
            </a:r>
            <a:endParaRPr lang="en-US" sz="2200" dirty="0"/>
          </a:p>
        </p:txBody>
      </p:sp>
      <p:sp>
        <p:nvSpPr>
          <p:cNvPr id="79" name="Text 77"/>
          <p:cNvSpPr/>
          <p:nvPr/>
        </p:nvSpPr>
        <p:spPr>
          <a:xfrm>
            <a:off x="822960"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Klopt het met wat je weet? Vraag door als iets niet klopt.</a:t>
            </a:r>
            <a:endParaRPr lang="en-US" sz="1500" dirty="0"/>
          </a:p>
        </p:txBody>
      </p:sp>
      <p:sp>
        <p:nvSpPr>
          <p:cNvPr id="80" name="Shape 78"/>
          <p:cNvSpPr/>
          <p:nvPr/>
        </p:nvSpPr>
        <p:spPr>
          <a:xfrm>
            <a:off x="6233008" y="1371600"/>
            <a:ext cx="5410048" cy="2560320"/>
          </a:xfrm>
          <a:prstGeom prst="roundRect">
            <a:avLst>
              <a:gd name="adj" fmla="val 3571"/>
            </a:avLst>
          </a:prstGeom>
          <a:solidFill>
            <a:srgbClr val="DD784B"/>
          </a:solidFill>
          <a:ln/>
        </p:spPr>
      </p:sp>
      <p:sp>
        <p:nvSpPr>
          <p:cNvPr id="81" name="Shape 79"/>
          <p:cNvSpPr/>
          <p:nvPr/>
        </p:nvSpPr>
        <p:spPr>
          <a:xfrm>
            <a:off x="6507328" y="1645920"/>
            <a:ext cx="548640" cy="548640"/>
          </a:xfrm>
          <a:prstGeom prst="ellipse">
            <a:avLst/>
          </a:prstGeom>
          <a:solidFill>
            <a:srgbClr val="F4D9DC"/>
          </a:solidFill>
          <a:ln/>
        </p:spPr>
      </p:sp>
      <p:sp>
        <p:nvSpPr>
          <p:cNvPr id="82" name="Text 80"/>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7193128" y="1719072"/>
            <a:ext cx="4175608" cy="402336"/>
          </a:xfrm>
          <a:prstGeom prst="roundRect">
            <a:avLst>
              <a:gd name="adj" fmla="val 113636"/>
            </a:avLst>
          </a:prstGeom>
          <a:solidFill>
            <a:srgbClr val="F4D9DC"/>
          </a:solidFill>
          <a:ln/>
        </p:spPr>
      </p:sp>
      <p:sp>
        <p:nvSpPr>
          <p:cNvPr id="84" name="Text 82"/>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Klaargezet</a:t>
            </a:r>
            <a:endParaRPr lang="en-US" sz="1200" dirty="0"/>
          </a:p>
        </p:txBody>
      </p:sp>
      <p:sp>
        <p:nvSpPr>
          <p:cNvPr id="85" name="Text 83"/>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Een rapport van ons</a:t>
            </a:r>
            <a:endParaRPr lang="en-US" sz="2200" dirty="0"/>
          </a:p>
        </p:txBody>
      </p:sp>
      <p:sp>
        <p:nvSpPr>
          <p:cNvPr id="86" name="Text 84"/>
          <p:cNvSpPr/>
          <p:nvPr/>
        </p:nvSpPr>
        <p:spPr>
          <a:xfrm>
            <a:off x="6507328"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rapport of vastgelopen? Beoordeel er een dat klaarstaat.</a:t>
            </a:r>
            <a:endParaRPr lang="en-US" sz="1500" dirty="0"/>
          </a:p>
        </p:txBody>
      </p:sp>
      <p:sp>
        <p:nvSpPr>
          <p:cNvPr id="87" name="Text 85"/>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Geef feedback in de tool:</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met de feedbackknop bij het rapport.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beoordeel je een rapport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Bron</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welke dataset, welk jaar? Staat het erbij?</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Check</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Eenheid</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studenten, inschrijvingen of diploma's?</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Check</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Definitie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bedoelt de tool hetzelfde als jij?</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Check</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Orde van grootte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past het getal bij wat je uit je werk kent?</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Check</a:t>
            </a:r>
            <a:endParaRPr lang="en-US" sz="1100" dirty="0"/>
          </a:p>
        </p:txBody>
      </p:sp>
      <p:sp>
        <p:nvSpPr>
          <p:cNvPr id="93" name="Shape 91"/>
          <p:cNvSpPr/>
          <p:nvPr/>
        </p:nvSpPr>
        <p:spPr>
          <a:xfrm>
            <a:off x="548640" y="5257800"/>
            <a:ext cx="11094415" cy="868680"/>
          </a:xfrm>
          <a:prstGeom prst="roundRect">
            <a:avLst>
              <a:gd name="adj" fmla="val 15512"/>
            </a:avLst>
          </a:prstGeom>
          <a:solidFill>
            <a:srgbClr val="FFFFFF"/>
          </a:solidFill>
          <a:ln/>
        </p:spPr>
      </p:sp>
      <p:sp>
        <p:nvSpPr>
          <p:cNvPr id="94" name="Text 92"/>
          <p:cNvSpPr/>
          <p:nvPr/>
        </p:nvSpPr>
        <p:spPr>
          <a:xfrm>
            <a:off x="822960" y="531266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Conclusie</a:t>
            </a:r>
            <a:endParaRPr lang="en-US" sz="1600" dirty="0"/>
          </a:p>
        </p:txBody>
      </p:sp>
      <p:sp>
        <p:nvSpPr>
          <p:cNvPr id="95" name="Text 93"/>
          <p:cNvSpPr/>
          <p:nvPr/>
        </p:nvSpPr>
        <p:spPr>
          <a:xfrm>
            <a:off x="4754880" y="531266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zegt de tekst meer dan de cijfers laten zien?</a:t>
            </a:r>
            <a:endParaRPr lang="en-US" sz="1400" dirty="0"/>
          </a:p>
        </p:txBody>
      </p:sp>
      <p:sp>
        <p:nvSpPr>
          <p:cNvPr id="96" name="Shape 94"/>
          <p:cNvSpPr/>
          <p:nvPr/>
        </p:nvSpPr>
        <p:spPr>
          <a:xfrm>
            <a:off x="9859975" y="5527548"/>
            <a:ext cx="1554480" cy="329184"/>
          </a:xfrm>
          <a:prstGeom prst="roundRect">
            <a:avLst>
              <a:gd name="adj" fmla="val 138889"/>
            </a:avLst>
          </a:prstGeom>
          <a:solidFill>
            <a:srgbClr val="3D68EC"/>
          </a:solidFill>
          <a:ln/>
        </p:spPr>
      </p:sp>
      <p:sp>
        <p:nvSpPr>
          <p:cNvPr id="97" name="Text 95"/>
          <p:cNvSpPr/>
          <p:nvPr/>
        </p:nvSpPr>
        <p:spPr>
          <a:xfrm>
            <a:off x="9951415" y="552754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Check</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is het te vertrouwen?</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klopte, wat niet, en waaraan zag je dat?</a:t>
            </a:r>
            <a:endParaRPr lang="en-US" sz="2200" dirty="0"/>
          </a:p>
        </p:txBody>
      </p:sp>
      <p:pic>
        <p:nvPicPr>
          <p:cNvPr id="76" name="Image 0" descr="exports/261029_dair_onderwijsdata/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Twee soorten antwoorden, elk met een eigen rol</a:t>
            </a:r>
            <a:endParaRPr lang="en-US" sz="2800" dirty="0"/>
          </a:p>
        </p:txBody>
      </p:sp>
      <p:sp>
        <p:nvSpPr>
          <p:cNvPr id="73" name="Shape 71"/>
          <p:cNvSpPr/>
          <p:nvPr/>
        </p:nvSpPr>
        <p:spPr>
          <a:xfrm>
            <a:off x="548640" y="1371600"/>
            <a:ext cx="5410048" cy="2713482"/>
          </a:xfrm>
          <a:prstGeom prst="roundRect">
            <a:avLst>
              <a:gd name="adj" fmla="val 3180"/>
            </a:avLst>
          </a:prstGeom>
          <a:solidFill>
            <a:srgbClr val="3D68EC"/>
          </a:solidFill>
          <a:ln/>
        </p:spPr>
      </p:sp>
      <p:pic>
        <p:nvPicPr>
          <p:cNvPr id="74" name="Image 0" descr="exports/261029_dair_onderwijsdata/img/Gebouw blauw met boom.png">    </p:cNvPr>
          <p:cNvPicPr>
            <a:picLocks noChangeAspect="1"/>
          </p:cNvPicPr>
          <p:nvPr/>
        </p:nvPicPr>
        <p:blipFill>
          <a:blip r:embed="rId1"/>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Eén bron van waarheid</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VORM</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Dashboards en factsheets met afgesproken KPI's.</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Beheerd, getoetst, voor iedereen gelijk.</a:t>
            </a:r>
            <a:endParaRPr lang="en-US" sz="1500" dirty="0"/>
          </a:p>
        </p:txBody>
      </p:sp>
      <p:sp>
        <p:nvSpPr>
          <p:cNvPr id="80" name="Shape 77"/>
          <p:cNvSpPr/>
          <p:nvPr/>
        </p:nvSpPr>
        <p:spPr>
          <a:xfrm>
            <a:off x="6233008" y="1371600"/>
            <a:ext cx="5410048" cy="2713482"/>
          </a:xfrm>
          <a:prstGeom prst="roundRect">
            <a:avLst>
              <a:gd name="adj" fmla="val 3180"/>
            </a:avLst>
          </a:prstGeom>
          <a:solidFill>
            <a:srgbClr val="DD784B"/>
          </a:solidFill>
          <a:ln/>
        </p:spPr>
      </p:sp>
      <p:pic>
        <p:nvPicPr>
          <p:cNvPr id="81" name="Image 1" descr="exports/261029_dair_onderwijsdata/img/Document.png">    </p:cNvPr>
          <p:cNvPicPr>
            <a:picLocks noChangeAspect="1"/>
          </p:cNvPicPr>
          <p:nvPr/>
        </p:nvPicPr>
        <p:blipFill>
          <a:blip r:embed="rId2"/>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Zelf gemaakt rapport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VORM</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Eén vraag, één rapport, zelf gesteld en gedeeld.</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Snel, zonder dat het dashboard groeit.</a:t>
            </a:r>
            <a:endParaRPr lang="en-US" sz="1500" dirty="0"/>
          </a:p>
        </p:txBody>
      </p:sp>
      <p:sp>
        <p:nvSpPr>
          <p:cNvPr id="87" name="Text 83"/>
          <p:cNvSpPr/>
          <p:nvPr/>
        </p:nvSpPr>
        <p:spPr>
          <a:xfrm>
            <a:off x="548640" y="4267962"/>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Niet elke vraag wordt een dashboard.</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Maak het verschil wel zichtbaar.</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Volgende stap: je eigen data</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Het taalmodel via de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AI Hub van SURF</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Zelfde aanpak op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instellingsdata</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zoals 1CijferHO</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Afgestemde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definities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zodat de tool telt zoals jullie</a:t>
            </a:r>
            <a:endParaRPr lang="en-US" sz="1900" dirty="0"/>
          </a:p>
        </p:txBody>
      </p:sp>
      <p:pic>
        <p:nvPicPr>
          <p:cNvPr id="79" name="Image 0" descr="exports/261029_dair_onderwijsdata/img/kunstmatigeintelligentie.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88976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Welke vraag zou jij morgen aan je eigen data stellen?</a:t>
            </a:r>
            <a:endParaRPr lang="en-US" sz="4000" dirty="0"/>
          </a:p>
        </p:txBody>
      </p:sp>
      <p:sp>
        <p:nvSpPr>
          <p:cNvPr id="4" name="Text 2"/>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5" name="Shape 3"/>
          <p:cNvSpPr/>
          <p:nvPr/>
        </p:nvSpPr>
        <p:spPr>
          <a:xfrm>
            <a:off x="6400800" y="2240280"/>
            <a:ext cx="5242255" cy="1371600"/>
          </a:xfrm>
          <a:prstGeom prst="roundRect">
            <a:avLst>
              <a:gd name="adj" fmla="val 11111"/>
            </a:avLst>
          </a:prstGeom>
          <a:solidFill>
            <a:srgbClr val="00AF81"/>
          </a:solidFill>
          <a:ln/>
        </p:spPr>
      </p:sp>
      <p:sp>
        <p:nvSpPr>
          <p:cNvPr id="6" name="Shape 4"/>
          <p:cNvSpPr/>
          <p:nvPr/>
        </p:nvSpPr>
        <p:spPr>
          <a:xfrm>
            <a:off x="6675120" y="2441448"/>
            <a:ext cx="1371600" cy="347472"/>
          </a:xfrm>
          <a:prstGeom prst="roundRect">
            <a:avLst>
              <a:gd name="adj" fmla="val 131579"/>
            </a:avLst>
          </a:prstGeom>
          <a:solidFill>
            <a:srgbClr val="F4D9DC"/>
          </a:solidFill>
          <a:ln/>
        </p:spPr>
      </p:sp>
      <p:sp>
        <p:nvSpPr>
          <p:cNvPr id="7" name="Text 5"/>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Feedback</a:t>
            </a:r>
            <a:endParaRPr lang="en-US" sz="1100" dirty="0"/>
          </a:p>
        </p:txBody>
      </p:sp>
      <p:sp>
        <p:nvSpPr>
          <p:cNvPr id="8" name="Text 6"/>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Hoe vond je de sessie? [link volgt]</a:t>
            </a:r>
            <a:endParaRPr lang="en-US" sz="1500" dirty="0"/>
          </a:p>
        </p:txBody>
      </p:sp>
      <p:sp>
        <p:nvSpPr>
          <p:cNvPr id="9" name="Shape 7"/>
          <p:cNvSpPr/>
          <p:nvPr/>
        </p:nvSpPr>
        <p:spPr>
          <a:xfrm>
            <a:off x="6400800" y="3749040"/>
            <a:ext cx="5242255" cy="1371600"/>
          </a:xfrm>
          <a:prstGeom prst="roundRect">
            <a:avLst>
              <a:gd name="adj" fmla="val 11111"/>
            </a:avLst>
          </a:prstGeom>
          <a:solidFill>
            <a:srgbClr val="00AF81"/>
          </a:solidFill>
          <a:ln/>
        </p:spPr>
      </p:sp>
      <p:sp>
        <p:nvSpPr>
          <p:cNvPr id="10" name="Shape 8"/>
          <p:cNvSpPr/>
          <p:nvPr/>
        </p:nvSpPr>
        <p:spPr>
          <a:xfrm>
            <a:off x="6675120" y="3950208"/>
            <a:ext cx="1371600" cy="347472"/>
          </a:xfrm>
          <a:prstGeom prst="roundRect">
            <a:avLst>
              <a:gd name="adj" fmla="val 131579"/>
            </a:avLst>
          </a:prstGeom>
          <a:solidFill>
            <a:srgbClr val="F4D9DC"/>
          </a:solidFill>
          <a:ln/>
        </p:spPr>
      </p:sp>
      <p:sp>
        <p:nvSpPr>
          <p:cNvPr id="11" name="Text 9"/>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Meedoen</a:t>
            </a:r>
            <a:endParaRPr lang="en-US" sz="1100" dirty="0"/>
          </a:p>
        </p:txBody>
      </p:sp>
      <p:sp>
        <p:nvSpPr>
          <p:cNvPr id="12" name="Text 10"/>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Wil je dit op je eigen data? CEDA denkt graag met je mee.</a:t>
            </a:r>
            <a:endParaRPr lang="en-US" sz="1500" dirty="0"/>
          </a:p>
        </p:txBody>
      </p:sp>
      <p:pic>
        <p:nvPicPr>
          <p:cNvPr id="13"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Praat met onderwijsdata</dc:title>
  <dc:subject>PptxGenJS Presentation</dc:subject>
  <dc:creator>CEDA</dc:creator>
  <cp:lastModifiedBy>CEDA</cp:lastModifiedBy>
  <cp:revision>1</cp:revision>
  <dcterms:created xsi:type="dcterms:W3CDTF">2026-10-14T17:31:10Z</dcterms:created>
  <dcterms:modified xsi:type="dcterms:W3CDTF">2026-10-14T17:31:10Z</dcterms:modified>
</cp:coreProperties>
</file>