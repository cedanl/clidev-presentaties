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2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Uitval binnen 1 jaar</c:v>
                </c:pt>
              </c:strCache>
            </c:strRef>
          </c:tx>
          <c:spPr>
            <a:solidFill>
              <a:srgbClr val="3D68EC"/>
            </a:solidFill>
            <a:effectLst/>
          </c:spPr>
          <c:invertIfNegative val="0"/>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cat>
            <c:multiLvlStrRef>
              <c:f>Sheet1!$A$2:$A$5</c:f>
              <c:multiLvlStrCache>
                <c:ptCount val="4"/>
                <c:lvl>
                  <c:pt idx="0">
                    <c:v>Techniek</c:v>
                  </c:pt>
                  <c:pt idx="1">
                    <c:v>Economie</c:v>
                  </c:pt>
                  <c:pt idx="2">
                    <c:v>Gezondheidszorg</c:v>
                  </c:pt>
                  <c:pt idx="3">
                    <c:v>Totaal</c:v>
                  </c:pt>
                </c:lvl>
              </c:multiLvlStrCache>
            </c:multiLvlStrRef>
          </c:cat>
          <c:val>
            <c:numRef>
              <c:f>Sheet1!$B$2:$B$5</c:f>
              <c:numCache>
                <c:formatCode>General</c:formatCode>
                <c:ptCount val="4"/>
                <c:pt idx="0">
                  <c:v>21.9</c:v>
                </c:pt>
                <c:pt idx="1">
                  <c:v>13.1</c:v>
                </c:pt>
                <c:pt idx="2">
                  <c:v>10.2</c:v>
                </c:pt>
                <c:pt idx="3">
                  <c:v>16.7</c:v>
                </c:pt>
              </c:numCache>
            </c:numRef>
          </c:val>
        </c:ser>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General Sans"/>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DDDD"/>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General Sa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 is demodata: gegenereerd naar het patroon van een echt bestand. Zeg hardop: er zit één echt verschil in en één dat alleen toeval is, we vertellen niet welke. Dat is de oefening. Validatie tegen de werkelijkheid doen we niet; dat vraagt echte data buiten de devcontainer.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Uitleg voor jezelf: een casus is het probleem waar alle tweetallen aan werken. Eerstejaarsuitval = eerstejaars die binnen een jaar stoppen. De vraag is wie dat zijn en of het per sector verschilt. De deelnemers laten de agent de cijfers uitrekenen; zij bepalen wat ze ermee doen. 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Noem de twee skills bij naam: /verkennen_data en /bouwen_dashboard. De deelnemers gebruiken ze niet zelf in de rondes: de leider laat ze draaien bij de spiegelmomenten en legt dan uit wat erin staat en wat de skill afdwingt.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GitHub-account is vooraf gevraagd; wie er geen heeft, maakt er nu een aan (gratis) of kijkt mee bij een buur. De Codespace is de devcontainer: Claude Code, Python en de data staan klaar. De volgende drie slides laten de stappen in beeld zien; loop ze live mee op het scherm. Lukt het starten niet binnen een paar minuten, dan is dat een signaal over de omgeving en niet over de deelnemer. Houd hier genoeg tijd voor.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knop op het scherm zien. Alle deelnemers doen dit tegelijk; het laden kost een minuut, vul die tijd met uitleg over wat een Codespace is: dezelfde omgeving voor iedereen, in de browser, niets te installeren.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key deel je mondeling of op papier uit, niet op de slide. Is de key kwijt of fout geplakt: opnieuw instellen met het commando dair-onboard in de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en laat zien dat de agent de code zichtbaar maakt. De skills laten we straks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kijken niet naar individuele schetsen, maar naar de skill. Vraag eerst twee tweetallen om één ding te noemen dat ze in ronde 1 tegenkwamen (één zin per tweetal). Loop daarna met de volgende twee dia's door de skill. Draai /verkennen_data live: dat duurt 1 tot 2 minuut (gemeten 58 tot 71 s, reken op een marge) en je legt uit terwijl hij loopt. Zet daarnaast desgewenst één gewone prompt op hetzelfde scherm.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/verkennen_data/SKILL.md. Open het bestand even op het scherm: bovenaan staat wanneer de agent de skill pakt, daaronder de stappen. Vraag: welke van deze vier stappen heb jij in ronde 1 overgeslagen of anders gedaan?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checks die in de skill zijn verweven. Laat de deelnemers zelf aanwijzen welke ze in ronde 1 zelf hebben gedaan. De cijfers komen uit de antwoordsleutel (workshop-rad/data/verwachte_uitkomsten.txt). De drempel 30 en 5 is een keuze van staat1cho en niet getoetst door een privacy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Ook nu geen individuele dashboards bekijken. Vraag twee tweetallen om één keuze te noemen die ze maakten (bijvoorbeeld de titel of de drempel). Draai /bouwen_dashboard live: dat duurt 2 tot 3 minuut (gemeten 124 tot 167 s). Loop daarna door de skill met de volgende dia's en sluit af met de onthulling van de uitkomst. Contrast: een gewone prompt telt de eerstejaars anders (2.449 in plaats van 2.809) en verbergt kleine groepen niet; zie docs/tijdmeting.md.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/bouwen_dashboard/SKILL.md. Let op het verschil met ronde 1: hier staan de responsible-checks niet in een aparte stap maar in de bouwinstructie zelf.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onthulling: dit is wat een correcte analyse oplevert. Vraag of de skill dit ook vond. Wie in ronde 2 "vrouwen vallen vaker uit" had, ziet hier ruis. Gebruik dit als leermoment zonder beschuldiging. Antwoordsleutel: workshop-rad/data/verwachte_uitkomsten.txt.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Evaluatie en afsluiting zijn één blok van 16 minuten. Vraag eerst toestemming: de antwoorden zijn anoniem en gebruiken we om te bepalen of er een vervolg komt. Terugblik via de peiling (QR-code) of een kort rondje. Houd de tijd: loopt het uit, kort dan de afsluiting in, niet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peiling lopen, twee minuten. Als de peiling-tool nog niet gekozen is, tel handopsteking en noteer de aantallen. Voeg de QR-code hier toe zodra de tool bekend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vraag, vier minuten. Alleen voor wie bij de vorige vraag niet "nee" koos. Vraag om concreet gedrag, niet om een onderwerp als "AI". Eén of twee zinnen is genoeg.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68EC"/>
        </a:solidFill>
      </p:bgPr>
    </p:bg>
    <p:spTree>
      <p:nvGrpSpPr>
        <p:cNvPr id="1" name=""/>
        <p:cNvGrpSpPr/>
        <p:nvPr/>
      </p:nvGrpSpPr>
      <p:grpSpPr>
        <a:xfrm>
          <a:off x="0" y="0"/>
          <a:ext cx="0" cy="0"/>
          <a:chOff x="0" y="0"/>
          <a:chExt cx="0" cy="0"/>
        </a:xfrm>
      </p:grpSpPr>
      <p:pic>
        <p:nvPicPr>
          <p:cNvPr id="91" name="Npuls achtergrond" descr="Slide15.PNG"/>
          <p:cNvPicPr>
            <a:picLocks noChangeAspect="1"/>
          </p:cNvPicPr>
          <p:nvPr/>
        </p:nvPicPr>
        <p:blipFill>
          <a:blip r:embed="rId3"/>
          <a:stretch>
            <a:fillRect/>
          </a:stretch>
        </p:blipFill>
        <p:spPr>
          <a:xfrm>
            <a:off x="0" y="0"/>
            <a:ext cx="12192000" cy="6858000"/>
          </a:xfrm>
          <a:prstGeom prst="rect">
            <a:avLst/>
          </a:prstGeom>
        </p:spPr>
      </p:pic>
      <p:sp>
        <p:nvSpPr>
          <p:cNvPr id="72" name="Shape 70"/>
          <p:cNvSpPr/>
          <p:nvPr/>
        </p:nvSpPr>
        <p:spPr>
          <a:xfrm>
            <a:off x="3840480" y="640080"/>
            <a:ext cx="3072384" cy="402336"/>
          </a:xfrm>
          <a:prstGeom prst="roundRect">
            <a:avLst>
              <a:gd name="adj" fmla="val 113636"/>
            </a:avLst>
          </a:prstGeom>
          <a:solidFill>
            <a:srgbClr val="F4D74B"/>
          </a:solidFill>
          <a:ln/>
        </p:spPr>
        <p:txBody>
          <a:bodyPr/>
          <a:p/>
        </p:txBody>
      </p:sp>
      <p:sp>
        <p:nvSpPr>
          <p:cNvPr id="73" name="Text 71"/>
          <p:cNvSpPr/>
          <p:nvPr/>
        </p:nvSpPr>
        <p:spPr>
          <a:xfrm>
            <a:off x="3931920" y="640080"/>
            <a:ext cx="2889504" cy="402336"/>
          </a:xfrm>
          <a:prstGeom prst="rect">
            <a:avLst/>
          </a:prstGeom>
          <a:noFill/>
          <a:ln/>
        </p:spPr>
        <p:txBody>
          <a:bodyPr wrap="square" lIns="0" tIns="0" rIns="0" bIns="0" rtlCol="0" anchor="ctr"/>
          <a:lstStyle/>
          <a:p>
            <a:pPr algn="ctr" indent="0" marL="0">
              <a:lnSpc>
                <a:spcPct val="105000"/>
              </a:lnSpc>
              <a:buNone/>
            </a:pPr>
            <a:r>
              <a:rPr lang="en-US" sz="1300" dirty="0">
                <a:solidFill>
                  <a:srgbClr val="3D68EC"/>
                </a:solidFill>
                <a:latin typeface="General Sans Semibold" pitchFamily="34" charset="0"/>
                <a:ea typeface="General Sans Semibold" pitchFamily="34" charset="-122"/>
                <a:cs typeface="General Sans Semibold" pitchFamily="34" charset="-120"/>
              </a:rPr>
              <a:t>CEDA · DAIR-bijeenkomst</a:t>
            </a:r>
            <a:endParaRPr lang="en-US" sz="1300" dirty="0"/>
          </a:p>
        </p:txBody>
      </p:sp>
      <p:sp>
        <p:nvSpPr>
          <p:cNvPr id="74" name="Text 72"/>
          <p:cNvSpPr/>
          <p:nvPr/>
        </p:nvSpPr>
        <p:spPr>
          <a:xfrm>
            <a:off x="548640" y="1691640"/>
            <a:ext cx="6766560" cy="1828800"/>
          </a:xfrm>
          <a:prstGeom prst="rect">
            <a:avLst/>
          </a:prstGeom>
          <a:noFill/>
          <a:ln/>
        </p:spPr>
        <p:txBody>
          <a:bodyPr wrap="square" lIns="0" tIns="0" rIns="0" bIns="0" rtlCol="0" anchor="b"/>
          <a:lstStyle/>
          <a:p>
            <a:pPr algn="l" indent="0" marL="0">
              <a:lnSpc>
                <a:spcPct val="105000"/>
              </a:lnSpc>
              <a:buNone/>
            </a:pPr>
            <a:r>
              <a:rPr lang="en-US" sz="46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600" dirty="0"/>
          </a:p>
        </p:txBody>
      </p:sp>
      <p:sp>
        <p:nvSpPr>
          <p:cNvPr id="75" name="Text 73"/>
          <p:cNvSpPr/>
          <p:nvPr/>
        </p:nvSpPr>
        <p:spPr>
          <a:xfrm>
            <a:off x="548640" y="3657600"/>
            <a:ext cx="6766560" cy="54864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Agentic data science in het onderwijs</a:t>
            </a:r>
            <a:endParaRPr lang="en-US" sz="2200" dirty="0"/>
          </a:p>
        </p:txBody>
      </p:sp>
      <p:sp>
        <p:nvSpPr>
          <p:cNvPr id="76" name="Text 74"/>
          <p:cNvSpPr/>
          <p:nvPr/>
        </p:nvSpPr>
        <p:spPr>
          <a:xfrm>
            <a:off x="548640" y="4297680"/>
            <a:ext cx="6766560" cy="411480"/>
          </a:xfrm>
          <a:prstGeom prst="rect">
            <a:avLst/>
          </a:prstGeom>
          <a:noFill/>
          <a:ln/>
        </p:spPr>
        <p:txBody>
          <a:bodyPr wrap="square" lIns="0" tIns="0" rIns="0" bIns="0" rtlCol="0" anchor="t"/>
          <a:lstStyle/>
          <a:p>
            <a:pPr algn="l" indent="0" marL="0">
              <a:lnSpc>
                <a:spcPct val="105000"/>
              </a:lnSpc>
              <a:buNone/>
            </a:pPr>
            <a:r>
              <a:rPr lang="en-US" sz="1600" dirty="0">
                <a:solidFill>
                  <a:srgbClr val="F4D9DC"/>
                </a:solidFill>
                <a:latin typeface="General Sans" pitchFamily="34" charset="0"/>
                <a:ea typeface="General Sans" pitchFamily="34" charset="-122"/>
                <a:cs typeface="General Sans" pitchFamily="34" charset="-120"/>
              </a:rPr>
              <a:t>120 minuten · één casus · één dashboard</a:t>
            </a:r>
            <a:endParaRPr lang="en-US" sz="1600" dirty="0"/>
          </a:p>
        </p:txBody>
      </p:sp>
      <p:sp>
        <p:nvSpPr>
          <p:cNvPr id="77" name="Shape 75"/>
          <p:cNvSpPr/>
          <p:nvPr/>
        </p:nvSpPr>
        <p:spPr>
          <a:xfrm>
            <a:off x="8595360" y="2103120"/>
            <a:ext cx="0" cy="640080"/>
          </a:xfrm>
          <a:prstGeom prst="line">
            <a:avLst/>
          </a:prstGeom>
          <a:noFill/>
          <a:ln w="19050">
            <a:solidFill>
              <a:srgbClr val="F4D9DC"/>
            </a:solidFill>
            <a:prstDash val="dash"/>
          </a:ln>
        </p:spPr>
        <p:txBody>
          <a:bodyPr/>
          <a:p/>
        </p:txBody>
      </p:sp>
      <p:sp>
        <p:nvSpPr>
          <p:cNvPr id="78" name="Shape 76"/>
          <p:cNvSpPr/>
          <p:nvPr/>
        </p:nvSpPr>
        <p:spPr>
          <a:xfrm>
            <a:off x="8138160" y="1188720"/>
            <a:ext cx="914400" cy="914400"/>
          </a:xfrm>
          <a:prstGeom prst="ellipse">
            <a:avLst/>
          </a:prstGeom>
          <a:solidFill>
            <a:srgbClr val="F4D74B"/>
          </a:solidFill>
          <a:ln/>
        </p:spPr>
        <p:txBody>
          <a:bodyPr/>
          <a:p/>
        </p:txBody>
      </p:sp>
      <p:sp>
        <p:nvSpPr>
          <p:cNvPr id="79" name="Text 77"/>
          <p:cNvSpPr/>
          <p:nvPr/>
        </p:nvSpPr>
        <p:spPr>
          <a:xfrm>
            <a:off x="8138160" y="118872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1</a:t>
            </a:r>
            <a:endParaRPr lang="en-US" sz="2800" dirty="0"/>
          </a:p>
        </p:txBody>
      </p:sp>
      <p:sp>
        <p:nvSpPr>
          <p:cNvPr id="80" name="Text 78"/>
          <p:cNvSpPr/>
          <p:nvPr/>
        </p:nvSpPr>
        <p:spPr>
          <a:xfrm>
            <a:off x="9326880" y="118872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Data verkennen</a:t>
            </a:r>
            <a:endParaRPr lang="en-US" sz="2000" dirty="0"/>
          </a:p>
        </p:txBody>
      </p:sp>
      <p:sp>
        <p:nvSpPr>
          <p:cNvPr id="81" name="Shape 79"/>
          <p:cNvSpPr/>
          <p:nvPr/>
        </p:nvSpPr>
        <p:spPr>
          <a:xfrm>
            <a:off x="8595360" y="3657600"/>
            <a:ext cx="0" cy="640080"/>
          </a:xfrm>
          <a:prstGeom prst="line">
            <a:avLst/>
          </a:prstGeom>
          <a:noFill/>
          <a:ln w="19050">
            <a:solidFill>
              <a:srgbClr val="F4D9DC"/>
            </a:solidFill>
            <a:prstDash val="dash"/>
          </a:ln>
        </p:spPr>
        <p:txBody>
          <a:bodyPr/>
          <a:p/>
        </p:txBody>
      </p:sp>
      <p:sp>
        <p:nvSpPr>
          <p:cNvPr id="82" name="Shape 80"/>
          <p:cNvSpPr/>
          <p:nvPr/>
        </p:nvSpPr>
        <p:spPr>
          <a:xfrm>
            <a:off x="8138160" y="2743200"/>
            <a:ext cx="914400" cy="914400"/>
          </a:xfrm>
          <a:prstGeom prst="ellipse">
            <a:avLst/>
          </a:prstGeom>
          <a:solidFill>
            <a:srgbClr val="F4D9DC"/>
          </a:solidFill>
          <a:ln/>
        </p:spPr>
        <p:txBody>
          <a:bodyPr/>
          <a:p/>
        </p:txBody>
      </p:sp>
      <p:sp>
        <p:nvSpPr>
          <p:cNvPr id="83" name="Text 81"/>
          <p:cNvSpPr/>
          <p:nvPr/>
        </p:nvSpPr>
        <p:spPr>
          <a:xfrm>
            <a:off x="8138160" y="274320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2</a:t>
            </a:r>
            <a:endParaRPr lang="en-US" sz="2800" dirty="0"/>
          </a:p>
        </p:txBody>
      </p:sp>
      <p:sp>
        <p:nvSpPr>
          <p:cNvPr id="84" name="Text 82"/>
          <p:cNvSpPr/>
          <p:nvPr/>
        </p:nvSpPr>
        <p:spPr>
          <a:xfrm>
            <a:off x="9326880" y="274320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Dashboard bouwen</a:t>
            </a:r>
            <a:endParaRPr lang="en-US" sz="2000" dirty="0"/>
          </a:p>
        </p:txBody>
      </p:sp>
      <p:sp>
        <p:nvSpPr>
          <p:cNvPr id="85" name="Shape 83"/>
          <p:cNvSpPr/>
          <p:nvPr/>
        </p:nvSpPr>
        <p:spPr>
          <a:xfrm>
            <a:off x="8138160" y="4297680"/>
            <a:ext cx="914400" cy="914400"/>
          </a:xfrm>
          <a:prstGeom prst="ellipse">
            <a:avLst/>
          </a:prstGeom>
          <a:solidFill>
            <a:srgbClr val="F4D74B"/>
          </a:solidFill>
          <a:ln/>
        </p:spPr>
        <p:txBody>
          <a:bodyPr/>
          <a:p/>
        </p:txBody>
      </p:sp>
      <p:sp>
        <p:nvSpPr>
          <p:cNvPr id="86" name="Text 84"/>
          <p:cNvSpPr/>
          <p:nvPr/>
        </p:nvSpPr>
        <p:spPr>
          <a:xfrm>
            <a:off x="8138160" y="429768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3</a:t>
            </a:r>
            <a:endParaRPr lang="en-US" sz="2800" dirty="0"/>
          </a:p>
        </p:txBody>
      </p:sp>
      <p:sp>
        <p:nvSpPr>
          <p:cNvPr id="87" name="Text 85"/>
          <p:cNvSpPr/>
          <p:nvPr/>
        </p:nvSpPr>
        <p:spPr>
          <a:xfrm>
            <a:off x="9326880" y="429768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Evaluatie en afsluiting</a:t>
            </a:r>
            <a:endParaRPr lang="en-US" sz="2000" dirty="0"/>
          </a:p>
        </p:txBody>
      </p:sp>
      <p:sp>
        <p:nvSpPr>
          <p:cNvPr id="88" name="Shape 86"/>
          <p:cNvSpPr/>
          <p:nvPr/>
        </p:nvSpPr>
        <p:spPr>
          <a:xfrm>
            <a:off x="548640" y="525780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74B"/>
            </a:solidFill>
            <a:prstDash val="solid"/>
          </a:ln>
        </p:spPr>
        <p:txBody>
          <a:bodyPr/>
          <a:p/>
        </p:txBody>
      </p:sp>
      <p:sp>
        <p:nvSpPr>
          <p:cNvPr id="89" name="Shape 87"/>
          <p:cNvSpPr/>
          <p:nvPr/>
        </p:nvSpPr>
        <p:spPr>
          <a:xfrm>
            <a:off x="548640" y="566928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9DC"/>
            </a:solidFill>
            <a:prstDash val="solid"/>
          </a:ln>
        </p:spPr>
        <p:txBody>
          <a:bodyPr/>
          <a:p/>
        </p:txBody>
      </p:sp>
      <p:sp>
        <p:nvSpPr>
          <p:cNvPr id="90" name="Text 88"/>
          <p:cNvSpPr/>
          <p:nvPr/>
        </p:nvSpPr>
        <p:spPr>
          <a:xfrm>
            <a:off x="548640" y="1325880"/>
            <a:ext cx="3657600" cy="365760"/>
          </a:xfrm>
          <a:prstGeom prst="rect">
            <a:avLst/>
          </a:prstGeom>
          <a:noFill/>
          <a:ln/>
        </p:spPr>
        <p:txBody>
          <a:bodyPr wrap="square" lIns="0" tIns="0" rIns="0" bIns="0" rtlCol="0" anchor="t"/>
          <a:lstStyle/>
          <a:p>
            <a:pPr algn="l" indent="0" marL="0">
              <a:lnSpc>
                <a:spcPct val="105000"/>
              </a:lnSpc>
              <a:buNone/>
            </a:pPr>
            <a:r>
              <a:rPr lang="en-US" sz="1400" dirty="0">
                <a:solidFill>
                  <a:srgbClr val="F4D74B"/>
                </a:solidFill>
                <a:latin typeface="General Sans Semibold" pitchFamily="34" charset="0"/>
                <a:ea typeface="General Sans Semibold" pitchFamily="34" charset="-122"/>
                <a:cs typeface="General Sans Semibold" pitchFamily="34" charset="-120"/>
              </a:rPr>
              <a:t>Moving Education.</a:t>
            </a:r>
            <a:endParaRPr lang="en-US" sz="1400" dirty="0"/>
          </a:p>
        </p:txBody>
      </p:sp>
      <p:pic>
        <p:nvPicPr>
          <p:cNvPr id="92" name="Npuls logo" descr="npuls-logo-horizontaal-wit.png"/>
          <p:cNvPicPr>
            <a:picLocks noChangeAspect="1"/>
          </p:cNvPicPr>
          <p:nvPr/>
        </p:nvPicPr>
        <p:blipFill>
          <a:blip r:embed="rId4"/>
          <a:stretch>
            <a:fillRect/>
          </a:stretch>
        </p:blipFill>
        <p:spPr>
          <a:xfrm>
            <a:off x="548640" y="457200"/>
            <a:ext cx="2011680" cy="7245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p/>
        </p:txBody>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p/>
        </p:txBody>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Box 72"/>
          <p:cNvSpPr txBox="1"/>
          <p:nvPr/>
        </p:nvSpPr>
        <p:spPr>
          <a:xfrm>
            <a:off x="548640"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0:00</a:t>
            </a:r>
          </a:p>
        </p:txBody>
      </p:sp>
      <p:sp>
        <p:nvSpPr>
          <p:cNvPr id="74" name="Rectangle 73"/>
          <p:cNvSpPr/>
          <p:nvPr/>
        </p:nvSpPr>
        <p:spPr>
          <a:xfrm>
            <a:off x="548640" y="2103120"/>
            <a:ext cx="1532458"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17 min</a:t>
            </a:r>
          </a:p>
        </p:txBody>
      </p:sp>
      <p:sp>
        <p:nvSpPr>
          <p:cNvPr id="75" name="Rectangle 74"/>
          <p:cNvSpPr/>
          <p:nvPr/>
        </p:nvSpPr>
        <p:spPr>
          <a:xfrm>
            <a:off x="548640" y="3017520"/>
            <a:ext cx="1532458"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3291839"/>
            <a:ext cx="1441018" cy="731520"/>
          </a:xfrm>
          <a:prstGeom prst="rect">
            <a:avLst/>
          </a:prstGeom>
          <a:noFill/>
        </p:spPr>
        <p:txBody>
          <a:bodyPr wrap="square" lIns="0" rIns="0" tIns="0" bIns="0" anchor="t">
            <a:spAutoFit/>
          </a:bodyPr>
          <a:lstStyle/>
          <a:p>
            <a:pPr algn="l"/>
            <a:r>
              <a:rPr sz="1100">
                <a:solidFill>
                  <a:srgbClr val="000000"/>
                </a:solidFill>
                <a:latin typeface="General Sans Semibold"/>
              </a:rPr>
              <a:t>Intro, data en casus</a:t>
            </a:r>
          </a:p>
        </p:txBody>
      </p:sp>
      <p:sp>
        <p:nvSpPr>
          <p:cNvPr id="77" name="TextBox 76"/>
          <p:cNvSpPr txBox="1"/>
          <p:nvPr/>
        </p:nvSpPr>
        <p:spPr>
          <a:xfrm>
            <a:off x="566928" y="4160520"/>
            <a:ext cx="1441018" cy="822960"/>
          </a:xfrm>
          <a:prstGeom prst="rect">
            <a:avLst/>
          </a:prstGeom>
          <a:noFill/>
        </p:spPr>
        <p:txBody>
          <a:bodyPr wrap="square" lIns="0" rIns="0" tIns="0" bIns="0" anchor="t">
            <a:spAutoFit/>
          </a:bodyPr>
          <a:lstStyle/>
          <a:p>
            <a:pPr algn="l"/>
            <a:r>
              <a:rPr sz="1200">
                <a:solidFill>
                  <a:srgbClr val="000000"/>
                </a:solidFill>
                <a:latin typeface="General Sans"/>
              </a:rPr>
              <a:t>CEDA, demodata en de opdracht</a:t>
            </a:r>
          </a:p>
        </p:txBody>
      </p:sp>
      <p:sp>
        <p:nvSpPr>
          <p:cNvPr id="78" name="TextBox 77"/>
          <p:cNvSpPr txBox="1"/>
          <p:nvPr/>
        </p:nvSpPr>
        <p:spPr>
          <a:xfrm>
            <a:off x="21268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0:17</a:t>
            </a:r>
          </a:p>
        </p:txBody>
      </p:sp>
      <p:sp>
        <p:nvSpPr>
          <p:cNvPr id="79" name="Rectangle 78"/>
          <p:cNvSpPr/>
          <p:nvPr/>
        </p:nvSpPr>
        <p:spPr>
          <a:xfrm>
            <a:off x="2126818" y="2103120"/>
            <a:ext cx="1171879"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13 min</a:t>
            </a:r>
          </a:p>
        </p:txBody>
      </p:sp>
      <p:sp>
        <p:nvSpPr>
          <p:cNvPr id="80" name="Rectangle 79"/>
          <p:cNvSpPr/>
          <p:nvPr/>
        </p:nvSpPr>
        <p:spPr>
          <a:xfrm>
            <a:off x="2126818" y="3017520"/>
            <a:ext cx="1171879"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145106" y="3291839"/>
            <a:ext cx="1080439" cy="731520"/>
          </a:xfrm>
          <a:prstGeom prst="rect">
            <a:avLst/>
          </a:prstGeom>
          <a:noFill/>
        </p:spPr>
        <p:txBody>
          <a:bodyPr wrap="square" lIns="0" rIns="0" tIns="0" bIns="0" anchor="t">
            <a:spAutoFit/>
          </a:bodyPr>
          <a:lstStyle/>
          <a:p>
            <a:pPr algn="l"/>
            <a:r>
              <a:rPr sz="1100">
                <a:solidFill>
                  <a:srgbClr val="000000"/>
                </a:solidFill>
                <a:latin typeface="General Sans Semibold"/>
              </a:rPr>
              <a:t>Skills en devcontainer</a:t>
            </a:r>
          </a:p>
        </p:txBody>
      </p:sp>
      <p:sp>
        <p:nvSpPr>
          <p:cNvPr id="82" name="TextBox 81"/>
          <p:cNvSpPr txBox="1"/>
          <p:nvPr/>
        </p:nvSpPr>
        <p:spPr>
          <a:xfrm>
            <a:off x="2145106" y="4160520"/>
            <a:ext cx="1080439" cy="822960"/>
          </a:xfrm>
          <a:prstGeom prst="rect">
            <a:avLst/>
          </a:prstGeom>
          <a:noFill/>
        </p:spPr>
        <p:txBody>
          <a:bodyPr wrap="square" lIns="0" rIns="0" tIns="0" bIns="0" anchor="t">
            <a:spAutoFit/>
          </a:bodyPr>
          <a:lstStyle/>
          <a:p>
            <a:pPr algn="l"/>
            <a:r>
              <a:rPr sz="1200">
                <a:solidFill>
                  <a:srgbClr val="000000"/>
                </a:solidFill>
                <a:latin typeface="General Sans"/>
              </a:rPr>
              <a:t>Wat is een skill, eerste prompt</a:t>
            </a:r>
          </a:p>
        </p:txBody>
      </p:sp>
      <p:sp>
        <p:nvSpPr>
          <p:cNvPr id="83" name="TextBox 82"/>
          <p:cNvSpPr txBox="1"/>
          <p:nvPr/>
        </p:nvSpPr>
        <p:spPr>
          <a:xfrm>
            <a:off x="33444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0:30</a:t>
            </a:r>
          </a:p>
        </p:txBody>
      </p:sp>
      <p:sp>
        <p:nvSpPr>
          <p:cNvPr id="84" name="Rectangle 83"/>
          <p:cNvSpPr/>
          <p:nvPr/>
        </p:nvSpPr>
        <p:spPr>
          <a:xfrm>
            <a:off x="334441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85" name="Rectangle 84"/>
          <p:cNvSpPr/>
          <p:nvPr/>
        </p:nvSpPr>
        <p:spPr>
          <a:xfrm>
            <a:off x="334441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36270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1: data verkennen</a:t>
            </a:r>
          </a:p>
        </p:txBody>
      </p:sp>
      <p:sp>
        <p:nvSpPr>
          <p:cNvPr id="87" name="TextBox 86"/>
          <p:cNvSpPr txBox="1"/>
          <p:nvPr/>
        </p:nvSpPr>
        <p:spPr>
          <a:xfrm>
            <a:off x="336270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Jullie prompten zelf</a:t>
            </a:r>
          </a:p>
        </p:txBody>
      </p:sp>
      <p:sp>
        <p:nvSpPr>
          <p:cNvPr id="88" name="TextBox 87"/>
          <p:cNvSpPr txBox="1"/>
          <p:nvPr/>
        </p:nvSpPr>
        <p:spPr>
          <a:xfrm>
            <a:off x="537331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0:52</a:t>
            </a:r>
          </a:p>
        </p:txBody>
      </p:sp>
      <p:sp>
        <p:nvSpPr>
          <p:cNvPr id="89" name="Rectangle 88"/>
          <p:cNvSpPr/>
          <p:nvPr/>
        </p:nvSpPr>
        <p:spPr>
          <a:xfrm>
            <a:off x="537331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90" name="Rectangle 89"/>
          <p:cNvSpPr/>
          <p:nvPr/>
        </p:nvSpPr>
        <p:spPr>
          <a:xfrm>
            <a:off x="537331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39160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1</a:t>
            </a:r>
          </a:p>
        </p:txBody>
      </p:sp>
      <p:sp>
        <p:nvSpPr>
          <p:cNvPr id="92" name="TextBox 91"/>
          <p:cNvSpPr txBox="1"/>
          <p:nvPr/>
        </p:nvSpPr>
        <p:spPr>
          <a:xfrm>
            <a:off x="539160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Skill live: kijk wat erin zit</a:t>
            </a:r>
          </a:p>
        </p:txBody>
      </p:sp>
      <p:sp>
        <p:nvSpPr>
          <p:cNvPr id="93" name="Rounded Rectangle 92"/>
          <p:cNvSpPr/>
          <p:nvPr/>
        </p:nvSpPr>
        <p:spPr>
          <a:xfrm>
            <a:off x="539160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/verkennen_data</a:t>
            </a:r>
          </a:p>
        </p:txBody>
      </p:sp>
      <p:sp>
        <p:nvSpPr>
          <p:cNvPr id="94" name="TextBox 93"/>
          <p:cNvSpPr txBox="1"/>
          <p:nvPr/>
        </p:nvSpPr>
        <p:spPr>
          <a:xfrm>
            <a:off x="677120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1:07</a:t>
            </a:r>
          </a:p>
        </p:txBody>
      </p:sp>
      <p:sp>
        <p:nvSpPr>
          <p:cNvPr id="95" name="Rectangle 94"/>
          <p:cNvSpPr/>
          <p:nvPr/>
        </p:nvSpPr>
        <p:spPr>
          <a:xfrm>
            <a:off x="677120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96" name="Rectangle 95"/>
          <p:cNvSpPr/>
          <p:nvPr/>
        </p:nvSpPr>
        <p:spPr>
          <a:xfrm>
            <a:off x="677120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78949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2: dashboard bouwen</a:t>
            </a:r>
          </a:p>
        </p:txBody>
      </p:sp>
      <p:sp>
        <p:nvSpPr>
          <p:cNvPr id="98" name="TextBox 97"/>
          <p:cNvSpPr txBox="1"/>
          <p:nvPr/>
        </p:nvSpPr>
        <p:spPr>
          <a:xfrm>
            <a:off x="678949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Jullie prompten zelf, andere rol</a:t>
            </a:r>
          </a:p>
        </p:txBody>
      </p:sp>
      <p:sp>
        <p:nvSpPr>
          <p:cNvPr id="99" name="TextBox 98"/>
          <p:cNvSpPr txBox="1"/>
          <p:nvPr/>
        </p:nvSpPr>
        <p:spPr>
          <a:xfrm>
            <a:off x="880010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1:29</a:t>
            </a:r>
          </a:p>
        </p:txBody>
      </p:sp>
      <p:sp>
        <p:nvSpPr>
          <p:cNvPr id="100" name="Rectangle 99"/>
          <p:cNvSpPr/>
          <p:nvPr/>
        </p:nvSpPr>
        <p:spPr>
          <a:xfrm>
            <a:off x="880010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101" name="Rectangle 100"/>
          <p:cNvSpPr/>
          <p:nvPr/>
        </p:nvSpPr>
        <p:spPr>
          <a:xfrm>
            <a:off x="880010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81839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2</a:t>
            </a:r>
          </a:p>
        </p:txBody>
      </p:sp>
      <p:sp>
        <p:nvSpPr>
          <p:cNvPr id="103" name="TextBox 102"/>
          <p:cNvSpPr txBox="1"/>
          <p:nvPr/>
        </p:nvSpPr>
        <p:spPr>
          <a:xfrm>
            <a:off x="881839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Skill live, daarna de onthulling</a:t>
            </a:r>
          </a:p>
        </p:txBody>
      </p:sp>
      <p:sp>
        <p:nvSpPr>
          <p:cNvPr id="104" name="Rounded Rectangle 103"/>
          <p:cNvSpPr/>
          <p:nvPr/>
        </p:nvSpPr>
        <p:spPr>
          <a:xfrm>
            <a:off x="881839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/bouwen_dashboard</a:t>
            </a:r>
          </a:p>
        </p:txBody>
      </p:sp>
      <p:sp>
        <p:nvSpPr>
          <p:cNvPr id="105" name="TextBox 104"/>
          <p:cNvSpPr txBox="1"/>
          <p:nvPr/>
        </p:nvSpPr>
        <p:spPr>
          <a:xfrm>
            <a:off x="1019799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1:44</a:t>
            </a:r>
          </a:p>
        </p:txBody>
      </p:sp>
      <p:sp>
        <p:nvSpPr>
          <p:cNvPr id="106" name="Rectangle 105"/>
          <p:cNvSpPr/>
          <p:nvPr/>
        </p:nvSpPr>
        <p:spPr>
          <a:xfrm>
            <a:off x="10197998" y="2103120"/>
            <a:ext cx="1442313" cy="91440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16 min</a:t>
            </a:r>
          </a:p>
        </p:txBody>
      </p:sp>
      <p:sp>
        <p:nvSpPr>
          <p:cNvPr id="107" name="Rectangle 106"/>
          <p:cNvSpPr/>
          <p:nvPr/>
        </p:nvSpPr>
        <p:spPr>
          <a:xfrm>
            <a:off x="10197998" y="3017520"/>
            <a:ext cx="1442313" cy="4572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0216286" y="3291839"/>
            <a:ext cx="1350873" cy="731520"/>
          </a:xfrm>
          <a:prstGeom prst="rect">
            <a:avLst/>
          </a:prstGeom>
          <a:noFill/>
        </p:spPr>
        <p:txBody>
          <a:bodyPr wrap="square" lIns="0" rIns="0" tIns="0" bIns="0" anchor="t">
            <a:spAutoFit/>
          </a:bodyPr>
          <a:lstStyle/>
          <a:p>
            <a:pPr algn="l"/>
            <a:r>
              <a:rPr sz="1100">
                <a:solidFill>
                  <a:srgbClr val="000000"/>
                </a:solidFill>
                <a:latin typeface="General Sans Semibold"/>
              </a:rPr>
              <a:t>Evaluatie en afsluiting</a:t>
            </a:r>
          </a:p>
        </p:txBody>
      </p:sp>
      <p:sp>
        <p:nvSpPr>
          <p:cNvPr id="109" name="TextBox 108"/>
          <p:cNvSpPr txBox="1"/>
          <p:nvPr/>
        </p:nvSpPr>
        <p:spPr>
          <a:xfrm>
            <a:off x="10216286" y="4160520"/>
            <a:ext cx="1350873" cy="822960"/>
          </a:xfrm>
          <a:prstGeom prst="rect">
            <a:avLst/>
          </a:prstGeom>
          <a:noFill/>
        </p:spPr>
        <p:txBody>
          <a:bodyPr wrap="square" lIns="0" rIns="0" tIns="0" bIns="0" anchor="t">
            <a:spAutoFit/>
          </a:bodyPr>
          <a:lstStyle/>
          <a:p>
            <a:pPr algn="l"/>
            <a:r>
              <a:rPr sz="1200">
                <a:solidFill>
                  <a:srgbClr val="000000"/>
                </a:solidFill>
                <a:latin typeface="General Sans"/>
              </a:rPr>
              <a:t>Terugblik, peiling, rondje</a:t>
            </a:r>
          </a:p>
        </p:txBody>
      </p:sp>
      <p:sp>
        <p:nvSpPr>
          <p:cNvPr id="110" name="TextBox 109"/>
          <p:cNvSpPr txBox="1"/>
          <p:nvPr/>
        </p:nvSpPr>
        <p:spPr>
          <a:xfrm>
            <a:off x="10725912" y="1719072"/>
            <a:ext cx="914400" cy="274320"/>
          </a:xfrm>
          <a:prstGeom prst="rect">
            <a:avLst/>
          </a:prstGeom>
          <a:noFill/>
        </p:spPr>
        <p:txBody>
          <a:bodyPr wrap="square" lIns="0" rIns="0" tIns="0" bIns="0" anchor="t">
            <a:spAutoFit/>
          </a:bodyPr>
          <a:lstStyle/>
          <a:p>
            <a:pPr algn="r"/>
            <a:r>
              <a:rPr sz="1400">
                <a:solidFill>
                  <a:srgbClr val="3D68EC"/>
                </a:solidFill>
                <a:latin typeface="General Sans Semibold"/>
              </a:rPr>
              <a:t>2:00</a:t>
            </a:r>
          </a:p>
        </p:txBody>
      </p:sp>
      <p:sp>
        <p:nvSpPr>
          <p:cNvPr id="111" name="Rectangle 110"/>
          <p:cNvSpPr/>
          <p:nvPr/>
        </p:nvSpPr>
        <p:spPr>
          <a:xfrm>
            <a:off x="548640" y="6025896"/>
            <a:ext cx="201168" cy="201168"/>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841247"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Uitleg</a:t>
            </a:r>
          </a:p>
        </p:txBody>
      </p:sp>
      <p:sp>
        <p:nvSpPr>
          <p:cNvPr id="113" name="Rectangle 112"/>
          <p:cNvSpPr/>
          <p:nvPr/>
        </p:nvSpPr>
        <p:spPr>
          <a:xfrm>
            <a:off x="1901952" y="6025896"/>
            <a:ext cx="201168" cy="201168"/>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2194560"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Werken in tweetallen</a:t>
            </a:r>
          </a:p>
        </p:txBody>
      </p:sp>
      <p:sp>
        <p:nvSpPr>
          <p:cNvPr id="115" name="Rectangle 114"/>
          <p:cNvSpPr/>
          <p:nvPr/>
        </p:nvSpPr>
        <p:spPr>
          <a:xfrm>
            <a:off x="4663440" y="6025896"/>
            <a:ext cx="201168" cy="201168"/>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9560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Spiegelmoment</a:t>
            </a:r>
          </a:p>
        </p:txBody>
      </p:sp>
      <p:sp>
        <p:nvSpPr>
          <p:cNvPr id="117" name="Rectangle 116"/>
          <p:cNvSpPr/>
          <p:nvPr/>
        </p:nvSpPr>
        <p:spPr>
          <a:xfrm>
            <a:off x="6720840" y="6025896"/>
            <a:ext cx="201168" cy="201168"/>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70134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Evaluatie en afsluiting</a:t>
            </a:r>
          </a:p>
        </p:txBody>
      </p:sp>
      <p:pic>
        <p:nvPicPr>
          <p:cNvPr id="119"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het patroon is ingebouwd</a:t>
            </a:r>
            <a:endParaRPr lang="en-US" sz="32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Bewust gemaakt: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er zit een echt verschil én een nep-verschil in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Met de agent</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laten uitrekenen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Jullie laten de agent per jaar uitrekenen hoeveel eerstejaars stoppen, en dat vergelijken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Wat je oplevert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3070 fictieve studenten, cohorten 2012-2023, één bestand: data/demodata_1cho.csv.</a:t>
            </a:r>
            <a:endParaRPr lang="en-US" sz="17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sp>
      <p:sp>
        <p:nvSpPr>
          <p:cNvPr id="74" name="Shape 72"/>
          <p:cNvSpPr/>
          <p:nvPr/>
        </p:nvSpPr>
        <p:spPr>
          <a:xfrm>
            <a:off x="822960" y="1719072"/>
            <a:ext cx="2966618" cy="402336"/>
          </a:xfrm>
          <a:prstGeom prst="roundRect">
            <a:avLst>
              <a:gd name="adj" fmla="val 113636"/>
            </a:avLst>
          </a:prstGeom>
          <a:solidFill>
            <a:srgbClr val="3D68EC"/>
          </a:solidFill>
          <a:ln/>
        </p:spPr>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leest, schrijft en draait de code.</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sp>
      <p:sp>
        <p:nvSpPr>
          <p:cNvPr id="81" name="Shape 79"/>
          <p:cNvSpPr/>
          <p:nvPr/>
        </p:nvSpPr>
        <p:spPr>
          <a:xfrm>
            <a:off x="4612538" y="1719072"/>
            <a:ext cx="2966618" cy="402336"/>
          </a:xfrm>
          <a:prstGeom prst="roundRect">
            <a:avLst>
              <a:gd name="adj" fmla="val 113636"/>
            </a:avLst>
          </a:prstGeom>
          <a:solidFill>
            <a:srgbClr val="3D68EC"/>
          </a:solidFill>
          <a:ln/>
        </p:spPr>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sp>
      <p:sp>
        <p:nvSpPr>
          <p:cNvPr id="88" name="Shape 86"/>
          <p:cNvSpPr/>
          <p:nvPr/>
        </p:nvSpPr>
        <p:spPr>
          <a:xfrm>
            <a:off x="8402117" y="1719072"/>
            <a:ext cx="2966618" cy="402336"/>
          </a:xfrm>
          <a:prstGeom prst="roundRect">
            <a:avLst>
              <a:gd name="adj" fmla="val 113636"/>
            </a:avLst>
          </a:prstGeom>
          <a:solidFill>
            <a:srgbClr val="3D68EC"/>
          </a:solidFill>
          <a:ln/>
        </p:spPr>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Elke keer dezelfde werkwijze.</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pic>
        <p:nvPicPr>
          <p:cNvPr id="95" name="Npuls beeldmerk" descr="npuls-beeldmerk-wi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Twee skills die wij laten zien</a:t>
            </a:r>
            <a:endParaRPr lang="en-US" sz="3400" dirty="0"/>
          </a:p>
        </p:txBody>
      </p:sp>
      <p:sp>
        <p:nvSpPr>
          <p:cNvPr id="73" name="Shape 71"/>
          <p:cNvSpPr/>
          <p:nvPr/>
        </p:nvSpPr>
        <p:spPr>
          <a:xfrm>
            <a:off x="548640" y="1371600"/>
            <a:ext cx="5410048" cy="3490722"/>
          </a:xfrm>
          <a:prstGeom prst="roundRect">
            <a:avLst>
              <a:gd name="adj" fmla="val 1921"/>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sp>
      <p:sp>
        <p:nvSpPr>
          <p:cNvPr id="77" name="Text 75"/>
          <p:cNvSpPr/>
          <p:nvPr/>
        </p:nvSpPr>
        <p:spPr>
          <a:xfrm>
            <a:off x="1600200"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/verkennen_data</a:t>
            </a:r>
            <a:endParaRPr lang="en-US" sz="2200" dirty="0"/>
          </a:p>
        </p:txBody>
      </p:sp>
      <p:sp>
        <p:nvSpPr>
          <p:cNvPr id="79" name="Text 77"/>
          <p:cNvSpPr/>
          <p:nvPr/>
        </p:nvSpPr>
        <p:spPr>
          <a:xfrm>
            <a:off x="822960"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 verkennen, kleine groepen signaleren, schetsen.</a:t>
            </a:r>
            <a:endParaRPr lang="en-US" sz="1500" dirty="0"/>
          </a:p>
        </p:txBody>
      </p:sp>
      <p:sp>
        <p:nvSpPr>
          <p:cNvPr id="81" name="Text 79"/>
          <p:cNvSpPr/>
          <p:nvPr/>
        </p:nvSpPr>
        <p:spPr>
          <a:xfrm>
            <a:off x="822960"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data-profiel.md en schets.md</a:t>
            </a:r>
            <a:endParaRPr lang="en-US" sz="1500" dirty="0"/>
          </a:p>
        </p:txBody>
      </p:sp>
      <p:sp>
        <p:nvSpPr>
          <p:cNvPr id="83" name="Shape 81"/>
          <p:cNvSpPr/>
          <p:nvPr/>
        </p:nvSpPr>
        <p:spPr>
          <a:xfrm>
            <a:off x="6233008" y="1371600"/>
            <a:ext cx="5410048" cy="3490722"/>
          </a:xfrm>
          <a:prstGeom prst="roundRect">
            <a:avLst>
              <a:gd name="adj" fmla="val 1921"/>
            </a:avLst>
          </a:prstGeom>
          <a:solidFill>
            <a:srgbClr val="DD784B"/>
          </a:solidFill>
          <a:ln/>
        </p:spPr>
      </p:sp>
      <p:sp>
        <p:nvSpPr>
          <p:cNvPr id="84" name="Shape 82"/>
          <p:cNvSpPr/>
          <p:nvPr/>
        </p:nvSpPr>
        <p:spPr>
          <a:xfrm>
            <a:off x="6507328" y="1645920"/>
            <a:ext cx="548640" cy="548640"/>
          </a:xfrm>
          <a:prstGeom prst="ellipse">
            <a:avLst/>
          </a:prstGeom>
          <a:solidFill>
            <a:srgbClr val="F4D9DC"/>
          </a:solidFill>
          <a:ln/>
        </p:spPr>
      </p:sp>
      <p:sp>
        <p:nvSpPr>
          <p:cNvPr id="85" name="Text 83"/>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7193128" y="1719072"/>
            <a:ext cx="4175608" cy="402336"/>
          </a:xfrm>
          <a:prstGeom prst="roundRect">
            <a:avLst>
              <a:gd name="adj" fmla="val 113636"/>
            </a:avLst>
          </a:prstGeom>
          <a:solidFill>
            <a:srgbClr val="F4D9DC"/>
          </a:solidFill>
          <a:ln/>
        </p:spPr>
      </p:sp>
      <p:sp>
        <p:nvSpPr>
          <p:cNvPr id="87" name="Text 85"/>
          <p:cNvSpPr/>
          <p:nvPr/>
        </p:nvSpPr>
        <p:spPr>
          <a:xfrm>
            <a:off x="7284568"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6507328"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/bouwen_dashboard</a:t>
            </a:r>
            <a:endParaRPr lang="en-US" sz="2200" dirty="0"/>
          </a:p>
        </p:txBody>
      </p:sp>
      <p:sp>
        <p:nvSpPr>
          <p:cNvPr id="89" name="Text 87"/>
          <p:cNvSpPr/>
          <p:nvPr/>
        </p:nvSpPr>
        <p:spPr>
          <a:xfrm>
            <a:off x="6507328"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6507328"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Dashboard bouwen, met de checks erin verweven.</a:t>
            </a:r>
            <a:endParaRPr lang="en-US" sz="1500" dirty="0"/>
          </a:p>
        </p:txBody>
      </p:sp>
      <p:sp>
        <p:nvSpPr>
          <p:cNvPr id="91" name="Text 89"/>
          <p:cNvSpPr/>
          <p:nvPr/>
        </p:nvSpPr>
        <p:spPr>
          <a:xfrm>
            <a:off x="6507328"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6507328"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app.py en berekeningen.py</a:t>
            </a:r>
            <a:endParaRPr lang="en-US" sz="1500" dirty="0"/>
          </a:p>
        </p:txBody>
      </p:sp>
      <p:sp>
        <p:nvSpPr>
          <p:cNvPr id="93" name="Text 91"/>
          <p:cNvSpPr/>
          <p:nvPr/>
        </p:nvSpPr>
        <p:spPr>
          <a:xfrm>
            <a:off x="548640" y="5045202"/>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Jullie prompten zelf in de rondes. Wij laten de skills live draaien bij de spiegelmomenten.</a:t>
            </a:r>
            <a:endParaRPr lang="en-US" sz="16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GitHub-account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Gratis; log in op github.com</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Codespace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de workshop-repo en maak er een</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Terminal en key</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Plak de workshop-key van de begeleider</a:t>
            </a:r>
            <a:endParaRPr lang="en-US" sz="1400" dirty="0"/>
          </a:p>
        </p:txBody>
      </p:sp>
      <p:sp>
        <p:nvSpPr>
          <p:cNvPr id="86" name="Shape 84"/>
          <p:cNvSpPr/>
          <p:nvPr/>
        </p:nvSpPr>
        <p:spPr>
          <a:xfrm>
            <a:off x="9859975" y="3607308"/>
            <a:ext cx="1554480" cy="329184"/>
          </a:xfrm>
          <a:prstGeom prst="roundRect">
            <a:avLst>
              <a:gd name="adj" fmla="val 138889"/>
            </a:avLst>
          </a:prstGeom>
          <a:solidFill>
            <a:srgbClr val="00AF81"/>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Claude Code</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het Claude-paneel</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4</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2: open de repo en maak een Codespace</a:t>
            </a:r>
            <a:endParaRPr lang="en-US" sz="3100" dirty="0"/>
          </a:p>
        </p:txBody>
      </p:sp>
      <p:pic>
        <p:nvPicPr>
          <p:cNvPr id="73" name="Image 0" descr="GitHub-repo met de Code-knop en de Codespaces-tab geopend">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Groene knop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tab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Codespaces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dan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Wachten duurt ongeveer een minuut.</a:t>
            </a:r>
            <a:endParaRPr lang="en-US" sz="1800" dirty="0"/>
          </a:p>
        </p:txBody>
      </p:sp>
      <p:pic>
        <p:nvPicPr>
          <p:cNvPr id="76"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Stap 3: open een terminal en plak de key (alleen de eerste keer)</a:t>
            </a:r>
            <a:endParaRPr lang="en-US" sz="2500" dirty="0"/>
          </a:p>
        </p:txBody>
      </p:sp>
      <p:pic>
        <p:nvPicPr>
          <p:cNvPr id="73" name="Image 0" descr="VS Code met het menu Terminal en New Terminal">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Terminal → New Terminal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workshop-key</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krijg je van de begeleider. Plak hem en druk op Enter. Je ziet niets verschijnen, dat is normaal.</a:t>
            </a:r>
            <a:endParaRPr lang="en-US" sz="1800" dirty="0"/>
          </a:p>
        </p:txBody>
      </p:sp>
      <p:pic>
        <p:nvPicPr>
          <p:cNvPr id="76"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Stap 4: open het Claude-paneel</a:t>
            </a:r>
            <a:endParaRPr lang="en-US" sz="3400" dirty="0"/>
          </a:p>
        </p:txBody>
      </p:sp>
      <p:pic>
        <p:nvPicPr>
          <p:cNvPr id="73" name="Image 0" descr="VS Code met het oranje Claude-icoon rechtsboven in de editor">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het oranje Claude-icoon, je hoeft niets in de terminal te typen</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Probeer als eerste instructie: "Lees data/demodata_1cho.csv en vertel in gewone taal wat erin zit."</a:t>
            </a:r>
            <a:endParaRPr lang="en-US" sz="1800" dirty="0"/>
          </a:p>
        </p:txBody>
      </p:sp>
      <p:pic>
        <p:nvPicPr>
          <p:cNvPr id="76"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de definitie van uitval en instroom.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Schets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Twee of drie views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schets op papier of in tekst van wat je gaat bouwen, met een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"Vertel in gewone taal wat er in data/demodata_1cho.csv zit." </a:t>
            </a:r>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Oplevering:</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begrip van de data, een schets en een eerste privacy-check.</a:t>
            </a:r>
            <a:endParaRPr lang="en-US" sz="15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/verkennen_data,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/verkennen_data: vier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Profileren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instroom per jaar.</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Overzicht in gewone taal</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Definities</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instroom en rendement volgens staat1cho, letterlijk vastgelegd.</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30 tellen en uitleggen waarom ze verborgen blijven.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Privacy-check</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Schetsen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Twee of drie views met de conclusie als titel, plus wat het niet kan zeggen.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schets.md</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data/demodata_1cho.csv en de casusvraag.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data-profiel.md en schets.md.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Cohort 2023 geeft 100% uitval. De skill sluit het uit.</a:t>
            </a:r>
            <a:endParaRPr lang="en-US" sz="1500" dirty="0"/>
          </a:p>
        </p:txBody>
      </p:sp>
      <p:sp>
        <p:nvSpPr>
          <p:cNvPr id="78" name="Shape 76"/>
          <p:cNvSpPr/>
          <p:nvPr/>
        </p:nvSpPr>
        <p:spPr>
          <a:xfrm>
            <a:off x="3390824" y="1371600"/>
            <a:ext cx="2567864" cy="302564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laat die weg.</a:t>
            </a:r>
            <a:endParaRPr lang="en-US" sz="1500" dirty="0"/>
          </a:p>
        </p:txBody>
      </p:sp>
      <p:sp>
        <p:nvSpPr>
          <p:cNvPr id="83" name="Shape 81"/>
          <p:cNvSpPr/>
          <p:nvPr/>
        </p:nvSpPr>
        <p:spPr>
          <a:xfrm>
            <a:off x="6233008" y="1371600"/>
            <a:ext cx="2567864" cy="302564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28 van de 96 groepen hebben minder dan 30 studenten: niet getoond.</a:t>
            </a:r>
            <a:endParaRPr lang="en-US" sz="1500" dirty="0"/>
          </a:p>
        </p:txBody>
      </p:sp>
      <p:sp>
        <p:nvSpPr>
          <p:cNvPr id="88" name="Shape 86"/>
          <p:cNvSpPr/>
          <p:nvPr/>
        </p:nvSpPr>
        <p:spPr>
          <a:xfrm>
            <a:off x="9075191" y="1371600"/>
            <a:ext cx="2567864" cy="302564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noemt wat niet kan.</a:t>
            </a:r>
            <a:endParaRPr lang="en-US" sz="1500" dirty="0"/>
          </a:p>
        </p:txBody>
      </p:sp>
      <p:sp>
        <p:nvSpPr>
          <p:cNvPr id="93" name="Text 91"/>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sp>
      <p:sp>
        <p:nvSpPr>
          <p:cNvPr id="81" name="Shape 79"/>
          <p:cNvSpPr/>
          <p:nvPr/>
        </p:nvSpPr>
        <p:spPr>
          <a:xfrm>
            <a:off x="3665144" y="1645920"/>
            <a:ext cx="548640" cy="548640"/>
          </a:xfrm>
          <a:prstGeom prst="ellipse">
            <a:avLst/>
          </a:prstGeom>
          <a:solidFill>
            <a:srgbClr val="F4D9D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sp>
      <p:sp>
        <p:nvSpPr>
          <p:cNvPr id="88" name="Shape 86"/>
          <p:cNvSpPr/>
          <p:nvPr/>
        </p:nvSpPr>
        <p:spPr>
          <a:xfrm>
            <a:off x="6507328" y="1645920"/>
            <a:ext cx="548640" cy="548640"/>
          </a:xfrm>
          <a:prstGeom prst="ellipse">
            <a:avLst/>
          </a:prstGeom>
          <a:solidFill>
            <a:srgbClr val="F4D9D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"Bouw een Streamlit-dashboard dat laat zien welke eerstejaars binnen een jaar stoppen, per sector." Het dashboard is het middel, de casusvraag het doel.</a:t>
            </a:r>
            <a:endParaRPr lang="en-US" sz="15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/bouwen_dashboard,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/bouwen_dashboard: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data-profiel.md, schets.md en de data zelf.</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app.py voor de weergave, berekeningen.py voor de rekenregels.</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Verweeft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 checks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framing, toegankelijkheid en bron.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Verantwoord</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Headless</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AppTest: geen fouten en een kleine groep geeft "te weinig studenten".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Aantoonbaar</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de twee bestanden uit ronde 1.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een werkend, verantwoord dashboard.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pic>
        <p:nvPicPr>
          <p:cNvPr id="7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Techniek valt het vaakst uit, geslacht laat geen verschil zien</a:t>
            </a:r>
            <a:endParaRPr lang="en-US" sz="2500" dirty="0"/>
          </a:p>
        </p:txBody>
      </p:sp>
      <p:graphicFrame>
        <p:nvGraphicFramePr>
          <p:cNvPr id="73" name="Chart 0" descr=""/>
          <p:cNvGraphicFramePr/>
          <p:nvPr/>
        </p:nvGraphicFramePr>
        <p:xfrm>
          <a:off x="731520" y="1554480"/>
          <a:ext cx="6796735" cy="4206240"/>
        </p:xfrm>
        <a:graphic xmlns:a="http://schemas.openxmlformats.org/drawingml/2006/main">
          <a:graphicData uri="http://schemas.openxmlformats.org/drawingml/2006/chart">
            <c:chart xmlns:c="http://schemas.openxmlformats.org/drawingml/2006/chart" r:id="rId1"/>
          </a:graphicData>
        </a:graphic>
      </p:graphicFrame>
      <p:sp>
        <p:nvSpPr>
          <p:cNvPr id="74" name="Shape 71"/>
          <p:cNvSpPr/>
          <p:nvPr/>
        </p:nvSpPr>
        <p:spPr>
          <a:xfrm>
            <a:off x="7985455" y="1371600"/>
            <a:ext cx="3657600" cy="2895600"/>
          </a:xfrm>
          <a:prstGeom prst="roundRect">
            <a:avLst>
              <a:gd name="adj" fmla="val 2792"/>
            </a:avLst>
          </a:prstGeom>
          <a:solidFill>
            <a:srgbClr val="3D68EC"/>
          </a:solidFill>
          <a:ln/>
        </p:spPr>
      </p:sp>
      <p:sp>
        <p:nvSpPr>
          <p:cNvPr id="75" name="Text 72"/>
          <p:cNvSpPr/>
          <p:nvPr/>
        </p:nvSpPr>
        <p:spPr>
          <a:xfrm>
            <a:off x="8259775" y="1691640"/>
            <a:ext cx="3108960"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WAT VALT OP</a:t>
            </a:r>
            <a:endParaRPr lang="en-US" sz="1100" dirty="0"/>
          </a:p>
        </p:txBody>
      </p:sp>
      <p:sp>
        <p:nvSpPr>
          <p:cNvPr id="76" name="Text 73"/>
          <p:cNvSpPr/>
          <p:nvPr/>
        </p:nvSpPr>
        <p:spPr>
          <a:xfrm>
            <a:off x="8259775" y="2103120"/>
            <a:ext cx="3108960" cy="1981200"/>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Het verschil tussen sectoren hebben wij ingebouwd. Man (16,1%) en vrouw (17,3%) verschillen niet echt: dat is toeval.</a:t>
            </a:r>
            <a:endParaRPr lang="en-US" sz="2000" dirty="0"/>
          </a:p>
        </p:txBody>
      </p:sp>
      <p:sp>
        <p:nvSpPr>
          <p:cNvPr id="77" name="Text 74"/>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Bron: demodata, cohorten 2012-2022 (2023 is nog niet waarneembaar)</a:t>
            </a:r>
            <a:endParaRPr lang="en-US" sz="1100" dirty="0"/>
          </a:p>
        </p:txBody>
      </p:sp>
      <p:pic>
        <p:nvPicPr>
          <p:cNvPr id="78"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AF81"/>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sp>
      <p:sp>
        <p:nvSpPr>
          <p:cNvPr id="74" name="Shape 72"/>
          <p:cNvSpPr/>
          <p:nvPr/>
        </p:nvSpPr>
        <p:spPr>
          <a:xfrm>
            <a:off x="822960" y="1645920"/>
            <a:ext cx="548640" cy="548640"/>
          </a:xfrm>
          <a:prstGeom prst="ellipse">
            <a:avLst/>
          </a:prstGeom>
          <a:solidFill>
            <a:srgbClr val="3D68EC"/>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sp>
      <p:sp>
        <p:nvSpPr>
          <p:cNvPr id="81" name="Shape 79"/>
          <p:cNvSpPr/>
          <p:nvPr/>
        </p:nvSpPr>
        <p:spPr>
          <a:xfrm>
            <a:off x="3665144" y="1645920"/>
            <a:ext cx="548640" cy="548640"/>
          </a:xfrm>
          <a:prstGeom prst="ellipse">
            <a:avLst/>
          </a:prstGeom>
          <a:solidFill>
            <a:srgbClr val="3D68E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Zou je een vervolg willen, en hoe groot?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sp>
      <p:sp>
        <p:nvSpPr>
          <p:cNvPr id="88" name="Shape 86"/>
          <p:cNvSpPr/>
          <p:nvPr/>
        </p:nvSpPr>
        <p:spPr>
          <a:xfrm>
            <a:off x="6507328" y="1645920"/>
            <a:ext cx="548640" cy="548640"/>
          </a:xfrm>
          <a:prstGeom prst="ellipse">
            <a:avLst/>
          </a:prstGeom>
          <a:solidFill>
            <a:srgbClr val="3D68E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Open vraag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wil je precies leren in zo’n training?</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Zou je een vervolg op deze workshop willen?</a:t>
            </a:r>
            <a:endParaRPr lang="en-US" sz="30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Nee, niet nodig</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Deze workshop was genoeg</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A</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losse sessie van een paar uur</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vervolgworkshop, bijvoorbeeld met eigen data</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B</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paar dagdelen over enkele weken</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Verdieping verspreid over meerdere dagen</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4 uur per week, één semester</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volledig trainingsprogramma</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D</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Kies wat het best past. Scan de QR-code of steek je hand op.</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 je precies leren?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Kort en concreet. Bijvoorbeeld: een eigen skill schrijven voor onze data.</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sp>
      <p:sp>
        <p:nvSpPr>
          <p:cNvPr id="7" name="Shape 5"/>
          <p:cNvSpPr/>
          <p:nvPr/>
        </p:nvSpPr>
        <p:spPr>
          <a:xfrm>
            <a:off x="6675120" y="2441448"/>
            <a:ext cx="1371600" cy="347472"/>
          </a:xfrm>
          <a:prstGeom prst="roundRect">
            <a:avLst>
              <a:gd name="adj" fmla="val 131579"/>
            </a:avLst>
          </a:prstGeom>
          <a:solidFill>
            <a:srgbClr val="F4D9DC"/>
          </a:solidFill>
          <a:ln/>
        </p:spPr>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twee skills staan in de repo, je kunt ze zelf aanpassen.</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sp>
      <p:sp>
        <p:nvSpPr>
          <p:cNvPr id="11" name="Shape 9"/>
          <p:cNvSpPr/>
          <p:nvPr/>
        </p:nvSpPr>
        <p:spPr>
          <a:xfrm>
            <a:off x="6675120" y="3950208"/>
            <a:ext cx="1371600" cy="347472"/>
          </a:xfrm>
          <a:prstGeom prst="roundRect">
            <a:avLst>
              <a:gd name="adj" fmla="val 131579"/>
            </a:avLst>
          </a:prstGeom>
          <a:solidFill>
            <a:srgbClr val="F4D9DC"/>
          </a:solidFill>
          <a:ln/>
        </p:spPr>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2026-10-08T10:50:22Z</dcterms:created>
  <dcterms:modified xsi:type="dcterms:W3CDTF">2026-10-08T10:50:22Z</dcterms:modified>
</cp:coreProperties>
</file>