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86" r:id="rId37"/>
    <p:sldId id="287" r:id="rId38"/>
    <p:sldId id="288" r:id="rId39"/>
    <p:sldId id="289" r:id="rId40"/>
    <p:sldId id="260" r:id="rId6"/>
    <p:sldId id="261" r:id="rId7"/>
    <p:sldId id="262" r:id="rId8"/>
    <p:sldId id="263" r:id="rId9"/>
    <p:sldId id="264" r:id="rId10"/>
    <p:sldId id="265" r:id="rId11"/>
    <p:sldId id="292" r:id="rId26"/>
    <p:sldId id="266" r:id="rId12"/>
    <p:sldId id="267" r:id="rId13"/>
    <p:sldId id="268" r:id="rId14"/>
    <p:sldId id="269" r:id="rId15"/>
    <p:sldId id="270" r:id="rId16"/>
    <p:sldId id="271" r:id="rId17"/>
    <p:sldId id="272" r:id="rId18"/>
    <p:sldId id="273" r:id="rId19"/>
    <p:sldId id="293" r:id="rId28"/>
    <p:sldId id="274" r:id="rId20"/>
    <p:sldId id="275" r:id="rId21"/>
    <p:sldId id="276" r:id="rId22"/>
    <p:sldId id="277" r:id="rId23"/>
    <p:sldId id="291" r:id="rId42"/>
    <p:sldId id="294" r:id="rId43"/>
    <p:sldId id="278" r:id="rId24"/>
    <p:sldId id="279" r:id="rId25"/>
    <p:sldId id="295" r:id="rId44"/>
    <p:sldId id="281" r:id="rId27"/>
    <p:sldId id="283" r:id="rId29"/>
    <p:sldId id="284" r:id="rId30"/>
    <p:sldId id="290" r:id="rId41"/>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7.xml"/><Relationship Id="rId23" Type="http://schemas.openxmlformats.org/officeDocument/2006/relationships/slide" Target="slides/slide28.xml"/><Relationship Id="rId24" Type="http://schemas.openxmlformats.org/officeDocument/2006/relationships/slide" Target="slides/slide31.xml"/><Relationship Id="rId25" Type="http://schemas.openxmlformats.org/officeDocument/2006/relationships/slide" Target="slides/slide33.xml"/><Relationship Id="rId26" Type="http://schemas.openxmlformats.org/officeDocument/2006/relationships/slide" Target="slides/slide15.xml"/><Relationship Id="rId27" Type="http://schemas.openxmlformats.org/officeDocument/2006/relationships/slide" Target="slides/slide34.xml"/><Relationship Id="rId28" Type="http://schemas.openxmlformats.org/officeDocument/2006/relationships/slide" Target="slides/slide23.xml"/><Relationship Id="rId29" Type="http://schemas.openxmlformats.org/officeDocument/2006/relationships/slide" Target="slides/slide35.xml"/><Relationship Id="rId30" Type="http://schemas.openxmlformats.org/officeDocument/2006/relationships/slide" Target="slides/slide36.xml"/><Relationship Id="rId31" Type="http://schemas.openxmlformats.org/officeDocument/2006/relationships/slide" Target="slides/slide38.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5.xml"/><Relationship Id="rId38" Type="http://schemas.openxmlformats.org/officeDocument/2006/relationships/slide" Target="slides/slide6.xml"/><Relationship Id="rId39" Type="http://schemas.openxmlformats.org/officeDocument/2006/relationships/slide" Target="slides/slide7.xml"/><Relationship Id="rId40" Type="http://schemas.openxmlformats.org/officeDocument/2006/relationships/slide" Target="slides/slide8.xml"/><Relationship Id="rId41" Type="http://schemas.openxmlformats.org/officeDocument/2006/relationships/slide" Target="slides/slide37.xml"/><Relationship Id="rId42" Type="http://schemas.openxmlformats.org/officeDocument/2006/relationships/slide" Target="slides/slide30.xml"/><Relationship Id="rId43" Type="http://schemas.openxmlformats.org/officeDocument/2006/relationships/slide" Target="slides/slide29.xml"/><Relationship Id="rId44"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Wat is demodata: gegenereerd naar het patroon van een echt bestand en gecontroleerd tegen de 1CHO-metadata en CROHO-codes. Het is fictief, dus de agent mag erin. Dezelfde code draait later op echte data. Validatie tegen de werkelijkheid doen we niet; dat vraagt echte data buiten de devcontainer.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Noem de drie skills bij naam: /verkennen_data in ronde 1, /schets_dashboard en /bouwen_dashboard in ronde 2. De deelnemers prompten zelf in de rondes: de leider laat de skills draaien bij de spiegelmomenten en legt dan uit wat erin staat en wat de skill afdwingt. Elke skill stelt hooguit drie vragen, één voor één, en doet liever een voorstel dan een vragenronde.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kijken niet naar individuele schetsen, maar naar de skill. Vraag eerst twee tweetallen om één ding te noemen dat ze in ronde 1 tegenkwamen (één zin per tweetal). Loop daarna met de volgende twee dia's door de skill. Draai /verkennen_data live en leg uit terwijl hij loopt; doe vooraf een droge run, want de skill doet nu meer (kwaliteit en verdelingen) en de eerdere tijdmeting geldt niet meer. Zet daarnaast desgewenst één gewone prompt op hetzelfde scherm.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/verkennen_data/SKILL.md. Open het bestand even op het scherm: eerst drie vragen (de data, jouw vraag, één voorstel voor kernmaat en drempels), dan de stappen. De skill schrijft begrip.json en draait verken.py, dat het profiel als HTML maakt. Vraag: welke van deze vier stappen heb jij in ronde 1 overgeslagen of anders gedaan?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zijn de checks die in de skill zijn verweven. Laat de deelnemers zelf aanwijzen welke ze in ronde 1 zelf hebben gedaan. Het laatste cohort heeft nog geen volgend jaar in de data, dus uitval lijkt daar 100%: de skill sluit het uit. In de demodata heeft de meerderheid van de cellen opleiding per cohort minder dan 30 studenten, terwijl elke opleiding over alle cohorten samen genoeg heeft. De drempels 30 en 5 zijn voorbeeldwaarden en niet getoetst door een privacy officer; de skill vraagt de gebruiker welke drempels gelden.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Ook nu geen individuele dashboards bekijken. Vraag twee tweetallen om één keuze te noemen die ze maakten (bijvoorbeeld de titel of de drempel). Draai /schets_dashboard en daarna /bouwen_dashboard live, leg uit terwijl ze lopen en doe vooraf een droge run voor de tijd. Laat vooral zien hoe snel het gaat en wat de skill er standaard bij doet: de checks zitten erin, jij hoeft er niet aan te denken.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Dit is de opbouw van /bouwen_dashboard/SKILL.md. Let op het verschil met ronde 1: hier staan de responsible-checks niet in een aparte stap maar in de bouwinstructie zelf. Het dashboard laadt zelf geen data: het eerste scherm is een upload, zodat dezelfde code later op echte data draait zonder AI. Aan het eind kijkt de skill de code na en slaat alleen iets op in GitHub als de gebruiker "bewaar" zegt.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Iedereen logt in op github.com met het eigen account; de Codespace komt in dat account te staan. Een GitHub-account is vooraf gevraagd. Wie er geen heeft, maakt er nu een aan (gratis, een e-mailadres is genoeg) of kijkt mee bij een buur. Wacht tot iedereen is ingelogd voor je naar stap 2 gaat.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Evaluatie en afsluiting zijn één blok van 16 minuten. Vraag eerst toestemming: de antwoorden zijn anoniem en gebruiken we om te bepalen of er een vervolg komt. Terugblik in een kort rondje, daarna de vragenlijst in de eigen Codespace. Houd de tijd: loopt het uit, kort dan de afsluiting in, niet de vragenlijst.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bestand zien dat de skill heeft gemaakt: een menu links, tegels met de kerncijfers, daaronder de keuzes en aannames in één tabel met de status. Vraag: welke keuzes zie je hier die jullie zelf niet hebben gemaakt? Dit is demodata; het profiel beschrijft het bestand, niet de werkelijkheid.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Eén slide voor de evaluatie: de vraag wat ze nog willen zien en leren, en meteen de review. Laat iedereen /review-reflect typen; er opent een vragenlijst die ze invullen (ongeveer zes minuten). De antwoorden zijn anoniem en gaan naar de begeleiders. Vraag om concreet gedrag, niet om een onderwerp als "AI"; één of twee zinnen is genoeg. Het workshop-token geeft de begeleider vooraf; deel het niet op de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AL2: de mens doet het werk en AI levert losse stukken aan. Dit aandeel loopt vanaf begin 2026 hard terug. Bron: Anthropic R&amp;D Automation Index; zo werkt Anthropic zelf aan AI-onderzoek, de waarden zijn geschat. Vraag de zaal: waar herken je dit in je eigen werk?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AL3: mens en AI werken als duo. Sinds maart 2026 is dit de grootste groep, in augustus ongeveer 70% van de taken. De mens blijft de regie houden: kiezen, controleren, bepalen.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AL4: AI voert de taak van begin tot eind uit, de mens geeft de opdracht en keurt goed. Een kwart van de taken in augustus 2026. Dit is wat jullie vandaag zelf doen: de agent bouwt, jullie sturen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Waarom synthetisch: bouwen en testen gebeurt gescheiden van de echte data. De agent mag naar het taalmodel zolang er geen echte personen in zitten. Dezelfde code draait later op de echte data bij de instelling, daar komt de agent niet. Benoem expliciet: werken met eigen data valt buiten deze workshop; dat doe je in je eigen instelling, volgens de eigen regels voor privacy en AVG. Zo werkt CEDA ook; de skills en de werkwijze staan open op github.com/cedanl.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dit staan voor de contactslide. Vraag iedereen de Codespace nu te verwijderen, of aan het eind van de dag. Elke Codespace gebruikt het gratis maandquotum van het eigen GitHub-account, en een gestopte Codespace houdt nog opslag vast. Wil iemand de bestanden uit de workshop bewaren, dan eerst kopiëren of downloaden.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opbouw van /schets_dashboard/SKILL.md. De skill begint zonder vragenronde met een voorstel waar de gebruiker op reageert, en stelt daarna hooguit drie vragen. Let op: het is een schets zonder code en zonder conclusie; elke view is een vraag of hypothese, geen bevinding.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de schets zien: bovenaan de vraag in de eigen woorden van de gebruiker, dan de keuzes met status (bevestigd of aanname), daarna de views. Nog niets gebouwd en niets berekend: de schets is een voorstel dat de gebruiker beoordeelt.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Laat het dashboard zien dat uit de skill komt. Wijs aan: de vraag als titel, het label dat dit demodata is, n per groep, het filter en de knop om andere data te uploaden. Het eerste scherm is een uploadscherm: het dashboard laadt zelf geen data. Eigen data gebruik je in je eigen instelling, niet in deze workshop.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Slide-30-image-1.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27.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7.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notesSlide" Target="../notesSlides/notesSlide38.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5" name="Picture 4" descr="Npuls-achtergrond met logo"/>
          <p:cNvPicPr>
            <a:picLocks noChangeAspect="1"/>
          </p:cNvPicPr>
          <p:nvPr/>
        </p:nvPicPr>
        <p:blipFill>
          <a:blip r:embed="rId5"/>
          <a:stretch>
            <a:fillRect/>
          </a:stretch>
        </p:blipFill>
        <p:spPr>
          <a:xfrm>
            <a:off x="0" y="0"/>
            <a:ext cx="12192000" cy="6858000"/>
          </a:xfrm>
          <a:prstGeom prst="rect">
            <a:avLst/>
          </a:prstGeom>
        </p:spPr>
      </p:pic>
      <p:sp>
        <p:nvSpPr>
          <p:cNvPr id="2" name="TextBox 1"/>
          <p:cNvSpPr txBox="1"/>
          <p:nvPr/>
        </p:nvSpPr>
        <p:spPr>
          <a:xfrm>
            <a:off x="914400" y="1691640"/>
            <a:ext cx="10058400" cy="1828800"/>
          </a:xfrm>
          <a:prstGeom prst="rect">
            <a:avLst/>
          </a:prstGeom>
          <a:noFill/>
        </p:spPr>
        <p:txBody>
          <a:bodyPr wrap="square" anchor="b" lIns="0" rIns="0" tIns="0" bIns="0">
            <a:spAutoFit/>
          </a:bodyPr>
          <a:lstStyle/>
          <a:p>
            <a:pPr algn="l"/>
            <a:r>
              <a:rPr sz="4600">
                <a:solidFill>
                  <a:srgbClr val="3D68EC"/>
                </a:solidFill>
                <a:latin typeface="General Sans Semibold"/>
              </a:rPr>
              <a:t>GenAI: jij stuurt, AI bouwt</a:t>
            </a:r>
          </a:p>
        </p:txBody>
      </p:sp>
      <p:sp>
        <p:nvSpPr>
          <p:cNvPr id="3" name="TextBox 2"/>
          <p:cNvSpPr txBox="1"/>
          <p:nvPr/>
        </p:nvSpPr>
        <p:spPr>
          <a:xfrm>
            <a:off x="914400" y="3657600"/>
            <a:ext cx="8229600" cy="548640"/>
          </a:xfrm>
          <a:prstGeom prst="rect">
            <a:avLst/>
          </a:prstGeom>
          <a:noFill/>
        </p:spPr>
        <p:txBody>
          <a:bodyPr wrap="square" anchor="t" lIns="0" rIns="0" tIns="0" bIns="0">
            <a:spAutoFit/>
          </a:bodyPr>
          <a:lstStyle/>
          <a:p>
            <a:pPr algn="l"/>
            <a:r>
              <a:rPr sz="2200">
                <a:solidFill>
                  <a:srgbClr val="000000"/>
                </a:solidFill>
                <a:latin typeface="Cooper Lt BT"/>
              </a:rPr>
              <a:t>Agentic data science in het onderwijs</a:t>
            </a:r>
          </a:p>
        </p:txBody>
      </p:sp>
      <p:sp>
        <p:nvSpPr>
          <p:cNvPr id="4" name="TextBox 3"/>
          <p:cNvSpPr txBox="1"/>
          <p:nvPr/>
        </p:nvSpPr>
        <p:spPr>
          <a:xfrm>
            <a:off x="914400" y="4297680"/>
            <a:ext cx="8229600" cy="411480"/>
          </a:xfrm>
          <a:prstGeom prst="rect">
            <a:avLst/>
          </a:prstGeom>
          <a:noFill/>
        </p:spPr>
        <p:txBody>
          <a:bodyPr wrap="square" anchor="t" lIns="0" rIns="0" tIns="0" bIns="0">
            <a:spAutoFit/>
          </a:bodyPr>
          <a:lstStyle/>
          <a:p>
            <a:pPr algn="l"/>
            <a:r>
              <a:rPr sz="1600">
                <a:solidFill>
                  <a:srgbClr val="000000"/>
                </a:solidFill>
                <a:latin typeface="General Sans"/>
              </a:rPr>
              <a:t>CEDA · DAIR-bijeenkomst · 120 minuten · één casus · één dashboard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sp>
      <p:sp>
        <p:nvSpPr>
          <p:cNvPr id="75" name="Text 73"/>
          <p:cNvSpPr/>
          <p:nvPr/>
        </p:nvSpPr>
        <p:spPr>
          <a:xfrm>
            <a:off x="548640" y="2103120"/>
            <a:ext cx="153284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sp>
      <p:sp>
        <p:nvSpPr>
          <p:cNvPr id="77" name="Text 75"/>
          <p:cNvSpPr/>
          <p:nvPr/>
        </p:nvSpPr>
        <p:spPr>
          <a:xfrm>
            <a:off x="566928" y="3291840"/>
            <a:ext cx="144140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sp>
      <p:sp>
        <p:nvSpPr>
          <p:cNvPr id="81" name="Text 79"/>
          <p:cNvSpPr/>
          <p:nvPr/>
        </p:nvSpPr>
        <p:spPr>
          <a:xfrm>
            <a:off x="2127207" y="2103120"/>
            <a:ext cx="117217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sp>
      <p:sp>
        <p:nvSpPr>
          <p:cNvPr id="83" name="Text 81"/>
          <p:cNvSpPr/>
          <p:nvPr/>
        </p:nvSpPr>
        <p:spPr>
          <a:xfrm>
            <a:off x="2145495" y="3291840"/>
            <a:ext cx="108073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sp>
      <p:sp>
        <p:nvSpPr>
          <p:cNvPr id="87" name="Text 85"/>
          <p:cNvSpPr/>
          <p:nvPr/>
        </p:nvSpPr>
        <p:spPr>
          <a:xfrm>
            <a:off x="3345104"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sp>
      <p:sp>
        <p:nvSpPr>
          <p:cNvPr id="89" name="Text 87"/>
          <p:cNvSpPr/>
          <p:nvPr/>
        </p:nvSpPr>
        <p:spPr>
          <a:xfrm>
            <a:off x="3363392"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sp>
      <p:sp>
        <p:nvSpPr>
          <p:cNvPr id="93" name="Text 91"/>
          <p:cNvSpPr/>
          <p:nvPr/>
        </p:nvSpPr>
        <p:spPr>
          <a:xfrm>
            <a:off x="5374508"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sp>
      <p:sp>
        <p:nvSpPr>
          <p:cNvPr id="95" name="Text 93"/>
          <p:cNvSpPr/>
          <p:nvPr/>
        </p:nvSpPr>
        <p:spPr>
          <a:xfrm>
            <a:off x="5392796"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sp>
      <p:sp>
        <p:nvSpPr>
          <p:cNvPr id="98" name="Text 96"/>
          <p:cNvSpPr/>
          <p:nvPr/>
        </p:nvSpPr>
        <p:spPr>
          <a:xfrm>
            <a:off x="5392796" y="5029200"/>
            <a:ext cx="131593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sp>
      <p:sp>
        <p:nvSpPr>
          <p:cNvPr id="101" name="Text 99"/>
          <p:cNvSpPr/>
          <p:nvPr/>
        </p:nvSpPr>
        <p:spPr>
          <a:xfrm>
            <a:off x="6772740"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sp>
      <p:sp>
        <p:nvSpPr>
          <p:cNvPr id="103" name="Text 101"/>
          <p:cNvSpPr/>
          <p:nvPr/>
        </p:nvSpPr>
        <p:spPr>
          <a:xfrm>
            <a:off x="6791028"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sp>
      <p:sp>
        <p:nvSpPr>
          <p:cNvPr id="107" name="Text 105"/>
          <p:cNvSpPr/>
          <p:nvPr/>
        </p:nvSpPr>
        <p:spPr>
          <a:xfrm>
            <a:off x="8802144"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sp>
      <p:sp>
        <p:nvSpPr>
          <p:cNvPr id="109" name="Text 107"/>
          <p:cNvSpPr/>
          <p:nvPr/>
        </p:nvSpPr>
        <p:spPr>
          <a:xfrm>
            <a:off x="8820432"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111" name="Shape 109"/>
          <p:cNvSpPr/>
          <p:nvPr/>
        </p:nvSpPr>
        <p:spPr>
          <a:xfrm>
            <a:off x="8820432" y="4999200"/>
            <a:ext cx="1315936" cy="480000"/>
          </a:xfrm>
          <a:prstGeom prst="roundRect">
            <a:avLst>
              <a:gd name="adj" fmla="val 147059"/>
            </a:avLst>
          </a:prstGeom>
          <a:solidFill>
            <a:srgbClr val="FFFFFF"/>
          </a:solidFill>
          <a:ln/>
        </p:spPr>
      </p:sp>
      <p:sp>
        <p:nvSpPr>
          <p:cNvPr id="112" name="Text 110"/>
          <p:cNvSpPr/>
          <p:nvPr/>
        </p:nvSpPr>
        <p:spPr>
          <a:xfrm>
            <a:off x="8820432" y="5029200"/>
            <a:ext cx="1315936" cy="440000"/>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/schets_dashboard</a:t>
            </a:r>
            <a:endParaRPr lang="en-US" sz="900" dirty="0"/>
          </a:p>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sp>
      <p:sp>
        <p:nvSpPr>
          <p:cNvPr id="115" name="Text 113"/>
          <p:cNvSpPr/>
          <p:nvPr/>
        </p:nvSpPr>
        <p:spPr>
          <a:xfrm>
            <a:off x="10200376"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sp>
      <p:sp>
        <p:nvSpPr>
          <p:cNvPr id="117" name="Text 115"/>
          <p:cNvSpPr/>
          <p:nvPr/>
        </p:nvSpPr>
        <p:spPr>
          <a:xfrm>
            <a:off x="10218664"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Terugblik, vragenlijst,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assisteert: de mens doet het werk</a:t>
            </a:r>
            <a:endParaRPr lang="en-US" sz="3100" dirty="0"/>
          </a:p>
        </p:txBody>
      </p:sp>
      <p:pic>
        <p:nvPicPr>
          <p:cNvPr id="73" name="Image 0" descr="Lijngrafiek: het aandeel taken waarbij AI assisteert stijgt tot november 2025 en daalt daarna naar vrijwel nul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vraagt AI om een query of formule voor uitvalcijfers.</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laat AI code schrijven of een foutmelding uitleggen.</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laat AI een alinea herschrijven of een notitie samenvatten.</a:t>
            </a:r>
            <a:endParaRPr lang="en-US" sz="1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werkt samen: mens en AI als duo</a:t>
            </a:r>
            <a:endParaRPr lang="en-US" sz="3100" dirty="0"/>
          </a:p>
        </p:txBody>
      </p:sp>
      <p:pic>
        <p:nvPicPr>
          <p:cNvPr id="73" name="Image 0" descr="Lijngrafiek: het aandeel taken waarbij AI samenwerkt stijgt vanaf november 2025 en wordt in maart 2026 de grootste groep">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AI maakt grafieken van uitval per sector, de analist kiest en controleert.</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AI bouwt en test een uitvalmodel mee, de data scientist kiest de aanpak.</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AI schrijft een conceptnotitie, de medewerker bepaalt de lijn.</a:t>
            </a:r>
            <a:endParaRPr lang="en-US" sz="18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AI bouwt: jij geeft de opdracht en keurt goed</a:t>
            </a:r>
            <a:endParaRPr lang="en-US" sz="3100" dirty="0"/>
          </a:p>
        </p:txBody>
      </p:sp>
      <p:pic>
        <p:nvPicPr>
          <p:cNvPr id="73" name="Image 0" descr="Lijngrafiek: het aandeel taken waarbij AI zelf bouwt groeit vanaf maart 2026 tot ongeveer een kwart in augustus 2026">    </p:cNvPr>
          <p:cNvPicPr>
            <a:picLocks noChangeAspect="1"/>
          </p:cNvPicPr>
          <p:nvPr/>
        </p:nvPicPr>
        <p:blipFill>
          <a:blip r:embed="rId4"/>
          <a:stretch>
            <a:fillRect/>
          </a:stretch>
        </p:blipFill>
        <p:spPr>
          <a:xfrm>
            <a:off x="640000" y="1500000"/>
            <a:ext cx="6900000" cy="3737500"/>
          </a:xfrm>
          <a:prstGeom prst="rect">
            <a:avLst/>
          </a:prstGeom>
        </p:spPr>
      </p:pic>
      <p:sp>
        <p:nvSpPr>
          <p:cNvPr id="74" name="Text 71"/>
          <p:cNvSpPr/>
          <p:nvPr/>
        </p:nvSpPr>
        <p:spPr>
          <a:xfrm>
            <a:off x="640000" y="585216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Bron: Anthropic R&amp;D Automation Index (waarden geschat)</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Data-analist </a:t>
            </a:r>
            <a:r>
              <a:rPr lang="en-US" sz="1800" dirty="0">
                <a:solidFill>
                  <a:srgbClr val="000000"/>
                </a:solidFill>
                <a:latin typeface="General Sans" pitchFamily="34" charset="0"/>
                <a:ea typeface="General Sans" pitchFamily="34" charset="-122"/>
                <a:cs typeface="General Sans" pitchFamily="34" charset="-120"/>
              </a:rPr>
              <a:t>"Welke eerstejaars stoppen binnen een jaar?" AI rekent en bouwt het dashboard.</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Data scientist </a:t>
            </a:r>
            <a:r>
              <a:rPr lang="en-US" sz="1800" dirty="0">
                <a:solidFill>
                  <a:srgbClr val="000000"/>
                </a:solidFill>
                <a:latin typeface="General Sans" pitchFamily="34" charset="0"/>
                <a:ea typeface="General Sans" pitchFamily="34" charset="-122"/>
                <a:cs typeface="General Sans" pitchFamily="34" charset="-120"/>
              </a:rPr>
              <a:t>"Voorspel uitval." AI doet het traject van data tot evaluatie.</a:t>
            </a:r>
            <a:endParaRPr lang="en-US" sz="1800" dirty="0"/>
          </a:p>
          <a:p>
            <a:pPr algn="l" indent="0" marL="0">
              <a:lnSpc>
                <a:spcPct val="105000"/>
              </a:lnSpc>
              <a:spcAft>
                <a:spcPts val="10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Beleidsmedewerker </a:t>
            </a:r>
            <a:r>
              <a:rPr lang="en-US" sz="1800" dirty="0">
                <a:solidFill>
                  <a:srgbClr val="000000"/>
                </a:solidFill>
                <a:latin typeface="General Sans" pitchFamily="34" charset="0"/>
                <a:ea typeface="General Sans" pitchFamily="34" charset="-122"/>
                <a:cs typeface="General Sans" pitchFamily="34" charset="-120"/>
              </a:rPr>
              <a:t>"Advies over uitval." AI onderzoekt en schrijft.</a:t>
            </a:r>
            <a:endParaRPr lang="en-US" sz="1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Eerst synthetisch, dan echte data</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Synthetische data</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Zelfde kolommen en codes, geen echte personen.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data/demodata_1cho.csv</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Testomgeving</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Bouwen met de agent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Mag naar het taalmodel, geen AVG-toets nodig.</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Productie</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Echte instellingsdata</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Dezelfde code draait hier. De agent komt hier niet.</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Bij de instelling zelf</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Eigen data gebruiken valt buiten deze workshop. Dat kun je in je eigen instelling doen.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veilig om mee te oefenen</a:t>
            </a:r>
            <a:endParaRPr lang="en-US" sz="32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Realistisch:</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gecontroleerd tegen de 1CHO-metadata en de CROHO-codes</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fictieve studenten, 2012-2023, één rij per student per jaar, in één bestand: data/demodata_1cho.csv.</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twee spiegelmomenten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Kolommen, kwaliteit, verdelingen, definities en privacy.</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uitvoer/data-profiel.html</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sp>
      <p:sp>
        <p:nvSpPr>
          <p:cNvPr id="84" name="Shape 82"/>
          <p:cNvSpPr/>
          <p:nvPr/>
        </p:nvSpPr>
        <p:spPr>
          <a:xfrm>
            <a:off x="6507328" y="1645920"/>
            <a:ext cx="548640" cy="548640"/>
          </a:xfrm>
          <a:prstGeom prst="ellipse">
            <a:avLst/>
          </a:prstGeom>
          <a:solidFill>
            <a:srgbClr val="F4D9DC"/>
          </a:solidFill>
          <a:ln/>
        </p:spPr>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Schetsen en 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/schets_dashboard en /bouwen_dashboard: views schetsen, dan het dashboard bouwen.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uitvoer/schets.html en een dashboard</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1: log in op GitHub</a:t>
            </a:r>
            <a:endParaRPr lang="en-US" sz="3100" dirty="0"/>
          </a:p>
        </p:txBody>
      </p:sp>
      <p:pic>
        <p:nvPicPr>
          <p:cNvPr id="73" name="Image 0" descr="Rechtsboven op github.com: de knoppen Sign in en Sign up">    </p:cNvPr>
          <p:cNvPicPr>
            <a:picLocks noChangeAspect="1"/>
          </p:cNvPicPr>
          <p:nvPr/>
        </p:nvPicPr>
        <p:blipFill>
          <a:blip r:embed="rId4"/>
          <a:stretch>
            <a:fillRect/>
          </a:stretch>
        </p:blipFill>
        <p:spPr>
          <a:xfrm>
            <a:off x="851870" y="1900000"/>
            <a:ext cx="6464595" cy="1369980"/>
          </a:xfrm>
          <a:prstGeom prst="rect">
            <a:avLst/>
          </a:prstGeom>
        </p:spPr>
      </p:pic>
      <p:sp>
        <p:nvSpPr>
          <p:cNvPr id="74" name="Text 71"/>
          <p:cNvSpPr/>
          <p:nvPr/>
        </p:nvSpPr>
        <p:spPr>
          <a:xfrm>
            <a:off x="548640" y="351998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Klik rechtsboven 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log in met je eigen GitHub-account. Heb je er nog geen? Maak er dan gratis een aan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Sign up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wat één rij is.</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Leg vast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bedoel je precies?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definitie van je kernmaat, wat één rij is en de drempels voor kleine groepen.</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 "Vertel in gewone taal wat er in data/demodata_1cho.csv zit." Oplevering: begrip van de data, je definities en een eerste privacy-check.</a:t>
            </a:r>
            <a:pPr algn="l" indent="0" marL="0">
              <a:lnSpc>
                <a:spcPct val="105000"/>
              </a:lnSpc>
              <a:buNone/>
            </a:pPr>
            <a:pPr algn="l" indent="0" marL="0">
              <a:lnSpc>
                <a:spcPct val="105000"/>
              </a:lnSpc>
              <a:buNone/>
            </a:pPr>
            <a:pPr algn="l" indent="0" marL="0">
              <a:lnSpc>
                <a:spcPct val="105000"/>
              </a:lnSpc>
              <a:buNone/>
            </a:pP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Kolommen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Per kolom in gewone taal wat het kan betekenen, als aanname.</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Kolomoverzicht</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Kwaliteit</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Sleutel, dubbele rijen, ontbrekende waarden en verdelingen.</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Datakwaliteit</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kernmaat letterlijk vastgelegd, met wat nog niet waarneembaar is.</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Privacy</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Drempels voor kleine groepen en ideeën bij jouw vraag.</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Privacyregels</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Na drie korte vragen. In: data/demodata_1cho.csv en je vraag. Uit: uitvoer/data-profiel.html.</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dataprofiel eruit</a:t>
            </a:r>
            <a:endParaRPr lang="en-US" sz="3100" dirty="0"/>
          </a:p>
        </p:txBody>
      </p:sp>
      <p:pic>
        <p:nvPicPr>
          <p:cNvPr id="73" name="Image 0" descr="Schermafbeelding van data-profiel.html: menu links, tegels met kerncijfers en een tabel met keuzes en aanname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uitvoer/data-profiel.html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verkennen_data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een menu, tegels met de kerncijfers en een tabel met je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keuzes en aannames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Open het met rechtsklik 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Show Preview</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Het laatste cohort lijkt helemaal uit te vallen.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30 studenten worden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skills</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/schets_dashboard en /bouwen_dashboard,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de schets eruit</a:t>
            </a:r>
            <a:endParaRPr lang="en-US" sz="3100" dirty="0"/>
          </a:p>
        </p:txBody>
      </p:sp>
      <p:pic>
        <p:nvPicPr>
          <p:cNvPr id="73" name="Image 0" descr="Schermafbeelding van schets.html: de vraag, keuzes van de gebruiker en views">    </p:cNvPr>
          <p:cNvPicPr>
            <a:picLocks noChangeAspect="1"/>
          </p:cNvPicPr>
          <p:nvPr/>
        </p:nvPicPr>
        <p:blipFill>
          <a:blip r:embed="rId4"/>
          <a:stretch>
            <a:fillRect/>
          </a:stretch>
        </p:blipFill>
        <p:spPr>
          <a:xfrm>
            <a:off x="640000" y="1371600"/>
            <a:ext cx="6900000" cy="3881250"/>
          </a:xfrm>
          <a:prstGeom prst="rect">
            <a:avLst/>
          </a:prstGeom>
        </p:spPr>
      </p:pic>
      <p:sp>
        <p:nvSpPr>
          <p:cNvPr id="74" name="Text 71"/>
          <p:cNvSpPr/>
          <p:nvPr/>
        </p:nvSpPr>
        <p:spPr>
          <a:xfrm>
            <a:off x="640000" y="5402850"/>
            <a:ext cx="6900000"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uitvoer/schets.html</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is de uitkomst van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schets_dashboard</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je vraag, je keuzes en per view de maat, de uitsplitsing en het grafiektype.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Zonder 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zonder conclusie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a:t>
            </a:r>
            <a:endParaRPr lang="en-US" sz="18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/schets_dashboard: van voorstel naar views</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Voorstel</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Eerst een voorstel</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Twee of drie views met grafiektype en volgorde, in één bericht.</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Aannames</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Per view</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Vraag en maat</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Vraag of hypothese, maat, uitsplitsing en grafiektype (grafiekkeuze).</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Views</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Valt weg</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Privacy en tijd</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de drempel en perioden die nog niet waarneembaar zijn.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Eerlijk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Eindigt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het niet kan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Geen oorzaak, alleen verband, en niets over de werkelijkheid op demodata.</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schets.html</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uitvoer/data-profiel.html en je vraag. Uit: uitvoer/schets.html, zonder code.</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uitvoer/data-profiel.html en uitvoer/schets.html.</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Eerst een uploadscherm, daarna app.py en berekeningen.py.</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Rondt af</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Nakijken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Waarden-check, check-style, simplify-ceda en opnieuw testen.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Nagekeken</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 profiel en schets. Uit: een werkend, verantwoord dashboard. Bewaren alleen als je "bewaar" zegt.</a:t>
            </a:r>
            <a:pPr algn="l" indent="0" marL="0">
              <a:lnSpc>
                <a:spcPct val="105000"/>
              </a:lnSpc>
              <a:buNone/>
            </a:pPr>
            <a:pPr algn="l" indent="0" marL="0">
              <a:lnSpc>
                <a:spcPct val="105000"/>
              </a:lnSpc>
              <a:buNone/>
            </a:pPr>
            <a:pPr algn="l" indent="0" marL="0">
              <a:lnSpc>
                <a:spcPct val="105000"/>
              </a:lnSpc>
              <a:buNone/>
            </a:pPr>
            <a:endParaRPr lang="en-US" sz="18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CCEEE6"/>
        </a:solidFill>
      </p:bgPr>
    </p:bg>
    <p:spTree>
      <p:nvGrpSpPr>
        <p:cNvPr id="1" name=""/>
        <p:cNvGrpSpPr/>
        <p:nvPr/>
      </p:nvGrpSpPr>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Zo ziet het dashboard eruit</a:t>
            </a:r>
            <a:endParaRPr lang="en-US" sz="3100" dirty="0"/>
          </a:p>
        </p:txBody>
      </p:sp>
      <p:pic>
        <p:nvPicPr>
          <p:cNvPr id="73" name="Image 0" descr="Schermafbeelding van het gebouwde dashboard: uitval in het eerste jaar per sector als staafdiagram, met filter en demodata-label">    </p:cNvPr>
          <p:cNvPicPr>
            <a:picLocks noChangeAspect="1"/>
          </p:cNvPicPr>
          <p:nvPr/>
        </p:nvPicPr>
        <p:blipFill>
          <a:blip r:embed="rId4"/>
          <a:stretch>
            <a:fillRect/>
          </a:stretch>
        </p:blipFill>
        <p:spPr>
          <a:xfrm>
            <a:off x="640000" y="1371600"/>
            <a:ext cx="5430508" cy="4450000"/>
          </a:xfrm>
          <a:prstGeom prst="rect">
            <a:avLst/>
          </a:prstGeom>
        </p:spPr>
      </p:pic>
      <p:sp>
        <p:nvSpPr>
          <p:cNvPr id="74" name="Text 71"/>
          <p:cNvSpPr/>
          <p:nvPr/>
        </p:nvSpPr>
        <p:spPr>
          <a:xfrm>
            <a:off x="640000" y="5971600"/>
            <a:ext cx="5430508"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Streamlit, gebouwd door bouwen_dashboard</a:t>
            </a:r>
            <a:endParaRPr lang="en-US" sz="1300" dirty="0"/>
          </a:p>
        </p:txBody>
      </p:sp>
      <p:sp>
        <p:nvSpPr>
          <p:cNvPr id="75" name="Text 72"/>
          <p:cNvSpPr/>
          <p:nvPr/>
        </p:nvSpPr>
        <p:spPr>
          <a:xfrm>
            <a:off x="7800000" y="1463040"/>
            <a:ext cx="390000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Dit bouwt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bouwen_dashboard</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eerst een uploadscherm, dan een filter, grafieken met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n per groep</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en een label dat het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demodata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is.</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Vragenlijst</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Typ /review-reflect: er opent een vragenlijst.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Vervolg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vragenlijst vraagt of en in welke vorm je een vervolg wilt.</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willen jullie nog zien?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Typ /review-reflect: er opent een vragenlijst. Vul in wat je nog wilt zien en leren. Anoniem, en je kunt een vraag overslaan.</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Eigen data gebruik je in je eigen instelling, buiten deze workshop. De drie skills staan in de repo.</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Jij stuurt, de agent bouwt. Jij beslist wat je ermee doet.</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3D68EC"/>
        </a:solidFill>
      </p:bgPr>
    </p:bg>
    <p:spTree>
      <p:nvGrpSpPr>
        <p:cNvPr id="1" name=""/>
        <p:cNvGrpSpPr/>
        <p:nvPr/>
      </p:nvGrpSpPr>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Ruim na afloop je Codespace op</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Open</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Ga naar github.com/codespaces en log in.</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ADRES</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github.com/codespaces</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Kies</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Klik op de drie puntjes naast je Codespace.</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MENU</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Drie puntjes rechts</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Verwijder</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Bevestig het verwijderen. Stoppen alleen is niet genoeg.</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KNOP</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Delete</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Elke Codespace telt mee voor het gratis quotum van je eigen GitHub-account. Ruim hem op, zodat je eigen limiet niet vol raakt.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2026-10-08T11:06:42Z</dcterms:created>
  <dcterms:modified xsi:type="dcterms:W3CDTF">2026-10-08T11:06:42Z</dcterms:modified>
</cp:coreProperties>
</file>