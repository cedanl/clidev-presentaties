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29-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86" r:id="rId37"/>
    <p:sldId id="287" r:id="rId38"/>
    <p:sldId id="288" r:id="rId39"/>
    <p:sldId id="289" r:id="rId40"/>
    <p:sldId id="260" r:id="rId6"/>
    <p:sldId id="261" r:id="rId7"/>
    <p:sldId id="262" r:id="rId8"/>
    <p:sldId id="263" r:id="rId9"/>
    <p:sldId id="264" r:id="rId10"/>
    <p:sldId id="265" r:id="rId11"/>
    <p:sldId id="292" r:id="rId26"/>
    <p:sldId id="266" r:id="rId12"/>
    <p:sldId id="267" r:id="rId13"/>
    <p:sldId id="268" r:id="rId14"/>
    <p:sldId id="269" r:id="rId15"/>
    <p:sldId id="270" r:id="rId16"/>
    <p:sldId id="271" r:id="rId17"/>
    <p:sldId id="272" r:id="rId18"/>
    <p:sldId id="273" r:id="rId19"/>
    <p:sldId id="293" r:id="rId28"/>
    <p:sldId id="274" r:id="rId20"/>
    <p:sldId id="275" r:id="rId21"/>
    <p:sldId id="276" r:id="rId22"/>
    <p:sldId id="277" r:id="rId23"/>
    <p:sldId id="291" r:id="rId42"/>
    <p:sldId id="294" r:id="rId43"/>
    <p:sldId id="278" r:id="rId24"/>
    <p:sldId id="279" r:id="rId25"/>
    <p:sldId id="295" r:id="rId44"/>
    <p:sldId id="281" r:id="rId27"/>
    <p:sldId id="283" r:id="rId29"/>
    <p:sldId id="284" r:id="rId30"/>
    <p:sldId id="290" r:id="rId41"/>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9.xml"/><Relationship Id="rId7" Type="http://schemas.openxmlformats.org/officeDocument/2006/relationships/slide" Target="slides/slide10.xml"/><Relationship Id="rId8" Type="http://schemas.openxmlformats.org/officeDocument/2006/relationships/slide" Target="slides/slide11.xml"/><Relationship Id="rId9" Type="http://schemas.openxmlformats.org/officeDocument/2006/relationships/slide" Target="slides/slide12.xml"/><Relationship Id="rId10" Type="http://schemas.openxmlformats.org/officeDocument/2006/relationships/slide" Target="slides/slide13.xml"/><Relationship Id="rId11" Type="http://schemas.openxmlformats.org/officeDocument/2006/relationships/slide" Target="slides/slide14.xml"/><Relationship Id="rId12" Type="http://schemas.openxmlformats.org/officeDocument/2006/relationships/slide" Target="slides/slide16.xml"/><Relationship Id="rId13" Type="http://schemas.openxmlformats.org/officeDocument/2006/relationships/slide" Target="slides/slide17.xml"/><Relationship Id="rId14" Type="http://schemas.openxmlformats.org/officeDocument/2006/relationships/slide" Target="slides/slide18.xml"/><Relationship Id="rId15" Type="http://schemas.openxmlformats.org/officeDocument/2006/relationships/slide" Target="slides/slide19.xml"/><Relationship Id="rId16" Type="http://schemas.openxmlformats.org/officeDocument/2006/relationships/slide" Target="slides/slide20.xml"/><Relationship Id="rId17" Type="http://schemas.openxmlformats.org/officeDocument/2006/relationships/slide" Target="slides/slide21.xml"/><Relationship Id="rId18" Type="http://schemas.openxmlformats.org/officeDocument/2006/relationships/slide" Target="slides/slide22.xml"/><Relationship Id="rId19" Type="http://schemas.openxmlformats.org/officeDocument/2006/relationships/slide" Target="slides/slide23.xml"/><Relationship Id="rId20" Type="http://schemas.openxmlformats.org/officeDocument/2006/relationships/slide" Target="slides/slide25.xml"/><Relationship Id="rId21" Type="http://schemas.openxmlformats.org/officeDocument/2006/relationships/slide" Target="slides/slide26.xml"/><Relationship Id="rId22" Type="http://schemas.openxmlformats.org/officeDocument/2006/relationships/slide" Target="slides/slide27.xml"/><Relationship Id="rId23" Type="http://schemas.openxmlformats.org/officeDocument/2006/relationships/slide" Target="slides/slide28.xml"/><Relationship Id="rId24" Type="http://schemas.openxmlformats.org/officeDocument/2006/relationships/slide" Target="slides/slide31.xml"/><Relationship Id="rId25" Type="http://schemas.openxmlformats.org/officeDocument/2006/relationships/slide" Target="slides/slide32.xml"/><Relationship Id="rId26" Type="http://schemas.openxmlformats.org/officeDocument/2006/relationships/slide" Target="slides/slide15.xml"/><Relationship Id="rId27" Type="http://schemas.openxmlformats.org/officeDocument/2006/relationships/slide" Target="slides/slide34.xml"/><Relationship Id="rId28" Type="http://schemas.openxmlformats.org/officeDocument/2006/relationships/slide" Target="slides/slide24.xml"/><Relationship Id="rId29" Type="http://schemas.openxmlformats.org/officeDocument/2006/relationships/slide" Target="slides/slide35.xml"/><Relationship Id="rId30" Type="http://schemas.openxmlformats.org/officeDocument/2006/relationships/slide" Target="slides/slide36.xml"/><Relationship Id="rId31" Type="http://schemas.openxmlformats.org/officeDocument/2006/relationships/slide" Target="slides/slide38.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openxmlformats.org/officeDocument/2006/relationships/slide" Target="slides/slide5.xml"/><Relationship Id="rId38" Type="http://schemas.openxmlformats.org/officeDocument/2006/relationships/slide" Target="slides/slide6.xml"/><Relationship Id="rId39" Type="http://schemas.openxmlformats.org/officeDocument/2006/relationships/slide" Target="slides/slide7.xml"/><Relationship Id="rId40" Type="http://schemas.openxmlformats.org/officeDocument/2006/relationships/slide" Target="slides/slide8.xml"/><Relationship Id="rId41" Type="http://schemas.openxmlformats.org/officeDocument/2006/relationships/slide" Target="slides/slide37.xml"/><Relationship Id="rId42" Type="http://schemas.openxmlformats.org/officeDocument/2006/relationships/slide" Target="slides/slide29.xml"/><Relationship Id="rId43" Type="http://schemas.openxmlformats.org/officeDocument/2006/relationships/slide" Target="slides/slide30.xml"/><Relationship Id="rId44"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Welkom. Zeg in een zin wat vandaag gebeurt: in tweetallen werken met een AI-agent aan één casus, en een dashboard opleveren dat de vraag beantwoordt. Schrijf de eindtijd op een bord: 15:00 bijvoorbeeld.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CEDA-introslide: wie CEDA is. Kort toelichten, daarna door naar de inhoud.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Loop het schema in dertig seconden door. Benadruk de spiegelmomenten: daar leer je het meest, omdat je ziet wat de groep naast je deed. Aan het eind één blok voor evaluatie en afsluiting: we vragen wat jullie ervan vonden en of er een vervolg moet komen. Bij elk spiegelmoment kijken we in de skill, niet in individuele dashboards.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Spelregels: iedereen werkt via de agent, niemand hoeft te kunnen programmeren, wel kritisch kijken. Doel aan het eind: een kwalitatief antwoord op de casusvraag, onderbouwd met je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Wat is demodata: gegenereerd naar het patroon van een echt bestand en gecontroleerd tegen de 1CHO-metadata en CROHO-codes. Het is fictief, dus de agent mag erin. Dezelfde code draait later op echte data. Validatie tegen de werkelijkheid doen we niet; dat vraagt echte data buiten de devcontainer.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Uitleg voor jezelf: een casus is het probleem waar alle tweetallen aan werken. Eerstejaarsuitval = eerstejaars die binnen een jaar stoppen. De vraag is wie dat zijn en of het per sector verschilt. De deelnemers laten de agent de cijfers uitrekenen; zij bepalen wat ze ermee doen. Casus A gekozen omdat de data daar het sterkst op aansluit. Let op: opleidingsvorm heeft maar één waarde (voltijd). Wie dat zelf ontdekt, ziet waarom verkennen loont. Noem het niet vooraf.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Verdeel de tweetallen nu. Niemand hoeft code te lezen: de prompter typt, de checker beoordeelt of het antwoord van de agent logisch is. Bij vragen van deelnemers: stel zelf een wedervraag (wat zou je de agent kunnen vragen?). Check dat per tweetal één laptop met de devcontainer werkt. Wat ze aan het eind in handen hebben: een eigen aanpak, gespiegeld aan de tweetallen om hen heen.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Vergelijk met een collega. De agent is de collega die het werk doet. Een prompt is een mondelinge opdracht aan die collega: snel, maar elke keer anders. Een skill is een werkinstructie die je die collega geeft: dezelfde stappen en dezelfde controles, elke keer. Laat een echte SKILL.md zien, maximaal een minuut. Vuistregel: elke prompt die je drie keer typt, is een skill in wording. Zelf doen jullie de rondes met prompts; de skills laten wij zien bij de spiegelmomenten.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Noem de drie skills bij naam: /verkennen_data in ronde 1, /schets_dashboard en /bouwen_dashboard in ronde 2. De deelnemers prompten zelf in de rondes: de leider laat de skills draaien bij de spiegelmomenten en legt dan uit wat erin staat en wat de skill afdwingt. Elke skill stelt hooguit drie vragen, één voor één, en doet liever een voorstel dan een vragenronde. Skills starten alleen als je ze zelf typt (/naam): tijdens gewoon chatten met de agent springen ze niet vanzelf aan, dus in de rondes werken de deelnemers echt met hun eigen prompts.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Een GitHub-account is vooraf gevraagd; wie er geen heeft, maakt er nu een aan (gratis) of kijkt mee bij een buur. De Codespace is de devcontainer: Claude Code, Python en de data staan klaar. De volgende drie slides laten de stappen in beeld zien; loop ze live mee op het scherm. Lukt het starten niet binnen een paar minuten, dan is dat een signaal over de omgeving en niet over de deelnemer. Houd hier genoeg tijd voor.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 knop op het scherm zien. Alle deelnemers doen dit tegelijk; het laden kost een minuut, vul die tijd met uitleg over wat een Codespace is: dezelfde omgeving voor iedereen, in de browser, niets te installeren.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key deel je mondeling of op papier uit, niet op de slide. Is de key kwijt of fout geplakt: opnieuw instellen met het commando dair-onboard in de terminal.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 de eerste instructie live voor en laat zien dat de agent de code zichtbaar maakt. De skills laten we straks zien bij de spiegelmomenten.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de timer van 22 minuten. Loop rond; beantwoord vragen met een wedervraag. Let op: wie het laatste cohort meetelt (vertekend percentage), zit in de valkuil. Dat bespreken we bij het spiegelmoment.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bestuurder-navigator-ronde. Aan het eind van ronde 1 moeten ze kunnen zeggen hoeveel studenten en cohorten er zijn, welke cohorten niet waarneembaar zijn en waar kleine groepen zitten.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kijken niet naar individuele schetsen, maar naar de skill. Vraag eerst twee tweetallen om één ding te noemen dat ze in ronde 1 tegenkwamen (één zin per tweetal). Loop daarna met de volgende twee dia's door de skill. Draai /verkennen_data live en leg uit terwijl hij loopt; doe vooraf een droge run, want de skill doet nu meer (kwaliteit en verdelingen) en de eerdere tijdmeting geldt niet meer. Zet daarnaast desgewenst één gewone prompt op hetzelfde scherm.</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Dit is de opbouw van /verkennen_data/SKILL.md. Open het bestand even op het scherm: eerst drie vragen (de data, jouw vraag, één voorstel voor kernmaat en drempels), dan de stappen. De skill schrijft begrip.json en draait verken.py, dat het profiel als HTML maakt. Vraag: welke van deze stappen heb jij in ronde 1 overgeslagen of anders gedaan?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Dit zijn de checks die in de skill zijn verweven. Laat de deelnemers zelf aanwijzen welke ze in ronde 1 zelf hebben gedaan. Het laatste cohort heeft nog geen volgend jaar in de data, dus uitval lijkt daar 100%: de skill sluit het uit. In de demodata heeft de meerderheid van de cellen opleiding per cohort minder dan 30 studenten, terwijl elke opleiding over alle cohorten samen genoeg heeft. De drempels 30 en 5 zijn voorbeeldwaarden en niet getoetst door een privacy officer; de skill vraagt de gebruiker welke drempels gelden.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Wissel nu van rol. Timer 22 minuten. Loop rond met de responsible-checks in je hoofd: drempel, waarneembaarheid, framing, toegankelijkheid.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zijn de vier minimumeisen. Meer hoeft niet; liever een werkend en uitlegbaar dashboard dan een volle tabbladenwand.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agent bouwt snel. Jij bepaalt wat je mag concluderen. Na ronde 2 zie je wat jullie zelf misten.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Ook nu geen individuele dashboards bekijken. Vraag twee tweetallen om één keuze te noemen die ze maakten (bijvoorbeeld de titel of de drempel). Draai /schets_dashboard en daarna /bouwen_dashboard live, leg uit terwijl ze lopen en doe vooraf een droge run voor de tijd. Laat vooral zien hoe snel het gaat en wat de skill er standaard bij doet: de checks zitten erin, jij hoeft er niet aan te denken.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Dit is de opbouw van /bouwen_dashboard/SKILL.md. Let op het verschil met ronde 1: hier staan de responsible-checks niet in een aparte stap maar in de bouwinstructie zelf. De skill bouwt alle views uit de schets in één keer: sturen doe je bij de schets. Daarna bekijkt de skill de hele pagina met screenshots en rekent de uitkomst onafhankelijk na op de data. Het dashboard laadt zelf geen data: het eerste scherm is een upload, zodat dezelfde code later op echte data draait zonder AI. Aan het eind bewaart de skill de tests, doet een waarden-check en een snelle stijlcheck, en test opnieuw. check-style en simplify-ceda draait de skill niet zelf: ze zijn optioneel en kosten veel tijd, de gebruiker typt ze zelf. Er wordt alleen iets opgeslagen in GitHub als de gebruiker "bewaar" zegt.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Vraag per rij: heb jij dit in je dashboard zelf gedaan? De skill doet het elke keer zonder dat je eraan hoeft te denken. Dat is het verschil tussen een prompt en een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Iedereen logt in op github.com met het eigen account; de Codespace komt in dat account te staan. Een GitHub-account is vooraf gevraagd. Wie er geen heeft, maakt er nu een aan (gratis, een e-mailadres is genoeg) of kijkt mee bij een buur. Wacht tot iedereen is ingelogd voor je naar stap 2 gaat.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Evaluatie en afsluiting zijn één blok van 16 minuten. Vraag eerst toestemming: de antwoorden zijn anoniem en gebruiken we om te bepalen of er een vervolg komt. Terugblik in een kort rondje, daarna de vragenlijst in de eigen Codespace. Houd de tijd: loopt het uit, kort dan de afsluiting in, niet de vragenlijst.</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Laat het bestand zien dat de skill heeft gemaakt: een menu links, tegels met de kerncijfers, daaronder de keuzes en aannames in één tabel met de status. Vraag: welke keuzes zie je hier die jullie zelf niet hebben gemaakt? Dit is demodata; het profiel beschrijft het bestand, niet de werkelijkheid.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Eén slide voor de evaluatie: de vraag wat ze nog willen zien en leren, en meteen de review. Laat iedereen /review-reflect typen; er opent een vragenlijst die ze invullen (ongeveer zes minuten). De antwoorden zijn anoniem en gaan naar de begeleiders. Vraag om concreet gedrag, niet om een onderwerp als "AI"; één of twee zinnen is genoeg. Het workshop-token geeft de begeleider vooraf; deel het niet op de slide.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Rondje door de groep, één zin per persoon of op een kaartje (circa 6 minuten). Sluit af met de contactslide. Verwijs voor echte data naar het CEDA-pakket eencijferho.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afsluitslide: laat deze staan tijdens de vragen, zodat iedereen de links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AL2: de mens doet het werk en AI levert losse stukken aan. Dit aandeel loopt vanaf begin 2026 hard terug. Bron: Anthropic R&amp;D Automation Index; zo werkt Anthropic zelf aan AI-onderzoek, de waarden zijn geschat. Vraag de zaal: waar herken je dit in je eigen werk?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AL3: mens en AI werken als duo. Sinds maart 2026 is dit de grootste groep, in augustus ongeveer 70% van de taken. De mens blijft de regie houden: kiezen, controleren, bepalen.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AL4: AI voert de taak van begin tot eind uit, de mens geeft de opdracht en keurt goed. Een kwart van de taken in augustus 2026. Dit is wat jullie vandaag zelf doen: de agent bouwt, jullie sturen en controleren.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Waarom synthetisch: bouwen en testen gebeurt gescheiden van de echte data. De agent mag naar het taalmodel zolang er geen echte personen in zitten. Dezelfde code draait later op de echte data bij de instelling, daar komt de agent niet. Benoem expliciet: werken met eigen data valt buiten deze workshop; dat doe je in je eigen instelling, volgens de eigen regels voor privacy en AVG. Zo werkt CEDA ook; de skills en de werkwijze staan open op github.com/cedanl.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Laat dit staan voor de contactslide. Vraag iedereen de Codespace nu te verwijderen, of aan het eind van de dag. Elke Codespace gebruikt het gratis maandquotum van het eigen GitHub-account, en een gestopte Codespace houdt nog opslag vast. Wil iemand de bestanden uit de workshop bewaren, dan eerst kopiëren of downloaden.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Dit is de opbouw van /schets_dashboard/SKILL.md. De skill begint zonder vragenronde met een voorstel waar de gebruiker op reageert, en stelt daarna hooguit drie vragen. Let op: het is een schets zonder code en zonder conclusie; elke view is een vraag of hypothese, geen bevinding. Per view tekent de skill een schetsplaatje van het grafiektype met neutrale vormen: gelijke staven en vlakke lijnen, zodat niemand er al een uitkomst in leest.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Laat de schets zien: bovenaan de vraag in de eigen woorden van de gebruiker, dan de keuzes met status (bevestigd of aanname), daarna de views. Nog niets gebouwd en niets berekend: de schets is een voorstel dat de gebruiker beoordeelt.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Laat het dashboard zien dat uit de skill komt. Wijs aan: de vraag als titel, het label dat dit demodata is, n per groep, het filter en de knop om andere data te uploaden. Het eerste scherm is een uploadscherm: het dashboard laadt zelf geen data. De Npuls-huisstijl is standaard, met het officiële logo in de hero. De skill legt ook uit hoe je het opent: in de Codespace via poort 8501 (Open in Browser). Eigen data gebruik je in je eigen instelling, niet in deze workshop.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 Id="rId5" Type="http://schemas.openxmlformats.org/officeDocument/2006/relationships/image" Target="../media/Slide-30-image-1.PNG"/></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notesSlide" Target="../notesSlides/notesSlide31.xml"/><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notesSlide" Target="../notesSlides/notesSlide32.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notesSlide" Target="../notesSlides/notesSlide33.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9.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notesSlide" Target="../notesSlides/notesSlide25.xml"/><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notesSlide" Target="../notesSlides/notesSlide27.xml"/><Relationship Id="rId4" Type="http://schemas.openxmlformats.org/officeDocument/2006/relationships/image" Target="../media/image5.png"/></Relationships>
</file>

<file path=ppt/slides/_rels/slide25.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notesSlide" Target="../notesSlides/notesSlide37.xml"/><Relationship Id="rId4" Type="http://schemas.openxmlformats.org/officeDocument/2006/relationships/image" Target="../media/image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notesSlide" Target="../notesSlides/notesSlide38.xml"/><Relationship Id="rId4" Type="http://schemas.openxmlformats.org/officeDocument/2006/relationships/image" Target="../media/image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35.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hyperlink" Target="https://github.com/cedanl" TargetMode="External"/><Relationship Id="rId3" Type="http://schemas.openxmlformats.org/officeDocument/2006/relationships/hyperlink" Target="https://community.npuls.nl/groups/data-ai" TargetMode="External"/><Relationship Id="rId4" Type="http://schemas.openxmlformats.org/officeDocument/2006/relationships/hyperlink" Target="mailto:ceda@surf.nl" TargetMode="External"/><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5" name="Picture 4" descr="Npuls-achtergrond met logo"/>
          <p:cNvPicPr>
            <a:picLocks noChangeAspect="1"/>
          </p:cNvPicPr>
          <p:nvPr/>
        </p:nvPicPr>
        <p:blipFill>
          <a:blip r:embed="rId5"/>
          <a:stretch>
            <a:fillRect/>
          </a:stretch>
        </p:blipFill>
        <p:spPr>
          <a:xfrm>
            <a:off x="0" y="0"/>
            <a:ext cx="12192000" cy="6858000"/>
          </a:xfrm>
          <a:prstGeom prst="rect">
            <a:avLst/>
          </a:prstGeom>
        </p:spPr>
      </p:pic>
      <p:sp>
        <p:nvSpPr>
          <p:cNvPr id="2" name="TextBox 1"/>
          <p:cNvSpPr txBox="1"/>
          <p:nvPr/>
        </p:nvSpPr>
        <p:spPr>
          <a:xfrm>
            <a:off x="914400" y="1691640"/>
            <a:ext cx="10058400" cy="1828800"/>
          </a:xfrm>
          <a:prstGeom prst="rect">
            <a:avLst/>
          </a:prstGeom>
          <a:noFill/>
        </p:spPr>
        <p:txBody>
          <a:bodyPr wrap="square" anchor="b" lIns="0" rIns="0" tIns="0" bIns="0">
            <a:spAutoFit/>
          </a:bodyPr>
          <a:lstStyle/>
          <a:p>
            <a:pPr algn="l"/>
            <a:r>
              <a:rPr sz="4600">
                <a:solidFill>
                  <a:srgbClr val="3D68EC"/>
                </a:solidFill>
                <a:latin typeface="General Sans Semibold"/>
              </a:rPr>
              <a:t>GenAI: jij stuurt, AI bouwt</a:t>
            </a:r>
          </a:p>
        </p:txBody>
      </p:sp>
      <p:sp>
        <p:nvSpPr>
          <p:cNvPr id="3" name="TextBox 2"/>
          <p:cNvSpPr txBox="1"/>
          <p:nvPr/>
        </p:nvSpPr>
        <p:spPr>
          <a:xfrm>
            <a:off x="914400" y="3657600"/>
            <a:ext cx="8229600" cy="548640"/>
          </a:xfrm>
          <a:prstGeom prst="rect">
            <a:avLst/>
          </a:prstGeom>
          <a:noFill/>
        </p:spPr>
        <p:txBody>
          <a:bodyPr wrap="square" anchor="t" lIns="0" rIns="0" tIns="0" bIns="0">
            <a:spAutoFit/>
          </a:bodyPr>
          <a:lstStyle/>
          <a:p>
            <a:pPr algn="l"/>
            <a:r>
              <a:rPr sz="2200">
                <a:solidFill>
                  <a:srgbClr val="000000"/>
                </a:solidFill>
                <a:latin typeface="Cooper Lt BT"/>
              </a:rPr>
              <a:t>Agentic data science in het onderwijs</a:t>
            </a:r>
          </a:p>
        </p:txBody>
      </p:sp>
      <p:sp>
        <p:nvSpPr>
          <p:cNvPr id="4" name="TextBox 3"/>
          <p:cNvSpPr txBox="1"/>
          <p:nvPr/>
        </p:nvSpPr>
        <p:spPr>
          <a:xfrm>
            <a:off x="914400" y="4297680"/>
            <a:ext cx="8229600" cy="411480"/>
          </a:xfrm>
          <a:prstGeom prst="rect">
            <a:avLst/>
          </a:prstGeom>
          <a:noFill/>
        </p:spPr>
        <p:txBody>
          <a:bodyPr wrap="square" anchor="t" lIns="0" rIns="0" tIns="0" bIns="0">
            <a:spAutoFit/>
          </a:bodyPr>
          <a:lstStyle/>
          <a:p>
            <a:pPr algn="l"/>
            <a:r>
              <a:rPr sz="1600">
                <a:solidFill>
                  <a:srgbClr val="000000"/>
                </a:solidFill>
                <a:latin typeface="General Sans"/>
              </a:rPr>
              <a:t>CEDA · DAIR-bijeenkomst · 120 minuten · één casus · één dashboard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31520" y="1600200"/>
            <a:ext cx="5090008" cy="320040"/>
          </a:xfrm>
          <a:prstGeom prst="rect">
            <a:avLst/>
          </a:prstGeom>
          <a:noFill/>
          <a:ln/>
        </p:spPr>
        <p:txBody>
          <a:bodyPr wrap="square" lIns="0" tIns="0" rIns="0" bIns="0" rtlCol="0" anchor="t"/>
          <a:lstStyle/>
          <a:p>
            <a:pPr algn="l" indent="0" marL="0">
              <a:lnSpc>
                <a:spcPct val="105000"/>
              </a:lnSpc>
              <a:buNone/>
            </a:pPr>
            <a:r>
              <a:rPr lang="en-US" sz="1300" spc="300" kern="0" dirty="0">
                <a:solidFill>
                  <a:srgbClr val="DD784B"/>
                </a:solidFill>
                <a:latin typeface="General Sans Semibold" pitchFamily="34" charset="0"/>
                <a:ea typeface="General Sans Semibold" pitchFamily="34" charset="-122"/>
                <a:cs typeface="General Sans Semibold" pitchFamily="34" charset="-120"/>
              </a:rPr>
              <a:t>WIE IS CEDA</a:t>
            </a:r>
            <a:endParaRPr lang="en-US" sz="1300" dirty="0"/>
          </a:p>
        </p:txBody>
      </p:sp>
      <p:sp>
        <p:nvSpPr>
          <p:cNvPr id="3" name="Text 1"/>
          <p:cNvSpPr/>
          <p:nvPr/>
        </p:nvSpPr>
        <p:spPr>
          <a:xfrm>
            <a:off x="731520" y="1965960"/>
            <a:ext cx="5090008" cy="1188720"/>
          </a:xfrm>
          <a:prstGeom prst="rect">
            <a:avLst/>
          </a:prstGeom>
          <a:noFill/>
          <a:ln/>
        </p:spPr>
        <p:txBody>
          <a:bodyPr wrap="square" lIns="0" tIns="0" rIns="0" bIns="0" rtlCol="0" anchor="t"/>
          <a:lstStyle/>
          <a:p>
            <a:pPr algn="l"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Centre of Educational Data Analytics</a:t>
            </a:r>
            <a:endParaRPr lang="en-US" sz="3200" dirty="0"/>
          </a:p>
        </p:txBody>
      </p:sp>
      <p:sp>
        <p:nvSpPr>
          <p:cNvPr id="4" name="Text 2"/>
          <p:cNvSpPr/>
          <p:nvPr/>
        </p:nvSpPr>
        <p:spPr>
          <a:xfrm>
            <a:off x="731520" y="3200400"/>
            <a:ext cx="5090008" cy="82296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Cooper Lt BT" pitchFamily="34" charset="0"/>
                <a:ea typeface="Cooper Lt BT" pitchFamily="34" charset="-122"/>
                <a:cs typeface="Cooper Lt BT" pitchFamily="34" charset="-120"/>
              </a:rPr>
              <a:t>Eén team binnen Npuls. Van ruwe data tot AI-toepassing, open source.</a:t>
            </a:r>
            <a:endParaRPr lang="en-US" sz="1800" dirty="0"/>
          </a:p>
        </p:txBody>
      </p:sp>
      <p:sp>
        <p:nvSpPr>
          <p:cNvPr id="5" name="Shape 3"/>
          <p:cNvSpPr/>
          <p:nvPr/>
        </p:nvSpPr>
        <p:spPr>
          <a:xfrm>
            <a:off x="731520" y="4315968"/>
            <a:ext cx="155448" cy="155448"/>
          </a:xfrm>
          <a:prstGeom prst="ellipse">
            <a:avLst/>
          </a:prstGeom>
          <a:solidFill>
            <a:srgbClr val="3D68EC"/>
          </a:solidFill>
          <a:ln/>
        </p:spPr>
        <p:txBody>
          <a:bodyPr/>
          <a:p/>
        </p:txBody>
      </p:sp>
      <p:sp>
        <p:nvSpPr>
          <p:cNvPr id="6" name="Text 4"/>
          <p:cNvSpPr/>
          <p:nvPr/>
        </p:nvSpPr>
        <p:spPr>
          <a:xfrm>
            <a:off x="1051560" y="420624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Data, analytics en generatieve AI in één keten</a:t>
            </a:r>
            <a:endParaRPr lang="en-US" sz="1600" dirty="0"/>
          </a:p>
        </p:txBody>
      </p:sp>
      <p:sp>
        <p:nvSpPr>
          <p:cNvPr id="7" name="Shape 5"/>
          <p:cNvSpPr/>
          <p:nvPr/>
        </p:nvSpPr>
        <p:spPr>
          <a:xfrm>
            <a:off x="731520" y="4818888"/>
            <a:ext cx="155448" cy="155448"/>
          </a:xfrm>
          <a:prstGeom prst="ellipse">
            <a:avLst/>
          </a:prstGeom>
          <a:solidFill>
            <a:srgbClr val="DD784B"/>
          </a:solidFill>
          <a:ln/>
        </p:spPr>
        <p:txBody>
          <a:bodyPr/>
          <a:p/>
        </p:txBody>
      </p:sp>
      <p:sp>
        <p:nvSpPr>
          <p:cNvPr id="8" name="Text 6"/>
          <p:cNvSpPr/>
          <p:nvPr/>
        </p:nvSpPr>
        <p:spPr>
          <a:xfrm>
            <a:off x="1051560" y="470916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Altijd in co-creatie met mbo, hbo en wo</a:t>
            </a:r>
            <a:endParaRPr lang="en-US" sz="1600" dirty="0"/>
          </a:p>
        </p:txBody>
      </p:sp>
      <p:sp>
        <p:nvSpPr>
          <p:cNvPr id="9" name="Shape 7"/>
          <p:cNvSpPr/>
          <p:nvPr/>
        </p:nvSpPr>
        <p:spPr>
          <a:xfrm>
            <a:off x="731520" y="5321808"/>
            <a:ext cx="155448" cy="155448"/>
          </a:xfrm>
          <a:prstGeom prst="ellipse">
            <a:avLst/>
          </a:prstGeom>
          <a:solidFill>
            <a:srgbClr val="00AF81"/>
          </a:solidFill>
          <a:ln/>
        </p:spPr>
        <p:txBody>
          <a:bodyPr/>
          <a:p/>
        </p:txBody>
      </p:sp>
      <p:sp>
        <p:nvSpPr>
          <p:cNvPr id="10" name="Text 8"/>
          <p:cNvSpPr/>
          <p:nvPr/>
        </p:nvSpPr>
        <p:spPr>
          <a:xfrm>
            <a:off x="1051560" y="521208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Open source, voor elke instelling</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E2FD"/>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loopt de middag</a:t>
            </a:r>
            <a:endParaRPr lang="en-US" sz="3400" dirty="0"/>
          </a:p>
        </p:txBody>
      </p:sp>
      <p:sp>
        <p:nvSpPr>
          <p:cNvPr id="73" name="Text 71"/>
          <p:cNvSpPr/>
          <p:nvPr/>
        </p:nvSpPr>
        <p:spPr>
          <a:xfrm>
            <a:off x="548640" y="1719072"/>
            <a:ext cx="1532847"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0:00</a:t>
            </a:r>
            <a:endParaRPr lang="en-US" sz="1400" dirty="0"/>
          </a:p>
        </p:txBody>
      </p:sp>
      <p:sp>
        <p:nvSpPr>
          <p:cNvPr id="74" name="Shape 72"/>
          <p:cNvSpPr/>
          <p:nvPr/>
        </p:nvSpPr>
        <p:spPr>
          <a:xfrm>
            <a:off x="548640" y="2103120"/>
            <a:ext cx="1532847" cy="914400"/>
          </a:xfrm>
          <a:prstGeom prst="rect">
            <a:avLst/>
          </a:prstGeom>
          <a:solidFill>
            <a:srgbClr val="F4D74B"/>
          </a:solidFill>
          <a:ln/>
        </p:spPr>
        <p:txBody>
          <a:bodyPr/>
          <a:p/>
        </p:txBody>
      </p:sp>
      <p:sp>
        <p:nvSpPr>
          <p:cNvPr id="75" name="Text 73"/>
          <p:cNvSpPr/>
          <p:nvPr/>
        </p:nvSpPr>
        <p:spPr>
          <a:xfrm>
            <a:off x="548640" y="2103120"/>
            <a:ext cx="1532847" cy="914400"/>
          </a:xfrm>
          <a:prstGeom prst="rect">
            <a:avLst/>
          </a:prstGeom>
          <a:noFill/>
          <a:ln/>
        </p:spPr>
        <p:txBody>
          <a:bodyPr wrap="square" lIns="0" tIns="0" rIns="0" bIns="0" rtlCol="0" anchor="ctr"/>
          <a:lstStyle/>
          <a:p>
            <a:pPr algn="ctr"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17 min</a:t>
            </a:r>
            <a:endParaRPr lang="en-US" sz="1800" dirty="0"/>
          </a:p>
        </p:txBody>
      </p:sp>
      <p:sp>
        <p:nvSpPr>
          <p:cNvPr id="76" name="Shape 74"/>
          <p:cNvSpPr/>
          <p:nvPr/>
        </p:nvSpPr>
        <p:spPr>
          <a:xfrm>
            <a:off x="548640" y="3017520"/>
            <a:ext cx="1532847" cy="45720"/>
          </a:xfrm>
          <a:prstGeom prst="rect">
            <a:avLst/>
          </a:prstGeom>
          <a:solidFill>
            <a:srgbClr val="F4D74B"/>
          </a:solidFill>
          <a:ln/>
        </p:spPr>
        <p:txBody>
          <a:bodyPr/>
          <a:p/>
        </p:txBody>
      </p:sp>
      <p:sp>
        <p:nvSpPr>
          <p:cNvPr id="77" name="Text 75"/>
          <p:cNvSpPr/>
          <p:nvPr/>
        </p:nvSpPr>
        <p:spPr>
          <a:xfrm>
            <a:off x="566928" y="3291840"/>
            <a:ext cx="1441407"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Intro, data en casus</a:t>
            </a:r>
            <a:endParaRPr lang="en-US" sz="1100" dirty="0"/>
          </a:p>
        </p:txBody>
      </p:sp>
      <p:sp>
        <p:nvSpPr>
          <p:cNvPr id="78" name="Text 76"/>
          <p:cNvSpPr/>
          <p:nvPr/>
        </p:nvSpPr>
        <p:spPr>
          <a:xfrm>
            <a:off x="566928" y="4160520"/>
            <a:ext cx="1441407"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CEDA, demodata en de opdracht</a:t>
            </a:r>
            <a:endParaRPr lang="en-US" sz="1200" dirty="0"/>
          </a:p>
        </p:txBody>
      </p:sp>
      <p:sp>
        <p:nvSpPr>
          <p:cNvPr id="79" name="Text 77"/>
          <p:cNvSpPr/>
          <p:nvPr/>
        </p:nvSpPr>
        <p:spPr>
          <a:xfrm>
            <a:off x="2127207" y="1719072"/>
            <a:ext cx="1172177"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0:17</a:t>
            </a:r>
            <a:endParaRPr lang="en-US" sz="1400" dirty="0"/>
          </a:p>
        </p:txBody>
      </p:sp>
      <p:sp>
        <p:nvSpPr>
          <p:cNvPr id="80" name="Shape 78"/>
          <p:cNvSpPr/>
          <p:nvPr/>
        </p:nvSpPr>
        <p:spPr>
          <a:xfrm>
            <a:off x="2127207" y="2103120"/>
            <a:ext cx="1172177" cy="914400"/>
          </a:xfrm>
          <a:prstGeom prst="rect">
            <a:avLst/>
          </a:prstGeom>
          <a:solidFill>
            <a:srgbClr val="F4D74B"/>
          </a:solidFill>
          <a:ln/>
        </p:spPr>
        <p:txBody>
          <a:bodyPr/>
          <a:p/>
        </p:txBody>
      </p:sp>
      <p:sp>
        <p:nvSpPr>
          <p:cNvPr id="81" name="Text 79"/>
          <p:cNvSpPr/>
          <p:nvPr/>
        </p:nvSpPr>
        <p:spPr>
          <a:xfrm>
            <a:off x="2127207" y="2103120"/>
            <a:ext cx="1172177" cy="914400"/>
          </a:xfrm>
          <a:prstGeom prst="rect">
            <a:avLst/>
          </a:prstGeom>
          <a:noFill/>
          <a:ln/>
        </p:spPr>
        <p:txBody>
          <a:bodyPr wrap="square" lIns="0" tIns="0" rIns="0" bIns="0" rtlCol="0" anchor="ctr"/>
          <a:lstStyle/>
          <a:p>
            <a:pPr algn="ctr"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13 min</a:t>
            </a:r>
            <a:endParaRPr lang="en-US" sz="1800" dirty="0"/>
          </a:p>
        </p:txBody>
      </p:sp>
      <p:sp>
        <p:nvSpPr>
          <p:cNvPr id="82" name="Shape 80"/>
          <p:cNvSpPr/>
          <p:nvPr/>
        </p:nvSpPr>
        <p:spPr>
          <a:xfrm>
            <a:off x="2127207" y="3017520"/>
            <a:ext cx="1172177" cy="45720"/>
          </a:xfrm>
          <a:prstGeom prst="rect">
            <a:avLst/>
          </a:prstGeom>
          <a:solidFill>
            <a:srgbClr val="F4D74B"/>
          </a:solidFill>
          <a:ln/>
        </p:spPr>
        <p:txBody>
          <a:bodyPr/>
          <a:p/>
        </p:txBody>
      </p:sp>
      <p:sp>
        <p:nvSpPr>
          <p:cNvPr id="83" name="Text 81"/>
          <p:cNvSpPr/>
          <p:nvPr/>
        </p:nvSpPr>
        <p:spPr>
          <a:xfrm>
            <a:off x="2145495" y="3291840"/>
            <a:ext cx="1080737"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Skills en devcontainer</a:t>
            </a:r>
            <a:endParaRPr lang="en-US" sz="1100" dirty="0"/>
          </a:p>
        </p:txBody>
      </p:sp>
      <p:sp>
        <p:nvSpPr>
          <p:cNvPr id="84" name="Text 82"/>
          <p:cNvSpPr/>
          <p:nvPr/>
        </p:nvSpPr>
        <p:spPr>
          <a:xfrm>
            <a:off x="2145495" y="4160520"/>
            <a:ext cx="1080737"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Wat is een skill, eerste prompt</a:t>
            </a:r>
            <a:endParaRPr lang="en-US" sz="1200" dirty="0"/>
          </a:p>
        </p:txBody>
      </p:sp>
      <p:sp>
        <p:nvSpPr>
          <p:cNvPr id="85" name="Text 83"/>
          <p:cNvSpPr/>
          <p:nvPr/>
        </p:nvSpPr>
        <p:spPr>
          <a:xfrm>
            <a:off x="3345104" y="1719072"/>
            <a:ext cx="1983684"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0:30</a:t>
            </a:r>
            <a:endParaRPr lang="en-US" sz="1400" dirty="0"/>
          </a:p>
        </p:txBody>
      </p:sp>
      <p:sp>
        <p:nvSpPr>
          <p:cNvPr id="86" name="Shape 84"/>
          <p:cNvSpPr/>
          <p:nvPr/>
        </p:nvSpPr>
        <p:spPr>
          <a:xfrm>
            <a:off x="3345104" y="2103120"/>
            <a:ext cx="1983684" cy="914400"/>
          </a:xfrm>
          <a:prstGeom prst="rect">
            <a:avLst/>
          </a:prstGeom>
          <a:solidFill>
            <a:srgbClr val="3D68EC"/>
          </a:solidFill>
          <a:ln/>
        </p:spPr>
        <p:txBody>
          <a:bodyPr/>
          <a:p/>
        </p:txBody>
      </p:sp>
      <p:sp>
        <p:nvSpPr>
          <p:cNvPr id="87" name="Text 85"/>
          <p:cNvSpPr/>
          <p:nvPr/>
        </p:nvSpPr>
        <p:spPr>
          <a:xfrm>
            <a:off x="3345104" y="2103120"/>
            <a:ext cx="1983684" cy="914400"/>
          </a:xfrm>
          <a:prstGeom prst="rect">
            <a:avLst/>
          </a:prstGeom>
          <a:noFill/>
          <a:ln/>
        </p:spPr>
        <p:txBody>
          <a:bodyPr wrap="square" lIns="0" tIns="0" rIns="0" bIns="0" rtlCol="0" anchor="ctr"/>
          <a:lstStyle/>
          <a:p>
            <a:pPr algn="ctr" indent="0" marL="0">
              <a:lnSpc>
                <a:spcPct val="105000"/>
              </a:lnSpc>
              <a:buNone/>
            </a:pPr>
            <a:r>
              <a:rPr lang="en-US" sz="1800" dirty="0">
                <a:solidFill>
                  <a:srgbClr val="F4D9DC"/>
                </a:solidFill>
                <a:latin typeface="General Sans Semibold" pitchFamily="34" charset="0"/>
                <a:ea typeface="General Sans Semibold" pitchFamily="34" charset="-122"/>
                <a:cs typeface="General Sans Semibold" pitchFamily="34" charset="-120"/>
              </a:rPr>
              <a:t>22 min</a:t>
            </a:r>
            <a:endParaRPr lang="en-US" sz="1800" dirty="0"/>
          </a:p>
        </p:txBody>
      </p:sp>
      <p:sp>
        <p:nvSpPr>
          <p:cNvPr id="88" name="Shape 86"/>
          <p:cNvSpPr/>
          <p:nvPr/>
        </p:nvSpPr>
        <p:spPr>
          <a:xfrm>
            <a:off x="3345104" y="3017520"/>
            <a:ext cx="1983684" cy="45720"/>
          </a:xfrm>
          <a:prstGeom prst="rect">
            <a:avLst/>
          </a:prstGeom>
          <a:solidFill>
            <a:srgbClr val="3D68EC"/>
          </a:solidFill>
          <a:ln/>
        </p:spPr>
        <p:txBody>
          <a:bodyPr/>
          <a:p/>
        </p:txBody>
      </p:sp>
      <p:sp>
        <p:nvSpPr>
          <p:cNvPr id="89" name="Text 87"/>
          <p:cNvSpPr/>
          <p:nvPr/>
        </p:nvSpPr>
        <p:spPr>
          <a:xfrm>
            <a:off x="3363392" y="3291840"/>
            <a:ext cx="1892244"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Ronde 1: data verkennen</a:t>
            </a:r>
            <a:endParaRPr lang="en-US" sz="1100" dirty="0"/>
          </a:p>
        </p:txBody>
      </p:sp>
      <p:sp>
        <p:nvSpPr>
          <p:cNvPr id="90" name="Text 88"/>
          <p:cNvSpPr/>
          <p:nvPr/>
        </p:nvSpPr>
        <p:spPr>
          <a:xfrm>
            <a:off x="3363392" y="4160520"/>
            <a:ext cx="1892244"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Jullie prompten zelf</a:t>
            </a:r>
            <a:endParaRPr lang="en-US" sz="1200" dirty="0"/>
          </a:p>
        </p:txBody>
      </p:sp>
      <p:sp>
        <p:nvSpPr>
          <p:cNvPr id="91" name="Text 89"/>
          <p:cNvSpPr/>
          <p:nvPr/>
        </p:nvSpPr>
        <p:spPr>
          <a:xfrm>
            <a:off x="5374508" y="1719072"/>
            <a:ext cx="1352512"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0:52</a:t>
            </a:r>
            <a:endParaRPr lang="en-US" sz="1400" dirty="0"/>
          </a:p>
        </p:txBody>
      </p:sp>
      <p:sp>
        <p:nvSpPr>
          <p:cNvPr id="92" name="Shape 90"/>
          <p:cNvSpPr/>
          <p:nvPr/>
        </p:nvSpPr>
        <p:spPr>
          <a:xfrm>
            <a:off x="5374508" y="2103120"/>
            <a:ext cx="1352512" cy="914400"/>
          </a:xfrm>
          <a:prstGeom prst="rect">
            <a:avLst/>
          </a:prstGeom>
          <a:solidFill>
            <a:srgbClr val="DD784B"/>
          </a:solidFill>
          <a:ln/>
        </p:spPr>
        <p:txBody>
          <a:bodyPr/>
          <a:p/>
        </p:txBody>
      </p:sp>
      <p:sp>
        <p:nvSpPr>
          <p:cNvPr id="93" name="Text 91"/>
          <p:cNvSpPr/>
          <p:nvPr/>
        </p:nvSpPr>
        <p:spPr>
          <a:xfrm>
            <a:off x="5374508" y="2103120"/>
            <a:ext cx="1352512" cy="914400"/>
          </a:xfrm>
          <a:prstGeom prst="rect">
            <a:avLst/>
          </a:prstGeom>
          <a:noFill/>
          <a:ln/>
        </p:spPr>
        <p:txBody>
          <a:bodyPr wrap="square" lIns="0" tIns="0" rIns="0" bIns="0" rtlCol="0" anchor="ctr"/>
          <a:lstStyle/>
          <a:p>
            <a:pPr algn="ctr"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15 min</a:t>
            </a:r>
            <a:endParaRPr lang="en-US" sz="1800" dirty="0"/>
          </a:p>
        </p:txBody>
      </p:sp>
      <p:sp>
        <p:nvSpPr>
          <p:cNvPr id="94" name="Shape 92"/>
          <p:cNvSpPr/>
          <p:nvPr/>
        </p:nvSpPr>
        <p:spPr>
          <a:xfrm>
            <a:off x="5374508" y="3017520"/>
            <a:ext cx="1352512" cy="45720"/>
          </a:xfrm>
          <a:prstGeom prst="rect">
            <a:avLst/>
          </a:prstGeom>
          <a:solidFill>
            <a:srgbClr val="DD784B"/>
          </a:solidFill>
          <a:ln/>
        </p:spPr>
        <p:txBody>
          <a:bodyPr/>
          <a:p/>
        </p:txBody>
      </p:sp>
      <p:sp>
        <p:nvSpPr>
          <p:cNvPr id="95" name="Text 93"/>
          <p:cNvSpPr/>
          <p:nvPr/>
        </p:nvSpPr>
        <p:spPr>
          <a:xfrm>
            <a:off x="5392796" y="3291840"/>
            <a:ext cx="1261072"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Spiegelmoment 1</a:t>
            </a:r>
            <a:endParaRPr lang="en-US" sz="1100" dirty="0"/>
          </a:p>
        </p:txBody>
      </p:sp>
      <p:sp>
        <p:nvSpPr>
          <p:cNvPr id="96" name="Text 94"/>
          <p:cNvSpPr/>
          <p:nvPr/>
        </p:nvSpPr>
        <p:spPr>
          <a:xfrm>
            <a:off x="5392796" y="4160520"/>
            <a:ext cx="1261072"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Skill live: kijk wat erin zit</a:t>
            </a:r>
            <a:endParaRPr lang="en-US" sz="1200" dirty="0"/>
          </a:p>
        </p:txBody>
      </p:sp>
      <p:sp>
        <p:nvSpPr>
          <p:cNvPr id="97" name="Shape 95"/>
          <p:cNvSpPr/>
          <p:nvPr/>
        </p:nvSpPr>
        <p:spPr>
          <a:xfrm>
            <a:off x="5392796" y="5029200"/>
            <a:ext cx="1315936" cy="310896"/>
          </a:xfrm>
          <a:prstGeom prst="roundRect">
            <a:avLst>
              <a:gd name="adj" fmla="val 147059"/>
            </a:avLst>
          </a:prstGeom>
          <a:solidFill>
            <a:srgbClr val="FFFFFF"/>
          </a:solidFill>
          <a:ln/>
        </p:spPr>
        <p:txBody>
          <a:bodyPr/>
          <a:p/>
        </p:txBody>
      </p:sp>
      <p:sp>
        <p:nvSpPr>
          <p:cNvPr id="98" name="Text 96"/>
          <p:cNvSpPr/>
          <p:nvPr/>
        </p:nvSpPr>
        <p:spPr>
          <a:xfrm>
            <a:off x="5392796" y="5029200"/>
            <a:ext cx="1315936" cy="310896"/>
          </a:xfrm>
          <a:prstGeom prst="rect">
            <a:avLst/>
          </a:prstGeom>
          <a:noFill/>
          <a:ln/>
        </p:spPr>
        <p:txBody>
          <a:bodyPr wrap="square" lIns="0" tIns="0" rIns="0" bIns="0" rtlCol="0" anchor="ctr"/>
          <a:lstStyle/>
          <a:p>
            <a:pPr algn="ctr" indent="0" marL="0">
              <a:lnSpc>
                <a:spcPct val="105000"/>
              </a:lnSpc>
              <a:buNone/>
            </a:pPr>
            <a:r>
              <a:rPr lang="en-US" sz="900" dirty="0">
                <a:solidFill>
                  <a:srgbClr val="3D68EC"/>
                </a:solidFill>
                <a:latin typeface="General Sans Semibold" pitchFamily="34" charset="0"/>
                <a:ea typeface="General Sans Semibold" pitchFamily="34" charset="-122"/>
                <a:cs typeface="General Sans Semibold" pitchFamily="34" charset="-120"/>
              </a:rPr>
              <a:t>/verkennen_data</a:t>
            </a:r>
            <a:endParaRPr lang="en-US" sz="900" dirty="0"/>
          </a:p>
        </p:txBody>
      </p:sp>
      <p:sp>
        <p:nvSpPr>
          <p:cNvPr id="99" name="Text 97"/>
          <p:cNvSpPr/>
          <p:nvPr/>
        </p:nvSpPr>
        <p:spPr>
          <a:xfrm>
            <a:off x="6772740" y="1719072"/>
            <a:ext cx="1983684"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1:07</a:t>
            </a:r>
            <a:endParaRPr lang="en-US" sz="1400" dirty="0"/>
          </a:p>
        </p:txBody>
      </p:sp>
      <p:sp>
        <p:nvSpPr>
          <p:cNvPr id="100" name="Shape 98"/>
          <p:cNvSpPr/>
          <p:nvPr/>
        </p:nvSpPr>
        <p:spPr>
          <a:xfrm>
            <a:off x="6772740" y="2103120"/>
            <a:ext cx="1983684" cy="914400"/>
          </a:xfrm>
          <a:prstGeom prst="rect">
            <a:avLst/>
          </a:prstGeom>
          <a:solidFill>
            <a:srgbClr val="3D68EC"/>
          </a:solidFill>
          <a:ln/>
        </p:spPr>
        <p:txBody>
          <a:bodyPr/>
          <a:p/>
        </p:txBody>
      </p:sp>
      <p:sp>
        <p:nvSpPr>
          <p:cNvPr id="101" name="Text 99"/>
          <p:cNvSpPr/>
          <p:nvPr/>
        </p:nvSpPr>
        <p:spPr>
          <a:xfrm>
            <a:off x="6772740" y="2103120"/>
            <a:ext cx="1983684" cy="914400"/>
          </a:xfrm>
          <a:prstGeom prst="rect">
            <a:avLst/>
          </a:prstGeom>
          <a:noFill/>
          <a:ln/>
        </p:spPr>
        <p:txBody>
          <a:bodyPr wrap="square" lIns="0" tIns="0" rIns="0" bIns="0" rtlCol="0" anchor="ctr"/>
          <a:lstStyle/>
          <a:p>
            <a:pPr algn="ctr" indent="0" marL="0">
              <a:lnSpc>
                <a:spcPct val="105000"/>
              </a:lnSpc>
              <a:buNone/>
            </a:pPr>
            <a:r>
              <a:rPr lang="en-US" sz="1800" dirty="0">
                <a:solidFill>
                  <a:srgbClr val="F4D9DC"/>
                </a:solidFill>
                <a:latin typeface="General Sans Semibold" pitchFamily="34" charset="0"/>
                <a:ea typeface="General Sans Semibold" pitchFamily="34" charset="-122"/>
                <a:cs typeface="General Sans Semibold" pitchFamily="34" charset="-120"/>
              </a:rPr>
              <a:t>22 min</a:t>
            </a:r>
            <a:endParaRPr lang="en-US" sz="1800" dirty="0"/>
          </a:p>
        </p:txBody>
      </p:sp>
      <p:sp>
        <p:nvSpPr>
          <p:cNvPr id="102" name="Shape 100"/>
          <p:cNvSpPr/>
          <p:nvPr/>
        </p:nvSpPr>
        <p:spPr>
          <a:xfrm>
            <a:off x="6772740" y="3017520"/>
            <a:ext cx="1983684" cy="45720"/>
          </a:xfrm>
          <a:prstGeom prst="rect">
            <a:avLst/>
          </a:prstGeom>
          <a:solidFill>
            <a:srgbClr val="3D68EC"/>
          </a:solidFill>
          <a:ln/>
        </p:spPr>
        <p:txBody>
          <a:bodyPr/>
          <a:p/>
        </p:txBody>
      </p:sp>
      <p:sp>
        <p:nvSpPr>
          <p:cNvPr id="103" name="Text 101"/>
          <p:cNvSpPr/>
          <p:nvPr/>
        </p:nvSpPr>
        <p:spPr>
          <a:xfrm>
            <a:off x="6791028" y="3291840"/>
            <a:ext cx="1892244"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Ronde 2: dashboard bouwen</a:t>
            </a:r>
            <a:endParaRPr lang="en-US" sz="1100" dirty="0"/>
          </a:p>
        </p:txBody>
      </p:sp>
      <p:sp>
        <p:nvSpPr>
          <p:cNvPr id="104" name="Text 102"/>
          <p:cNvSpPr/>
          <p:nvPr/>
        </p:nvSpPr>
        <p:spPr>
          <a:xfrm>
            <a:off x="6791028" y="4160520"/>
            <a:ext cx="1892244"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Jullie prompten zelf, andere rol</a:t>
            </a:r>
            <a:endParaRPr lang="en-US" sz="1200" dirty="0"/>
          </a:p>
        </p:txBody>
      </p:sp>
      <p:sp>
        <p:nvSpPr>
          <p:cNvPr id="105" name="Text 103"/>
          <p:cNvSpPr/>
          <p:nvPr/>
        </p:nvSpPr>
        <p:spPr>
          <a:xfrm>
            <a:off x="8802144" y="1719072"/>
            <a:ext cx="1352512"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1:29</a:t>
            </a:r>
            <a:endParaRPr lang="en-US" sz="1400" dirty="0"/>
          </a:p>
        </p:txBody>
      </p:sp>
      <p:sp>
        <p:nvSpPr>
          <p:cNvPr id="106" name="Shape 104"/>
          <p:cNvSpPr/>
          <p:nvPr/>
        </p:nvSpPr>
        <p:spPr>
          <a:xfrm>
            <a:off x="8802144" y="2103120"/>
            <a:ext cx="1352512" cy="914400"/>
          </a:xfrm>
          <a:prstGeom prst="rect">
            <a:avLst/>
          </a:prstGeom>
          <a:solidFill>
            <a:srgbClr val="DD784B"/>
          </a:solidFill>
          <a:ln/>
        </p:spPr>
        <p:txBody>
          <a:bodyPr/>
          <a:p/>
        </p:txBody>
      </p:sp>
      <p:sp>
        <p:nvSpPr>
          <p:cNvPr id="107" name="Text 105"/>
          <p:cNvSpPr/>
          <p:nvPr/>
        </p:nvSpPr>
        <p:spPr>
          <a:xfrm>
            <a:off x="8802144" y="2103120"/>
            <a:ext cx="1352512" cy="914400"/>
          </a:xfrm>
          <a:prstGeom prst="rect">
            <a:avLst/>
          </a:prstGeom>
          <a:noFill/>
          <a:ln/>
        </p:spPr>
        <p:txBody>
          <a:bodyPr wrap="square" lIns="0" tIns="0" rIns="0" bIns="0" rtlCol="0" anchor="ctr"/>
          <a:lstStyle/>
          <a:p>
            <a:pPr algn="ctr"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15 min</a:t>
            </a:r>
            <a:endParaRPr lang="en-US" sz="1800" dirty="0"/>
          </a:p>
        </p:txBody>
      </p:sp>
      <p:sp>
        <p:nvSpPr>
          <p:cNvPr id="108" name="Shape 106"/>
          <p:cNvSpPr/>
          <p:nvPr/>
        </p:nvSpPr>
        <p:spPr>
          <a:xfrm>
            <a:off x="8802144" y="3017520"/>
            <a:ext cx="1352512" cy="45720"/>
          </a:xfrm>
          <a:prstGeom prst="rect">
            <a:avLst/>
          </a:prstGeom>
          <a:solidFill>
            <a:srgbClr val="DD784B"/>
          </a:solidFill>
          <a:ln/>
        </p:spPr>
        <p:txBody>
          <a:bodyPr/>
          <a:p/>
        </p:txBody>
      </p:sp>
      <p:sp>
        <p:nvSpPr>
          <p:cNvPr id="109" name="Text 107"/>
          <p:cNvSpPr/>
          <p:nvPr/>
        </p:nvSpPr>
        <p:spPr>
          <a:xfrm>
            <a:off x="8820432" y="3291840"/>
            <a:ext cx="1261072"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Spiegelmoment 2</a:t>
            </a:r>
            <a:endParaRPr lang="en-US" sz="1100" dirty="0"/>
          </a:p>
        </p:txBody>
      </p:sp>
      <p:sp>
        <p:nvSpPr>
          <p:cNvPr id="110" name="Text 108"/>
          <p:cNvSpPr/>
          <p:nvPr/>
        </p:nvSpPr>
        <p:spPr>
          <a:xfrm>
            <a:off x="8820432" y="4160520"/>
            <a:ext cx="1261072"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Skill live: kijk wat erin zit</a:t>
            </a:r>
            <a:endParaRPr lang="en-US" sz="1200" dirty="0"/>
          </a:p>
        </p:txBody>
      </p:sp>
      <p:sp>
        <p:nvSpPr>
          <p:cNvPr id="111" name="Shape 109"/>
          <p:cNvSpPr/>
          <p:nvPr/>
        </p:nvSpPr>
        <p:spPr>
          <a:xfrm>
            <a:off x="8820432" y="4999200"/>
            <a:ext cx="1315936" cy="480000"/>
          </a:xfrm>
          <a:prstGeom prst="roundRect">
            <a:avLst>
              <a:gd name="adj" fmla="val 147059"/>
            </a:avLst>
          </a:prstGeom>
          <a:solidFill>
            <a:srgbClr val="FFFFFF"/>
          </a:solidFill>
          <a:ln/>
        </p:spPr>
        <p:txBody>
          <a:bodyPr/>
          <a:p/>
        </p:txBody>
      </p:sp>
      <p:sp>
        <p:nvSpPr>
          <p:cNvPr id="112" name="Text 110"/>
          <p:cNvSpPr/>
          <p:nvPr/>
        </p:nvSpPr>
        <p:spPr>
          <a:xfrm>
            <a:off x="8820432" y="5029200"/>
            <a:ext cx="1315936" cy="440000"/>
          </a:xfrm>
          <a:prstGeom prst="rect">
            <a:avLst/>
          </a:prstGeom>
          <a:noFill/>
          <a:ln/>
        </p:spPr>
        <p:txBody>
          <a:bodyPr wrap="square" lIns="0" tIns="0" rIns="0" bIns="0" rtlCol="0" anchor="ctr"/>
          <a:lstStyle/>
          <a:p>
            <a:pPr algn="ctr" indent="0" marL="0">
              <a:lnSpc>
                <a:spcPct val="105000"/>
              </a:lnSpc>
              <a:buNone/>
            </a:pPr>
            <a:r>
              <a:rPr lang="en-US" sz="900" dirty="0">
                <a:solidFill>
                  <a:srgbClr val="3D68EC"/>
                </a:solidFill>
                <a:latin typeface="General Sans Semibold" pitchFamily="34" charset="0"/>
                <a:ea typeface="General Sans Semibold" pitchFamily="34" charset="-122"/>
                <a:cs typeface="General Sans Semibold" pitchFamily="34" charset="-120"/>
              </a:rPr>
              <a:t>/schets_dashboard</a:t>
            </a:r>
            <a:endParaRPr lang="en-US" sz="900" dirty="0"/>
          </a:p>
          <a:p>
            <a:pPr algn="ctr" indent="0" marL="0">
              <a:lnSpc>
                <a:spcPct val="105000"/>
              </a:lnSpc>
              <a:buNone/>
            </a:pPr>
            <a:r>
              <a:rPr lang="en-US" sz="900" dirty="0">
                <a:solidFill>
                  <a:srgbClr val="3D68EC"/>
                </a:solidFill>
                <a:latin typeface="General Sans Semibold" pitchFamily="34" charset="0"/>
                <a:ea typeface="General Sans Semibold" pitchFamily="34" charset="-122"/>
                <a:cs typeface="General Sans Semibold" pitchFamily="34" charset="-120"/>
              </a:rPr>
              <a:t>/bouwen_dashboard</a:t>
            </a:r>
            <a:endParaRPr lang="en-US" sz="900" dirty="0"/>
          </a:p>
        </p:txBody>
      </p:sp>
      <p:sp>
        <p:nvSpPr>
          <p:cNvPr id="113" name="Text 111"/>
          <p:cNvSpPr/>
          <p:nvPr/>
        </p:nvSpPr>
        <p:spPr>
          <a:xfrm>
            <a:off x="10200376" y="1719072"/>
            <a:ext cx="1442679"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1:44</a:t>
            </a:r>
            <a:endParaRPr lang="en-US" sz="1400" dirty="0"/>
          </a:p>
        </p:txBody>
      </p:sp>
      <p:sp>
        <p:nvSpPr>
          <p:cNvPr id="114" name="Shape 112"/>
          <p:cNvSpPr/>
          <p:nvPr/>
        </p:nvSpPr>
        <p:spPr>
          <a:xfrm>
            <a:off x="10200376" y="2103120"/>
            <a:ext cx="1442679" cy="914400"/>
          </a:xfrm>
          <a:prstGeom prst="rect">
            <a:avLst/>
          </a:prstGeom>
          <a:solidFill>
            <a:srgbClr val="00AF81"/>
          </a:solidFill>
          <a:ln/>
        </p:spPr>
        <p:txBody>
          <a:bodyPr/>
          <a:p/>
        </p:txBody>
      </p:sp>
      <p:sp>
        <p:nvSpPr>
          <p:cNvPr id="115" name="Text 113"/>
          <p:cNvSpPr/>
          <p:nvPr/>
        </p:nvSpPr>
        <p:spPr>
          <a:xfrm>
            <a:off x="10200376" y="2103120"/>
            <a:ext cx="1442679" cy="914400"/>
          </a:xfrm>
          <a:prstGeom prst="rect">
            <a:avLst/>
          </a:prstGeom>
          <a:noFill/>
          <a:ln/>
        </p:spPr>
        <p:txBody>
          <a:bodyPr wrap="square" lIns="0" tIns="0" rIns="0" bIns="0" rtlCol="0" anchor="ctr"/>
          <a:lstStyle/>
          <a:p>
            <a:pPr algn="ctr"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16 min</a:t>
            </a:r>
            <a:endParaRPr lang="en-US" sz="1800" dirty="0"/>
          </a:p>
        </p:txBody>
      </p:sp>
      <p:sp>
        <p:nvSpPr>
          <p:cNvPr id="116" name="Shape 114"/>
          <p:cNvSpPr/>
          <p:nvPr/>
        </p:nvSpPr>
        <p:spPr>
          <a:xfrm>
            <a:off x="10200376" y="3017520"/>
            <a:ext cx="1442679" cy="45720"/>
          </a:xfrm>
          <a:prstGeom prst="rect">
            <a:avLst/>
          </a:prstGeom>
          <a:solidFill>
            <a:srgbClr val="00AF81"/>
          </a:solidFill>
          <a:ln/>
        </p:spPr>
        <p:txBody>
          <a:bodyPr/>
          <a:p/>
        </p:txBody>
      </p:sp>
      <p:sp>
        <p:nvSpPr>
          <p:cNvPr id="117" name="Text 115"/>
          <p:cNvSpPr/>
          <p:nvPr/>
        </p:nvSpPr>
        <p:spPr>
          <a:xfrm>
            <a:off x="10218664" y="3291840"/>
            <a:ext cx="1351239"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Evaluatie en afsluiting</a:t>
            </a:r>
            <a:endParaRPr lang="en-US" sz="1100" dirty="0"/>
          </a:p>
        </p:txBody>
      </p:sp>
      <p:sp>
        <p:nvSpPr>
          <p:cNvPr id="118" name="Text 116"/>
          <p:cNvSpPr/>
          <p:nvPr/>
        </p:nvSpPr>
        <p:spPr>
          <a:xfrm>
            <a:off x="10218664" y="4160520"/>
            <a:ext cx="1351239"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Terugblik, vragenlijst, rondje</a:t>
            </a:r>
            <a:endParaRPr lang="en-US" sz="1200" dirty="0"/>
          </a:p>
        </p:txBody>
      </p:sp>
      <p:sp>
        <p:nvSpPr>
          <p:cNvPr id="119" name="Text 117"/>
          <p:cNvSpPr/>
          <p:nvPr/>
        </p:nvSpPr>
        <p:spPr>
          <a:xfrm>
            <a:off x="10728655" y="1719072"/>
            <a:ext cx="914400" cy="274320"/>
          </a:xfrm>
          <a:prstGeom prst="rect">
            <a:avLst/>
          </a:prstGeom>
          <a:noFill/>
          <a:ln/>
        </p:spPr>
        <p:txBody>
          <a:bodyPr wrap="square" lIns="0" tIns="0" rIns="0" bIns="0" rtlCol="0" anchor="t"/>
          <a:lstStyle/>
          <a:p>
            <a:pPr algn="r"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2:00</a:t>
            </a:r>
            <a:endParaRPr lang="en-US" sz="1400" dirty="0"/>
          </a:p>
        </p:txBody>
      </p:sp>
      <p:sp>
        <p:nvSpPr>
          <p:cNvPr id="120" name="Shape 118"/>
          <p:cNvSpPr/>
          <p:nvPr/>
        </p:nvSpPr>
        <p:spPr>
          <a:xfrm>
            <a:off x="548640" y="6025896"/>
            <a:ext cx="201168" cy="201168"/>
          </a:xfrm>
          <a:prstGeom prst="rect">
            <a:avLst/>
          </a:prstGeom>
          <a:solidFill>
            <a:srgbClr val="F4D74B"/>
          </a:solidFill>
          <a:ln/>
        </p:spPr>
        <p:txBody>
          <a:bodyPr/>
          <a:p/>
        </p:txBody>
      </p:sp>
      <p:sp>
        <p:nvSpPr>
          <p:cNvPr id="121" name="Text 119"/>
          <p:cNvSpPr/>
          <p:nvPr/>
        </p:nvSpPr>
        <p:spPr>
          <a:xfrm>
            <a:off x="841248"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Uitleg</a:t>
            </a:r>
            <a:endParaRPr lang="en-US" sz="1200" dirty="0"/>
          </a:p>
        </p:txBody>
      </p:sp>
      <p:sp>
        <p:nvSpPr>
          <p:cNvPr id="122" name="Shape 120"/>
          <p:cNvSpPr/>
          <p:nvPr/>
        </p:nvSpPr>
        <p:spPr>
          <a:xfrm>
            <a:off x="1901952" y="6025896"/>
            <a:ext cx="201168" cy="201168"/>
          </a:xfrm>
          <a:prstGeom prst="rect">
            <a:avLst/>
          </a:prstGeom>
          <a:solidFill>
            <a:srgbClr val="3D68EC"/>
          </a:solidFill>
          <a:ln/>
        </p:spPr>
        <p:txBody>
          <a:bodyPr/>
          <a:p/>
        </p:txBody>
      </p:sp>
      <p:sp>
        <p:nvSpPr>
          <p:cNvPr id="123" name="Text 121"/>
          <p:cNvSpPr/>
          <p:nvPr/>
        </p:nvSpPr>
        <p:spPr>
          <a:xfrm>
            <a:off x="2194560"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Werken in tweetallen</a:t>
            </a:r>
            <a:endParaRPr lang="en-US" sz="1200" dirty="0"/>
          </a:p>
        </p:txBody>
      </p:sp>
      <p:sp>
        <p:nvSpPr>
          <p:cNvPr id="124" name="Shape 122"/>
          <p:cNvSpPr/>
          <p:nvPr/>
        </p:nvSpPr>
        <p:spPr>
          <a:xfrm>
            <a:off x="4663440" y="6025896"/>
            <a:ext cx="201168" cy="201168"/>
          </a:xfrm>
          <a:prstGeom prst="rect">
            <a:avLst/>
          </a:prstGeom>
          <a:solidFill>
            <a:srgbClr val="DD784B"/>
          </a:solidFill>
          <a:ln/>
        </p:spPr>
        <p:txBody>
          <a:bodyPr/>
          <a:p/>
        </p:txBody>
      </p:sp>
      <p:sp>
        <p:nvSpPr>
          <p:cNvPr id="125" name="Text 123"/>
          <p:cNvSpPr/>
          <p:nvPr/>
        </p:nvSpPr>
        <p:spPr>
          <a:xfrm>
            <a:off x="4956048"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Spiegelmoment</a:t>
            </a:r>
            <a:endParaRPr lang="en-US" sz="1200" dirty="0"/>
          </a:p>
        </p:txBody>
      </p:sp>
      <p:sp>
        <p:nvSpPr>
          <p:cNvPr id="126" name="Shape 124"/>
          <p:cNvSpPr/>
          <p:nvPr/>
        </p:nvSpPr>
        <p:spPr>
          <a:xfrm>
            <a:off x="6720840" y="6025896"/>
            <a:ext cx="201168" cy="201168"/>
          </a:xfrm>
          <a:prstGeom prst="rect">
            <a:avLst/>
          </a:prstGeom>
          <a:solidFill>
            <a:srgbClr val="00AF81"/>
          </a:solidFill>
          <a:ln/>
        </p:spPr>
        <p:txBody>
          <a:bodyPr/>
          <a:p/>
        </p:txBody>
      </p:sp>
      <p:sp>
        <p:nvSpPr>
          <p:cNvPr id="127" name="Text 125"/>
          <p:cNvSpPr/>
          <p:nvPr/>
        </p:nvSpPr>
        <p:spPr>
          <a:xfrm>
            <a:off x="7013448"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Evaluatie en afsluiting</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3D68EC"/>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p/>
        </p:txBody>
      </p:sp>
      <p:sp>
        <p:nvSpPr>
          <p:cNvPr id="3" name="Shape 1"/>
          <p:cNvSpPr/>
          <p:nvPr/>
        </p:nvSpPr>
        <p:spPr>
          <a:xfrm>
            <a:off x="11212173" y="399224"/>
            <a:ext cx="34616" cy="34616"/>
          </a:xfrm>
          <a:prstGeom prst="ellipse">
            <a:avLst/>
          </a:prstGeom>
          <a:solidFill>
            <a:srgbClr val="F4D9DC"/>
          </a:solidFill>
          <a:ln/>
        </p:spPr>
        <p:txBody>
          <a:bodyPr/>
          <a:p/>
        </p:txBody>
      </p:sp>
      <p:sp>
        <p:nvSpPr>
          <p:cNvPr id="4" name="Shape 2"/>
          <p:cNvSpPr/>
          <p:nvPr/>
        </p:nvSpPr>
        <p:spPr>
          <a:xfrm>
            <a:off x="11398641" y="399224"/>
            <a:ext cx="34616" cy="34616"/>
          </a:xfrm>
          <a:prstGeom prst="ellipse">
            <a:avLst/>
          </a:prstGeom>
          <a:solidFill>
            <a:srgbClr val="F4D9DC"/>
          </a:solidFill>
          <a:ln/>
        </p:spPr>
        <p:txBody>
          <a:bodyPr/>
          <a:p/>
        </p:txBody>
      </p:sp>
      <p:sp>
        <p:nvSpPr>
          <p:cNvPr id="5" name="Shape 3"/>
          <p:cNvSpPr/>
          <p:nvPr/>
        </p:nvSpPr>
        <p:spPr>
          <a:xfrm>
            <a:off x="11258374" y="435357"/>
            <a:ext cx="51936" cy="51936"/>
          </a:xfrm>
          <a:prstGeom prst="ellipse">
            <a:avLst/>
          </a:prstGeom>
          <a:solidFill>
            <a:srgbClr val="F4D9DC"/>
          </a:solidFill>
          <a:ln/>
        </p:spPr>
        <p:txBody>
          <a:bodyPr/>
          <a:p/>
        </p:txBody>
      </p:sp>
      <p:sp>
        <p:nvSpPr>
          <p:cNvPr id="6" name="Shape 4"/>
          <p:cNvSpPr/>
          <p:nvPr/>
        </p:nvSpPr>
        <p:spPr>
          <a:xfrm>
            <a:off x="11335407" y="435306"/>
            <a:ext cx="51718" cy="51718"/>
          </a:xfrm>
          <a:prstGeom prst="ellipse">
            <a:avLst/>
          </a:prstGeom>
          <a:solidFill>
            <a:srgbClr val="F4D9DC"/>
          </a:solidFill>
          <a:ln/>
        </p:spPr>
        <p:txBody>
          <a:bodyPr/>
          <a:p/>
        </p:txBody>
      </p:sp>
      <p:sp>
        <p:nvSpPr>
          <p:cNvPr id="7" name="Shape 5"/>
          <p:cNvSpPr/>
          <p:nvPr/>
        </p:nvSpPr>
        <p:spPr>
          <a:xfrm>
            <a:off x="11127388" y="442398"/>
            <a:ext cx="35294" cy="35294"/>
          </a:xfrm>
          <a:prstGeom prst="ellipse">
            <a:avLst/>
          </a:prstGeom>
          <a:solidFill>
            <a:srgbClr val="F4D9DC"/>
          </a:solidFill>
          <a:ln/>
        </p:spPr>
        <p:txBody>
          <a:bodyPr/>
          <a:p/>
        </p:txBody>
      </p:sp>
      <p:sp>
        <p:nvSpPr>
          <p:cNvPr id="8" name="Shape 6"/>
          <p:cNvSpPr/>
          <p:nvPr/>
        </p:nvSpPr>
        <p:spPr>
          <a:xfrm>
            <a:off x="11482145" y="441649"/>
            <a:ext cx="35960" cy="35960"/>
          </a:xfrm>
          <a:prstGeom prst="ellipse">
            <a:avLst/>
          </a:prstGeom>
          <a:solidFill>
            <a:srgbClr val="F4D9DC"/>
          </a:solidFill>
          <a:ln/>
        </p:spPr>
        <p:txBody>
          <a:bodyPr/>
          <a:p/>
        </p:txBody>
      </p:sp>
      <p:sp>
        <p:nvSpPr>
          <p:cNvPr id="9" name="Shape 7"/>
          <p:cNvSpPr/>
          <p:nvPr/>
        </p:nvSpPr>
        <p:spPr>
          <a:xfrm>
            <a:off x="11185603" y="459328"/>
            <a:ext cx="52167" cy="52167"/>
          </a:xfrm>
          <a:prstGeom prst="ellipse">
            <a:avLst/>
          </a:prstGeom>
          <a:solidFill>
            <a:srgbClr val="F4D9DC"/>
          </a:solidFill>
          <a:ln/>
        </p:spPr>
        <p:txBody>
          <a:bodyPr/>
          <a:p/>
        </p:txBody>
      </p:sp>
      <p:sp>
        <p:nvSpPr>
          <p:cNvPr id="10" name="Shape 8"/>
          <p:cNvSpPr/>
          <p:nvPr/>
        </p:nvSpPr>
        <p:spPr>
          <a:xfrm>
            <a:off x="11408043" y="458713"/>
            <a:ext cx="52384" cy="52384"/>
          </a:xfrm>
          <a:prstGeom prst="ellipse">
            <a:avLst/>
          </a:prstGeom>
          <a:solidFill>
            <a:srgbClr val="F4D9DC"/>
          </a:solidFill>
          <a:ln/>
        </p:spPr>
        <p:txBody>
          <a:bodyPr/>
          <a:p/>
        </p:txBody>
      </p:sp>
      <p:sp>
        <p:nvSpPr>
          <p:cNvPr id="11" name="Shape 9"/>
          <p:cNvSpPr/>
          <p:nvPr/>
        </p:nvSpPr>
        <p:spPr>
          <a:xfrm>
            <a:off x="11241891" y="499749"/>
            <a:ext cx="36613" cy="36613"/>
          </a:xfrm>
          <a:prstGeom prst="ellipse">
            <a:avLst/>
          </a:prstGeom>
          <a:solidFill>
            <a:srgbClr val="F4D9DC"/>
          </a:solidFill>
          <a:ln/>
        </p:spPr>
        <p:txBody>
          <a:bodyPr/>
          <a:p/>
        </p:txBody>
      </p:sp>
      <p:sp>
        <p:nvSpPr>
          <p:cNvPr id="12" name="Shape 10"/>
          <p:cNvSpPr/>
          <p:nvPr/>
        </p:nvSpPr>
        <p:spPr>
          <a:xfrm>
            <a:off x="11294557" y="500146"/>
            <a:ext cx="57223" cy="57223"/>
          </a:xfrm>
          <a:prstGeom prst="ellipse">
            <a:avLst/>
          </a:prstGeom>
          <a:solidFill>
            <a:srgbClr val="F4D9DC"/>
          </a:solidFill>
          <a:ln/>
        </p:spPr>
        <p:txBody>
          <a:bodyPr/>
          <a:p/>
        </p:txBody>
      </p:sp>
      <p:sp>
        <p:nvSpPr>
          <p:cNvPr id="13" name="Shape 11"/>
          <p:cNvSpPr/>
          <p:nvPr/>
        </p:nvSpPr>
        <p:spPr>
          <a:xfrm>
            <a:off x="11364102" y="498770"/>
            <a:ext cx="35294" cy="35294"/>
          </a:xfrm>
          <a:prstGeom prst="ellipse">
            <a:avLst/>
          </a:prstGeom>
          <a:solidFill>
            <a:srgbClr val="F4D9DC"/>
          </a:solidFill>
          <a:ln/>
        </p:spPr>
        <p:txBody>
          <a:bodyPr/>
          <a:p/>
        </p:txBody>
      </p:sp>
      <p:sp>
        <p:nvSpPr>
          <p:cNvPr id="14" name="Shape 12"/>
          <p:cNvSpPr/>
          <p:nvPr/>
        </p:nvSpPr>
        <p:spPr>
          <a:xfrm>
            <a:off x="11123515" y="504524"/>
            <a:ext cx="51936" cy="51936"/>
          </a:xfrm>
          <a:prstGeom prst="ellipse">
            <a:avLst/>
          </a:prstGeom>
          <a:solidFill>
            <a:srgbClr val="F4D9DC"/>
          </a:solidFill>
          <a:ln/>
        </p:spPr>
        <p:txBody>
          <a:bodyPr/>
          <a:p/>
        </p:txBody>
      </p:sp>
      <p:sp>
        <p:nvSpPr>
          <p:cNvPr id="15" name="Shape 13"/>
          <p:cNvSpPr/>
          <p:nvPr/>
        </p:nvSpPr>
        <p:spPr>
          <a:xfrm>
            <a:off x="11470202" y="504300"/>
            <a:ext cx="52384" cy="52384"/>
          </a:xfrm>
          <a:prstGeom prst="ellipse">
            <a:avLst/>
          </a:prstGeom>
          <a:solidFill>
            <a:srgbClr val="F4D9DC"/>
          </a:solidFill>
          <a:ln/>
        </p:spPr>
        <p:txBody>
          <a:bodyPr/>
          <a:p/>
        </p:txBody>
      </p:sp>
      <p:sp>
        <p:nvSpPr>
          <p:cNvPr id="16" name="Shape 14"/>
          <p:cNvSpPr/>
          <p:nvPr/>
        </p:nvSpPr>
        <p:spPr>
          <a:xfrm>
            <a:off x="11060774" y="508825"/>
            <a:ext cx="35627" cy="35627"/>
          </a:xfrm>
          <a:prstGeom prst="ellipse">
            <a:avLst/>
          </a:prstGeom>
          <a:solidFill>
            <a:srgbClr val="F4D9DC"/>
          </a:solidFill>
          <a:ln/>
        </p:spPr>
        <p:txBody>
          <a:bodyPr/>
          <a:p/>
        </p:txBody>
      </p:sp>
      <p:sp>
        <p:nvSpPr>
          <p:cNvPr id="17" name="Shape 15"/>
          <p:cNvSpPr/>
          <p:nvPr/>
        </p:nvSpPr>
        <p:spPr>
          <a:xfrm>
            <a:off x="11548535" y="508038"/>
            <a:ext cx="36613" cy="36613"/>
          </a:xfrm>
          <a:prstGeom prst="ellipse">
            <a:avLst/>
          </a:prstGeom>
          <a:solidFill>
            <a:srgbClr val="F4D9DC"/>
          </a:solidFill>
          <a:ln/>
        </p:spPr>
        <p:txBody>
          <a:bodyPr/>
          <a:p/>
        </p:txBody>
      </p:sp>
      <p:sp>
        <p:nvSpPr>
          <p:cNvPr id="18" name="Shape 16"/>
          <p:cNvSpPr/>
          <p:nvPr/>
        </p:nvSpPr>
        <p:spPr>
          <a:xfrm>
            <a:off x="11191466" y="533379"/>
            <a:ext cx="57825" cy="57825"/>
          </a:xfrm>
          <a:prstGeom prst="ellipse">
            <a:avLst/>
          </a:prstGeom>
          <a:solidFill>
            <a:srgbClr val="F4D9DC"/>
          </a:solidFill>
          <a:ln/>
        </p:spPr>
        <p:txBody>
          <a:bodyPr/>
          <a:p/>
        </p:txBody>
      </p:sp>
      <p:sp>
        <p:nvSpPr>
          <p:cNvPr id="19" name="Shape 17"/>
          <p:cNvSpPr/>
          <p:nvPr/>
        </p:nvSpPr>
        <p:spPr>
          <a:xfrm>
            <a:off x="11396535" y="533494"/>
            <a:ext cx="57428" cy="57428"/>
          </a:xfrm>
          <a:prstGeom prst="ellipse">
            <a:avLst/>
          </a:prstGeom>
          <a:solidFill>
            <a:srgbClr val="F4D9DC"/>
          </a:solidFill>
          <a:ln/>
        </p:spPr>
        <p:txBody>
          <a:bodyPr/>
          <a:p/>
        </p:txBody>
      </p:sp>
      <p:sp>
        <p:nvSpPr>
          <p:cNvPr id="20" name="Shape 18"/>
          <p:cNvSpPr/>
          <p:nvPr/>
        </p:nvSpPr>
        <p:spPr>
          <a:xfrm>
            <a:off x="11079087" y="567226"/>
            <a:ext cx="51270" cy="51270"/>
          </a:xfrm>
          <a:prstGeom prst="ellipse">
            <a:avLst/>
          </a:prstGeom>
          <a:solidFill>
            <a:srgbClr val="F4D9DC"/>
          </a:solidFill>
          <a:ln/>
        </p:spPr>
        <p:txBody>
          <a:bodyPr/>
          <a:p/>
        </p:txBody>
      </p:sp>
      <p:sp>
        <p:nvSpPr>
          <p:cNvPr id="21" name="Shape 19"/>
          <p:cNvSpPr/>
          <p:nvPr/>
        </p:nvSpPr>
        <p:spPr>
          <a:xfrm>
            <a:off x="11339728" y="567053"/>
            <a:ext cx="34616" cy="34616"/>
          </a:xfrm>
          <a:prstGeom prst="ellipse">
            <a:avLst/>
          </a:prstGeom>
          <a:solidFill>
            <a:srgbClr val="F4D9DC"/>
          </a:solidFill>
          <a:ln/>
        </p:spPr>
        <p:txBody>
          <a:bodyPr/>
          <a:p/>
        </p:txBody>
      </p:sp>
      <p:sp>
        <p:nvSpPr>
          <p:cNvPr id="22" name="Shape 20"/>
          <p:cNvSpPr/>
          <p:nvPr/>
        </p:nvSpPr>
        <p:spPr>
          <a:xfrm>
            <a:off x="11515167" y="566234"/>
            <a:ext cx="52819" cy="52819"/>
          </a:xfrm>
          <a:prstGeom prst="ellipse">
            <a:avLst/>
          </a:prstGeom>
          <a:solidFill>
            <a:srgbClr val="F4D9DC"/>
          </a:solidFill>
          <a:ln/>
        </p:spPr>
        <p:txBody>
          <a:bodyPr/>
          <a:p/>
        </p:txBody>
      </p:sp>
      <p:sp>
        <p:nvSpPr>
          <p:cNvPr id="23" name="Shape 21"/>
          <p:cNvSpPr/>
          <p:nvPr/>
        </p:nvSpPr>
        <p:spPr>
          <a:xfrm>
            <a:off x="11262860" y="569742"/>
            <a:ext cx="34961" cy="34961"/>
          </a:xfrm>
          <a:prstGeom prst="ellipse">
            <a:avLst/>
          </a:prstGeom>
          <a:solidFill>
            <a:srgbClr val="F4D9DC"/>
          </a:solidFill>
          <a:ln/>
        </p:spPr>
        <p:txBody>
          <a:bodyPr/>
          <a:p/>
        </p:txBody>
      </p:sp>
      <p:sp>
        <p:nvSpPr>
          <p:cNvPr id="24" name="Shape 22"/>
          <p:cNvSpPr/>
          <p:nvPr/>
        </p:nvSpPr>
        <p:spPr>
          <a:xfrm>
            <a:off x="11462521" y="569818"/>
            <a:ext cx="35294" cy="35294"/>
          </a:xfrm>
          <a:prstGeom prst="ellipse">
            <a:avLst/>
          </a:prstGeom>
          <a:solidFill>
            <a:srgbClr val="F4D9DC"/>
          </a:solidFill>
          <a:ln/>
        </p:spPr>
        <p:txBody>
          <a:bodyPr/>
          <a:p/>
        </p:txBody>
      </p:sp>
      <p:sp>
        <p:nvSpPr>
          <p:cNvPr id="25" name="Shape 23"/>
          <p:cNvSpPr/>
          <p:nvPr/>
        </p:nvSpPr>
        <p:spPr>
          <a:xfrm>
            <a:off x="11145681" y="573441"/>
            <a:ext cx="34270" cy="34270"/>
          </a:xfrm>
          <a:prstGeom prst="ellipse">
            <a:avLst/>
          </a:prstGeom>
          <a:solidFill>
            <a:srgbClr val="F4D9DC"/>
          </a:solidFill>
          <a:ln/>
        </p:spPr>
        <p:txBody>
          <a:bodyPr/>
          <a:p/>
        </p:txBody>
      </p:sp>
      <p:sp>
        <p:nvSpPr>
          <p:cNvPr id="26" name="Shape 24"/>
          <p:cNvSpPr/>
          <p:nvPr/>
        </p:nvSpPr>
        <p:spPr>
          <a:xfrm>
            <a:off x="11592015" y="593213"/>
            <a:ext cx="35294" cy="35294"/>
          </a:xfrm>
          <a:prstGeom prst="ellipse">
            <a:avLst/>
          </a:prstGeom>
          <a:solidFill>
            <a:srgbClr val="F4D9DC"/>
          </a:solidFill>
          <a:ln/>
        </p:spPr>
        <p:txBody>
          <a:bodyPr/>
          <a:p/>
        </p:txBody>
      </p:sp>
      <p:sp>
        <p:nvSpPr>
          <p:cNvPr id="27" name="Shape 25"/>
          <p:cNvSpPr/>
          <p:nvPr/>
        </p:nvSpPr>
        <p:spPr>
          <a:xfrm>
            <a:off x="11019124" y="593444"/>
            <a:ext cx="34616" cy="34616"/>
          </a:xfrm>
          <a:prstGeom prst="ellipse">
            <a:avLst/>
          </a:prstGeom>
          <a:solidFill>
            <a:srgbClr val="F4D9DC"/>
          </a:solidFill>
          <a:ln/>
        </p:spPr>
        <p:txBody>
          <a:bodyPr/>
          <a:p/>
        </p:txBody>
      </p:sp>
      <p:sp>
        <p:nvSpPr>
          <p:cNvPr id="28" name="Shape 26"/>
          <p:cNvSpPr/>
          <p:nvPr/>
        </p:nvSpPr>
        <p:spPr>
          <a:xfrm>
            <a:off x="11403576" y="610214"/>
            <a:ext cx="34961" cy="34961"/>
          </a:xfrm>
          <a:prstGeom prst="ellipse">
            <a:avLst/>
          </a:prstGeom>
          <a:solidFill>
            <a:srgbClr val="F4D9DC"/>
          </a:solidFill>
          <a:ln/>
        </p:spPr>
        <p:txBody>
          <a:bodyPr/>
          <a:p/>
        </p:txBody>
      </p:sp>
      <p:sp>
        <p:nvSpPr>
          <p:cNvPr id="29" name="Shape 27"/>
          <p:cNvSpPr/>
          <p:nvPr/>
        </p:nvSpPr>
        <p:spPr>
          <a:xfrm>
            <a:off x="11201662" y="616570"/>
            <a:ext cx="35627" cy="35627"/>
          </a:xfrm>
          <a:prstGeom prst="ellipse">
            <a:avLst/>
          </a:prstGeom>
          <a:solidFill>
            <a:srgbClr val="F4D9DC"/>
          </a:solidFill>
          <a:ln/>
        </p:spPr>
        <p:txBody>
          <a:bodyPr/>
          <a:p/>
        </p:txBody>
      </p:sp>
      <p:sp>
        <p:nvSpPr>
          <p:cNvPr id="30" name="Shape 28"/>
          <p:cNvSpPr/>
          <p:nvPr/>
        </p:nvSpPr>
        <p:spPr>
          <a:xfrm>
            <a:off x="11127484" y="620705"/>
            <a:ext cx="58030" cy="58030"/>
          </a:xfrm>
          <a:prstGeom prst="ellipse">
            <a:avLst/>
          </a:prstGeom>
          <a:solidFill>
            <a:srgbClr val="F4D9DC"/>
          </a:solidFill>
          <a:ln/>
        </p:spPr>
        <p:txBody>
          <a:bodyPr/>
          <a:p/>
        </p:txBody>
      </p:sp>
      <p:sp>
        <p:nvSpPr>
          <p:cNvPr id="31" name="Shape 29"/>
          <p:cNvSpPr/>
          <p:nvPr/>
        </p:nvSpPr>
        <p:spPr>
          <a:xfrm>
            <a:off x="11460767" y="620852"/>
            <a:ext cx="57428" cy="57428"/>
          </a:xfrm>
          <a:prstGeom prst="ellipse">
            <a:avLst/>
          </a:prstGeom>
          <a:solidFill>
            <a:srgbClr val="F4D9DC"/>
          </a:solidFill>
          <a:ln/>
        </p:spPr>
        <p:txBody>
          <a:bodyPr/>
          <a:p/>
        </p:txBody>
      </p:sp>
      <p:sp>
        <p:nvSpPr>
          <p:cNvPr id="32" name="Shape 30"/>
          <p:cNvSpPr/>
          <p:nvPr/>
        </p:nvSpPr>
        <p:spPr>
          <a:xfrm>
            <a:off x="11055219" y="640144"/>
            <a:ext cx="51718" cy="51718"/>
          </a:xfrm>
          <a:prstGeom prst="ellipse">
            <a:avLst/>
          </a:prstGeom>
          <a:solidFill>
            <a:srgbClr val="F4D9DC"/>
          </a:solidFill>
          <a:ln/>
        </p:spPr>
        <p:txBody>
          <a:bodyPr/>
          <a:p/>
        </p:txBody>
      </p:sp>
      <p:sp>
        <p:nvSpPr>
          <p:cNvPr id="33" name="Shape 31"/>
          <p:cNvSpPr/>
          <p:nvPr/>
        </p:nvSpPr>
        <p:spPr>
          <a:xfrm>
            <a:off x="11539330" y="640266"/>
            <a:ext cx="51270" cy="51270"/>
          </a:xfrm>
          <a:prstGeom prst="ellipse">
            <a:avLst/>
          </a:prstGeom>
          <a:solidFill>
            <a:srgbClr val="F4D9DC"/>
          </a:solidFill>
          <a:ln/>
        </p:spPr>
        <p:txBody>
          <a:bodyPr/>
          <a:p/>
        </p:txBody>
      </p:sp>
      <p:sp>
        <p:nvSpPr>
          <p:cNvPr id="34" name="Shape 32"/>
          <p:cNvSpPr/>
          <p:nvPr/>
        </p:nvSpPr>
        <p:spPr>
          <a:xfrm>
            <a:off x="11429576" y="682274"/>
            <a:ext cx="35627" cy="35627"/>
          </a:xfrm>
          <a:prstGeom prst="ellipse">
            <a:avLst/>
          </a:prstGeom>
          <a:solidFill>
            <a:srgbClr val="F4D9DC"/>
          </a:solidFill>
          <a:ln/>
        </p:spPr>
        <p:txBody>
          <a:bodyPr/>
          <a:p/>
        </p:txBody>
      </p:sp>
      <p:sp>
        <p:nvSpPr>
          <p:cNvPr id="35" name="Shape 33"/>
          <p:cNvSpPr/>
          <p:nvPr/>
        </p:nvSpPr>
        <p:spPr>
          <a:xfrm>
            <a:off x="11004076" y="687222"/>
            <a:ext cx="34616" cy="34616"/>
          </a:xfrm>
          <a:prstGeom prst="ellipse">
            <a:avLst/>
          </a:prstGeom>
          <a:solidFill>
            <a:srgbClr val="F4D9DC"/>
          </a:solidFill>
          <a:ln/>
        </p:spPr>
        <p:txBody>
          <a:bodyPr/>
          <a:p/>
        </p:txBody>
      </p:sp>
      <p:sp>
        <p:nvSpPr>
          <p:cNvPr id="36" name="Shape 34"/>
          <p:cNvSpPr/>
          <p:nvPr/>
        </p:nvSpPr>
        <p:spPr>
          <a:xfrm>
            <a:off x="11502052" y="685321"/>
            <a:ext cx="34270" cy="34270"/>
          </a:xfrm>
          <a:prstGeom prst="ellipse">
            <a:avLst/>
          </a:prstGeom>
          <a:solidFill>
            <a:srgbClr val="F4D9DC"/>
          </a:solidFill>
          <a:ln/>
        </p:spPr>
        <p:txBody>
          <a:bodyPr/>
          <a:p/>
        </p:txBody>
      </p:sp>
      <p:sp>
        <p:nvSpPr>
          <p:cNvPr id="37" name="Shape 35"/>
          <p:cNvSpPr/>
          <p:nvPr/>
        </p:nvSpPr>
        <p:spPr>
          <a:xfrm>
            <a:off x="11606321" y="686422"/>
            <a:ext cx="35627" cy="35627"/>
          </a:xfrm>
          <a:prstGeom prst="ellipse">
            <a:avLst/>
          </a:prstGeom>
          <a:solidFill>
            <a:srgbClr val="F4D9DC"/>
          </a:solidFill>
          <a:ln/>
        </p:spPr>
        <p:txBody>
          <a:bodyPr/>
          <a:p/>
        </p:txBody>
      </p:sp>
      <p:sp>
        <p:nvSpPr>
          <p:cNvPr id="38" name="Shape 36"/>
          <p:cNvSpPr/>
          <p:nvPr/>
        </p:nvSpPr>
        <p:spPr>
          <a:xfrm>
            <a:off x="11108908" y="688957"/>
            <a:ext cx="35294" cy="35294"/>
          </a:xfrm>
          <a:prstGeom prst="ellipse">
            <a:avLst/>
          </a:prstGeom>
          <a:solidFill>
            <a:srgbClr val="F4D9DC"/>
          </a:solidFill>
          <a:ln/>
        </p:spPr>
        <p:txBody>
          <a:bodyPr/>
          <a:p/>
        </p:txBody>
      </p:sp>
      <p:sp>
        <p:nvSpPr>
          <p:cNvPr id="39" name="Shape 37"/>
          <p:cNvSpPr/>
          <p:nvPr/>
        </p:nvSpPr>
        <p:spPr>
          <a:xfrm>
            <a:off x="11179733" y="690371"/>
            <a:ext cx="36613" cy="36613"/>
          </a:xfrm>
          <a:prstGeom prst="ellipse">
            <a:avLst/>
          </a:prstGeom>
          <a:solidFill>
            <a:srgbClr val="F4D9DC"/>
          </a:solidFill>
          <a:ln/>
        </p:spPr>
        <p:txBody>
          <a:bodyPr/>
          <a:p/>
        </p:txBody>
      </p:sp>
      <p:sp>
        <p:nvSpPr>
          <p:cNvPr id="40" name="Shape 38"/>
          <p:cNvSpPr/>
          <p:nvPr/>
        </p:nvSpPr>
        <p:spPr>
          <a:xfrm>
            <a:off x="11054764" y="716576"/>
            <a:ext cx="51936" cy="51936"/>
          </a:xfrm>
          <a:prstGeom prst="ellipse">
            <a:avLst/>
          </a:prstGeom>
          <a:solidFill>
            <a:srgbClr val="F4D9DC"/>
          </a:solidFill>
          <a:ln/>
        </p:spPr>
        <p:txBody>
          <a:bodyPr/>
          <a:p/>
        </p:txBody>
      </p:sp>
      <p:sp>
        <p:nvSpPr>
          <p:cNvPr id="41" name="Shape 39"/>
          <p:cNvSpPr/>
          <p:nvPr/>
        </p:nvSpPr>
        <p:spPr>
          <a:xfrm>
            <a:off x="11539023" y="716851"/>
            <a:ext cx="51488" cy="51488"/>
          </a:xfrm>
          <a:prstGeom prst="ellipse">
            <a:avLst/>
          </a:prstGeom>
          <a:solidFill>
            <a:srgbClr val="F4D9DC"/>
          </a:solidFill>
          <a:ln/>
        </p:spPr>
        <p:txBody>
          <a:bodyPr/>
          <a:p/>
        </p:txBody>
      </p:sp>
      <p:sp>
        <p:nvSpPr>
          <p:cNvPr id="42" name="Shape 40"/>
          <p:cNvSpPr/>
          <p:nvPr/>
        </p:nvSpPr>
        <p:spPr>
          <a:xfrm>
            <a:off x="11127490" y="729288"/>
            <a:ext cx="58222" cy="58222"/>
          </a:xfrm>
          <a:prstGeom prst="ellipse">
            <a:avLst/>
          </a:prstGeom>
          <a:solidFill>
            <a:srgbClr val="F4D9DC"/>
          </a:solidFill>
          <a:ln/>
        </p:spPr>
        <p:txBody>
          <a:bodyPr/>
          <a:p/>
        </p:txBody>
      </p:sp>
      <p:sp>
        <p:nvSpPr>
          <p:cNvPr id="43" name="Shape 41"/>
          <p:cNvSpPr/>
          <p:nvPr/>
        </p:nvSpPr>
        <p:spPr>
          <a:xfrm>
            <a:off x="11460671" y="729781"/>
            <a:ext cx="57633" cy="57633"/>
          </a:xfrm>
          <a:prstGeom prst="ellipse">
            <a:avLst/>
          </a:prstGeom>
          <a:solidFill>
            <a:srgbClr val="F4D9DC"/>
          </a:solidFill>
          <a:ln/>
        </p:spPr>
        <p:txBody>
          <a:bodyPr/>
          <a:p/>
        </p:txBody>
      </p:sp>
      <p:sp>
        <p:nvSpPr>
          <p:cNvPr id="44" name="Shape 42"/>
          <p:cNvSpPr/>
          <p:nvPr/>
        </p:nvSpPr>
        <p:spPr>
          <a:xfrm>
            <a:off x="11407973" y="756415"/>
            <a:ext cx="35960" cy="35960"/>
          </a:xfrm>
          <a:prstGeom prst="ellipse">
            <a:avLst/>
          </a:prstGeom>
          <a:solidFill>
            <a:srgbClr val="F4D9DC"/>
          </a:solidFill>
          <a:ln/>
        </p:spPr>
        <p:txBody>
          <a:bodyPr/>
          <a:p/>
        </p:txBody>
      </p:sp>
      <p:sp>
        <p:nvSpPr>
          <p:cNvPr id="45" name="Shape 43"/>
          <p:cNvSpPr/>
          <p:nvPr/>
        </p:nvSpPr>
        <p:spPr>
          <a:xfrm>
            <a:off x="11207308" y="763884"/>
            <a:ext cx="34616" cy="34616"/>
          </a:xfrm>
          <a:prstGeom prst="ellipse">
            <a:avLst/>
          </a:prstGeom>
          <a:solidFill>
            <a:srgbClr val="F4D9DC"/>
          </a:solidFill>
          <a:ln/>
        </p:spPr>
        <p:txBody>
          <a:bodyPr/>
          <a:p/>
        </p:txBody>
      </p:sp>
      <p:sp>
        <p:nvSpPr>
          <p:cNvPr id="46" name="Shape 44"/>
          <p:cNvSpPr/>
          <p:nvPr/>
        </p:nvSpPr>
        <p:spPr>
          <a:xfrm>
            <a:off x="11018670" y="780462"/>
            <a:ext cx="34616" cy="34616"/>
          </a:xfrm>
          <a:prstGeom prst="ellipse">
            <a:avLst/>
          </a:prstGeom>
          <a:solidFill>
            <a:srgbClr val="F4D9DC"/>
          </a:solidFill>
          <a:ln/>
        </p:spPr>
        <p:txBody>
          <a:bodyPr/>
          <a:p/>
        </p:txBody>
      </p:sp>
      <p:sp>
        <p:nvSpPr>
          <p:cNvPr id="47" name="Shape 45"/>
          <p:cNvSpPr/>
          <p:nvPr/>
        </p:nvSpPr>
        <p:spPr>
          <a:xfrm>
            <a:off x="11591670" y="780123"/>
            <a:ext cx="35294" cy="35294"/>
          </a:xfrm>
          <a:prstGeom prst="ellipse">
            <a:avLst/>
          </a:prstGeom>
          <a:solidFill>
            <a:srgbClr val="F4D9DC"/>
          </a:solidFill>
          <a:ln/>
        </p:spPr>
        <p:txBody>
          <a:bodyPr/>
          <a:p/>
        </p:txBody>
      </p:sp>
      <p:sp>
        <p:nvSpPr>
          <p:cNvPr id="48" name="Shape 46"/>
          <p:cNvSpPr/>
          <p:nvPr/>
        </p:nvSpPr>
        <p:spPr>
          <a:xfrm>
            <a:off x="11079010" y="790179"/>
            <a:ext cx="51270" cy="51270"/>
          </a:xfrm>
          <a:prstGeom prst="ellipse">
            <a:avLst/>
          </a:prstGeom>
          <a:solidFill>
            <a:srgbClr val="F4D9DC"/>
          </a:solidFill>
          <a:ln/>
        </p:spPr>
        <p:txBody>
          <a:bodyPr/>
          <a:p/>
        </p:txBody>
      </p:sp>
      <p:sp>
        <p:nvSpPr>
          <p:cNvPr id="49" name="Shape 47"/>
          <p:cNvSpPr/>
          <p:nvPr/>
        </p:nvSpPr>
        <p:spPr>
          <a:xfrm>
            <a:off x="11515218" y="789692"/>
            <a:ext cx="52602" cy="52602"/>
          </a:xfrm>
          <a:prstGeom prst="ellipse">
            <a:avLst/>
          </a:prstGeom>
          <a:solidFill>
            <a:srgbClr val="F4D9DC"/>
          </a:solidFill>
          <a:ln/>
        </p:spPr>
        <p:txBody>
          <a:bodyPr/>
          <a:p/>
        </p:txBody>
      </p:sp>
      <p:sp>
        <p:nvSpPr>
          <p:cNvPr id="50" name="Shape 48"/>
          <p:cNvSpPr/>
          <p:nvPr/>
        </p:nvSpPr>
        <p:spPr>
          <a:xfrm>
            <a:off x="11147371" y="803460"/>
            <a:ext cx="35627" cy="35627"/>
          </a:xfrm>
          <a:prstGeom prst="ellipse">
            <a:avLst/>
          </a:prstGeom>
          <a:solidFill>
            <a:srgbClr val="F4D9DC"/>
          </a:solidFill>
          <a:ln/>
        </p:spPr>
        <p:txBody>
          <a:bodyPr/>
          <a:p/>
        </p:txBody>
      </p:sp>
      <p:sp>
        <p:nvSpPr>
          <p:cNvPr id="51" name="Shape 49"/>
          <p:cNvSpPr/>
          <p:nvPr/>
        </p:nvSpPr>
        <p:spPr>
          <a:xfrm>
            <a:off x="11347786" y="804293"/>
            <a:ext cx="35294" cy="35294"/>
          </a:xfrm>
          <a:prstGeom prst="ellipse">
            <a:avLst/>
          </a:prstGeom>
          <a:solidFill>
            <a:srgbClr val="F4D9DC"/>
          </a:solidFill>
          <a:ln/>
        </p:spPr>
        <p:txBody>
          <a:bodyPr/>
          <a:p/>
        </p:txBody>
      </p:sp>
      <p:sp>
        <p:nvSpPr>
          <p:cNvPr id="52" name="Shape 50"/>
          <p:cNvSpPr/>
          <p:nvPr/>
        </p:nvSpPr>
        <p:spPr>
          <a:xfrm>
            <a:off x="11465119" y="800919"/>
            <a:ext cx="34961" cy="34961"/>
          </a:xfrm>
          <a:prstGeom prst="ellipse">
            <a:avLst/>
          </a:prstGeom>
          <a:solidFill>
            <a:srgbClr val="F4D9DC"/>
          </a:solidFill>
          <a:ln/>
        </p:spPr>
        <p:txBody>
          <a:bodyPr/>
          <a:p/>
        </p:txBody>
      </p:sp>
      <p:sp>
        <p:nvSpPr>
          <p:cNvPr id="53" name="Shape 51"/>
          <p:cNvSpPr/>
          <p:nvPr/>
        </p:nvSpPr>
        <p:spPr>
          <a:xfrm>
            <a:off x="11270669" y="806590"/>
            <a:ext cx="35627" cy="35627"/>
          </a:xfrm>
          <a:prstGeom prst="ellipse">
            <a:avLst/>
          </a:prstGeom>
          <a:solidFill>
            <a:srgbClr val="F4D9DC"/>
          </a:solidFill>
          <a:ln/>
        </p:spPr>
        <p:txBody>
          <a:bodyPr/>
          <a:p/>
        </p:txBody>
      </p:sp>
      <p:sp>
        <p:nvSpPr>
          <p:cNvPr id="54" name="Shape 52"/>
          <p:cNvSpPr/>
          <p:nvPr/>
        </p:nvSpPr>
        <p:spPr>
          <a:xfrm>
            <a:off x="11191498" y="817766"/>
            <a:ext cx="57633" cy="57633"/>
          </a:xfrm>
          <a:prstGeom prst="ellipse">
            <a:avLst/>
          </a:prstGeom>
          <a:solidFill>
            <a:srgbClr val="F4D9DC"/>
          </a:solidFill>
          <a:ln/>
        </p:spPr>
        <p:txBody>
          <a:bodyPr/>
          <a:p/>
        </p:txBody>
      </p:sp>
      <p:sp>
        <p:nvSpPr>
          <p:cNvPr id="55" name="Shape 53"/>
          <p:cNvSpPr/>
          <p:nvPr/>
        </p:nvSpPr>
        <p:spPr>
          <a:xfrm>
            <a:off x="11396573" y="817888"/>
            <a:ext cx="57633" cy="57633"/>
          </a:xfrm>
          <a:prstGeom prst="ellipse">
            <a:avLst/>
          </a:prstGeom>
          <a:solidFill>
            <a:srgbClr val="F4D9DC"/>
          </a:solidFill>
          <a:ln/>
        </p:spPr>
        <p:txBody>
          <a:bodyPr/>
          <a:p/>
        </p:txBody>
      </p:sp>
      <p:sp>
        <p:nvSpPr>
          <p:cNvPr id="56" name="Shape 54"/>
          <p:cNvSpPr/>
          <p:nvPr/>
        </p:nvSpPr>
        <p:spPr>
          <a:xfrm>
            <a:off x="11123445" y="851985"/>
            <a:ext cx="52167" cy="52167"/>
          </a:xfrm>
          <a:prstGeom prst="ellipse">
            <a:avLst/>
          </a:prstGeom>
          <a:solidFill>
            <a:srgbClr val="F4D9DC"/>
          </a:solidFill>
          <a:ln/>
        </p:spPr>
        <p:txBody>
          <a:bodyPr/>
          <a:p/>
        </p:txBody>
      </p:sp>
      <p:sp>
        <p:nvSpPr>
          <p:cNvPr id="57" name="Shape 55"/>
          <p:cNvSpPr/>
          <p:nvPr/>
        </p:nvSpPr>
        <p:spPr>
          <a:xfrm>
            <a:off x="11294647" y="851390"/>
            <a:ext cx="57223" cy="57223"/>
          </a:xfrm>
          <a:prstGeom prst="ellipse">
            <a:avLst/>
          </a:prstGeom>
          <a:solidFill>
            <a:srgbClr val="F4D9DC"/>
          </a:solidFill>
          <a:ln/>
        </p:spPr>
        <p:txBody>
          <a:bodyPr/>
          <a:p/>
        </p:txBody>
      </p:sp>
      <p:sp>
        <p:nvSpPr>
          <p:cNvPr id="58" name="Shape 56"/>
          <p:cNvSpPr/>
          <p:nvPr/>
        </p:nvSpPr>
        <p:spPr>
          <a:xfrm>
            <a:off x="11470202" y="852382"/>
            <a:ext cx="52384" cy="52384"/>
          </a:xfrm>
          <a:prstGeom prst="ellipse">
            <a:avLst/>
          </a:prstGeom>
          <a:solidFill>
            <a:srgbClr val="F4D9DC"/>
          </a:solidFill>
          <a:ln/>
        </p:spPr>
        <p:txBody>
          <a:bodyPr/>
          <a:p/>
        </p:txBody>
      </p:sp>
      <p:sp>
        <p:nvSpPr>
          <p:cNvPr id="59" name="Shape 57"/>
          <p:cNvSpPr/>
          <p:nvPr/>
        </p:nvSpPr>
        <p:spPr>
          <a:xfrm>
            <a:off x="11060774" y="864607"/>
            <a:ext cx="35627" cy="35627"/>
          </a:xfrm>
          <a:prstGeom prst="ellipse">
            <a:avLst/>
          </a:prstGeom>
          <a:solidFill>
            <a:srgbClr val="F4D9DC"/>
          </a:solidFill>
          <a:ln/>
        </p:spPr>
        <p:txBody>
          <a:bodyPr/>
          <a:p/>
        </p:txBody>
      </p:sp>
      <p:sp>
        <p:nvSpPr>
          <p:cNvPr id="60" name="Shape 58"/>
          <p:cNvSpPr/>
          <p:nvPr/>
        </p:nvSpPr>
        <p:spPr>
          <a:xfrm>
            <a:off x="11548733" y="864185"/>
            <a:ext cx="35627" cy="35627"/>
          </a:xfrm>
          <a:prstGeom prst="ellipse">
            <a:avLst/>
          </a:prstGeom>
          <a:solidFill>
            <a:srgbClr val="F4D9DC"/>
          </a:solidFill>
          <a:ln/>
        </p:spPr>
        <p:txBody>
          <a:bodyPr/>
          <a:p/>
        </p:txBody>
      </p:sp>
      <p:sp>
        <p:nvSpPr>
          <p:cNvPr id="61" name="Shape 59"/>
          <p:cNvSpPr/>
          <p:nvPr/>
        </p:nvSpPr>
        <p:spPr>
          <a:xfrm>
            <a:off x="11246231" y="873908"/>
            <a:ext cx="35627" cy="35627"/>
          </a:xfrm>
          <a:prstGeom prst="ellipse">
            <a:avLst/>
          </a:prstGeom>
          <a:solidFill>
            <a:srgbClr val="F4D9DC"/>
          </a:solidFill>
          <a:ln/>
        </p:spPr>
        <p:txBody>
          <a:bodyPr/>
          <a:p/>
        </p:txBody>
      </p:sp>
      <p:sp>
        <p:nvSpPr>
          <p:cNvPr id="62" name="Shape 60"/>
          <p:cNvSpPr/>
          <p:nvPr/>
        </p:nvSpPr>
        <p:spPr>
          <a:xfrm>
            <a:off x="11367418" y="872896"/>
            <a:ext cx="35627" cy="35627"/>
          </a:xfrm>
          <a:prstGeom prst="ellipse">
            <a:avLst/>
          </a:prstGeom>
          <a:solidFill>
            <a:srgbClr val="F4D9DC"/>
          </a:solidFill>
          <a:ln/>
        </p:spPr>
        <p:txBody>
          <a:bodyPr/>
          <a:p/>
        </p:txBody>
      </p:sp>
      <p:sp>
        <p:nvSpPr>
          <p:cNvPr id="63" name="Shape 61"/>
          <p:cNvSpPr/>
          <p:nvPr/>
        </p:nvSpPr>
        <p:spPr>
          <a:xfrm>
            <a:off x="11185366" y="897322"/>
            <a:ext cx="51936" cy="51936"/>
          </a:xfrm>
          <a:prstGeom prst="ellipse">
            <a:avLst/>
          </a:prstGeom>
          <a:solidFill>
            <a:srgbClr val="F4D9DC"/>
          </a:solidFill>
          <a:ln/>
        </p:spPr>
        <p:txBody>
          <a:bodyPr/>
          <a:p/>
        </p:txBody>
      </p:sp>
      <p:sp>
        <p:nvSpPr>
          <p:cNvPr id="64" name="Shape 62"/>
          <p:cNvSpPr/>
          <p:nvPr/>
        </p:nvSpPr>
        <p:spPr>
          <a:xfrm>
            <a:off x="11407845" y="897655"/>
            <a:ext cx="52602" cy="52602"/>
          </a:xfrm>
          <a:prstGeom prst="ellipse">
            <a:avLst/>
          </a:prstGeom>
          <a:solidFill>
            <a:srgbClr val="F4D9DC"/>
          </a:solidFill>
          <a:ln/>
        </p:spPr>
        <p:txBody>
          <a:bodyPr/>
          <a:p/>
        </p:txBody>
      </p:sp>
      <p:sp>
        <p:nvSpPr>
          <p:cNvPr id="65" name="Shape 63"/>
          <p:cNvSpPr/>
          <p:nvPr/>
        </p:nvSpPr>
        <p:spPr>
          <a:xfrm>
            <a:off x="11258822" y="921466"/>
            <a:ext cx="51270" cy="51270"/>
          </a:xfrm>
          <a:prstGeom prst="ellipse">
            <a:avLst/>
          </a:prstGeom>
          <a:solidFill>
            <a:srgbClr val="F4D9DC"/>
          </a:solidFill>
          <a:ln/>
        </p:spPr>
        <p:txBody>
          <a:bodyPr/>
          <a:p/>
        </p:txBody>
      </p:sp>
      <p:sp>
        <p:nvSpPr>
          <p:cNvPr id="66" name="Shape 64"/>
          <p:cNvSpPr/>
          <p:nvPr/>
        </p:nvSpPr>
        <p:spPr>
          <a:xfrm>
            <a:off x="11335350" y="921504"/>
            <a:ext cx="51270" cy="51270"/>
          </a:xfrm>
          <a:prstGeom prst="ellipse">
            <a:avLst/>
          </a:prstGeom>
          <a:solidFill>
            <a:srgbClr val="F4D9DC"/>
          </a:solidFill>
          <a:ln/>
        </p:spPr>
        <p:txBody>
          <a:bodyPr/>
          <a:p/>
        </p:txBody>
      </p:sp>
      <p:sp>
        <p:nvSpPr>
          <p:cNvPr id="67" name="Shape 65"/>
          <p:cNvSpPr/>
          <p:nvPr/>
        </p:nvSpPr>
        <p:spPr>
          <a:xfrm>
            <a:off x="11127388" y="931368"/>
            <a:ext cx="35294" cy="35294"/>
          </a:xfrm>
          <a:prstGeom prst="ellipse">
            <a:avLst/>
          </a:prstGeom>
          <a:solidFill>
            <a:srgbClr val="F4D9DC"/>
          </a:solidFill>
          <a:ln/>
        </p:spPr>
        <p:txBody>
          <a:bodyPr/>
          <a:p/>
        </p:txBody>
      </p:sp>
      <p:sp>
        <p:nvSpPr>
          <p:cNvPr id="68" name="Shape 66"/>
          <p:cNvSpPr/>
          <p:nvPr/>
        </p:nvSpPr>
        <p:spPr>
          <a:xfrm>
            <a:off x="11481979" y="931035"/>
            <a:ext cx="35960" cy="35960"/>
          </a:xfrm>
          <a:prstGeom prst="ellipse">
            <a:avLst/>
          </a:prstGeom>
          <a:solidFill>
            <a:srgbClr val="F4D9DC"/>
          </a:solidFill>
          <a:ln/>
        </p:spPr>
        <p:txBody>
          <a:bodyPr/>
          <a:p/>
        </p:txBody>
      </p:sp>
      <p:sp>
        <p:nvSpPr>
          <p:cNvPr id="69" name="Shape 67"/>
          <p:cNvSpPr/>
          <p:nvPr/>
        </p:nvSpPr>
        <p:spPr>
          <a:xfrm>
            <a:off x="11211987" y="974695"/>
            <a:ext cx="34961" cy="34961"/>
          </a:xfrm>
          <a:prstGeom prst="ellipse">
            <a:avLst/>
          </a:prstGeom>
          <a:solidFill>
            <a:srgbClr val="F4D9DC"/>
          </a:solidFill>
          <a:ln/>
        </p:spPr>
        <p:txBody>
          <a:bodyPr/>
          <a:p/>
        </p:txBody>
      </p:sp>
      <p:sp>
        <p:nvSpPr>
          <p:cNvPr id="70" name="Shape 68"/>
          <p:cNvSpPr/>
          <p:nvPr/>
        </p:nvSpPr>
        <p:spPr>
          <a:xfrm>
            <a:off x="11398461" y="974695"/>
            <a:ext cx="34961" cy="34961"/>
          </a:xfrm>
          <a:prstGeom prst="ellipse">
            <a:avLst/>
          </a:prstGeom>
          <a:solidFill>
            <a:srgbClr val="F4D9DC"/>
          </a:solidFill>
          <a:ln/>
        </p:spPr>
        <p:txBody>
          <a:bodyPr/>
          <a:p/>
        </p:txBody>
      </p:sp>
      <p:sp>
        <p:nvSpPr>
          <p:cNvPr id="71" name="Shape 69"/>
          <p:cNvSpPr/>
          <p:nvPr/>
        </p:nvSpPr>
        <p:spPr>
          <a:xfrm>
            <a:off x="11304837" y="988501"/>
            <a:ext cx="35627" cy="35627"/>
          </a:xfrm>
          <a:prstGeom prst="ellipse">
            <a:avLst/>
          </a:prstGeom>
          <a:solidFill>
            <a:srgbClr val="F4D9DC"/>
          </a:solidFill>
          <a:ln/>
        </p:spPr>
        <p:txBody>
          <a:bodyPr/>
          <a:p/>
        </p:txBody>
      </p:sp>
      <p:sp>
        <p:nvSpPr>
          <p:cNvPr id="72" name="Text 70"/>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Jij stuurt, de agent programmeert</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Er is geen goed of fout dashboard, alleen keuzes die je kunt uitleggen.</a:t>
            </a:r>
            <a:endParaRPr lang="en-US" sz="2200" dirty="0"/>
          </a:p>
        </p:txBody>
      </p:sp>
      <p:pic>
        <p:nvPicPr>
          <p:cNvPr id="74" name="Image 0" descr="exports\261005_workshop_rad_uitvoering\img\kunstmatigeintelligentie.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CCEEE6"/>
        </a:solidFill>
      </p:bgPr>
    </p:bg>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AI assisteert: de mens doet het werk</a:t>
            </a:r>
            <a:endParaRPr lang="en-US" sz="3100" dirty="0"/>
          </a:p>
        </p:txBody>
      </p:sp>
      <p:pic>
        <p:nvPicPr>
          <p:cNvPr id="73" name="Image 0" descr="Lijngrafiek: het aandeel taken waarbij AI assisteert stijgt tot november 2025 en daalt daarna naar vrijwel nul in augustus 2026">    </p:cNvPr>
          <p:cNvPicPr>
            <a:picLocks noChangeAspect="1"/>
          </p:cNvPicPr>
          <p:nvPr/>
        </p:nvPicPr>
        <p:blipFill>
          <a:blip r:embed="rId4"/>
          <a:stretch>
            <a:fillRect/>
          </a:stretch>
        </p:blipFill>
        <p:spPr>
          <a:xfrm>
            <a:off x="640000" y="1500000"/>
            <a:ext cx="6900000" cy="3737500"/>
          </a:xfrm>
          <a:prstGeom prst="rect">
            <a:avLst/>
          </a:prstGeom>
        </p:spPr>
      </p:pic>
      <p:sp>
        <p:nvSpPr>
          <p:cNvPr id="74" name="Text 71"/>
          <p:cNvSpPr/>
          <p:nvPr/>
        </p:nvSpPr>
        <p:spPr>
          <a:xfrm>
            <a:off x="640000" y="5852160"/>
            <a:ext cx="6900000"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Bron: Anthropic R&amp;D Automation Index (waarden geschat)</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Data-analist </a:t>
            </a:r>
            <a:r>
              <a:rPr lang="en-US" sz="1800" dirty="0">
                <a:solidFill>
                  <a:srgbClr val="000000"/>
                </a:solidFill>
                <a:latin typeface="General Sans" pitchFamily="34" charset="0"/>
                <a:ea typeface="General Sans" pitchFamily="34" charset="-122"/>
                <a:cs typeface="General Sans" pitchFamily="34" charset="-120"/>
              </a:rPr>
              <a:t>vraagt AI om een query of formule voor uitvalcijfers.</a:t>
            </a:r>
            <a:endParaRPr lang="en-US" sz="1800" dirty="0"/>
          </a:p>
          <a:p>
            <a:pPr algn="l" indent="0" marL="0">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 scientist </a:t>
            </a:r>
            <a:r>
              <a:rPr lang="en-US" sz="1800" dirty="0">
                <a:solidFill>
                  <a:srgbClr val="000000"/>
                </a:solidFill>
                <a:latin typeface="General Sans" pitchFamily="34" charset="0"/>
                <a:ea typeface="General Sans" pitchFamily="34" charset="-122"/>
                <a:cs typeface="General Sans" pitchFamily="34" charset="-120"/>
              </a:rPr>
              <a:t>laat AI code schrijven of een foutmelding uitleggen.</a:t>
            </a:r>
            <a:endParaRPr lang="en-US" sz="1800" dirty="0"/>
          </a:p>
          <a:p>
            <a:pPr algn="l" indent="0" marL="0">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Beleidsmedewerker </a:t>
            </a:r>
            <a:r>
              <a:rPr lang="en-US" sz="1800" dirty="0">
                <a:solidFill>
                  <a:srgbClr val="000000"/>
                </a:solidFill>
                <a:latin typeface="General Sans" pitchFamily="34" charset="0"/>
                <a:ea typeface="General Sans" pitchFamily="34" charset="-122"/>
                <a:cs typeface="General Sans" pitchFamily="34" charset="-120"/>
              </a:rPr>
              <a:t>laat AI een alinea herschrijven of een notitie samenvatten.</a:t>
            </a:r>
            <a:endParaRPr lang="en-US" sz="1800"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CCEEE6"/>
        </a:solidFill>
      </p:bgPr>
    </p:bg>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AI werkt samen: mens en AI als duo</a:t>
            </a:r>
            <a:endParaRPr lang="en-US" sz="3100" dirty="0"/>
          </a:p>
        </p:txBody>
      </p:sp>
      <p:pic>
        <p:nvPicPr>
          <p:cNvPr id="73" name="Image 0" descr="Lijngrafiek: het aandeel taken waarbij AI samenwerkt stijgt vanaf november 2025 en wordt in maart 2026 de grootste groep">    </p:cNvPr>
          <p:cNvPicPr>
            <a:picLocks noChangeAspect="1"/>
          </p:cNvPicPr>
          <p:nvPr/>
        </p:nvPicPr>
        <p:blipFill>
          <a:blip r:embed="rId4"/>
          <a:stretch>
            <a:fillRect/>
          </a:stretch>
        </p:blipFill>
        <p:spPr>
          <a:xfrm>
            <a:off x="640000" y="1500000"/>
            <a:ext cx="6900000" cy="3737500"/>
          </a:xfrm>
          <a:prstGeom prst="rect">
            <a:avLst/>
          </a:prstGeom>
        </p:spPr>
      </p:pic>
      <p:sp>
        <p:nvSpPr>
          <p:cNvPr id="74" name="Text 71"/>
          <p:cNvSpPr/>
          <p:nvPr/>
        </p:nvSpPr>
        <p:spPr>
          <a:xfrm>
            <a:off x="640000" y="5852160"/>
            <a:ext cx="6900000"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Bron: Anthropic R&amp;D Automation Index (waarden geschat)</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Data-analist </a:t>
            </a:r>
            <a:r>
              <a:rPr lang="en-US" sz="1800" dirty="0">
                <a:solidFill>
                  <a:srgbClr val="000000"/>
                </a:solidFill>
                <a:latin typeface="General Sans" pitchFamily="34" charset="0"/>
                <a:ea typeface="General Sans" pitchFamily="34" charset="-122"/>
                <a:cs typeface="General Sans" pitchFamily="34" charset="-120"/>
              </a:rPr>
              <a:t>AI maakt grafieken van uitval per sector, de analist kiest en controleert.</a:t>
            </a:r>
            <a:endParaRPr lang="en-US" sz="1800" dirty="0"/>
          </a:p>
          <a:p>
            <a:pPr algn="l" indent="0" marL="0">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 scientist </a:t>
            </a:r>
            <a:r>
              <a:rPr lang="en-US" sz="1800" dirty="0">
                <a:solidFill>
                  <a:srgbClr val="000000"/>
                </a:solidFill>
                <a:latin typeface="General Sans" pitchFamily="34" charset="0"/>
                <a:ea typeface="General Sans" pitchFamily="34" charset="-122"/>
                <a:cs typeface="General Sans" pitchFamily="34" charset="-120"/>
              </a:rPr>
              <a:t>AI bouwt en test een uitvalmodel mee, de data scientist kiest de aanpak.</a:t>
            </a:r>
            <a:endParaRPr lang="en-US" sz="1800" dirty="0"/>
          </a:p>
          <a:p>
            <a:pPr algn="l" indent="0" marL="0">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Beleidsmedewerker </a:t>
            </a:r>
            <a:r>
              <a:rPr lang="en-US" sz="1800" dirty="0">
                <a:solidFill>
                  <a:srgbClr val="000000"/>
                </a:solidFill>
                <a:latin typeface="General Sans" pitchFamily="34" charset="0"/>
                <a:ea typeface="General Sans" pitchFamily="34" charset="-122"/>
                <a:cs typeface="General Sans" pitchFamily="34" charset="-120"/>
              </a:rPr>
              <a:t>AI schrijft een conceptnotitie, de medewerker bepaalt de lijn.</a:t>
            </a:r>
            <a:endParaRPr lang="en-US" sz="180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CCEEE6"/>
        </a:solidFill>
      </p:bgPr>
    </p:bg>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AI bouwt: jij geeft de opdracht en keurt goed</a:t>
            </a:r>
            <a:endParaRPr lang="en-US" sz="3100" dirty="0"/>
          </a:p>
        </p:txBody>
      </p:sp>
      <p:pic>
        <p:nvPicPr>
          <p:cNvPr id="73" name="Image 0" descr="Lijngrafiek: het aandeel taken waarbij AI zelf bouwt groeit vanaf maart 2026 tot ongeveer een kwart in augustus 2026">    </p:cNvPr>
          <p:cNvPicPr>
            <a:picLocks noChangeAspect="1"/>
          </p:cNvPicPr>
          <p:nvPr/>
        </p:nvPicPr>
        <p:blipFill>
          <a:blip r:embed="rId4"/>
          <a:stretch>
            <a:fillRect/>
          </a:stretch>
        </p:blipFill>
        <p:spPr>
          <a:xfrm>
            <a:off x="640000" y="1500000"/>
            <a:ext cx="6900000" cy="3737500"/>
          </a:xfrm>
          <a:prstGeom prst="rect">
            <a:avLst/>
          </a:prstGeom>
        </p:spPr>
      </p:pic>
      <p:sp>
        <p:nvSpPr>
          <p:cNvPr id="74" name="Text 71"/>
          <p:cNvSpPr/>
          <p:nvPr/>
        </p:nvSpPr>
        <p:spPr>
          <a:xfrm>
            <a:off x="640000" y="5852160"/>
            <a:ext cx="6900000"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Bron: Anthropic R&amp;D Automation Index (waarden geschat)</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Data-analist </a:t>
            </a:r>
            <a:r>
              <a:rPr lang="en-US" sz="1800" dirty="0">
                <a:solidFill>
                  <a:srgbClr val="000000"/>
                </a:solidFill>
                <a:latin typeface="General Sans" pitchFamily="34" charset="0"/>
                <a:ea typeface="General Sans" pitchFamily="34" charset="-122"/>
                <a:cs typeface="General Sans" pitchFamily="34" charset="-120"/>
              </a:rPr>
              <a:t>"Welke eerstejaars stoppen binnen een jaar?" AI rekent en bouwt het dashboard.</a:t>
            </a:r>
            <a:endParaRPr lang="en-US" sz="1800" dirty="0"/>
          </a:p>
          <a:p>
            <a:pPr algn="l" indent="0" marL="0">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 scientist </a:t>
            </a:r>
            <a:r>
              <a:rPr lang="en-US" sz="1800" dirty="0">
                <a:solidFill>
                  <a:srgbClr val="000000"/>
                </a:solidFill>
                <a:latin typeface="General Sans" pitchFamily="34" charset="0"/>
                <a:ea typeface="General Sans" pitchFamily="34" charset="-122"/>
                <a:cs typeface="General Sans" pitchFamily="34" charset="-120"/>
              </a:rPr>
              <a:t>"Voorspel uitval." AI doet het traject van data tot evaluatie.</a:t>
            </a:r>
            <a:endParaRPr lang="en-US" sz="1800" dirty="0"/>
          </a:p>
          <a:p>
            <a:pPr algn="l" indent="0" marL="0">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Beleidsmedewerker </a:t>
            </a:r>
            <a:r>
              <a:rPr lang="en-US" sz="1800" dirty="0">
                <a:solidFill>
                  <a:srgbClr val="000000"/>
                </a:solidFill>
                <a:latin typeface="General Sans" pitchFamily="34" charset="0"/>
                <a:ea typeface="General Sans" pitchFamily="34" charset="-122"/>
                <a:cs typeface="General Sans" pitchFamily="34" charset="-120"/>
              </a:rPr>
              <a:t>"Advies over uitval." AI onderzoekt en schrijft.</a:t>
            </a:r>
            <a:endParaRPr lang="en-US" sz="18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3D68EC"/>
        </a:solidFill>
      </p:bgPr>
    </p:bg>
    <p:spTree>
      <p:nvGrpSpPr>
        <p:cNvPr id="1" name=""/>
        <p:cNvGrpSpPr/>
        <p:nvPr/>
      </p:nvGrpSpPr>
      <p:grpSpPr/>
      <p:sp>
        <p:nvSpPr>
          <p:cNvPr id="2" name="Shape 0"/>
          <p:cNvSpPr/>
          <p:nvPr/>
        </p:nvSpPr>
        <p:spPr>
          <a:xfrm>
            <a:off x="11304952" y="384048"/>
            <a:ext cx="35960" cy="35960"/>
          </a:xfrm>
          <a:prstGeom prst="ellipse">
            <a:avLst/>
          </a:prstGeom>
          <a:solidFill>
            <a:srgbClr val="F4D9DC"/>
          </a:solidFill>
          <a:ln/>
        </p:spPr>
        <p:txBody>
          <a:bodyPr/>
          <a:p/>
        </p:txBody>
      </p:sp>
      <p:sp>
        <p:nvSpPr>
          <p:cNvPr id="3" name="Shape 1"/>
          <p:cNvSpPr/>
          <p:nvPr/>
        </p:nvSpPr>
        <p:spPr>
          <a:xfrm>
            <a:off x="11212173" y="399224"/>
            <a:ext cx="34616" cy="34616"/>
          </a:xfrm>
          <a:prstGeom prst="ellipse">
            <a:avLst/>
          </a:prstGeom>
          <a:solidFill>
            <a:srgbClr val="F4D9DC"/>
          </a:solidFill>
          <a:ln/>
        </p:spPr>
        <p:txBody>
          <a:bodyPr/>
          <a:p/>
        </p:txBody>
      </p:sp>
      <p:sp>
        <p:nvSpPr>
          <p:cNvPr id="4" name="Shape 2"/>
          <p:cNvSpPr/>
          <p:nvPr/>
        </p:nvSpPr>
        <p:spPr>
          <a:xfrm>
            <a:off x="11398641" y="399224"/>
            <a:ext cx="34616" cy="34616"/>
          </a:xfrm>
          <a:prstGeom prst="ellipse">
            <a:avLst/>
          </a:prstGeom>
          <a:solidFill>
            <a:srgbClr val="F4D9DC"/>
          </a:solidFill>
          <a:ln/>
        </p:spPr>
        <p:txBody>
          <a:bodyPr/>
          <a:p/>
        </p:txBody>
      </p:sp>
      <p:sp>
        <p:nvSpPr>
          <p:cNvPr id="5" name="Shape 3"/>
          <p:cNvSpPr/>
          <p:nvPr/>
        </p:nvSpPr>
        <p:spPr>
          <a:xfrm>
            <a:off x="11258374" y="435357"/>
            <a:ext cx="51936" cy="51936"/>
          </a:xfrm>
          <a:prstGeom prst="ellipse">
            <a:avLst/>
          </a:prstGeom>
          <a:solidFill>
            <a:srgbClr val="F4D9DC"/>
          </a:solidFill>
          <a:ln/>
        </p:spPr>
        <p:txBody>
          <a:bodyPr/>
          <a:p/>
        </p:txBody>
      </p:sp>
      <p:sp>
        <p:nvSpPr>
          <p:cNvPr id="6" name="Shape 4"/>
          <p:cNvSpPr/>
          <p:nvPr/>
        </p:nvSpPr>
        <p:spPr>
          <a:xfrm>
            <a:off x="11335407" y="435306"/>
            <a:ext cx="51718" cy="51718"/>
          </a:xfrm>
          <a:prstGeom prst="ellipse">
            <a:avLst/>
          </a:prstGeom>
          <a:solidFill>
            <a:srgbClr val="F4D9DC"/>
          </a:solidFill>
          <a:ln/>
        </p:spPr>
        <p:txBody>
          <a:bodyPr/>
          <a:p/>
        </p:txBody>
      </p:sp>
      <p:sp>
        <p:nvSpPr>
          <p:cNvPr id="7" name="Shape 5"/>
          <p:cNvSpPr/>
          <p:nvPr/>
        </p:nvSpPr>
        <p:spPr>
          <a:xfrm>
            <a:off x="11127388" y="442398"/>
            <a:ext cx="35294" cy="35294"/>
          </a:xfrm>
          <a:prstGeom prst="ellipse">
            <a:avLst/>
          </a:prstGeom>
          <a:solidFill>
            <a:srgbClr val="F4D9DC"/>
          </a:solidFill>
          <a:ln/>
        </p:spPr>
        <p:txBody>
          <a:bodyPr/>
          <a:p/>
        </p:txBody>
      </p:sp>
      <p:sp>
        <p:nvSpPr>
          <p:cNvPr id="8" name="Shape 6"/>
          <p:cNvSpPr/>
          <p:nvPr/>
        </p:nvSpPr>
        <p:spPr>
          <a:xfrm>
            <a:off x="11482145" y="441649"/>
            <a:ext cx="35960" cy="35960"/>
          </a:xfrm>
          <a:prstGeom prst="ellipse">
            <a:avLst/>
          </a:prstGeom>
          <a:solidFill>
            <a:srgbClr val="F4D9DC"/>
          </a:solidFill>
          <a:ln/>
        </p:spPr>
        <p:txBody>
          <a:bodyPr/>
          <a:p/>
        </p:txBody>
      </p:sp>
      <p:sp>
        <p:nvSpPr>
          <p:cNvPr id="9" name="Shape 7"/>
          <p:cNvSpPr/>
          <p:nvPr/>
        </p:nvSpPr>
        <p:spPr>
          <a:xfrm>
            <a:off x="11185603" y="459328"/>
            <a:ext cx="52167" cy="52167"/>
          </a:xfrm>
          <a:prstGeom prst="ellipse">
            <a:avLst/>
          </a:prstGeom>
          <a:solidFill>
            <a:srgbClr val="F4D9DC"/>
          </a:solidFill>
          <a:ln/>
        </p:spPr>
        <p:txBody>
          <a:bodyPr/>
          <a:p/>
        </p:txBody>
      </p:sp>
      <p:sp>
        <p:nvSpPr>
          <p:cNvPr id="10" name="Shape 8"/>
          <p:cNvSpPr/>
          <p:nvPr/>
        </p:nvSpPr>
        <p:spPr>
          <a:xfrm>
            <a:off x="11408043" y="458713"/>
            <a:ext cx="52384" cy="52384"/>
          </a:xfrm>
          <a:prstGeom prst="ellipse">
            <a:avLst/>
          </a:prstGeom>
          <a:solidFill>
            <a:srgbClr val="F4D9DC"/>
          </a:solidFill>
          <a:ln/>
        </p:spPr>
        <p:txBody>
          <a:bodyPr/>
          <a:p/>
        </p:txBody>
      </p:sp>
      <p:sp>
        <p:nvSpPr>
          <p:cNvPr id="11" name="Shape 9"/>
          <p:cNvSpPr/>
          <p:nvPr/>
        </p:nvSpPr>
        <p:spPr>
          <a:xfrm>
            <a:off x="11241891" y="499749"/>
            <a:ext cx="36613" cy="36613"/>
          </a:xfrm>
          <a:prstGeom prst="ellipse">
            <a:avLst/>
          </a:prstGeom>
          <a:solidFill>
            <a:srgbClr val="F4D9DC"/>
          </a:solidFill>
          <a:ln/>
        </p:spPr>
        <p:txBody>
          <a:bodyPr/>
          <a:p/>
        </p:txBody>
      </p:sp>
      <p:sp>
        <p:nvSpPr>
          <p:cNvPr id="12" name="Shape 10"/>
          <p:cNvSpPr/>
          <p:nvPr/>
        </p:nvSpPr>
        <p:spPr>
          <a:xfrm>
            <a:off x="11294557" y="500146"/>
            <a:ext cx="57223" cy="57223"/>
          </a:xfrm>
          <a:prstGeom prst="ellipse">
            <a:avLst/>
          </a:prstGeom>
          <a:solidFill>
            <a:srgbClr val="F4D9DC"/>
          </a:solidFill>
          <a:ln/>
        </p:spPr>
        <p:txBody>
          <a:bodyPr/>
          <a:p/>
        </p:txBody>
      </p:sp>
      <p:sp>
        <p:nvSpPr>
          <p:cNvPr id="13" name="Shape 11"/>
          <p:cNvSpPr/>
          <p:nvPr/>
        </p:nvSpPr>
        <p:spPr>
          <a:xfrm>
            <a:off x="11364102" y="498770"/>
            <a:ext cx="35294" cy="35294"/>
          </a:xfrm>
          <a:prstGeom prst="ellipse">
            <a:avLst/>
          </a:prstGeom>
          <a:solidFill>
            <a:srgbClr val="F4D9DC"/>
          </a:solidFill>
          <a:ln/>
        </p:spPr>
        <p:txBody>
          <a:bodyPr/>
          <a:p/>
        </p:txBody>
      </p:sp>
      <p:sp>
        <p:nvSpPr>
          <p:cNvPr id="14" name="Shape 12"/>
          <p:cNvSpPr/>
          <p:nvPr/>
        </p:nvSpPr>
        <p:spPr>
          <a:xfrm>
            <a:off x="11123515" y="504524"/>
            <a:ext cx="51936" cy="51936"/>
          </a:xfrm>
          <a:prstGeom prst="ellipse">
            <a:avLst/>
          </a:prstGeom>
          <a:solidFill>
            <a:srgbClr val="F4D9DC"/>
          </a:solidFill>
          <a:ln/>
        </p:spPr>
        <p:txBody>
          <a:bodyPr/>
          <a:p/>
        </p:txBody>
      </p:sp>
      <p:sp>
        <p:nvSpPr>
          <p:cNvPr id="15" name="Shape 13"/>
          <p:cNvSpPr/>
          <p:nvPr/>
        </p:nvSpPr>
        <p:spPr>
          <a:xfrm>
            <a:off x="11470202" y="504300"/>
            <a:ext cx="52384" cy="52384"/>
          </a:xfrm>
          <a:prstGeom prst="ellipse">
            <a:avLst/>
          </a:prstGeom>
          <a:solidFill>
            <a:srgbClr val="F4D9DC"/>
          </a:solidFill>
          <a:ln/>
        </p:spPr>
        <p:txBody>
          <a:bodyPr/>
          <a:p/>
        </p:txBody>
      </p:sp>
      <p:sp>
        <p:nvSpPr>
          <p:cNvPr id="16" name="Shape 14"/>
          <p:cNvSpPr/>
          <p:nvPr/>
        </p:nvSpPr>
        <p:spPr>
          <a:xfrm>
            <a:off x="11060774" y="508825"/>
            <a:ext cx="35627" cy="35627"/>
          </a:xfrm>
          <a:prstGeom prst="ellipse">
            <a:avLst/>
          </a:prstGeom>
          <a:solidFill>
            <a:srgbClr val="F4D9DC"/>
          </a:solidFill>
          <a:ln/>
        </p:spPr>
        <p:txBody>
          <a:bodyPr/>
          <a:p/>
        </p:txBody>
      </p:sp>
      <p:sp>
        <p:nvSpPr>
          <p:cNvPr id="17" name="Shape 15"/>
          <p:cNvSpPr/>
          <p:nvPr/>
        </p:nvSpPr>
        <p:spPr>
          <a:xfrm>
            <a:off x="11548535" y="508038"/>
            <a:ext cx="36613" cy="36613"/>
          </a:xfrm>
          <a:prstGeom prst="ellipse">
            <a:avLst/>
          </a:prstGeom>
          <a:solidFill>
            <a:srgbClr val="F4D9DC"/>
          </a:solidFill>
          <a:ln/>
        </p:spPr>
        <p:txBody>
          <a:bodyPr/>
          <a:p/>
        </p:txBody>
      </p:sp>
      <p:sp>
        <p:nvSpPr>
          <p:cNvPr id="18" name="Shape 16"/>
          <p:cNvSpPr/>
          <p:nvPr/>
        </p:nvSpPr>
        <p:spPr>
          <a:xfrm>
            <a:off x="11191466" y="533379"/>
            <a:ext cx="57825" cy="57825"/>
          </a:xfrm>
          <a:prstGeom prst="ellipse">
            <a:avLst/>
          </a:prstGeom>
          <a:solidFill>
            <a:srgbClr val="F4D9DC"/>
          </a:solidFill>
          <a:ln/>
        </p:spPr>
        <p:txBody>
          <a:bodyPr/>
          <a:p/>
        </p:txBody>
      </p:sp>
      <p:sp>
        <p:nvSpPr>
          <p:cNvPr id="19" name="Shape 17"/>
          <p:cNvSpPr/>
          <p:nvPr/>
        </p:nvSpPr>
        <p:spPr>
          <a:xfrm>
            <a:off x="11396535" y="533494"/>
            <a:ext cx="57428" cy="57428"/>
          </a:xfrm>
          <a:prstGeom prst="ellipse">
            <a:avLst/>
          </a:prstGeom>
          <a:solidFill>
            <a:srgbClr val="F4D9DC"/>
          </a:solidFill>
          <a:ln/>
        </p:spPr>
        <p:txBody>
          <a:bodyPr/>
          <a:p/>
        </p:txBody>
      </p:sp>
      <p:sp>
        <p:nvSpPr>
          <p:cNvPr id="20" name="Shape 18"/>
          <p:cNvSpPr/>
          <p:nvPr/>
        </p:nvSpPr>
        <p:spPr>
          <a:xfrm>
            <a:off x="11079087" y="567226"/>
            <a:ext cx="51270" cy="51270"/>
          </a:xfrm>
          <a:prstGeom prst="ellipse">
            <a:avLst/>
          </a:prstGeom>
          <a:solidFill>
            <a:srgbClr val="F4D9DC"/>
          </a:solidFill>
          <a:ln/>
        </p:spPr>
        <p:txBody>
          <a:bodyPr/>
          <a:p/>
        </p:txBody>
      </p:sp>
      <p:sp>
        <p:nvSpPr>
          <p:cNvPr id="21" name="Shape 19"/>
          <p:cNvSpPr/>
          <p:nvPr/>
        </p:nvSpPr>
        <p:spPr>
          <a:xfrm>
            <a:off x="11339728" y="567053"/>
            <a:ext cx="34616" cy="34616"/>
          </a:xfrm>
          <a:prstGeom prst="ellipse">
            <a:avLst/>
          </a:prstGeom>
          <a:solidFill>
            <a:srgbClr val="F4D9DC"/>
          </a:solidFill>
          <a:ln/>
        </p:spPr>
        <p:txBody>
          <a:bodyPr/>
          <a:p/>
        </p:txBody>
      </p:sp>
      <p:sp>
        <p:nvSpPr>
          <p:cNvPr id="22" name="Shape 20"/>
          <p:cNvSpPr/>
          <p:nvPr/>
        </p:nvSpPr>
        <p:spPr>
          <a:xfrm>
            <a:off x="11515167" y="566234"/>
            <a:ext cx="52819" cy="52819"/>
          </a:xfrm>
          <a:prstGeom prst="ellipse">
            <a:avLst/>
          </a:prstGeom>
          <a:solidFill>
            <a:srgbClr val="F4D9DC"/>
          </a:solidFill>
          <a:ln/>
        </p:spPr>
        <p:txBody>
          <a:bodyPr/>
          <a:p/>
        </p:txBody>
      </p:sp>
      <p:sp>
        <p:nvSpPr>
          <p:cNvPr id="23" name="Shape 21"/>
          <p:cNvSpPr/>
          <p:nvPr/>
        </p:nvSpPr>
        <p:spPr>
          <a:xfrm>
            <a:off x="11262860" y="569742"/>
            <a:ext cx="34961" cy="34961"/>
          </a:xfrm>
          <a:prstGeom prst="ellipse">
            <a:avLst/>
          </a:prstGeom>
          <a:solidFill>
            <a:srgbClr val="F4D9DC"/>
          </a:solidFill>
          <a:ln/>
        </p:spPr>
        <p:txBody>
          <a:bodyPr/>
          <a:p/>
        </p:txBody>
      </p:sp>
      <p:sp>
        <p:nvSpPr>
          <p:cNvPr id="24" name="Shape 22"/>
          <p:cNvSpPr/>
          <p:nvPr/>
        </p:nvSpPr>
        <p:spPr>
          <a:xfrm>
            <a:off x="11462521" y="569818"/>
            <a:ext cx="35294" cy="35294"/>
          </a:xfrm>
          <a:prstGeom prst="ellipse">
            <a:avLst/>
          </a:prstGeom>
          <a:solidFill>
            <a:srgbClr val="F4D9DC"/>
          </a:solidFill>
          <a:ln/>
        </p:spPr>
        <p:txBody>
          <a:bodyPr/>
          <a:p/>
        </p:txBody>
      </p:sp>
      <p:sp>
        <p:nvSpPr>
          <p:cNvPr id="25" name="Shape 23"/>
          <p:cNvSpPr/>
          <p:nvPr/>
        </p:nvSpPr>
        <p:spPr>
          <a:xfrm>
            <a:off x="11145681" y="573441"/>
            <a:ext cx="34270" cy="34270"/>
          </a:xfrm>
          <a:prstGeom prst="ellipse">
            <a:avLst/>
          </a:prstGeom>
          <a:solidFill>
            <a:srgbClr val="F4D9DC"/>
          </a:solidFill>
          <a:ln/>
        </p:spPr>
        <p:txBody>
          <a:bodyPr/>
          <a:p/>
        </p:txBody>
      </p:sp>
      <p:sp>
        <p:nvSpPr>
          <p:cNvPr id="26" name="Shape 24"/>
          <p:cNvSpPr/>
          <p:nvPr/>
        </p:nvSpPr>
        <p:spPr>
          <a:xfrm>
            <a:off x="11592015" y="593213"/>
            <a:ext cx="35294" cy="35294"/>
          </a:xfrm>
          <a:prstGeom prst="ellipse">
            <a:avLst/>
          </a:prstGeom>
          <a:solidFill>
            <a:srgbClr val="F4D9DC"/>
          </a:solidFill>
          <a:ln/>
        </p:spPr>
        <p:txBody>
          <a:bodyPr/>
          <a:p/>
        </p:txBody>
      </p:sp>
      <p:sp>
        <p:nvSpPr>
          <p:cNvPr id="27" name="Shape 25"/>
          <p:cNvSpPr/>
          <p:nvPr/>
        </p:nvSpPr>
        <p:spPr>
          <a:xfrm>
            <a:off x="11019124" y="593444"/>
            <a:ext cx="34616" cy="34616"/>
          </a:xfrm>
          <a:prstGeom prst="ellipse">
            <a:avLst/>
          </a:prstGeom>
          <a:solidFill>
            <a:srgbClr val="F4D9DC"/>
          </a:solidFill>
          <a:ln/>
        </p:spPr>
        <p:txBody>
          <a:bodyPr/>
          <a:p/>
        </p:txBody>
      </p:sp>
      <p:sp>
        <p:nvSpPr>
          <p:cNvPr id="28" name="Shape 26"/>
          <p:cNvSpPr/>
          <p:nvPr/>
        </p:nvSpPr>
        <p:spPr>
          <a:xfrm>
            <a:off x="11403576" y="610214"/>
            <a:ext cx="34961" cy="34961"/>
          </a:xfrm>
          <a:prstGeom prst="ellipse">
            <a:avLst/>
          </a:prstGeom>
          <a:solidFill>
            <a:srgbClr val="F4D9DC"/>
          </a:solidFill>
          <a:ln/>
        </p:spPr>
        <p:txBody>
          <a:bodyPr/>
          <a:p/>
        </p:txBody>
      </p:sp>
      <p:sp>
        <p:nvSpPr>
          <p:cNvPr id="29" name="Shape 27"/>
          <p:cNvSpPr/>
          <p:nvPr/>
        </p:nvSpPr>
        <p:spPr>
          <a:xfrm>
            <a:off x="11201662" y="616570"/>
            <a:ext cx="35627" cy="35627"/>
          </a:xfrm>
          <a:prstGeom prst="ellipse">
            <a:avLst/>
          </a:prstGeom>
          <a:solidFill>
            <a:srgbClr val="F4D9DC"/>
          </a:solidFill>
          <a:ln/>
        </p:spPr>
        <p:txBody>
          <a:bodyPr/>
          <a:p/>
        </p:txBody>
      </p:sp>
      <p:sp>
        <p:nvSpPr>
          <p:cNvPr id="30" name="Shape 28"/>
          <p:cNvSpPr/>
          <p:nvPr/>
        </p:nvSpPr>
        <p:spPr>
          <a:xfrm>
            <a:off x="11127484" y="620705"/>
            <a:ext cx="58030" cy="58030"/>
          </a:xfrm>
          <a:prstGeom prst="ellipse">
            <a:avLst/>
          </a:prstGeom>
          <a:solidFill>
            <a:srgbClr val="F4D9DC"/>
          </a:solidFill>
          <a:ln/>
        </p:spPr>
        <p:txBody>
          <a:bodyPr/>
          <a:p/>
        </p:txBody>
      </p:sp>
      <p:sp>
        <p:nvSpPr>
          <p:cNvPr id="31" name="Shape 29"/>
          <p:cNvSpPr/>
          <p:nvPr/>
        </p:nvSpPr>
        <p:spPr>
          <a:xfrm>
            <a:off x="11460767" y="620852"/>
            <a:ext cx="57428" cy="57428"/>
          </a:xfrm>
          <a:prstGeom prst="ellipse">
            <a:avLst/>
          </a:prstGeom>
          <a:solidFill>
            <a:srgbClr val="F4D9DC"/>
          </a:solidFill>
          <a:ln/>
        </p:spPr>
        <p:txBody>
          <a:bodyPr/>
          <a:p/>
        </p:txBody>
      </p:sp>
      <p:sp>
        <p:nvSpPr>
          <p:cNvPr id="32" name="Shape 30"/>
          <p:cNvSpPr/>
          <p:nvPr/>
        </p:nvSpPr>
        <p:spPr>
          <a:xfrm>
            <a:off x="11055219" y="640144"/>
            <a:ext cx="51718" cy="51718"/>
          </a:xfrm>
          <a:prstGeom prst="ellipse">
            <a:avLst/>
          </a:prstGeom>
          <a:solidFill>
            <a:srgbClr val="F4D9DC"/>
          </a:solidFill>
          <a:ln/>
        </p:spPr>
        <p:txBody>
          <a:bodyPr/>
          <a:p/>
        </p:txBody>
      </p:sp>
      <p:sp>
        <p:nvSpPr>
          <p:cNvPr id="33" name="Shape 31"/>
          <p:cNvSpPr/>
          <p:nvPr/>
        </p:nvSpPr>
        <p:spPr>
          <a:xfrm>
            <a:off x="11539330" y="640266"/>
            <a:ext cx="51270" cy="51270"/>
          </a:xfrm>
          <a:prstGeom prst="ellipse">
            <a:avLst/>
          </a:prstGeom>
          <a:solidFill>
            <a:srgbClr val="F4D9DC"/>
          </a:solidFill>
          <a:ln/>
        </p:spPr>
        <p:txBody>
          <a:bodyPr/>
          <a:p/>
        </p:txBody>
      </p:sp>
      <p:sp>
        <p:nvSpPr>
          <p:cNvPr id="34" name="Shape 32"/>
          <p:cNvSpPr/>
          <p:nvPr/>
        </p:nvSpPr>
        <p:spPr>
          <a:xfrm>
            <a:off x="11429576" y="682274"/>
            <a:ext cx="35627" cy="35627"/>
          </a:xfrm>
          <a:prstGeom prst="ellipse">
            <a:avLst/>
          </a:prstGeom>
          <a:solidFill>
            <a:srgbClr val="F4D9DC"/>
          </a:solidFill>
          <a:ln/>
        </p:spPr>
        <p:txBody>
          <a:bodyPr/>
          <a:p/>
        </p:txBody>
      </p:sp>
      <p:sp>
        <p:nvSpPr>
          <p:cNvPr id="35" name="Shape 33"/>
          <p:cNvSpPr/>
          <p:nvPr/>
        </p:nvSpPr>
        <p:spPr>
          <a:xfrm>
            <a:off x="11004076" y="687222"/>
            <a:ext cx="34616" cy="34616"/>
          </a:xfrm>
          <a:prstGeom prst="ellipse">
            <a:avLst/>
          </a:prstGeom>
          <a:solidFill>
            <a:srgbClr val="F4D9DC"/>
          </a:solidFill>
          <a:ln/>
        </p:spPr>
        <p:txBody>
          <a:bodyPr/>
          <a:p/>
        </p:txBody>
      </p:sp>
      <p:sp>
        <p:nvSpPr>
          <p:cNvPr id="36" name="Shape 34"/>
          <p:cNvSpPr/>
          <p:nvPr/>
        </p:nvSpPr>
        <p:spPr>
          <a:xfrm>
            <a:off x="11502052" y="685321"/>
            <a:ext cx="34270" cy="34270"/>
          </a:xfrm>
          <a:prstGeom prst="ellipse">
            <a:avLst/>
          </a:prstGeom>
          <a:solidFill>
            <a:srgbClr val="F4D9DC"/>
          </a:solidFill>
          <a:ln/>
        </p:spPr>
        <p:txBody>
          <a:bodyPr/>
          <a:p/>
        </p:txBody>
      </p:sp>
      <p:sp>
        <p:nvSpPr>
          <p:cNvPr id="37" name="Shape 35"/>
          <p:cNvSpPr/>
          <p:nvPr/>
        </p:nvSpPr>
        <p:spPr>
          <a:xfrm>
            <a:off x="11606321" y="686422"/>
            <a:ext cx="35627" cy="35627"/>
          </a:xfrm>
          <a:prstGeom prst="ellipse">
            <a:avLst/>
          </a:prstGeom>
          <a:solidFill>
            <a:srgbClr val="F4D9DC"/>
          </a:solidFill>
          <a:ln/>
        </p:spPr>
        <p:txBody>
          <a:bodyPr/>
          <a:p/>
        </p:txBody>
      </p:sp>
      <p:sp>
        <p:nvSpPr>
          <p:cNvPr id="38" name="Shape 36"/>
          <p:cNvSpPr/>
          <p:nvPr/>
        </p:nvSpPr>
        <p:spPr>
          <a:xfrm>
            <a:off x="11108908" y="688957"/>
            <a:ext cx="35294" cy="35294"/>
          </a:xfrm>
          <a:prstGeom prst="ellipse">
            <a:avLst/>
          </a:prstGeom>
          <a:solidFill>
            <a:srgbClr val="F4D9DC"/>
          </a:solidFill>
          <a:ln/>
        </p:spPr>
        <p:txBody>
          <a:bodyPr/>
          <a:p/>
        </p:txBody>
      </p:sp>
      <p:sp>
        <p:nvSpPr>
          <p:cNvPr id="39" name="Shape 37"/>
          <p:cNvSpPr/>
          <p:nvPr/>
        </p:nvSpPr>
        <p:spPr>
          <a:xfrm>
            <a:off x="11179733" y="690371"/>
            <a:ext cx="36613" cy="36613"/>
          </a:xfrm>
          <a:prstGeom prst="ellipse">
            <a:avLst/>
          </a:prstGeom>
          <a:solidFill>
            <a:srgbClr val="F4D9DC"/>
          </a:solidFill>
          <a:ln/>
        </p:spPr>
        <p:txBody>
          <a:bodyPr/>
          <a:p/>
        </p:txBody>
      </p:sp>
      <p:sp>
        <p:nvSpPr>
          <p:cNvPr id="40" name="Shape 38"/>
          <p:cNvSpPr/>
          <p:nvPr/>
        </p:nvSpPr>
        <p:spPr>
          <a:xfrm>
            <a:off x="11054764" y="716576"/>
            <a:ext cx="51936" cy="51936"/>
          </a:xfrm>
          <a:prstGeom prst="ellipse">
            <a:avLst/>
          </a:prstGeom>
          <a:solidFill>
            <a:srgbClr val="F4D9DC"/>
          </a:solidFill>
          <a:ln/>
        </p:spPr>
        <p:txBody>
          <a:bodyPr/>
          <a:p/>
        </p:txBody>
      </p:sp>
      <p:sp>
        <p:nvSpPr>
          <p:cNvPr id="41" name="Shape 39"/>
          <p:cNvSpPr/>
          <p:nvPr/>
        </p:nvSpPr>
        <p:spPr>
          <a:xfrm>
            <a:off x="11539023" y="716851"/>
            <a:ext cx="51488" cy="51488"/>
          </a:xfrm>
          <a:prstGeom prst="ellipse">
            <a:avLst/>
          </a:prstGeom>
          <a:solidFill>
            <a:srgbClr val="F4D9DC"/>
          </a:solidFill>
          <a:ln/>
        </p:spPr>
        <p:txBody>
          <a:bodyPr/>
          <a:p/>
        </p:txBody>
      </p:sp>
      <p:sp>
        <p:nvSpPr>
          <p:cNvPr id="42" name="Shape 40"/>
          <p:cNvSpPr/>
          <p:nvPr/>
        </p:nvSpPr>
        <p:spPr>
          <a:xfrm>
            <a:off x="11127490" y="729288"/>
            <a:ext cx="58222" cy="58222"/>
          </a:xfrm>
          <a:prstGeom prst="ellipse">
            <a:avLst/>
          </a:prstGeom>
          <a:solidFill>
            <a:srgbClr val="F4D9DC"/>
          </a:solidFill>
          <a:ln/>
        </p:spPr>
        <p:txBody>
          <a:bodyPr/>
          <a:p/>
        </p:txBody>
      </p:sp>
      <p:sp>
        <p:nvSpPr>
          <p:cNvPr id="43" name="Shape 41"/>
          <p:cNvSpPr/>
          <p:nvPr/>
        </p:nvSpPr>
        <p:spPr>
          <a:xfrm>
            <a:off x="11460671" y="729781"/>
            <a:ext cx="57633" cy="57633"/>
          </a:xfrm>
          <a:prstGeom prst="ellipse">
            <a:avLst/>
          </a:prstGeom>
          <a:solidFill>
            <a:srgbClr val="F4D9DC"/>
          </a:solidFill>
          <a:ln/>
        </p:spPr>
        <p:txBody>
          <a:bodyPr/>
          <a:p/>
        </p:txBody>
      </p:sp>
      <p:sp>
        <p:nvSpPr>
          <p:cNvPr id="44" name="Shape 42"/>
          <p:cNvSpPr/>
          <p:nvPr/>
        </p:nvSpPr>
        <p:spPr>
          <a:xfrm>
            <a:off x="11407973" y="756415"/>
            <a:ext cx="35960" cy="35960"/>
          </a:xfrm>
          <a:prstGeom prst="ellipse">
            <a:avLst/>
          </a:prstGeom>
          <a:solidFill>
            <a:srgbClr val="F4D9DC"/>
          </a:solidFill>
          <a:ln/>
        </p:spPr>
        <p:txBody>
          <a:bodyPr/>
          <a:p/>
        </p:txBody>
      </p:sp>
      <p:sp>
        <p:nvSpPr>
          <p:cNvPr id="45" name="Shape 43"/>
          <p:cNvSpPr/>
          <p:nvPr/>
        </p:nvSpPr>
        <p:spPr>
          <a:xfrm>
            <a:off x="11207308" y="763884"/>
            <a:ext cx="34616" cy="34616"/>
          </a:xfrm>
          <a:prstGeom prst="ellipse">
            <a:avLst/>
          </a:prstGeom>
          <a:solidFill>
            <a:srgbClr val="F4D9DC"/>
          </a:solidFill>
          <a:ln/>
        </p:spPr>
        <p:txBody>
          <a:bodyPr/>
          <a:p/>
        </p:txBody>
      </p:sp>
      <p:sp>
        <p:nvSpPr>
          <p:cNvPr id="46" name="Shape 44"/>
          <p:cNvSpPr/>
          <p:nvPr/>
        </p:nvSpPr>
        <p:spPr>
          <a:xfrm>
            <a:off x="11018670" y="780462"/>
            <a:ext cx="34616" cy="34616"/>
          </a:xfrm>
          <a:prstGeom prst="ellipse">
            <a:avLst/>
          </a:prstGeom>
          <a:solidFill>
            <a:srgbClr val="F4D9DC"/>
          </a:solidFill>
          <a:ln/>
        </p:spPr>
        <p:txBody>
          <a:bodyPr/>
          <a:p/>
        </p:txBody>
      </p:sp>
      <p:sp>
        <p:nvSpPr>
          <p:cNvPr id="47" name="Shape 45"/>
          <p:cNvSpPr/>
          <p:nvPr/>
        </p:nvSpPr>
        <p:spPr>
          <a:xfrm>
            <a:off x="11591670" y="780123"/>
            <a:ext cx="35294" cy="35294"/>
          </a:xfrm>
          <a:prstGeom prst="ellipse">
            <a:avLst/>
          </a:prstGeom>
          <a:solidFill>
            <a:srgbClr val="F4D9DC"/>
          </a:solidFill>
          <a:ln/>
        </p:spPr>
        <p:txBody>
          <a:bodyPr/>
          <a:p/>
        </p:txBody>
      </p:sp>
      <p:sp>
        <p:nvSpPr>
          <p:cNvPr id="48" name="Shape 46"/>
          <p:cNvSpPr/>
          <p:nvPr/>
        </p:nvSpPr>
        <p:spPr>
          <a:xfrm>
            <a:off x="11079010" y="790179"/>
            <a:ext cx="51270" cy="51270"/>
          </a:xfrm>
          <a:prstGeom prst="ellipse">
            <a:avLst/>
          </a:prstGeom>
          <a:solidFill>
            <a:srgbClr val="F4D9DC"/>
          </a:solidFill>
          <a:ln/>
        </p:spPr>
        <p:txBody>
          <a:bodyPr/>
          <a:p/>
        </p:txBody>
      </p:sp>
      <p:sp>
        <p:nvSpPr>
          <p:cNvPr id="49" name="Shape 47"/>
          <p:cNvSpPr/>
          <p:nvPr/>
        </p:nvSpPr>
        <p:spPr>
          <a:xfrm>
            <a:off x="11515218" y="789692"/>
            <a:ext cx="52602" cy="52602"/>
          </a:xfrm>
          <a:prstGeom prst="ellipse">
            <a:avLst/>
          </a:prstGeom>
          <a:solidFill>
            <a:srgbClr val="F4D9DC"/>
          </a:solidFill>
          <a:ln/>
        </p:spPr>
        <p:txBody>
          <a:bodyPr/>
          <a:p/>
        </p:txBody>
      </p:sp>
      <p:sp>
        <p:nvSpPr>
          <p:cNvPr id="50" name="Shape 48"/>
          <p:cNvSpPr/>
          <p:nvPr/>
        </p:nvSpPr>
        <p:spPr>
          <a:xfrm>
            <a:off x="11147371" y="803460"/>
            <a:ext cx="35627" cy="35627"/>
          </a:xfrm>
          <a:prstGeom prst="ellipse">
            <a:avLst/>
          </a:prstGeom>
          <a:solidFill>
            <a:srgbClr val="F4D9DC"/>
          </a:solidFill>
          <a:ln/>
        </p:spPr>
        <p:txBody>
          <a:bodyPr/>
          <a:p/>
        </p:txBody>
      </p:sp>
      <p:sp>
        <p:nvSpPr>
          <p:cNvPr id="51" name="Shape 49"/>
          <p:cNvSpPr/>
          <p:nvPr/>
        </p:nvSpPr>
        <p:spPr>
          <a:xfrm>
            <a:off x="11347786" y="804293"/>
            <a:ext cx="35294" cy="35294"/>
          </a:xfrm>
          <a:prstGeom prst="ellipse">
            <a:avLst/>
          </a:prstGeom>
          <a:solidFill>
            <a:srgbClr val="F4D9DC"/>
          </a:solidFill>
          <a:ln/>
        </p:spPr>
        <p:txBody>
          <a:bodyPr/>
          <a:p/>
        </p:txBody>
      </p:sp>
      <p:sp>
        <p:nvSpPr>
          <p:cNvPr id="52" name="Shape 50"/>
          <p:cNvSpPr/>
          <p:nvPr/>
        </p:nvSpPr>
        <p:spPr>
          <a:xfrm>
            <a:off x="11465119" y="800919"/>
            <a:ext cx="34961" cy="34961"/>
          </a:xfrm>
          <a:prstGeom prst="ellipse">
            <a:avLst/>
          </a:prstGeom>
          <a:solidFill>
            <a:srgbClr val="F4D9DC"/>
          </a:solidFill>
          <a:ln/>
        </p:spPr>
        <p:txBody>
          <a:bodyPr/>
          <a:p/>
        </p:txBody>
      </p:sp>
      <p:sp>
        <p:nvSpPr>
          <p:cNvPr id="53" name="Shape 51"/>
          <p:cNvSpPr/>
          <p:nvPr/>
        </p:nvSpPr>
        <p:spPr>
          <a:xfrm>
            <a:off x="11270669" y="806590"/>
            <a:ext cx="35627" cy="35627"/>
          </a:xfrm>
          <a:prstGeom prst="ellipse">
            <a:avLst/>
          </a:prstGeom>
          <a:solidFill>
            <a:srgbClr val="F4D9DC"/>
          </a:solidFill>
          <a:ln/>
        </p:spPr>
        <p:txBody>
          <a:bodyPr/>
          <a:p/>
        </p:txBody>
      </p:sp>
      <p:sp>
        <p:nvSpPr>
          <p:cNvPr id="54" name="Shape 52"/>
          <p:cNvSpPr/>
          <p:nvPr/>
        </p:nvSpPr>
        <p:spPr>
          <a:xfrm>
            <a:off x="11191498" y="817766"/>
            <a:ext cx="57633" cy="57633"/>
          </a:xfrm>
          <a:prstGeom prst="ellipse">
            <a:avLst/>
          </a:prstGeom>
          <a:solidFill>
            <a:srgbClr val="F4D9DC"/>
          </a:solidFill>
          <a:ln/>
        </p:spPr>
        <p:txBody>
          <a:bodyPr/>
          <a:p/>
        </p:txBody>
      </p:sp>
      <p:sp>
        <p:nvSpPr>
          <p:cNvPr id="55" name="Shape 53"/>
          <p:cNvSpPr/>
          <p:nvPr/>
        </p:nvSpPr>
        <p:spPr>
          <a:xfrm>
            <a:off x="11396573" y="817888"/>
            <a:ext cx="57633" cy="57633"/>
          </a:xfrm>
          <a:prstGeom prst="ellipse">
            <a:avLst/>
          </a:prstGeom>
          <a:solidFill>
            <a:srgbClr val="F4D9DC"/>
          </a:solidFill>
          <a:ln/>
        </p:spPr>
        <p:txBody>
          <a:bodyPr/>
          <a:p/>
        </p:txBody>
      </p:sp>
      <p:sp>
        <p:nvSpPr>
          <p:cNvPr id="56" name="Shape 54"/>
          <p:cNvSpPr/>
          <p:nvPr/>
        </p:nvSpPr>
        <p:spPr>
          <a:xfrm>
            <a:off x="11123445" y="851985"/>
            <a:ext cx="52167" cy="52167"/>
          </a:xfrm>
          <a:prstGeom prst="ellipse">
            <a:avLst/>
          </a:prstGeom>
          <a:solidFill>
            <a:srgbClr val="F4D9DC"/>
          </a:solidFill>
          <a:ln/>
        </p:spPr>
        <p:txBody>
          <a:bodyPr/>
          <a:p/>
        </p:txBody>
      </p:sp>
      <p:sp>
        <p:nvSpPr>
          <p:cNvPr id="57" name="Shape 55"/>
          <p:cNvSpPr/>
          <p:nvPr/>
        </p:nvSpPr>
        <p:spPr>
          <a:xfrm>
            <a:off x="11294647" y="851390"/>
            <a:ext cx="57223" cy="57223"/>
          </a:xfrm>
          <a:prstGeom prst="ellipse">
            <a:avLst/>
          </a:prstGeom>
          <a:solidFill>
            <a:srgbClr val="F4D9DC"/>
          </a:solidFill>
          <a:ln/>
        </p:spPr>
        <p:txBody>
          <a:bodyPr/>
          <a:p/>
        </p:txBody>
      </p:sp>
      <p:sp>
        <p:nvSpPr>
          <p:cNvPr id="58" name="Shape 56"/>
          <p:cNvSpPr/>
          <p:nvPr/>
        </p:nvSpPr>
        <p:spPr>
          <a:xfrm>
            <a:off x="11470202" y="852382"/>
            <a:ext cx="52384" cy="52384"/>
          </a:xfrm>
          <a:prstGeom prst="ellipse">
            <a:avLst/>
          </a:prstGeom>
          <a:solidFill>
            <a:srgbClr val="F4D9DC"/>
          </a:solidFill>
          <a:ln/>
        </p:spPr>
        <p:txBody>
          <a:bodyPr/>
          <a:p/>
        </p:txBody>
      </p:sp>
      <p:sp>
        <p:nvSpPr>
          <p:cNvPr id="59" name="Shape 57"/>
          <p:cNvSpPr/>
          <p:nvPr/>
        </p:nvSpPr>
        <p:spPr>
          <a:xfrm>
            <a:off x="11060774" y="864607"/>
            <a:ext cx="35627" cy="35627"/>
          </a:xfrm>
          <a:prstGeom prst="ellipse">
            <a:avLst/>
          </a:prstGeom>
          <a:solidFill>
            <a:srgbClr val="F4D9DC"/>
          </a:solidFill>
          <a:ln/>
        </p:spPr>
        <p:txBody>
          <a:bodyPr/>
          <a:p/>
        </p:txBody>
      </p:sp>
      <p:sp>
        <p:nvSpPr>
          <p:cNvPr id="60" name="Shape 58"/>
          <p:cNvSpPr/>
          <p:nvPr/>
        </p:nvSpPr>
        <p:spPr>
          <a:xfrm>
            <a:off x="11548733" y="864185"/>
            <a:ext cx="35627" cy="35627"/>
          </a:xfrm>
          <a:prstGeom prst="ellipse">
            <a:avLst/>
          </a:prstGeom>
          <a:solidFill>
            <a:srgbClr val="F4D9DC"/>
          </a:solidFill>
          <a:ln/>
        </p:spPr>
        <p:txBody>
          <a:bodyPr/>
          <a:p/>
        </p:txBody>
      </p:sp>
      <p:sp>
        <p:nvSpPr>
          <p:cNvPr id="61" name="Shape 59"/>
          <p:cNvSpPr/>
          <p:nvPr/>
        </p:nvSpPr>
        <p:spPr>
          <a:xfrm>
            <a:off x="11246231" y="873908"/>
            <a:ext cx="35627" cy="35627"/>
          </a:xfrm>
          <a:prstGeom prst="ellipse">
            <a:avLst/>
          </a:prstGeom>
          <a:solidFill>
            <a:srgbClr val="F4D9DC"/>
          </a:solidFill>
          <a:ln/>
        </p:spPr>
        <p:txBody>
          <a:bodyPr/>
          <a:p/>
        </p:txBody>
      </p:sp>
      <p:sp>
        <p:nvSpPr>
          <p:cNvPr id="62" name="Shape 60"/>
          <p:cNvSpPr/>
          <p:nvPr/>
        </p:nvSpPr>
        <p:spPr>
          <a:xfrm>
            <a:off x="11367418" y="872896"/>
            <a:ext cx="35627" cy="35627"/>
          </a:xfrm>
          <a:prstGeom prst="ellipse">
            <a:avLst/>
          </a:prstGeom>
          <a:solidFill>
            <a:srgbClr val="F4D9DC"/>
          </a:solidFill>
          <a:ln/>
        </p:spPr>
        <p:txBody>
          <a:bodyPr/>
          <a:p/>
        </p:txBody>
      </p:sp>
      <p:sp>
        <p:nvSpPr>
          <p:cNvPr id="63" name="Shape 61"/>
          <p:cNvSpPr/>
          <p:nvPr/>
        </p:nvSpPr>
        <p:spPr>
          <a:xfrm>
            <a:off x="11185366" y="897322"/>
            <a:ext cx="51936" cy="51936"/>
          </a:xfrm>
          <a:prstGeom prst="ellipse">
            <a:avLst/>
          </a:prstGeom>
          <a:solidFill>
            <a:srgbClr val="F4D9DC"/>
          </a:solidFill>
          <a:ln/>
        </p:spPr>
        <p:txBody>
          <a:bodyPr/>
          <a:p/>
        </p:txBody>
      </p:sp>
      <p:sp>
        <p:nvSpPr>
          <p:cNvPr id="64" name="Shape 62"/>
          <p:cNvSpPr/>
          <p:nvPr/>
        </p:nvSpPr>
        <p:spPr>
          <a:xfrm>
            <a:off x="11407845" y="897655"/>
            <a:ext cx="52602" cy="52602"/>
          </a:xfrm>
          <a:prstGeom prst="ellipse">
            <a:avLst/>
          </a:prstGeom>
          <a:solidFill>
            <a:srgbClr val="F4D9DC"/>
          </a:solidFill>
          <a:ln/>
        </p:spPr>
        <p:txBody>
          <a:bodyPr/>
          <a:p/>
        </p:txBody>
      </p:sp>
      <p:sp>
        <p:nvSpPr>
          <p:cNvPr id="65" name="Shape 63"/>
          <p:cNvSpPr/>
          <p:nvPr/>
        </p:nvSpPr>
        <p:spPr>
          <a:xfrm>
            <a:off x="11258822" y="921466"/>
            <a:ext cx="51270" cy="51270"/>
          </a:xfrm>
          <a:prstGeom prst="ellipse">
            <a:avLst/>
          </a:prstGeom>
          <a:solidFill>
            <a:srgbClr val="F4D9DC"/>
          </a:solidFill>
          <a:ln/>
        </p:spPr>
        <p:txBody>
          <a:bodyPr/>
          <a:p/>
        </p:txBody>
      </p:sp>
      <p:sp>
        <p:nvSpPr>
          <p:cNvPr id="66" name="Shape 64"/>
          <p:cNvSpPr/>
          <p:nvPr/>
        </p:nvSpPr>
        <p:spPr>
          <a:xfrm>
            <a:off x="11335350" y="921504"/>
            <a:ext cx="51270" cy="51270"/>
          </a:xfrm>
          <a:prstGeom prst="ellipse">
            <a:avLst/>
          </a:prstGeom>
          <a:solidFill>
            <a:srgbClr val="F4D9DC"/>
          </a:solidFill>
          <a:ln/>
        </p:spPr>
        <p:txBody>
          <a:bodyPr/>
          <a:p/>
        </p:txBody>
      </p:sp>
      <p:sp>
        <p:nvSpPr>
          <p:cNvPr id="67" name="Shape 65"/>
          <p:cNvSpPr/>
          <p:nvPr/>
        </p:nvSpPr>
        <p:spPr>
          <a:xfrm>
            <a:off x="11127388" y="931368"/>
            <a:ext cx="35294" cy="35294"/>
          </a:xfrm>
          <a:prstGeom prst="ellipse">
            <a:avLst/>
          </a:prstGeom>
          <a:solidFill>
            <a:srgbClr val="F4D9DC"/>
          </a:solidFill>
          <a:ln/>
        </p:spPr>
        <p:txBody>
          <a:bodyPr/>
          <a:p/>
        </p:txBody>
      </p:sp>
      <p:sp>
        <p:nvSpPr>
          <p:cNvPr id="68" name="Shape 66"/>
          <p:cNvSpPr/>
          <p:nvPr/>
        </p:nvSpPr>
        <p:spPr>
          <a:xfrm>
            <a:off x="11481979" y="931035"/>
            <a:ext cx="35960" cy="35960"/>
          </a:xfrm>
          <a:prstGeom prst="ellipse">
            <a:avLst/>
          </a:prstGeom>
          <a:solidFill>
            <a:srgbClr val="F4D9DC"/>
          </a:solidFill>
          <a:ln/>
        </p:spPr>
        <p:txBody>
          <a:bodyPr/>
          <a:p/>
        </p:txBody>
      </p:sp>
      <p:sp>
        <p:nvSpPr>
          <p:cNvPr id="69" name="Shape 67"/>
          <p:cNvSpPr/>
          <p:nvPr/>
        </p:nvSpPr>
        <p:spPr>
          <a:xfrm>
            <a:off x="11211987" y="974695"/>
            <a:ext cx="34961" cy="34961"/>
          </a:xfrm>
          <a:prstGeom prst="ellipse">
            <a:avLst/>
          </a:prstGeom>
          <a:solidFill>
            <a:srgbClr val="F4D9DC"/>
          </a:solidFill>
          <a:ln/>
        </p:spPr>
        <p:txBody>
          <a:bodyPr/>
          <a:p/>
        </p:txBody>
      </p:sp>
      <p:sp>
        <p:nvSpPr>
          <p:cNvPr id="70" name="Shape 68"/>
          <p:cNvSpPr/>
          <p:nvPr/>
        </p:nvSpPr>
        <p:spPr>
          <a:xfrm>
            <a:off x="11398461" y="974695"/>
            <a:ext cx="34961" cy="34961"/>
          </a:xfrm>
          <a:prstGeom prst="ellipse">
            <a:avLst/>
          </a:prstGeom>
          <a:solidFill>
            <a:srgbClr val="F4D9DC"/>
          </a:solidFill>
          <a:ln/>
        </p:spPr>
        <p:txBody>
          <a:bodyPr/>
          <a:p/>
        </p:txBody>
      </p:sp>
      <p:sp>
        <p:nvSpPr>
          <p:cNvPr id="71" name="Shape 69"/>
          <p:cNvSpPr/>
          <p:nvPr/>
        </p:nvSpPr>
        <p:spPr>
          <a:xfrm>
            <a:off x="11304837" y="988501"/>
            <a:ext cx="35627" cy="35627"/>
          </a:xfrm>
          <a:prstGeom prst="ellipse">
            <a:avLst/>
          </a:prstGeom>
          <a:solidFill>
            <a:srgbClr val="F4D9DC"/>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Eerst synthetisch, dan echte data</a:t>
            </a:r>
            <a:endParaRPr lang="en-US" sz="3400" dirty="0"/>
          </a:p>
        </p:txBody>
      </p:sp>
      <p:sp>
        <p:nvSpPr>
          <p:cNvPr id="73" name="Shape 71"/>
          <p:cNvSpPr/>
          <p:nvPr/>
        </p:nvSpPr>
        <p:spPr>
          <a:xfrm>
            <a:off x="548640" y="1371600"/>
            <a:ext cx="3515258" cy="3592830"/>
          </a:xfrm>
          <a:prstGeom prst="roundRect">
            <a:avLst>
              <a:gd name="adj" fmla="val 1895"/>
            </a:avLst>
          </a:prstGeom>
          <a:solidFill>
            <a:srgbClr val="F4D74B"/>
          </a:solidFill>
          <a:ln/>
        </p:spPr>
        <p:txBody>
          <a:bodyPr/>
          <a:p/>
        </p:txBody>
      </p:sp>
      <p:sp>
        <p:nvSpPr>
          <p:cNvPr id="74" name="Shape 72"/>
          <p:cNvSpPr/>
          <p:nvPr/>
        </p:nvSpPr>
        <p:spPr>
          <a:xfrm>
            <a:off x="822960" y="1719072"/>
            <a:ext cx="2966618" cy="402336"/>
          </a:xfrm>
          <a:prstGeom prst="roundRect">
            <a:avLst>
              <a:gd name="adj" fmla="val 113636"/>
            </a:avLst>
          </a:prstGeom>
          <a:solidFill>
            <a:srgbClr val="3D68EC"/>
          </a:solidFill>
          <a:ln/>
        </p:spPr>
        <p:txBody>
          <a:bodyPr/>
          <a:p/>
        </p:txBody>
      </p:sp>
      <p:sp>
        <p:nvSpPr>
          <p:cNvPr id="75" name="Text 73"/>
          <p:cNvSpPr/>
          <p:nvPr/>
        </p:nvSpPr>
        <p:spPr>
          <a:xfrm>
            <a:off x="914400"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Testomgeving</a:t>
            </a:r>
            <a:endParaRPr lang="en-US" sz="1200" dirty="0"/>
          </a:p>
        </p:txBody>
      </p:sp>
      <p:sp>
        <p:nvSpPr>
          <p:cNvPr id="76" name="Text 74"/>
          <p:cNvSpPr/>
          <p:nvPr/>
        </p:nvSpPr>
        <p:spPr>
          <a:xfrm>
            <a:off x="822960"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Synthetische data</a:t>
            </a:r>
            <a:endParaRPr lang="en-US" sz="2200" dirty="0"/>
          </a:p>
        </p:txBody>
      </p:sp>
      <p:sp>
        <p:nvSpPr>
          <p:cNvPr id="77" name="Text 75"/>
          <p:cNvSpPr/>
          <p:nvPr/>
        </p:nvSpPr>
        <p:spPr>
          <a:xfrm>
            <a:off x="822960"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Zelfde kolommen en codes, geen echte personen.</a:t>
            </a:r>
            <a:endParaRPr lang="en-US" sz="1500" dirty="0"/>
          </a:p>
        </p:txBody>
      </p:sp>
      <p:sp>
        <p:nvSpPr>
          <p:cNvPr id="78" name="Text 76"/>
          <p:cNvSpPr/>
          <p:nvPr/>
        </p:nvSpPr>
        <p:spPr>
          <a:xfrm>
            <a:off x="822960"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79" name="Text 77"/>
          <p:cNvSpPr/>
          <p:nvPr/>
        </p:nvSpPr>
        <p:spPr>
          <a:xfrm>
            <a:off x="822960"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data/demodata_1cho.csv</a:t>
            </a:r>
            <a:endParaRPr lang="en-US" sz="1500" dirty="0"/>
          </a:p>
        </p:txBody>
      </p:sp>
      <p:sp>
        <p:nvSpPr>
          <p:cNvPr id="80" name="Shape 78"/>
          <p:cNvSpPr/>
          <p:nvPr/>
        </p:nvSpPr>
        <p:spPr>
          <a:xfrm>
            <a:off x="4338218" y="1371600"/>
            <a:ext cx="3515258" cy="3592830"/>
          </a:xfrm>
          <a:prstGeom prst="roundRect">
            <a:avLst>
              <a:gd name="adj" fmla="val 1895"/>
            </a:avLst>
          </a:prstGeom>
          <a:solidFill>
            <a:srgbClr val="F4D9DC"/>
          </a:solidFill>
          <a:ln/>
        </p:spPr>
        <p:txBody>
          <a:bodyPr/>
          <a:p/>
        </p:txBody>
      </p:sp>
      <p:sp>
        <p:nvSpPr>
          <p:cNvPr id="81" name="Shape 79"/>
          <p:cNvSpPr/>
          <p:nvPr/>
        </p:nvSpPr>
        <p:spPr>
          <a:xfrm>
            <a:off x="4612538" y="1719072"/>
            <a:ext cx="2966618" cy="402336"/>
          </a:xfrm>
          <a:prstGeom prst="roundRect">
            <a:avLst>
              <a:gd name="adj" fmla="val 113636"/>
            </a:avLst>
          </a:prstGeom>
          <a:solidFill>
            <a:srgbClr val="3D68EC"/>
          </a:solidFill>
          <a:ln/>
        </p:spPr>
        <p:txBody>
          <a:bodyPr/>
          <a:p/>
        </p:txBody>
      </p:sp>
      <p:sp>
        <p:nvSpPr>
          <p:cNvPr id="82" name="Text 80"/>
          <p:cNvSpPr/>
          <p:nvPr/>
        </p:nvSpPr>
        <p:spPr>
          <a:xfrm>
            <a:off x="4703978"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Testomgeving</a:t>
            </a:r>
            <a:endParaRPr lang="en-US" sz="1200" dirty="0"/>
          </a:p>
        </p:txBody>
      </p:sp>
      <p:sp>
        <p:nvSpPr>
          <p:cNvPr id="83" name="Text 81"/>
          <p:cNvSpPr/>
          <p:nvPr/>
        </p:nvSpPr>
        <p:spPr>
          <a:xfrm>
            <a:off x="4612538"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Bouwen met de agent</a:t>
            </a:r>
            <a:endParaRPr lang="en-US" sz="2200" dirty="0"/>
          </a:p>
        </p:txBody>
      </p:sp>
      <p:sp>
        <p:nvSpPr>
          <p:cNvPr id="84" name="Text 82"/>
          <p:cNvSpPr/>
          <p:nvPr/>
        </p:nvSpPr>
        <p:spPr>
          <a:xfrm>
            <a:off x="4612538"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Mag naar het taalmodel, geen AVG-toets nodig.</a:t>
            </a:r>
            <a:endParaRPr lang="en-US" sz="1500" dirty="0"/>
          </a:p>
        </p:txBody>
      </p:sp>
      <p:sp>
        <p:nvSpPr>
          <p:cNvPr id="85" name="Text 83"/>
          <p:cNvSpPr/>
          <p:nvPr/>
        </p:nvSpPr>
        <p:spPr>
          <a:xfrm>
            <a:off x="4612538"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86" name="Text 84"/>
          <p:cNvSpPr/>
          <p:nvPr/>
        </p:nvSpPr>
        <p:spPr>
          <a:xfrm>
            <a:off x="4612538"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Claude Code in VS Code</a:t>
            </a:r>
            <a:endParaRPr lang="en-US" sz="1500" dirty="0"/>
          </a:p>
        </p:txBody>
      </p:sp>
      <p:sp>
        <p:nvSpPr>
          <p:cNvPr id="87" name="Shape 85"/>
          <p:cNvSpPr/>
          <p:nvPr/>
        </p:nvSpPr>
        <p:spPr>
          <a:xfrm>
            <a:off x="8127797" y="1371600"/>
            <a:ext cx="3515258" cy="3592830"/>
          </a:xfrm>
          <a:prstGeom prst="roundRect">
            <a:avLst>
              <a:gd name="adj" fmla="val 1895"/>
            </a:avLst>
          </a:prstGeom>
          <a:solidFill>
            <a:srgbClr val="F4D74B"/>
          </a:solidFill>
          <a:ln/>
        </p:spPr>
        <p:txBody>
          <a:bodyPr/>
          <a:p/>
        </p:txBody>
      </p:sp>
      <p:sp>
        <p:nvSpPr>
          <p:cNvPr id="88" name="Shape 86"/>
          <p:cNvSpPr/>
          <p:nvPr/>
        </p:nvSpPr>
        <p:spPr>
          <a:xfrm>
            <a:off x="8402117" y="1719072"/>
            <a:ext cx="2966618" cy="402336"/>
          </a:xfrm>
          <a:prstGeom prst="roundRect">
            <a:avLst>
              <a:gd name="adj" fmla="val 113636"/>
            </a:avLst>
          </a:prstGeom>
          <a:solidFill>
            <a:srgbClr val="3D68EC"/>
          </a:solidFill>
          <a:ln/>
        </p:spPr>
        <p:txBody>
          <a:bodyPr/>
          <a:p/>
        </p:txBody>
      </p:sp>
      <p:sp>
        <p:nvSpPr>
          <p:cNvPr id="89" name="Text 87"/>
          <p:cNvSpPr/>
          <p:nvPr/>
        </p:nvSpPr>
        <p:spPr>
          <a:xfrm>
            <a:off x="8493557"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Productie</a:t>
            </a:r>
            <a:endParaRPr lang="en-US" sz="1200" dirty="0"/>
          </a:p>
        </p:txBody>
      </p:sp>
      <p:sp>
        <p:nvSpPr>
          <p:cNvPr id="90" name="Text 88"/>
          <p:cNvSpPr/>
          <p:nvPr/>
        </p:nvSpPr>
        <p:spPr>
          <a:xfrm>
            <a:off x="8402117"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Echte instellingsdata</a:t>
            </a:r>
            <a:endParaRPr lang="en-US" sz="2200" dirty="0"/>
          </a:p>
        </p:txBody>
      </p:sp>
      <p:sp>
        <p:nvSpPr>
          <p:cNvPr id="91" name="Text 89"/>
          <p:cNvSpPr/>
          <p:nvPr/>
        </p:nvSpPr>
        <p:spPr>
          <a:xfrm>
            <a:off x="8402117"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Dezelfde code draait hier. De agent komt hier niet.</a:t>
            </a:r>
            <a:endParaRPr lang="en-US" sz="1500" dirty="0"/>
          </a:p>
        </p:txBody>
      </p:sp>
      <p:sp>
        <p:nvSpPr>
          <p:cNvPr id="92" name="Text 90"/>
          <p:cNvSpPr/>
          <p:nvPr/>
        </p:nvSpPr>
        <p:spPr>
          <a:xfrm>
            <a:off x="8402117"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93" name="Text 91"/>
          <p:cNvSpPr/>
          <p:nvPr/>
        </p:nvSpPr>
        <p:spPr>
          <a:xfrm>
            <a:off x="8402117"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Bij de instelling zelf</a:t>
            </a:r>
            <a:endParaRPr lang="en-US" sz="1500" dirty="0"/>
          </a:p>
        </p:txBody>
      </p:sp>
      <p:sp>
        <p:nvSpPr>
          <p:cNvPr id="94" name="Text 92"/>
          <p:cNvSpPr/>
          <p:nvPr/>
        </p:nvSpPr>
        <p:spPr>
          <a:xfrm>
            <a:off x="548640" y="5147310"/>
            <a:ext cx="11094415" cy="4572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Eigen data gebruiken valt buiten deze workshop. Dat kun je in je eigen instelling doen.</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5">
    <p:bg>
      <p:bgPr>
        <a:solidFill>
          <a:srgbClr val="FAEAEA"/>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Het is demodata: veilig om mee te oefenen</a:t>
            </a:r>
            <a:endParaRPr lang="en-US" sz="3200" dirty="0"/>
          </a:p>
        </p:txBody>
      </p:sp>
      <p:sp>
        <p:nvSpPr>
          <p:cNvPr id="73" name="Shape 71"/>
          <p:cNvSpPr/>
          <p:nvPr/>
        </p:nvSpPr>
        <p:spPr>
          <a:xfrm>
            <a:off x="548640" y="1572768"/>
            <a:ext cx="201168" cy="201168"/>
          </a:xfrm>
          <a:prstGeom prst="ellipse">
            <a:avLst/>
          </a:prstGeom>
          <a:solidFill>
            <a:srgbClr val="3D68EC"/>
          </a:solidFill>
          <a:ln/>
        </p:spPr>
        <p:txBody>
          <a:bodyPr/>
          <a:p/>
        </p:txBody>
      </p:sp>
      <p:sp>
        <p:nvSpPr>
          <p:cNvPr id="74" name="Text 72"/>
          <p:cNvSpPr/>
          <p:nvPr/>
        </p:nvSpPr>
        <p:spPr>
          <a:xfrm>
            <a:off x="960120" y="14630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Fictief:</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zelfde kolommen en codes als 1CHO, maar geen echte personen</a:t>
            </a:r>
            <a:endParaRPr lang="en-US" sz="1900" dirty="0"/>
          </a:p>
        </p:txBody>
      </p:sp>
      <p:sp>
        <p:nvSpPr>
          <p:cNvPr id="75" name="Shape 73"/>
          <p:cNvSpPr/>
          <p:nvPr/>
        </p:nvSpPr>
        <p:spPr>
          <a:xfrm>
            <a:off x="548640" y="2487168"/>
            <a:ext cx="201168" cy="201168"/>
          </a:xfrm>
          <a:prstGeom prst="ellipse">
            <a:avLst/>
          </a:prstGeom>
          <a:solidFill>
            <a:srgbClr val="DD784B"/>
          </a:solidFill>
          <a:ln/>
        </p:spPr>
        <p:txBody>
          <a:bodyPr/>
          <a:p/>
        </p:txBody>
      </p:sp>
      <p:sp>
        <p:nvSpPr>
          <p:cNvPr id="76" name="Text 74"/>
          <p:cNvSpPr/>
          <p:nvPr/>
        </p:nvSpPr>
        <p:spPr>
          <a:xfrm>
            <a:off x="960120" y="23774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Mag de agent in:</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geen AVG-toets of verwerkersovereenkomst nodig</a:t>
            </a:r>
            <a:endParaRPr lang="en-US" sz="1900" dirty="0"/>
          </a:p>
        </p:txBody>
      </p:sp>
      <p:sp>
        <p:nvSpPr>
          <p:cNvPr id="77" name="Shape 75"/>
          <p:cNvSpPr/>
          <p:nvPr/>
        </p:nvSpPr>
        <p:spPr>
          <a:xfrm>
            <a:off x="548640" y="3401568"/>
            <a:ext cx="201168" cy="201168"/>
          </a:xfrm>
          <a:prstGeom prst="ellipse">
            <a:avLst/>
          </a:prstGeom>
          <a:solidFill>
            <a:srgbClr val="00AF81"/>
          </a:solidFill>
          <a:ln/>
        </p:spPr>
        <p:txBody>
          <a:bodyPr/>
          <a:p/>
        </p:txBody>
      </p:sp>
      <p:sp>
        <p:nvSpPr>
          <p:cNvPr id="78" name="Text 76"/>
          <p:cNvSpPr/>
          <p:nvPr/>
        </p:nvSpPr>
        <p:spPr>
          <a:xfrm>
            <a:off x="960120" y="32918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Realistisch:</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gecontroleerd tegen de 1CHO-metadata en de CROHO-codes</a:t>
            </a:r>
            <a:endParaRPr lang="en-US" sz="1900" dirty="0"/>
          </a:p>
        </p:txBody>
      </p:sp>
      <p:sp>
        <p:nvSpPr>
          <p:cNvPr id="79" name="Shape 77"/>
          <p:cNvSpPr/>
          <p:nvPr/>
        </p:nvSpPr>
        <p:spPr>
          <a:xfrm>
            <a:off x="548640" y="4315968"/>
            <a:ext cx="201168" cy="201168"/>
          </a:xfrm>
          <a:prstGeom prst="ellipse">
            <a:avLst/>
          </a:prstGeom>
          <a:solidFill>
            <a:srgbClr val="F4D74B"/>
          </a:solidFill>
          <a:ln/>
        </p:spPr>
        <p:txBody>
          <a:bodyPr/>
          <a:p/>
        </p:txBody>
      </p:sp>
      <p:sp>
        <p:nvSpPr>
          <p:cNvPr id="80" name="Text 78"/>
          <p:cNvSpPr/>
          <p:nvPr/>
        </p:nvSpPr>
        <p:spPr>
          <a:xfrm>
            <a:off x="960120" y="42062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Alleen oefenen:</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de kansen zijn onze keuze, geen werkelijkheid</a:t>
            </a:r>
            <a:endParaRPr lang="en-US" sz="1900" dirty="0"/>
          </a:p>
        </p:txBody>
      </p:sp>
      <p:pic>
        <p:nvPicPr>
          <p:cNvPr id="81" name="Image 0" descr="exports\261005_workshop_rad_uitvoering\img\Slot.png">    </p:cNvPr>
          <p:cNvPicPr>
            <a:picLocks noChangeAspect="1"/>
          </p:cNvPicPr>
          <p:nvPr/>
        </p:nvPicPr>
        <p:blipFill>
          <a:blip r:embed="rId1"/>
          <a:stretch>
            <a:fillRect/>
          </a:stretch>
        </p:blipFill>
        <p:spPr>
          <a:xfrm>
            <a:off x="7498080" y="1417320"/>
            <a:ext cx="4206240" cy="42062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CF5D4"/>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Onze casus: eerstejaarsuitval</a:t>
            </a:r>
            <a:endParaRPr lang="en-US" sz="3400" dirty="0"/>
          </a:p>
        </p:txBody>
      </p:sp>
      <p:sp>
        <p:nvSpPr>
          <p:cNvPr id="73" name="Shape 71"/>
          <p:cNvSpPr/>
          <p:nvPr/>
        </p:nvSpPr>
        <p:spPr>
          <a:xfrm>
            <a:off x="548640" y="1371600"/>
            <a:ext cx="3515258" cy="3145536"/>
          </a:xfrm>
          <a:prstGeom prst="roundRect">
            <a:avLst>
              <a:gd name="adj" fmla="val 2366"/>
            </a:avLst>
          </a:prstGeom>
          <a:solidFill>
            <a:srgbClr val="3D68EC"/>
          </a:solidFill>
          <a:ln/>
        </p:spPr>
        <p:txBody>
          <a:bodyPr/>
          <a:p/>
        </p:txBody>
      </p:sp>
      <p:sp>
        <p:nvSpPr>
          <p:cNvPr id="74" name="Shape 72"/>
          <p:cNvSpPr/>
          <p:nvPr/>
        </p:nvSpPr>
        <p:spPr>
          <a:xfrm>
            <a:off x="822960" y="1645920"/>
            <a:ext cx="548640" cy="548640"/>
          </a:xfrm>
          <a:prstGeom prst="ellipse">
            <a:avLst/>
          </a:prstGeom>
          <a:solidFill>
            <a:srgbClr val="F4D74B"/>
          </a:solidFill>
          <a:ln/>
        </p:spPr>
        <p:txBody>
          <a:body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A</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txBody>
          <a:bodyPr/>
          <a:p/>
        </p:txBody>
      </p:sp>
      <p:sp>
        <p:nvSpPr>
          <p:cNvPr id="77" name="Text 75"/>
          <p:cNvSpPr/>
          <p:nvPr/>
        </p:nvSpPr>
        <p:spPr>
          <a:xfrm>
            <a:off x="1600200"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De vraag</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F4D9DC"/>
                </a:solidFill>
                <a:latin typeface="General Sans Semibold" pitchFamily="34" charset="0"/>
                <a:ea typeface="General Sans Semibold" pitchFamily="34" charset="-122"/>
                <a:cs typeface="General Sans Semibold" pitchFamily="34" charset="-120"/>
              </a:rPr>
              <a:t>Wie stopt na jaar 1?</a:t>
            </a:r>
            <a:endParaRPr lang="en-US" sz="2300" dirty="0"/>
          </a:p>
        </p:txBody>
      </p:sp>
      <p:sp>
        <p:nvSpPr>
          <p:cNvPr id="79" name="Text 77"/>
          <p:cNvSpPr/>
          <p:nvPr/>
        </p:nvSpPr>
        <p:spPr>
          <a:xfrm>
            <a:off x="822960"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Welke eerstejaars stoppen binnen een jaar, en verschilt dat per sector en opleidingsvorm?</a:t>
            </a:r>
            <a:endParaRPr lang="en-US" sz="1500" dirty="0"/>
          </a:p>
        </p:txBody>
      </p:sp>
      <p:sp>
        <p:nvSpPr>
          <p:cNvPr id="80" name="Shape 78"/>
          <p:cNvSpPr/>
          <p:nvPr/>
        </p:nvSpPr>
        <p:spPr>
          <a:xfrm>
            <a:off x="4338218" y="1371600"/>
            <a:ext cx="3515258" cy="3145536"/>
          </a:xfrm>
          <a:prstGeom prst="roundRect">
            <a:avLst>
              <a:gd name="adj" fmla="val 2366"/>
            </a:avLst>
          </a:prstGeom>
          <a:solidFill>
            <a:srgbClr val="DD784B"/>
          </a:solidFill>
          <a:ln/>
        </p:spPr>
        <p:txBody>
          <a:bodyPr/>
          <a:p/>
        </p:txBody>
      </p:sp>
      <p:sp>
        <p:nvSpPr>
          <p:cNvPr id="81" name="Shape 79"/>
          <p:cNvSpPr/>
          <p:nvPr/>
        </p:nvSpPr>
        <p:spPr>
          <a:xfrm>
            <a:off x="4612538" y="1645920"/>
            <a:ext cx="548640" cy="548640"/>
          </a:xfrm>
          <a:prstGeom prst="ellipse">
            <a:avLst/>
          </a:prstGeom>
          <a:solidFill>
            <a:srgbClr val="F4D9DC"/>
          </a:solidFill>
          <a:ln/>
        </p:spPr>
        <p:txBody>
          <a:bodyPr/>
          <a:p/>
        </p:txBody>
      </p:sp>
      <p:sp>
        <p:nvSpPr>
          <p:cNvPr id="82" name="Text 80"/>
          <p:cNvSpPr/>
          <p:nvPr/>
        </p:nvSpPr>
        <p:spPr>
          <a:xfrm>
            <a:off x="461253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a:t>
            </a:r>
            <a:endParaRPr lang="en-US" sz="2000" dirty="0"/>
          </a:p>
        </p:txBody>
      </p:sp>
      <p:sp>
        <p:nvSpPr>
          <p:cNvPr id="83" name="Shape 81"/>
          <p:cNvSpPr/>
          <p:nvPr/>
        </p:nvSpPr>
        <p:spPr>
          <a:xfrm>
            <a:off x="5298338" y="1719072"/>
            <a:ext cx="2280818" cy="402336"/>
          </a:xfrm>
          <a:prstGeom prst="roundRect">
            <a:avLst>
              <a:gd name="adj" fmla="val 113636"/>
            </a:avLst>
          </a:prstGeom>
          <a:solidFill>
            <a:srgbClr val="F4D9DC"/>
          </a:solidFill>
          <a:ln/>
        </p:spPr>
        <p:txBody>
          <a:bodyPr/>
          <a:p/>
        </p:txBody>
      </p:sp>
      <p:sp>
        <p:nvSpPr>
          <p:cNvPr id="84" name="Text 82"/>
          <p:cNvSpPr/>
          <p:nvPr/>
        </p:nvSpPr>
        <p:spPr>
          <a:xfrm>
            <a:off x="5389778"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Met de agent</a:t>
            </a:r>
            <a:endParaRPr lang="en-US" sz="1200" dirty="0"/>
          </a:p>
        </p:txBody>
      </p:sp>
      <p:sp>
        <p:nvSpPr>
          <p:cNvPr id="85" name="Text 83"/>
          <p:cNvSpPr/>
          <p:nvPr/>
        </p:nvSpPr>
        <p:spPr>
          <a:xfrm>
            <a:off x="4612538"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Uitval laten uitrekenen</a:t>
            </a:r>
            <a:endParaRPr lang="en-US" sz="2300" dirty="0"/>
          </a:p>
        </p:txBody>
      </p:sp>
      <p:sp>
        <p:nvSpPr>
          <p:cNvPr id="86" name="Text 84"/>
          <p:cNvSpPr/>
          <p:nvPr/>
        </p:nvSpPr>
        <p:spPr>
          <a:xfrm>
            <a:off x="4612538"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Jullie laten de agent per jaar uitrekenen hoeveel eerstejaars stoppen, en dat vergelijken per sector.</a:t>
            </a:r>
            <a:endParaRPr lang="en-US" sz="1500" dirty="0"/>
          </a:p>
        </p:txBody>
      </p:sp>
      <p:sp>
        <p:nvSpPr>
          <p:cNvPr id="87" name="Shape 85"/>
          <p:cNvSpPr/>
          <p:nvPr/>
        </p:nvSpPr>
        <p:spPr>
          <a:xfrm>
            <a:off x="8127797" y="1371600"/>
            <a:ext cx="3515258" cy="3145536"/>
          </a:xfrm>
          <a:prstGeom prst="roundRect">
            <a:avLst>
              <a:gd name="adj" fmla="val 2366"/>
            </a:avLst>
          </a:prstGeom>
          <a:solidFill>
            <a:srgbClr val="00AF81"/>
          </a:solidFill>
          <a:ln/>
        </p:spPr>
        <p:txBody>
          <a:bodyPr/>
          <a:p/>
        </p:txBody>
      </p:sp>
      <p:sp>
        <p:nvSpPr>
          <p:cNvPr id="88" name="Shape 86"/>
          <p:cNvSpPr/>
          <p:nvPr/>
        </p:nvSpPr>
        <p:spPr>
          <a:xfrm>
            <a:off x="8402117" y="1645920"/>
            <a:ext cx="548640" cy="548640"/>
          </a:xfrm>
          <a:prstGeom prst="ellipse">
            <a:avLst/>
          </a:prstGeom>
          <a:solidFill>
            <a:srgbClr val="F4D9DC"/>
          </a:solidFill>
          <a:ln/>
        </p:spPr>
        <p:txBody>
          <a:bodyPr/>
          <a:p/>
        </p:txBody>
      </p:sp>
      <p:sp>
        <p:nvSpPr>
          <p:cNvPr id="89" name="Text 87"/>
          <p:cNvSpPr/>
          <p:nvPr/>
        </p:nvSpPr>
        <p:spPr>
          <a:xfrm>
            <a:off x="8402117"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a:t>
            </a:r>
            <a:endParaRPr lang="en-US" sz="2000" dirty="0"/>
          </a:p>
        </p:txBody>
      </p:sp>
      <p:sp>
        <p:nvSpPr>
          <p:cNvPr id="90" name="Shape 88"/>
          <p:cNvSpPr/>
          <p:nvPr/>
        </p:nvSpPr>
        <p:spPr>
          <a:xfrm>
            <a:off x="9087917" y="1719072"/>
            <a:ext cx="2280818" cy="402336"/>
          </a:xfrm>
          <a:prstGeom prst="roundRect">
            <a:avLst>
              <a:gd name="adj" fmla="val 113636"/>
            </a:avLst>
          </a:prstGeom>
          <a:solidFill>
            <a:srgbClr val="F4D9DC"/>
          </a:solidFill>
          <a:ln/>
        </p:spPr>
        <p:txBody>
          <a:bodyPr/>
          <a:p/>
        </p:txBody>
      </p:sp>
      <p:sp>
        <p:nvSpPr>
          <p:cNvPr id="91" name="Text 89"/>
          <p:cNvSpPr/>
          <p:nvPr/>
        </p:nvSpPr>
        <p:spPr>
          <a:xfrm>
            <a:off x="9179357"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Wat je oplevert</a:t>
            </a:r>
            <a:endParaRPr lang="en-US" sz="1200" dirty="0"/>
          </a:p>
        </p:txBody>
      </p:sp>
      <p:sp>
        <p:nvSpPr>
          <p:cNvPr id="92" name="Text 90"/>
          <p:cNvSpPr/>
          <p:nvPr/>
        </p:nvSpPr>
        <p:spPr>
          <a:xfrm>
            <a:off x="8402117" y="2423160"/>
            <a:ext cx="2966618" cy="691896"/>
          </a:xfrm>
          <a:prstGeom prst="rect">
            <a:avLst/>
          </a:prstGeom>
          <a:noFill/>
          <a:ln/>
        </p:spPr>
        <p:txBody>
          <a:bodyPr wrap="square" lIns="0" tIns="0" rIns="0" bIns="0" rtlCol="0" anchor="t"/>
          <a:lstStyle/>
          <a:p>
            <a:pPr algn="l" indent="0" marL="0">
              <a:lnSpc>
                <a:spcPct val="105000"/>
              </a:lnSpc>
              <a:buNone/>
            </a:pPr>
            <a:r>
              <a:rPr lang="en-US" sz="2400" dirty="0">
                <a:solidFill>
                  <a:srgbClr val="000000"/>
                </a:solidFill>
                <a:latin typeface="General Sans Semibold" pitchFamily="34" charset="0"/>
                <a:ea typeface="General Sans Semibold" pitchFamily="34" charset="-122"/>
                <a:cs typeface="General Sans Semibold" pitchFamily="34" charset="-120"/>
              </a:rPr>
              <a:t>Eén dashboard</a:t>
            </a:r>
            <a:endParaRPr lang="en-US" sz="2400" dirty="0"/>
          </a:p>
        </p:txBody>
      </p:sp>
      <p:sp>
        <p:nvSpPr>
          <p:cNvPr id="93" name="Text 91"/>
          <p:cNvSpPr/>
          <p:nvPr/>
        </p:nvSpPr>
        <p:spPr>
          <a:xfrm>
            <a:off x="8402117"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dashboard dat de vraag beantwoordt, met de conclusie als titel.</a:t>
            </a:r>
            <a:endParaRPr lang="en-US" sz="1500" dirty="0"/>
          </a:p>
        </p:txBody>
      </p:sp>
      <p:sp>
        <p:nvSpPr>
          <p:cNvPr id="94" name="Text 92"/>
          <p:cNvSpPr/>
          <p:nvPr/>
        </p:nvSpPr>
        <p:spPr>
          <a:xfrm>
            <a:off x="548640" y="4700016"/>
            <a:ext cx="11094415" cy="457200"/>
          </a:xfrm>
          <a:prstGeom prst="rect">
            <a:avLst/>
          </a:prstGeom>
          <a:noFill/>
          <a:ln/>
        </p:spPr>
        <p:txBody>
          <a:bodyPr wrap="square" lIns="0" tIns="0" rIns="0" bIns="0" rtlCol="0" anchor="t"/>
          <a:lstStyle/>
          <a:p>
            <a:pPr algn="l" indent="0" marL="0">
              <a:lnSpc>
                <a:spcPct val="105000"/>
              </a:lnSpc>
              <a:buNone/>
            </a:pPr>
            <a:r>
              <a:rPr lang="en-US" sz="1700" dirty="0">
                <a:solidFill>
                  <a:srgbClr val="000000"/>
                </a:solidFill>
                <a:latin typeface="General Sans" pitchFamily="34" charset="0"/>
                <a:ea typeface="General Sans" pitchFamily="34" charset="-122"/>
                <a:cs typeface="General Sans" pitchFamily="34" charset="-120"/>
              </a:rPr>
              <a:t>Data: fictieve studenten, 2012-2023, één rij per student per jaar, in één bestand: data/demodata_1cho.csv.</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bg>
      <p:bgPr>
        <a:solidFill>
          <a:srgbClr val="D6E2FD"/>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Werk in tweetallen, wissel per ronde</a:t>
            </a:r>
            <a:endParaRPr lang="en-US" sz="3400" dirty="0"/>
          </a:p>
        </p:txBody>
      </p:sp>
      <p:sp>
        <p:nvSpPr>
          <p:cNvPr id="73" name="Shape 71"/>
          <p:cNvSpPr/>
          <p:nvPr/>
        </p:nvSpPr>
        <p:spPr>
          <a:xfrm>
            <a:off x="548640" y="1572768"/>
            <a:ext cx="201168" cy="201168"/>
          </a:xfrm>
          <a:prstGeom prst="ellipse">
            <a:avLst/>
          </a:prstGeom>
          <a:solidFill>
            <a:srgbClr val="3D68EC"/>
          </a:solidFill>
          <a:ln/>
        </p:spPr>
        <p:txBody>
          <a:bodyPr/>
          <a:p/>
        </p:txBody>
      </p:sp>
      <p:sp>
        <p:nvSpPr>
          <p:cNvPr id="74" name="Text 72"/>
          <p:cNvSpPr/>
          <p:nvPr/>
        </p:nvSpPr>
        <p:spPr>
          <a:xfrm>
            <a:off x="960120" y="14630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Prompter:</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typt de opdrachten aan de agent</a:t>
            </a:r>
            <a:endParaRPr lang="en-US" sz="1900" dirty="0"/>
          </a:p>
        </p:txBody>
      </p:sp>
      <p:sp>
        <p:nvSpPr>
          <p:cNvPr id="75" name="Shape 73"/>
          <p:cNvSpPr/>
          <p:nvPr/>
        </p:nvSpPr>
        <p:spPr>
          <a:xfrm>
            <a:off x="548640" y="2487168"/>
            <a:ext cx="201168" cy="201168"/>
          </a:xfrm>
          <a:prstGeom prst="ellipse">
            <a:avLst/>
          </a:prstGeom>
          <a:solidFill>
            <a:srgbClr val="DD784B"/>
          </a:solidFill>
          <a:ln/>
        </p:spPr>
        <p:txBody>
          <a:bodyPr/>
          <a:p/>
        </p:txBody>
      </p:sp>
      <p:sp>
        <p:nvSpPr>
          <p:cNvPr id="76" name="Text 74"/>
          <p:cNvSpPr/>
          <p:nvPr/>
        </p:nvSpPr>
        <p:spPr>
          <a:xfrm>
            <a:off x="960120" y="2377440"/>
            <a:ext cx="5897880" cy="804672"/>
          </a:xfrm>
          <a:prstGeom prst="rect">
            <a:avLst/>
          </a:prstGeom>
          <a:noFill/>
          <a:ln/>
        </p:spPr>
        <p:txBody>
          <a:bodyPr wrap="square" lIns="0" tIns="0" rIns="0" bIns="0" rtlCol="0" anchor="t"/>
          <a:lstStyle/>
          <a:p>
            <a:pPr algn="l" indent="0" marL="0">
              <a:lnSpc>
                <a:spcPct val="105000"/>
              </a:lnSpc>
              <a:buNone/>
            </a:pPr>
            <a:r>
              <a:rPr lang="en-US" sz="1700" dirty="0">
                <a:solidFill>
                  <a:srgbClr val="3D68EC"/>
                </a:solidFill>
                <a:latin typeface="General Sans Semibold" pitchFamily="34" charset="0"/>
                <a:ea typeface="General Sans Semibold" pitchFamily="34" charset="-122"/>
                <a:cs typeface="General Sans Semibold" pitchFamily="34" charset="-120"/>
              </a:rPr>
              <a:t>Checker:</a:t>
            </a:r>
            <a:pPr algn="l" indent="0" marL="0">
              <a:lnSpc>
                <a:spcPct val="105000"/>
              </a:lnSpc>
              <a:buNone/>
            </a:pPr>
            <a:r>
              <a:rPr lang="en-US" sz="1700" dirty="0">
                <a:solidFill>
                  <a:srgbClr val="000000"/>
                </a:solidFill>
                <a:latin typeface="General Sans" pitchFamily="34" charset="0"/>
                <a:ea typeface="General Sans" pitchFamily="34" charset="-122"/>
                <a:cs typeface="General Sans" pitchFamily="34" charset="-120"/>
              </a:rPr>
              <a:t> leest wat de agent teruggeeft en vraagt: klopt dit, en kunnen we dit zo laten zien?</a:t>
            </a:r>
            <a:endParaRPr lang="en-US" sz="1700" dirty="0"/>
          </a:p>
        </p:txBody>
      </p:sp>
      <p:sp>
        <p:nvSpPr>
          <p:cNvPr id="77" name="Shape 75"/>
          <p:cNvSpPr/>
          <p:nvPr/>
        </p:nvSpPr>
        <p:spPr>
          <a:xfrm>
            <a:off x="548640" y="3401568"/>
            <a:ext cx="201168" cy="201168"/>
          </a:xfrm>
          <a:prstGeom prst="ellipse">
            <a:avLst/>
          </a:prstGeom>
          <a:solidFill>
            <a:srgbClr val="00AF81"/>
          </a:solidFill>
          <a:ln/>
        </p:spPr>
        <p:txBody>
          <a:bodyPr/>
          <a:p/>
        </p:txBody>
      </p:sp>
      <p:sp>
        <p:nvSpPr>
          <p:cNvPr id="78" name="Text 76"/>
          <p:cNvSpPr/>
          <p:nvPr/>
        </p:nvSpPr>
        <p:spPr>
          <a:xfrm>
            <a:off x="960120" y="32918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Wissel</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na ronde 1, zodat beiden beide rollen doen</a:t>
            </a:r>
            <a:endParaRPr lang="en-US" sz="1900" dirty="0"/>
          </a:p>
        </p:txBody>
      </p:sp>
      <p:sp>
        <p:nvSpPr>
          <p:cNvPr id="79" name="Shape 77"/>
          <p:cNvSpPr/>
          <p:nvPr/>
        </p:nvSpPr>
        <p:spPr>
          <a:xfrm>
            <a:off x="548640" y="4315968"/>
            <a:ext cx="201168" cy="201168"/>
          </a:xfrm>
          <a:prstGeom prst="ellipse">
            <a:avLst/>
          </a:prstGeom>
          <a:solidFill>
            <a:srgbClr val="F4D74B"/>
          </a:solidFill>
          <a:ln/>
        </p:spPr>
        <p:txBody>
          <a:bodyPr/>
          <a:p/>
        </p:txBody>
      </p:sp>
      <p:sp>
        <p:nvSpPr>
          <p:cNvPr id="80" name="Text 78"/>
          <p:cNvSpPr/>
          <p:nvPr/>
        </p:nvSpPr>
        <p:spPr>
          <a:xfrm>
            <a:off x="960120" y="42062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Loop je vast?</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Vraag de agent: leg uit wat je net deed</a:t>
            </a:r>
            <a:endParaRPr lang="en-US" sz="1900" dirty="0"/>
          </a:p>
        </p:txBody>
      </p:sp>
      <p:pic>
        <p:nvPicPr>
          <p:cNvPr id="81" name="Image 0" descr="exports\261005_workshop_rad_uitvoering\img\gesprek.png">    </p:cNvPr>
          <p:cNvPicPr>
            <a:picLocks noChangeAspect="1"/>
          </p:cNvPicPr>
          <p:nvPr/>
        </p:nvPicPr>
        <p:blipFill>
          <a:blip r:embed="rId1"/>
          <a:stretch>
            <a:fillRect/>
          </a:stretch>
        </p:blipFill>
        <p:spPr>
          <a:xfrm>
            <a:off x="7498080" y="1417320"/>
            <a:ext cx="4206240" cy="420624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3D68EC"/>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p/>
        </p:txBody>
      </p:sp>
      <p:sp>
        <p:nvSpPr>
          <p:cNvPr id="3" name="Shape 1"/>
          <p:cNvSpPr/>
          <p:nvPr/>
        </p:nvSpPr>
        <p:spPr>
          <a:xfrm>
            <a:off x="11212173" y="399224"/>
            <a:ext cx="34616" cy="34616"/>
          </a:xfrm>
          <a:prstGeom prst="ellipse">
            <a:avLst/>
          </a:prstGeom>
          <a:solidFill>
            <a:srgbClr val="F4D9DC"/>
          </a:solidFill>
          <a:ln/>
        </p:spPr>
        <p:txBody>
          <a:bodyPr/>
          <a:p/>
        </p:txBody>
      </p:sp>
      <p:sp>
        <p:nvSpPr>
          <p:cNvPr id="4" name="Shape 2"/>
          <p:cNvSpPr/>
          <p:nvPr/>
        </p:nvSpPr>
        <p:spPr>
          <a:xfrm>
            <a:off x="11398641" y="399224"/>
            <a:ext cx="34616" cy="34616"/>
          </a:xfrm>
          <a:prstGeom prst="ellipse">
            <a:avLst/>
          </a:prstGeom>
          <a:solidFill>
            <a:srgbClr val="F4D9DC"/>
          </a:solidFill>
          <a:ln/>
        </p:spPr>
        <p:txBody>
          <a:bodyPr/>
          <a:p/>
        </p:txBody>
      </p:sp>
      <p:sp>
        <p:nvSpPr>
          <p:cNvPr id="5" name="Shape 3"/>
          <p:cNvSpPr/>
          <p:nvPr/>
        </p:nvSpPr>
        <p:spPr>
          <a:xfrm>
            <a:off x="11258374" y="435357"/>
            <a:ext cx="51936" cy="51936"/>
          </a:xfrm>
          <a:prstGeom prst="ellipse">
            <a:avLst/>
          </a:prstGeom>
          <a:solidFill>
            <a:srgbClr val="F4D9DC"/>
          </a:solidFill>
          <a:ln/>
        </p:spPr>
        <p:txBody>
          <a:bodyPr/>
          <a:p/>
        </p:txBody>
      </p:sp>
      <p:sp>
        <p:nvSpPr>
          <p:cNvPr id="6" name="Shape 4"/>
          <p:cNvSpPr/>
          <p:nvPr/>
        </p:nvSpPr>
        <p:spPr>
          <a:xfrm>
            <a:off x="11335407" y="435306"/>
            <a:ext cx="51718" cy="51718"/>
          </a:xfrm>
          <a:prstGeom prst="ellipse">
            <a:avLst/>
          </a:prstGeom>
          <a:solidFill>
            <a:srgbClr val="F4D9DC"/>
          </a:solidFill>
          <a:ln/>
        </p:spPr>
        <p:txBody>
          <a:bodyPr/>
          <a:p/>
        </p:txBody>
      </p:sp>
      <p:sp>
        <p:nvSpPr>
          <p:cNvPr id="7" name="Shape 5"/>
          <p:cNvSpPr/>
          <p:nvPr/>
        </p:nvSpPr>
        <p:spPr>
          <a:xfrm>
            <a:off x="11127388" y="442398"/>
            <a:ext cx="35294" cy="35294"/>
          </a:xfrm>
          <a:prstGeom prst="ellipse">
            <a:avLst/>
          </a:prstGeom>
          <a:solidFill>
            <a:srgbClr val="F4D9DC"/>
          </a:solidFill>
          <a:ln/>
        </p:spPr>
        <p:txBody>
          <a:bodyPr/>
          <a:p/>
        </p:txBody>
      </p:sp>
      <p:sp>
        <p:nvSpPr>
          <p:cNvPr id="8" name="Shape 6"/>
          <p:cNvSpPr/>
          <p:nvPr/>
        </p:nvSpPr>
        <p:spPr>
          <a:xfrm>
            <a:off x="11482145" y="441649"/>
            <a:ext cx="35960" cy="35960"/>
          </a:xfrm>
          <a:prstGeom prst="ellipse">
            <a:avLst/>
          </a:prstGeom>
          <a:solidFill>
            <a:srgbClr val="F4D9DC"/>
          </a:solidFill>
          <a:ln/>
        </p:spPr>
        <p:txBody>
          <a:bodyPr/>
          <a:p/>
        </p:txBody>
      </p:sp>
      <p:sp>
        <p:nvSpPr>
          <p:cNvPr id="9" name="Shape 7"/>
          <p:cNvSpPr/>
          <p:nvPr/>
        </p:nvSpPr>
        <p:spPr>
          <a:xfrm>
            <a:off x="11185603" y="459328"/>
            <a:ext cx="52167" cy="52167"/>
          </a:xfrm>
          <a:prstGeom prst="ellipse">
            <a:avLst/>
          </a:prstGeom>
          <a:solidFill>
            <a:srgbClr val="F4D9DC"/>
          </a:solidFill>
          <a:ln/>
        </p:spPr>
        <p:txBody>
          <a:bodyPr/>
          <a:p/>
        </p:txBody>
      </p:sp>
      <p:sp>
        <p:nvSpPr>
          <p:cNvPr id="10" name="Shape 8"/>
          <p:cNvSpPr/>
          <p:nvPr/>
        </p:nvSpPr>
        <p:spPr>
          <a:xfrm>
            <a:off x="11408043" y="458713"/>
            <a:ext cx="52384" cy="52384"/>
          </a:xfrm>
          <a:prstGeom prst="ellipse">
            <a:avLst/>
          </a:prstGeom>
          <a:solidFill>
            <a:srgbClr val="F4D9DC"/>
          </a:solidFill>
          <a:ln/>
        </p:spPr>
        <p:txBody>
          <a:bodyPr/>
          <a:p/>
        </p:txBody>
      </p:sp>
      <p:sp>
        <p:nvSpPr>
          <p:cNvPr id="11" name="Shape 9"/>
          <p:cNvSpPr/>
          <p:nvPr/>
        </p:nvSpPr>
        <p:spPr>
          <a:xfrm>
            <a:off x="11241891" y="499749"/>
            <a:ext cx="36613" cy="36613"/>
          </a:xfrm>
          <a:prstGeom prst="ellipse">
            <a:avLst/>
          </a:prstGeom>
          <a:solidFill>
            <a:srgbClr val="F4D9DC"/>
          </a:solidFill>
          <a:ln/>
        </p:spPr>
        <p:txBody>
          <a:bodyPr/>
          <a:p/>
        </p:txBody>
      </p:sp>
      <p:sp>
        <p:nvSpPr>
          <p:cNvPr id="12" name="Shape 10"/>
          <p:cNvSpPr/>
          <p:nvPr/>
        </p:nvSpPr>
        <p:spPr>
          <a:xfrm>
            <a:off x="11294557" y="500146"/>
            <a:ext cx="57223" cy="57223"/>
          </a:xfrm>
          <a:prstGeom prst="ellipse">
            <a:avLst/>
          </a:prstGeom>
          <a:solidFill>
            <a:srgbClr val="F4D9DC"/>
          </a:solidFill>
          <a:ln/>
        </p:spPr>
        <p:txBody>
          <a:bodyPr/>
          <a:p/>
        </p:txBody>
      </p:sp>
      <p:sp>
        <p:nvSpPr>
          <p:cNvPr id="13" name="Shape 11"/>
          <p:cNvSpPr/>
          <p:nvPr/>
        </p:nvSpPr>
        <p:spPr>
          <a:xfrm>
            <a:off x="11364102" y="498770"/>
            <a:ext cx="35294" cy="35294"/>
          </a:xfrm>
          <a:prstGeom prst="ellipse">
            <a:avLst/>
          </a:prstGeom>
          <a:solidFill>
            <a:srgbClr val="F4D9DC"/>
          </a:solidFill>
          <a:ln/>
        </p:spPr>
        <p:txBody>
          <a:bodyPr/>
          <a:p/>
        </p:txBody>
      </p:sp>
      <p:sp>
        <p:nvSpPr>
          <p:cNvPr id="14" name="Shape 12"/>
          <p:cNvSpPr/>
          <p:nvPr/>
        </p:nvSpPr>
        <p:spPr>
          <a:xfrm>
            <a:off x="11123515" y="504524"/>
            <a:ext cx="51936" cy="51936"/>
          </a:xfrm>
          <a:prstGeom prst="ellipse">
            <a:avLst/>
          </a:prstGeom>
          <a:solidFill>
            <a:srgbClr val="F4D9DC"/>
          </a:solidFill>
          <a:ln/>
        </p:spPr>
        <p:txBody>
          <a:bodyPr/>
          <a:p/>
        </p:txBody>
      </p:sp>
      <p:sp>
        <p:nvSpPr>
          <p:cNvPr id="15" name="Shape 13"/>
          <p:cNvSpPr/>
          <p:nvPr/>
        </p:nvSpPr>
        <p:spPr>
          <a:xfrm>
            <a:off x="11470202" y="504300"/>
            <a:ext cx="52384" cy="52384"/>
          </a:xfrm>
          <a:prstGeom prst="ellipse">
            <a:avLst/>
          </a:prstGeom>
          <a:solidFill>
            <a:srgbClr val="F4D9DC"/>
          </a:solidFill>
          <a:ln/>
        </p:spPr>
        <p:txBody>
          <a:bodyPr/>
          <a:p/>
        </p:txBody>
      </p:sp>
      <p:sp>
        <p:nvSpPr>
          <p:cNvPr id="16" name="Shape 14"/>
          <p:cNvSpPr/>
          <p:nvPr/>
        </p:nvSpPr>
        <p:spPr>
          <a:xfrm>
            <a:off x="11060774" y="508825"/>
            <a:ext cx="35627" cy="35627"/>
          </a:xfrm>
          <a:prstGeom prst="ellipse">
            <a:avLst/>
          </a:prstGeom>
          <a:solidFill>
            <a:srgbClr val="F4D9DC"/>
          </a:solidFill>
          <a:ln/>
        </p:spPr>
        <p:txBody>
          <a:bodyPr/>
          <a:p/>
        </p:txBody>
      </p:sp>
      <p:sp>
        <p:nvSpPr>
          <p:cNvPr id="17" name="Shape 15"/>
          <p:cNvSpPr/>
          <p:nvPr/>
        </p:nvSpPr>
        <p:spPr>
          <a:xfrm>
            <a:off x="11548535" y="508038"/>
            <a:ext cx="36613" cy="36613"/>
          </a:xfrm>
          <a:prstGeom prst="ellipse">
            <a:avLst/>
          </a:prstGeom>
          <a:solidFill>
            <a:srgbClr val="F4D9DC"/>
          </a:solidFill>
          <a:ln/>
        </p:spPr>
        <p:txBody>
          <a:bodyPr/>
          <a:p/>
        </p:txBody>
      </p:sp>
      <p:sp>
        <p:nvSpPr>
          <p:cNvPr id="18" name="Shape 16"/>
          <p:cNvSpPr/>
          <p:nvPr/>
        </p:nvSpPr>
        <p:spPr>
          <a:xfrm>
            <a:off x="11191466" y="533379"/>
            <a:ext cx="57825" cy="57825"/>
          </a:xfrm>
          <a:prstGeom prst="ellipse">
            <a:avLst/>
          </a:prstGeom>
          <a:solidFill>
            <a:srgbClr val="F4D9DC"/>
          </a:solidFill>
          <a:ln/>
        </p:spPr>
        <p:txBody>
          <a:bodyPr/>
          <a:p/>
        </p:txBody>
      </p:sp>
      <p:sp>
        <p:nvSpPr>
          <p:cNvPr id="19" name="Shape 17"/>
          <p:cNvSpPr/>
          <p:nvPr/>
        </p:nvSpPr>
        <p:spPr>
          <a:xfrm>
            <a:off x="11396535" y="533494"/>
            <a:ext cx="57428" cy="57428"/>
          </a:xfrm>
          <a:prstGeom prst="ellipse">
            <a:avLst/>
          </a:prstGeom>
          <a:solidFill>
            <a:srgbClr val="F4D9DC"/>
          </a:solidFill>
          <a:ln/>
        </p:spPr>
        <p:txBody>
          <a:bodyPr/>
          <a:p/>
        </p:txBody>
      </p:sp>
      <p:sp>
        <p:nvSpPr>
          <p:cNvPr id="20" name="Shape 18"/>
          <p:cNvSpPr/>
          <p:nvPr/>
        </p:nvSpPr>
        <p:spPr>
          <a:xfrm>
            <a:off x="11079087" y="567226"/>
            <a:ext cx="51270" cy="51270"/>
          </a:xfrm>
          <a:prstGeom prst="ellipse">
            <a:avLst/>
          </a:prstGeom>
          <a:solidFill>
            <a:srgbClr val="F4D9DC"/>
          </a:solidFill>
          <a:ln/>
        </p:spPr>
        <p:txBody>
          <a:bodyPr/>
          <a:p/>
        </p:txBody>
      </p:sp>
      <p:sp>
        <p:nvSpPr>
          <p:cNvPr id="21" name="Shape 19"/>
          <p:cNvSpPr/>
          <p:nvPr/>
        </p:nvSpPr>
        <p:spPr>
          <a:xfrm>
            <a:off x="11339728" y="567053"/>
            <a:ext cx="34616" cy="34616"/>
          </a:xfrm>
          <a:prstGeom prst="ellipse">
            <a:avLst/>
          </a:prstGeom>
          <a:solidFill>
            <a:srgbClr val="F4D9DC"/>
          </a:solidFill>
          <a:ln/>
        </p:spPr>
        <p:txBody>
          <a:bodyPr/>
          <a:p/>
        </p:txBody>
      </p:sp>
      <p:sp>
        <p:nvSpPr>
          <p:cNvPr id="22" name="Shape 20"/>
          <p:cNvSpPr/>
          <p:nvPr/>
        </p:nvSpPr>
        <p:spPr>
          <a:xfrm>
            <a:off x="11515167" y="566234"/>
            <a:ext cx="52819" cy="52819"/>
          </a:xfrm>
          <a:prstGeom prst="ellipse">
            <a:avLst/>
          </a:prstGeom>
          <a:solidFill>
            <a:srgbClr val="F4D9DC"/>
          </a:solidFill>
          <a:ln/>
        </p:spPr>
        <p:txBody>
          <a:bodyPr/>
          <a:p/>
        </p:txBody>
      </p:sp>
      <p:sp>
        <p:nvSpPr>
          <p:cNvPr id="23" name="Shape 21"/>
          <p:cNvSpPr/>
          <p:nvPr/>
        </p:nvSpPr>
        <p:spPr>
          <a:xfrm>
            <a:off x="11262860" y="569742"/>
            <a:ext cx="34961" cy="34961"/>
          </a:xfrm>
          <a:prstGeom prst="ellipse">
            <a:avLst/>
          </a:prstGeom>
          <a:solidFill>
            <a:srgbClr val="F4D9DC"/>
          </a:solidFill>
          <a:ln/>
        </p:spPr>
        <p:txBody>
          <a:bodyPr/>
          <a:p/>
        </p:txBody>
      </p:sp>
      <p:sp>
        <p:nvSpPr>
          <p:cNvPr id="24" name="Shape 22"/>
          <p:cNvSpPr/>
          <p:nvPr/>
        </p:nvSpPr>
        <p:spPr>
          <a:xfrm>
            <a:off x="11462521" y="569818"/>
            <a:ext cx="35294" cy="35294"/>
          </a:xfrm>
          <a:prstGeom prst="ellipse">
            <a:avLst/>
          </a:prstGeom>
          <a:solidFill>
            <a:srgbClr val="F4D9DC"/>
          </a:solidFill>
          <a:ln/>
        </p:spPr>
        <p:txBody>
          <a:bodyPr/>
          <a:p/>
        </p:txBody>
      </p:sp>
      <p:sp>
        <p:nvSpPr>
          <p:cNvPr id="25" name="Shape 23"/>
          <p:cNvSpPr/>
          <p:nvPr/>
        </p:nvSpPr>
        <p:spPr>
          <a:xfrm>
            <a:off x="11145681" y="573441"/>
            <a:ext cx="34270" cy="34270"/>
          </a:xfrm>
          <a:prstGeom prst="ellipse">
            <a:avLst/>
          </a:prstGeom>
          <a:solidFill>
            <a:srgbClr val="F4D9DC"/>
          </a:solidFill>
          <a:ln/>
        </p:spPr>
        <p:txBody>
          <a:bodyPr/>
          <a:p/>
        </p:txBody>
      </p:sp>
      <p:sp>
        <p:nvSpPr>
          <p:cNvPr id="26" name="Shape 24"/>
          <p:cNvSpPr/>
          <p:nvPr/>
        </p:nvSpPr>
        <p:spPr>
          <a:xfrm>
            <a:off x="11592015" y="593213"/>
            <a:ext cx="35294" cy="35294"/>
          </a:xfrm>
          <a:prstGeom prst="ellipse">
            <a:avLst/>
          </a:prstGeom>
          <a:solidFill>
            <a:srgbClr val="F4D9DC"/>
          </a:solidFill>
          <a:ln/>
        </p:spPr>
        <p:txBody>
          <a:bodyPr/>
          <a:p/>
        </p:txBody>
      </p:sp>
      <p:sp>
        <p:nvSpPr>
          <p:cNvPr id="27" name="Shape 25"/>
          <p:cNvSpPr/>
          <p:nvPr/>
        </p:nvSpPr>
        <p:spPr>
          <a:xfrm>
            <a:off x="11019124" y="593444"/>
            <a:ext cx="34616" cy="34616"/>
          </a:xfrm>
          <a:prstGeom prst="ellipse">
            <a:avLst/>
          </a:prstGeom>
          <a:solidFill>
            <a:srgbClr val="F4D9DC"/>
          </a:solidFill>
          <a:ln/>
        </p:spPr>
        <p:txBody>
          <a:bodyPr/>
          <a:p/>
        </p:txBody>
      </p:sp>
      <p:sp>
        <p:nvSpPr>
          <p:cNvPr id="28" name="Shape 26"/>
          <p:cNvSpPr/>
          <p:nvPr/>
        </p:nvSpPr>
        <p:spPr>
          <a:xfrm>
            <a:off x="11403576" y="610214"/>
            <a:ext cx="34961" cy="34961"/>
          </a:xfrm>
          <a:prstGeom prst="ellipse">
            <a:avLst/>
          </a:prstGeom>
          <a:solidFill>
            <a:srgbClr val="F4D9DC"/>
          </a:solidFill>
          <a:ln/>
        </p:spPr>
        <p:txBody>
          <a:bodyPr/>
          <a:p/>
        </p:txBody>
      </p:sp>
      <p:sp>
        <p:nvSpPr>
          <p:cNvPr id="29" name="Shape 27"/>
          <p:cNvSpPr/>
          <p:nvPr/>
        </p:nvSpPr>
        <p:spPr>
          <a:xfrm>
            <a:off x="11201662" y="616570"/>
            <a:ext cx="35627" cy="35627"/>
          </a:xfrm>
          <a:prstGeom prst="ellipse">
            <a:avLst/>
          </a:prstGeom>
          <a:solidFill>
            <a:srgbClr val="F4D9DC"/>
          </a:solidFill>
          <a:ln/>
        </p:spPr>
        <p:txBody>
          <a:bodyPr/>
          <a:p/>
        </p:txBody>
      </p:sp>
      <p:sp>
        <p:nvSpPr>
          <p:cNvPr id="30" name="Shape 28"/>
          <p:cNvSpPr/>
          <p:nvPr/>
        </p:nvSpPr>
        <p:spPr>
          <a:xfrm>
            <a:off x="11127484" y="620705"/>
            <a:ext cx="58030" cy="58030"/>
          </a:xfrm>
          <a:prstGeom prst="ellipse">
            <a:avLst/>
          </a:prstGeom>
          <a:solidFill>
            <a:srgbClr val="F4D9DC"/>
          </a:solidFill>
          <a:ln/>
        </p:spPr>
        <p:txBody>
          <a:bodyPr/>
          <a:p/>
        </p:txBody>
      </p:sp>
      <p:sp>
        <p:nvSpPr>
          <p:cNvPr id="31" name="Shape 29"/>
          <p:cNvSpPr/>
          <p:nvPr/>
        </p:nvSpPr>
        <p:spPr>
          <a:xfrm>
            <a:off x="11460767" y="620852"/>
            <a:ext cx="57428" cy="57428"/>
          </a:xfrm>
          <a:prstGeom prst="ellipse">
            <a:avLst/>
          </a:prstGeom>
          <a:solidFill>
            <a:srgbClr val="F4D9DC"/>
          </a:solidFill>
          <a:ln/>
        </p:spPr>
        <p:txBody>
          <a:bodyPr/>
          <a:p/>
        </p:txBody>
      </p:sp>
      <p:sp>
        <p:nvSpPr>
          <p:cNvPr id="32" name="Shape 30"/>
          <p:cNvSpPr/>
          <p:nvPr/>
        </p:nvSpPr>
        <p:spPr>
          <a:xfrm>
            <a:off x="11055219" y="640144"/>
            <a:ext cx="51718" cy="51718"/>
          </a:xfrm>
          <a:prstGeom prst="ellipse">
            <a:avLst/>
          </a:prstGeom>
          <a:solidFill>
            <a:srgbClr val="F4D9DC"/>
          </a:solidFill>
          <a:ln/>
        </p:spPr>
        <p:txBody>
          <a:bodyPr/>
          <a:p/>
        </p:txBody>
      </p:sp>
      <p:sp>
        <p:nvSpPr>
          <p:cNvPr id="33" name="Shape 31"/>
          <p:cNvSpPr/>
          <p:nvPr/>
        </p:nvSpPr>
        <p:spPr>
          <a:xfrm>
            <a:off x="11539330" y="640266"/>
            <a:ext cx="51270" cy="51270"/>
          </a:xfrm>
          <a:prstGeom prst="ellipse">
            <a:avLst/>
          </a:prstGeom>
          <a:solidFill>
            <a:srgbClr val="F4D9DC"/>
          </a:solidFill>
          <a:ln/>
        </p:spPr>
        <p:txBody>
          <a:bodyPr/>
          <a:p/>
        </p:txBody>
      </p:sp>
      <p:sp>
        <p:nvSpPr>
          <p:cNvPr id="34" name="Shape 32"/>
          <p:cNvSpPr/>
          <p:nvPr/>
        </p:nvSpPr>
        <p:spPr>
          <a:xfrm>
            <a:off x="11429576" y="682274"/>
            <a:ext cx="35627" cy="35627"/>
          </a:xfrm>
          <a:prstGeom prst="ellipse">
            <a:avLst/>
          </a:prstGeom>
          <a:solidFill>
            <a:srgbClr val="F4D9DC"/>
          </a:solidFill>
          <a:ln/>
        </p:spPr>
        <p:txBody>
          <a:bodyPr/>
          <a:p/>
        </p:txBody>
      </p:sp>
      <p:sp>
        <p:nvSpPr>
          <p:cNvPr id="35" name="Shape 33"/>
          <p:cNvSpPr/>
          <p:nvPr/>
        </p:nvSpPr>
        <p:spPr>
          <a:xfrm>
            <a:off x="11004076" y="687222"/>
            <a:ext cx="34616" cy="34616"/>
          </a:xfrm>
          <a:prstGeom prst="ellipse">
            <a:avLst/>
          </a:prstGeom>
          <a:solidFill>
            <a:srgbClr val="F4D9DC"/>
          </a:solidFill>
          <a:ln/>
        </p:spPr>
        <p:txBody>
          <a:bodyPr/>
          <a:p/>
        </p:txBody>
      </p:sp>
      <p:sp>
        <p:nvSpPr>
          <p:cNvPr id="36" name="Shape 34"/>
          <p:cNvSpPr/>
          <p:nvPr/>
        </p:nvSpPr>
        <p:spPr>
          <a:xfrm>
            <a:off x="11502052" y="685321"/>
            <a:ext cx="34270" cy="34270"/>
          </a:xfrm>
          <a:prstGeom prst="ellipse">
            <a:avLst/>
          </a:prstGeom>
          <a:solidFill>
            <a:srgbClr val="F4D9DC"/>
          </a:solidFill>
          <a:ln/>
        </p:spPr>
        <p:txBody>
          <a:bodyPr/>
          <a:p/>
        </p:txBody>
      </p:sp>
      <p:sp>
        <p:nvSpPr>
          <p:cNvPr id="37" name="Shape 35"/>
          <p:cNvSpPr/>
          <p:nvPr/>
        </p:nvSpPr>
        <p:spPr>
          <a:xfrm>
            <a:off x="11606321" y="686422"/>
            <a:ext cx="35627" cy="35627"/>
          </a:xfrm>
          <a:prstGeom prst="ellipse">
            <a:avLst/>
          </a:prstGeom>
          <a:solidFill>
            <a:srgbClr val="F4D9DC"/>
          </a:solidFill>
          <a:ln/>
        </p:spPr>
        <p:txBody>
          <a:bodyPr/>
          <a:p/>
        </p:txBody>
      </p:sp>
      <p:sp>
        <p:nvSpPr>
          <p:cNvPr id="38" name="Shape 36"/>
          <p:cNvSpPr/>
          <p:nvPr/>
        </p:nvSpPr>
        <p:spPr>
          <a:xfrm>
            <a:off x="11108908" y="688957"/>
            <a:ext cx="35294" cy="35294"/>
          </a:xfrm>
          <a:prstGeom prst="ellipse">
            <a:avLst/>
          </a:prstGeom>
          <a:solidFill>
            <a:srgbClr val="F4D9DC"/>
          </a:solidFill>
          <a:ln/>
        </p:spPr>
        <p:txBody>
          <a:bodyPr/>
          <a:p/>
        </p:txBody>
      </p:sp>
      <p:sp>
        <p:nvSpPr>
          <p:cNvPr id="39" name="Shape 37"/>
          <p:cNvSpPr/>
          <p:nvPr/>
        </p:nvSpPr>
        <p:spPr>
          <a:xfrm>
            <a:off x="11179733" y="690371"/>
            <a:ext cx="36613" cy="36613"/>
          </a:xfrm>
          <a:prstGeom prst="ellipse">
            <a:avLst/>
          </a:prstGeom>
          <a:solidFill>
            <a:srgbClr val="F4D9DC"/>
          </a:solidFill>
          <a:ln/>
        </p:spPr>
        <p:txBody>
          <a:bodyPr/>
          <a:p/>
        </p:txBody>
      </p:sp>
      <p:sp>
        <p:nvSpPr>
          <p:cNvPr id="40" name="Shape 38"/>
          <p:cNvSpPr/>
          <p:nvPr/>
        </p:nvSpPr>
        <p:spPr>
          <a:xfrm>
            <a:off x="11054764" y="716576"/>
            <a:ext cx="51936" cy="51936"/>
          </a:xfrm>
          <a:prstGeom prst="ellipse">
            <a:avLst/>
          </a:prstGeom>
          <a:solidFill>
            <a:srgbClr val="F4D9DC"/>
          </a:solidFill>
          <a:ln/>
        </p:spPr>
        <p:txBody>
          <a:bodyPr/>
          <a:p/>
        </p:txBody>
      </p:sp>
      <p:sp>
        <p:nvSpPr>
          <p:cNvPr id="41" name="Shape 39"/>
          <p:cNvSpPr/>
          <p:nvPr/>
        </p:nvSpPr>
        <p:spPr>
          <a:xfrm>
            <a:off x="11539023" y="716851"/>
            <a:ext cx="51488" cy="51488"/>
          </a:xfrm>
          <a:prstGeom prst="ellipse">
            <a:avLst/>
          </a:prstGeom>
          <a:solidFill>
            <a:srgbClr val="F4D9DC"/>
          </a:solidFill>
          <a:ln/>
        </p:spPr>
        <p:txBody>
          <a:bodyPr/>
          <a:p/>
        </p:txBody>
      </p:sp>
      <p:sp>
        <p:nvSpPr>
          <p:cNvPr id="42" name="Shape 40"/>
          <p:cNvSpPr/>
          <p:nvPr/>
        </p:nvSpPr>
        <p:spPr>
          <a:xfrm>
            <a:off x="11127490" y="729288"/>
            <a:ext cx="58222" cy="58222"/>
          </a:xfrm>
          <a:prstGeom prst="ellipse">
            <a:avLst/>
          </a:prstGeom>
          <a:solidFill>
            <a:srgbClr val="F4D9DC"/>
          </a:solidFill>
          <a:ln/>
        </p:spPr>
        <p:txBody>
          <a:bodyPr/>
          <a:p/>
        </p:txBody>
      </p:sp>
      <p:sp>
        <p:nvSpPr>
          <p:cNvPr id="43" name="Shape 41"/>
          <p:cNvSpPr/>
          <p:nvPr/>
        </p:nvSpPr>
        <p:spPr>
          <a:xfrm>
            <a:off x="11460671" y="729781"/>
            <a:ext cx="57633" cy="57633"/>
          </a:xfrm>
          <a:prstGeom prst="ellipse">
            <a:avLst/>
          </a:prstGeom>
          <a:solidFill>
            <a:srgbClr val="F4D9DC"/>
          </a:solidFill>
          <a:ln/>
        </p:spPr>
        <p:txBody>
          <a:bodyPr/>
          <a:p/>
        </p:txBody>
      </p:sp>
      <p:sp>
        <p:nvSpPr>
          <p:cNvPr id="44" name="Shape 42"/>
          <p:cNvSpPr/>
          <p:nvPr/>
        </p:nvSpPr>
        <p:spPr>
          <a:xfrm>
            <a:off x="11407973" y="756415"/>
            <a:ext cx="35960" cy="35960"/>
          </a:xfrm>
          <a:prstGeom prst="ellipse">
            <a:avLst/>
          </a:prstGeom>
          <a:solidFill>
            <a:srgbClr val="F4D9DC"/>
          </a:solidFill>
          <a:ln/>
        </p:spPr>
        <p:txBody>
          <a:bodyPr/>
          <a:p/>
        </p:txBody>
      </p:sp>
      <p:sp>
        <p:nvSpPr>
          <p:cNvPr id="45" name="Shape 43"/>
          <p:cNvSpPr/>
          <p:nvPr/>
        </p:nvSpPr>
        <p:spPr>
          <a:xfrm>
            <a:off x="11207308" y="763884"/>
            <a:ext cx="34616" cy="34616"/>
          </a:xfrm>
          <a:prstGeom prst="ellipse">
            <a:avLst/>
          </a:prstGeom>
          <a:solidFill>
            <a:srgbClr val="F4D9DC"/>
          </a:solidFill>
          <a:ln/>
        </p:spPr>
        <p:txBody>
          <a:bodyPr/>
          <a:p/>
        </p:txBody>
      </p:sp>
      <p:sp>
        <p:nvSpPr>
          <p:cNvPr id="46" name="Shape 44"/>
          <p:cNvSpPr/>
          <p:nvPr/>
        </p:nvSpPr>
        <p:spPr>
          <a:xfrm>
            <a:off x="11018670" y="780462"/>
            <a:ext cx="34616" cy="34616"/>
          </a:xfrm>
          <a:prstGeom prst="ellipse">
            <a:avLst/>
          </a:prstGeom>
          <a:solidFill>
            <a:srgbClr val="F4D9DC"/>
          </a:solidFill>
          <a:ln/>
        </p:spPr>
        <p:txBody>
          <a:bodyPr/>
          <a:p/>
        </p:txBody>
      </p:sp>
      <p:sp>
        <p:nvSpPr>
          <p:cNvPr id="47" name="Shape 45"/>
          <p:cNvSpPr/>
          <p:nvPr/>
        </p:nvSpPr>
        <p:spPr>
          <a:xfrm>
            <a:off x="11591670" y="780123"/>
            <a:ext cx="35294" cy="35294"/>
          </a:xfrm>
          <a:prstGeom prst="ellipse">
            <a:avLst/>
          </a:prstGeom>
          <a:solidFill>
            <a:srgbClr val="F4D9DC"/>
          </a:solidFill>
          <a:ln/>
        </p:spPr>
        <p:txBody>
          <a:bodyPr/>
          <a:p/>
        </p:txBody>
      </p:sp>
      <p:sp>
        <p:nvSpPr>
          <p:cNvPr id="48" name="Shape 46"/>
          <p:cNvSpPr/>
          <p:nvPr/>
        </p:nvSpPr>
        <p:spPr>
          <a:xfrm>
            <a:off x="11079010" y="790179"/>
            <a:ext cx="51270" cy="51270"/>
          </a:xfrm>
          <a:prstGeom prst="ellipse">
            <a:avLst/>
          </a:prstGeom>
          <a:solidFill>
            <a:srgbClr val="F4D9DC"/>
          </a:solidFill>
          <a:ln/>
        </p:spPr>
        <p:txBody>
          <a:bodyPr/>
          <a:p/>
        </p:txBody>
      </p:sp>
      <p:sp>
        <p:nvSpPr>
          <p:cNvPr id="49" name="Shape 47"/>
          <p:cNvSpPr/>
          <p:nvPr/>
        </p:nvSpPr>
        <p:spPr>
          <a:xfrm>
            <a:off x="11515218" y="789692"/>
            <a:ext cx="52602" cy="52602"/>
          </a:xfrm>
          <a:prstGeom prst="ellipse">
            <a:avLst/>
          </a:prstGeom>
          <a:solidFill>
            <a:srgbClr val="F4D9DC"/>
          </a:solidFill>
          <a:ln/>
        </p:spPr>
        <p:txBody>
          <a:bodyPr/>
          <a:p/>
        </p:txBody>
      </p:sp>
      <p:sp>
        <p:nvSpPr>
          <p:cNvPr id="50" name="Shape 48"/>
          <p:cNvSpPr/>
          <p:nvPr/>
        </p:nvSpPr>
        <p:spPr>
          <a:xfrm>
            <a:off x="11147371" y="803460"/>
            <a:ext cx="35627" cy="35627"/>
          </a:xfrm>
          <a:prstGeom prst="ellipse">
            <a:avLst/>
          </a:prstGeom>
          <a:solidFill>
            <a:srgbClr val="F4D9DC"/>
          </a:solidFill>
          <a:ln/>
        </p:spPr>
        <p:txBody>
          <a:bodyPr/>
          <a:p/>
        </p:txBody>
      </p:sp>
      <p:sp>
        <p:nvSpPr>
          <p:cNvPr id="51" name="Shape 49"/>
          <p:cNvSpPr/>
          <p:nvPr/>
        </p:nvSpPr>
        <p:spPr>
          <a:xfrm>
            <a:off x="11347786" y="804293"/>
            <a:ext cx="35294" cy="35294"/>
          </a:xfrm>
          <a:prstGeom prst="ellipse">
            <a:avLst/>
          </a:prstGeom>
          <a:solidFill>
            <a:srgbClr val="F4D9DC"/>
          </a:solidFill>
          <a:ln/>
        </p:spPr>
        <p:txBody>
          <a:bodyPr/>
          <a:p/>
        </p:txBody>
      </p:sp>
      <p:sp>
        <p:nvSpPr>
          <p:cNvPr id="52" name="Shape 50"/>
          <p:cNvSpPr/>
          <p:nvPr/>
        </p:nvSpPr>
        <p:spPr>
          <a:xfrm>
            <a:off x="11465119" y="800919"/>
            <a:ext cx="34961" cy="34961"/>
          </a:xfrm>
          <a:prstGeom prst="ellipse">
            <a:avLst/>
          </a:prstGeom>
          <a:solidFill>
            <a:srgbClr val="F4D9DC"/>
          </a:solidFill>
          <a:ln/>
        </p:spPr>
        <p:txBody>
          <a:bodyPr/>
          <a:p/>
        </p:txBody>
      </p:sp>
      <p:sp>
        <p:nvSpPr>
          <p:cNvPr id="53" name="Shape 51"/>
          <p:cNvSpPr/>
          <p:nvPr/>
        </p:nvSpPr>
        <p:spPr>
          <a:xfrm>
            <a:off x="11270669" y="806590"/>
            <a:ext cx="35627" cy="35627"/>
          </a:xfrm>
          <a:prstGeom prst="ellipse">
            <a:avLst/>
          </a:prstGeom>
          <a:solidFill>
            <a:srgbClr val="F4D9DC"/>
          </a:solidFill>
          <a:ln/>
        </p:spPr>
        <p:txBody>
          <a:bodyPr/>
          <a:p/>
        </p:txBody>
      </p:sp>
      <p:sp>
        <p:nvSpPr>
          <p:cNvPr id="54" name="Shape 52"/>
          <p:cNvSpPr/>
          <p:nvPr/>
        </p:nvSpPr>
        <p:spPr>
          <a:xfrm>
            <a:off x="11191498" y="817766"/>
            <a:ext cx="57633" cy="57633"/>
          </a:xfrm>
          <a:prstGeom prst="ellipse">
            <a:avLst/>
          </a:prstGeom>
          <a:solidFill>
            <a:srgbClr val="F4D9DC"/>
          </a:solidFill>
          <a:ln/>
        </p:spPr>
        <p:txBody>
          <a:bodyPr/>
          <a:p/>
        </p:txBody>
      </p:sp>
      <p:sp>
        <p:nvSpPr>
          <p:cNvPr id="55" name="Shape 53"/>
          <p:cNvSpPr/>
          <p:nvPr/>
        </p:nvSpPr>
        <p:spPr>
          <a:xfrm>
            <a:off x="11396573" y="817888"/>
            <a:ext cx="57633" cy="57633"/>
          </a:xfrm>
          <a:prstGeom prst="ellipse">
            <a:avLst/>
          </a:prstGeom>
          <a:solidFill>
            <a:srgbClr val="F4D9DC"/>
          </a:solidFill>
          <a:ln/>
        </p:spPr>
        <p:txBody>
          <a:bodyPr/>
          <a:p/>
        </p:txBody>
      </p:sp>
      <p:sp>
        <p:nvSpPr>
          <p:cNvPr id="56" name="Shape 54"/>
          <p:cNvSpPr/>
          <p:nvPr/>
        </p:nvSpPr>
        <p:spPr>
          <a:xfrm>
            <a:off x="11123445" y="851985"/>
            <a:ext cx="52167" cy="52167"/>
          </a:xfrm>
          <a:prstGeom prst="ellipse">
            <a:avLst/>
          </a:prstGeom>
          <a:solidFill>
            <a:srgbClr val="F4D9DC"/>
          </a:solidFill>
          <a:ln/>
        </p:spPr>
        <p:txBody>
          <a:bodyPr/>
          <a:p/>
        </p:txBody>
      </p:sp>
      <p:sp>
        <p:nvSpPr>
          <p:cNvPr id="57" name="Shape 55"/>
          <p:cNvSpPr/>
          <p:nvPr/>
        </p:nvSpPr>
        <p:spPr>
          <a:xfrm>
            <a:off x="11294647" y="851390"/>
            <a:ext cx="57223" cy="57223"/>
          </a:xfrm>
          <a:prstGeom prst="ellipse">
            <a:avLst/>
          </a:prstGeom>
          <a:solidFill>
            <a:srgbClr val="F4D9DC"/>
          </a:solidFill>
          <a:ln/>
        </p:spPr>
        <p:txBody>
          <a:bodyPr/>
          <a:p/>
        </p:txBody>
      </p:sp>
      <p:sp>
        <p:nvSpPr>
          <p:cNvPr id="58" name="Shape 56"/>
          <p:cNvSpPr/>
          <p:nvPr/>
        </p:nvSpPr>
        <p:spPr>
          <a:xfrm>
            <a:off x="11470202" y="852382"/>
            <a:ext cx="52384" cy="52384"/>
          </a:xfrm>
          <a:prstGeom prst="ellipse">
            <a:avLst/>
          </a:prstGeom>
          <a:solidFill>
            <a:srgbClr val="F4D9DC"/>
          </a:solidFill>
          <a:ln/>
        </p:spPr>
        <p:txBody>
          <a:bodyPr/>
          <a:p/>
        </p:txBody>
      </p:sp>
      <p:sp>
        <p:nvSpPr>
          <p:cNvPr id="59" name="Shape 57"/>
          <p:cNvSpPr/>
          <p:nvPr/>
        </p:nvSpPr>
        <p:spPr>
          <a:xfrm>
            <a:off x="11060774" y="864607"/>
            <a:ext cx="35627" cy="35627"/>
          </a:xfrm>
          <a:prstGeom prst="ellipse">
            <a:avLst/>
          </a:prstGeom>
          <a:solidFill>
            <a:srgbClr val="F4D9DC"/>
          </a:solidFill>
          <a:ln/>
        </p:spPr>
        <p:txBody>
          <a:bodyPr/>
          <a:p/>
        </p:txBody>
      </p:sp>
      <p:sp>
        <p:nvSpPr>
          <p:cNvPr id="60" name="Shape 58"/>
          <p:cNvSpPr/>
          <p:nvPr/>
        </p:nvSpPr>
        <p:spPr>
          <a:xfrm>
            <a:off x="11548733" y="864185"/>
            <a:ext cx="35627" cy="35627"/>
          </a:xfrm>
          <a:prstGeom prst="ellipse">
            <a:avLst/>
          </a:prstGeom>
          <a:solidFill>
            <a:srgbClr val="F4D9DC"/>
          </a:solidFill>
          <a:ln/>
        </p:spPr>
        <p:txBody>
          <a:bodyPr/>
          <a:p/>
        </p:txBody>
      </p:sp>
      <p:sp>
        <p:nvSpPr>
          <p:cNvPr id="61" name="Shape 59"/>
          <p:cNvSpPr/>
          <p:nvPr/>
        </p:nvSpPr>
        <p:spPr>
          <a:xfrm>
            <a:off x="11246231" y="873908"/>
            <a:ext cx="35627" cy="35627"/>
          </a:xfrm>
          <a:prstGeom prst="ellipse">
            <a:avLst/>
          </a:prstGeom>
          <a:solidFill>
            <a:srgbClr val="F4D9DC"/>
          </a:solidFill>
          <a:ln/>
        </p:spPr>
        <p:txBody>
          <a:bodyPr/>
          <a:p/>
        </p:txBody>
      </p:sp>
      <p:sp>
        <p:nvSpPr>
          <p:cNvPr id="62" name="Shape 60"/>
          <p:cNvSpPr/>
          <p:nvPr/>
        </p:nvSpPr>
        <p:spPr>
          <a:xfrm>
            <a:off x="11367418" y="872896"/>
            <a:ext cx="35627" cy="35627"/>
          </a:xfrm>
          <a:prstGeom prst="ellipse">
            <a:avLst/>
          </a:prstGeom>
          <a:solidFill>
            <a:srgbClr val="F4D9DC"/>
          </a:solidFill>
          <a:ln/>
        </p:spPr>
        <p:txBody>
          <a:bodyPr/>
          <a:p/>
        </p:txBody>
      </p:sp>
      <p:sp>
        <p:nvSpPr>
          <p:cNvPr id="63" name="Shape 61"/>
          <p:cNvSpPr/>
          <p:nvPr/>
        </p:nvSpPr>
        <p:spPr>
          <a:xfrm>
            <a:off x="11185366" y="897322"/>
            <a:ext cx="51936" cy="51936"/>
          </a:xfrm>
          <a:prstGeom prst="ellipse">
            <a:avLst/>
          </a:prstGeom>
          <a:solidFill>
            <a:srgbClr val="F4D9DC"/>
          </a:solidFill>
          <a:ln/>
        </p:spPr>
        <p:txBody>
          <a:bodyPr/>
          <a:p/>
        </p:txBody>
      </p:sp>
      <p:sp>
        <p:nvSpPr>
          <p:cNvPr id="64" name="Shape 62"/>
          <p:cNvSpPr/>
          <p:nvPr/>
        </p:nvSpPr>
        <p:spPr>
          <a:xfrm>
            <a:off x="11407845" y="897655"/>
            <a:ext cx="52602" cy="52602"/>
          </a:xfrm>
          <a:prstGeom prst="ellipse">
            <a:avLst/>
          </a:prstGeom>
          <a:solidFill>
            <a:srgbClr val="F4D9DC"/>
          </a:solidFill>
          <a:ln/>
        </p:spPr>
        <p:txBody>
          <a:bodyPr/>
          <a:p/>
        </p:txBody>
      </p:sp>
      <p:sp>
        <p:nvSpPr>
          <p:cNvPr id="65" name="Shape 63"/>
          <p:cNvSpPr/>
          <p:nvPr/>
        </p:nvSpPr>
        <p:spPr>
          <a:xfrm>
            <a:off x="11258822" y="921466"/>
            <a:ext cx="51270" cy="51270"/>
          </a:xfrm>
          <a:prstGeom prst="ellipse">
            <a:avLst/>
          </a:prstGeom>
          <a:solidFill>
            <a:srgbClr val="F4D9DC"/>
          </a:solidFill>
          <a:ln/>
        </p:spPr>
        <p:txBody>
          <a:bodyPr/>
          <a:p/>
        </p:txBody>
      </p:sp>
      <p:sp>
        <p:nvSpPr>
          <p:cNvPr id="66" name="Shape 64"/>
          <p:cNvSpPr/>
          <p:nvPr/>
        </p:nvSpPr>
        <p:spPr>
          <a:xfrm>
            <a:off x="11335350" y="921504"/>
            <a:ext cx="51270" cy="51270"/>
          </a:xfrm>
          <a:prstGeom prst="ellipse">
            <a:avLst/>
          </a:prstGeom>
          <a:solidFill>
            <a:srgbClr val="F4D9DC"/>
          </a:solidFill>
          <a:ln/>
        </p:spPr>
        <p:txBody>
          <a:bodyPr/>
          <a:p/>
        </p:txBody>
      </p:sp>
      <p:sp>
        <p:nvSpPr>
          <p:cNvPr id="67" name="Shape 65"/>
          <p:cNvSpPr/>
          <p:nvPr/>
        </p:nvSpPr>
        <p:spPr>
          <a:xfrm>
            <a:off x="11127388" y="931368"/>
            <a:ext cx="35294" cy="35294"/>
          </a:xfrm>
          <a:prstGeom prst="ellipse">
            <a:avLst/>
          </a:prstGeom>
          <a:solidFill>
            <a:srgbClr val="F4D9DC"/>
          </a:solidFill>
          <a:ln/>
        </p:spPr>
        <p:txBody>
          <a:bodyPr/>
          <a:p/>
        </p:txBody>
      </p:sp>
      <p:sp>
        <p:nvSpPr>
          <p:cNvPr id="68" name="Shape 66"/>
          <p:cNvSpPr/>
          <p:nvPr/>
        </p:nvSpPr>
        <p:spPr>
          <a:xfrm>
            <a:off x="11481979" y="931035"/>
            <a:ext cx="35960" cy="35960"/>
          </a:xfrm>
          <a:prstGeom prst="ellipse">
            <a:avLst/>
          </a:prstGeom>
          <a:solidFill>
            <a:srgbClr val="F4D9DC"/>
          </a:solidFill>
          <a:ln/>
        </p:spPr>
        <p:txBody>
          <a:bodyPr/>
          <a:p/>
        </p:txBody>
      </p:sp>
      <p:sp>
        <p:nvSpPr>
          <p:cNvPr id="69" name="Shape 67"/>
          <p:cNvSpPr/>
          <p:nvPr/>
        </p:nvSpPr>
        <p:spPr>
          <a:xfrm>
            <a:off x="11211987" y="974695"/>
            <a:ext cx="34961" cy="34961"/>
          </a:xfrm>
          <a:prstGeom prst="ellipse">
            <a:avLst/>
          </a:prstGeom>
          <a:solidFill>
            <a:srgbClr val="F4D9DC"/>
          </a:solidFill>
          <a:ln/>
        </p:spPr>
        <p:txBody>
          <a:bodyPr/>
          <a:p/>
        </p:txBody>
      </p:sp>
      <p:sp>
        <p:nvSpPr>
          <p:cNvPr id="70" name="Shape 68"/>
          <p:cNvSpPr/>
          <p:nvPr/>
        </p:nvSpPr>
        <p:spPr>
          <a:xfrm>
            <a:off x="11398461" y="974695"/>
            <a:ext cx="34961" cy="34961"/>
          </a:xfrm>
          <a:prstGeom prst="ellipse">
            <a:avLst/>
          </a:prstGeom>
          <a:solidFill>
            <a:srgbClr val="F4D9DC"/>
          </a:solidFill>
          <a:ln/>
        </p:spPr>
        <p:txBody>
          <a:bodyPr/>
          <a:p/>
        </p:txBody>
      </p:sp>
      <p:sp>
        <p:nvSpPr>
          <p:cNvPr id="71" name="Shape 69"/>
          <p:cNvSpPr/>
          <p:nvPr/>
        </p:nvSpPr>
        <p:spPr>
          <a:xfrm>
            <a:off x="11304837" y="988501"/>
            <a:ext cx="35627" cy="35627"/>
          </a:xfrm>
          <a:prstGeom prst="ellipse">
            <a:avLst/>
          </a:prstGeom>
          <a:solidFill>
            <a:srgbClr val="F4D9DC"/>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Agent, prompt en skill</a:t>
            </a:r>
            <a:endParaRPr lang="en-US" sz="3400" dirty="0"/>
          </a:p>
        </p:txBody>
      </p:sp>
      <p:sp>
        <p:nvSpPr>
          <p:cNvPr id="73" name="Shape 71"/>
          <p:cNvSpPr/>
          <p:nvPr/>
        </p:nvSpPr>
        <p:spPr>
          <a:xfrm>
            <a:off x="548640" y="1371600"/>
            <a:ext cx="3515258" cy="3592830"/>
          </a:xfrm>
          <a:prstGeom prst="roundRect">
            <a:avLst>
              <a:gd name="adj" fmla="val 1895"/>
            </a:avLst>
          </a:prstGeom>
          <a:solidFill>
            <a:srgbClr val="F4D74B"/>
          </a:solidFill>
          <a:ln/>
        </p:spPr>
        <p:txBody>
          <a:bodyPr/>
          <a:p/>
        </p:txBody>
      </p:sp>
      <p:sp>
        <p:nvSpPr>
          <p:cNvPr id="74" name="Shape 72"/>
          <p:cNvSpPr/>
          <p:nvPr/>
        </p:nvSpPr>
        <p:spPr>
          <a:xfrm>
            <a:off x="822960" y="1719072"/>
            <a:ext cx="2966618" cy="402336"/>
          </a:xfrm>
          <a:prstGeom prst="roundRect">
            <a:avLst>
              <a:gd name="adj" fmla="val 113636"/>
            </a:avLst>
          </a:prstGeom>
          <a:solidFill>
            <a:srgbClr val="3D68EC"/>
          </a:solidFill>
          <a:ln/>
        </p:spPr>
        <p:txBody>
          <a:bodyPr/>
          <a:p/>
        </p:txBody>
      </p:sp>
      <p:sp>
        <p:nvSpPr>
          <p:cNvPr id="75" name="Text 73"/>
          <p:cNvSpPr/>
          <p:nvPr/>
        </p:nvSpPr>
        <p:spPr>
          <a:xfrm>
            <a:off x="914400"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De uitvoerder</a:t>
            </a:r>
            <a:endParaRPr lang="en-US" sz="1200" dirty="0"/>
          </a:p>
        </p:txBody>
      </p:sp>
      <p:sp>
        <p:nvSpPr>
          <p:cNvPr id="76" name="Text 74"/>
          <p:cNvSpPr/>
          <p:nvPr/>
        </p:nvSpPr>
        <p:spPr>
          <a:xfrm>
            <a:off x="822960"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Agent</a:t>
            </a:r>
            <a:endParaRPr lang="en-US" sz="2200" dirty="0"/>
          </a:p>
        </p:txBody>
      </p:sp>
      <p:sp>
        <p:nvSpPr>
          <p:cNvPr id="77" name="Text 75"/>
          <p:cNvSpPr/>
          <p:nvPr/>
        </p:nvSpPr>
        <p:spPr>
          <a:xfrm>
            <a:off x="822960"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 AI die het werk doet: leest, schrijft en draait de code.</a:t>
            </a:r>
            <a:endParaRPr lang="en-US" sz="1500" dirty="0"/>
          </a:p>
        </p:txBody>
      </p:sp>
      <p:sp>
        <p:nvSpPr>
          <p:cNvPr id="78" name="Text 76"/>
          <p:cNvSpPr/>
          <p:nvPr/>
        </p:nvSpPr>
        <p:spPr>
          <a:xfrm>
            <a:off x="822960"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79" name="Text 77"/>
          <p:cNvSpPr/>
          <p:nvPr/>
        </p:nvSpPr>
        <p:spPr>
          <a:xfrm>
            <a:off x="822960"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Claude Code in VS Code</a:t>
            </a:r>
            <a:endParaRPr lang="en-US" sz="1500" dirty="0"/>
          </a:p>
        </p:txBody>
      </p:sp>
      <p:sp>
        <p:nvSpPr>
          <p:cNvPr id="80" name="Shape 78"/>
          <p:cNvSpPr/>
          <p:nvPr/>
        </p:nvSpPr>
        <p:spPr>
          <a:xfrm>
            <a:off x="4338218" y="1371600"/>
            <a:ext cx="3515258" cy="3592830"/>
          </a:xfrm>
          <a:prstGeom prst="roundRect">
            <a:avLst>
              <a:gd name="adj" fmla="val 1895"/>
            </a:avLst>
          </a:prstGeom>
          <a:solidFill>
            <a:srgbClr val="F4D9DC"/>
          </a:solidFill>
          <a:ln/>
        </p:spPr>
        <p:txBody>
          <a:bodyPr/>
          <a:p/>
        </p:txBody>
      </p:sp>
      <p:sp>
        <p:nvSpPr>
          <p:cNvPr id="81" name="Shape 79"/>
          <p:cNvSpPr/>
          <p:nvPr/>
        </p:nvSpPr>
        <p:spPr>
          <a:xfrm>
            <a:off x="4612538" y="1719072"/>
            <a:ext cx="2966618" cy="402336"/>
          </a:xfrm>
          <a:prstGeom prst="roundRect">
            <a:avLst>
              <a:gd name="adj" fmla="val 113636"/>
            </a:avLst>
          </a:prstGeom>
          <a:solidFill>
            <a:srgbClr val="3D68EC"/>
          </a:solidFill>
          <a:ln/>
        </p:spPr>
        <p:txBody>
          <a:bodyPr/>
          <a:p/>
        </p:txBody>
      </p:sp>
      <p:sp>
        <p:nvSpPr>
          <p:cNvPr id="82" name="Text 80"/>
          <p:cNvSpPr/>
          <p:nvPr/>
        </p:nvSpPr>
        <p:spPr>
          <a:xfrm>
            <a:off x="4703978"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Een losse opdracht</a:t>
            </a:r>
            <a:endParaRPr lang="en-US" sz="1200" dirty="0"/>
          </a:p>
        </p:txBody>
      </p:sp>
      <p:sp>
        <p:nvSpPr>
          <p:cNvPr id="83" name="Text 81"/>
          <p:cNvSpPr/>
          <p:nvPr/>
        </p:nvSpPr>
        <p:spPr>
          <a:xfrm>
            <a:off x="4612538"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Prompt</a:t>
            </a:r>
            <a:endParaRPr lang="en-US" sz="2200" dirty="0"/>
          </a:p>
        </p:txBody>
      </p:sp>
      <p:sp>
        <p:nvSpPr>
          <p:cNvPr id="84" name="Text 82"/>
          <p:cNvSpPr/>
          <p:nvPr/>
        </p:nvSpPr>
        <p:spPr>
          <a:xfrm>
            <a:off x="4612538"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jij zelf typt. Elke keer anders.</a:t>
            </a:r>
            <a:endParaRPr lang="en-US" sz="1500" dirty="0"/>
          </a:p>
        </p:txBody>
      </p:sp>
      <p:sp>
        <p:nvSpPr>
          <p:cNvPr id="85" name="Text 83"/>
          <p:cNvSpPr/>
          <p:nvPr/>
        </p:nvSpPr>
        <p:spPr>
          <a:xfrm>
            <a:off x="4612538"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86" name="Text 84"/>
          <p:cNvSpPr/>
          <p:nvPr/>
        </p:nvSpPr>
        <p:spPr>
          <a:xfrm>
            <a:off x="4612538"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"Laat zien wie er uitvalt"</a:t>
            </a:r>
            <a:endParaRPr lang="en-US" sz="1500" dirty="0"/>
          </a:p>
        </p:txBody>
      </p:sp>
      <p:sp>
        <p:nvSpPr>
          <p:cNvPr id="87" name="Shape 85"/>
          <p:cNvSpPr/>
          <p:nvPr/>
        </p:nvSpPr>
        <p:spPr>
          <a:xfrm>
            <a:off x="8127797" y="1371600"/>
            <a:ext cx="3515258" cy="3592830"/>
          </a:xfrm>
          <a:prstGeom prst="roundRect">
            <a:avLst>
              <a:gd name="adj" fmla="val 1895"/>
            </a:avLst>
          </a:prstGeom>
          <a:solidFill>
            <a:srgbClr val="F4D74B"/>
          </a:solidFill>
          <a:ln/>
        </p:spPr>
        <p:txBody>
          <a:bodyPr/>
          <a:p/>
        </p:txBody>
      </p:sp>
      <p:sp>
        <p:nvSpPr>
          <p:cNvPr id="88" name="Shape 86"/>
          <p:cNvSpPr/>
          <p:nvPr/>
        </p:nvSpPr>
        <p:spPr>
          <a:xfrm>
            <a:off x="8402117" y="1719072"/>
            <a:ext cx="2966618" cy="402336"/>
          </a:xfrm>
          <a:prstGeom prst="roundRect">
            <a:avLst>
              <a:gd name="adj" fmla="val 113636"/>
            </a:avLst>
          </a:prstGeom>
          <a:solidFill>
            <a:srgbClr val="3D68EC"/>
          </a:solidFill>
          <a:ln/>
        </p:spPr>
        <p:txBody>
          <a:bodyPr/>
          <a:p/>
        </p:txBody>
      </p:sp>
      <p:sp>
        <p:nvSpPr>
          <p:cNvPr id="89" name="Text 87"/>
          <p:cNvSpPr/>
          <p:nvPr/>
        </p:nvSpPr>
        <p:spPr>
          <a:xfrm>
            <a:off x="8493557"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Een vast stappenplan</a:t>
            </a:r>
            <a:endParaRPr lang="en-US" sz="1200" dirty="0"/>
          </a:p>
        </p:txBody>
      </p:sp>
      <p:sp>
        <p:nvSpPr>
          <p:cNvPr id="90" name="Text 88"/>
          <p:cNvSpPr/>
          <p:nvPr/>
        </p:nvSpPr>
        <p:spPr>
          <a:xfrm>
            <a:off x="8402117"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Skill</a:t>
            </a:r>
            <a:endParaRPr lang="en-US" sz="2200" dirty="0"/>
          </a:p>
        </p:txBody>
      </p:sp>
      <p:sp>
        <p:nvSpPr>
          <p:cNvPr id="91" name="Text 89"/>
          <p:cNvSpPr/>
          <p:nvPr/>
        </p:nvSpPr>
        <p:spPr>
          <a:xfrm>
            <a:off x="8402117"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tekstbestand met stappen en checks. Elke keer dezelfde werkwijze.</a:t>
            </a:r>
            <a:endParaRPr lang="en-US" sz="1500" dirty="0"/>
          </a:p>
        </p:txBody>
      </p:sp>
      <p:sp>
        <p:nvSpPr>
          <p:cNvPr id="92" name="Text 90"/>
          <p:cNvSpPr/>
          <p:nvPr/>
        </p:nvSpPr>
        <p:spPr>
          <a:xfrm>
            <a:off x="8402117"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93" name="Text 91"/>
          <p:cNvSpPr/>
          <p:nvPr/>
        </p:nvSpPr>
        <p:spPr>
          <a:xfrm>
            <a:off x="8402117"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Eerst profiel, dan definities</a:t>
            </a:r>
            <a:endParaRPr lang="en-US" sz="1500" dirty="0"/>
          </a:p>
        </p:txBody>
      </p:sp>
      <p:sp>
        <p:nvSpPr>
          <p:cNvPr id="94" name="Text 92"/>
          <p:cNvSpPr/>
          <p:nvPr/>
        </p:nvSpPr>
        <p:spPr>
          <a:xfrm>
            <a:off x="548640" y="5147310"/>
            <a:ext cx="11094415" cy="4572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In de rondes prompten jullie zelf. Bij de spiegelmomenten laten wij zien hoe een skill hetzelfde doet.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Drie skills, twee spiegelmomenten</a:t>
            </a:r>
            <a:endParaRPr lang="en-US" sz="3400" dirty="0"/>
          </a:p>
        </p:txBody>
      </p:sp>
      <p:sp>
        <p:nvSpPr>
          <p:cNvPr id="73" name="Shape 71"/>
          <p:cNvSpPr/>
          <p:nvPr/>
        </p:nvSpPr>
        <p:spPr>
          <a:xfrm>
            <a:off x="548640" y="1371600"/>
            <a:ext cx="5410048" cy="3490722"/>
          </a:xfrm>
          <a:prstGeom prst="roundRect">
            <a:avLst>
              <a:gd name="adj" fmla="val 1921"/>
            </a:avLst>
          </a:prstGeom>
          <a:solidFill>
            <a:srgbClr val="3D68EC"/>
          </a:solidFill>
          <a:ln/>
        </p:spPr>
        <p:txBody>
          <a:bodyPr/>
          <a:p/>
        </p:txBody>
      </p:sp>
      <p:sp>
        <p:nvSpPr>
          <p:cNvPr id="74" name="Shape 72"/>
          <p:cNvSpPr/>
          <p:nvPr/>
        </p:nvSpPr>
        <p:spPr>
          <a:xfrm>
            <a:off x="822960" y="1645920"/>
            <a:ext cx="548640" cy="548640"/>
          </a:xfrm>
          <a:prstGeom prst="ellipse">
            <a:avLst/>
          </a:prstGeom>
          <a:solidFill>
            <a:srgbClr val="F4D74B"/>
          </a:solidFill>
          <a:ln/>
        </p:spPr>
        <p:txBody>
          <a:body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4175608" cy="402336"/>
          </a:xfrm>
          <a:prstGeom prst="roundRect">
            <a:avLst>
              <a:gd name="adj" fmla="val 113636"/>
            </a:avLst>
          </a:prstGeom>
          <a:solidFill>
            <a:srgbClr val="F4D74B"/>
          </a:solidFill>
          <a:ln/>
        </p:spPr>
        <p:txBody>
          <a:bodyPr/>
          <a:p/>
        </p:txBody>
      </p:sp>
      <p:sp>
        <p:nvSpPr>
          <p:cNvPr id="77" name="Text 75"/>
          <p:cNvSpPr/>
          <p:nvPr/>
        </p:nvSpPr>
        <p:spPr>
          <a:xfrm>
            <a:off x="1600200" y="1719072"/>
            <a:ext cx="399272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Spiegelmoment 1</a:t>
            </a:r>
            <a:endParaRPr lang="en-US" sz="1200" dirty="0"/>
          </a:p>
        </p:txBody>
      </p:sp>
      <p:sp>
        <p:nvSpPr>
          <p:cNvPr id="78" name="Text 76"/>
          <p:cNvSpPr/>
          <p:nvPr/>
        </p:nvSpPr>
        <p:spPr>
          <a:xfrm>
            <a:off x="822960" y="2423160"/>
            <a:ext cx="4861408" cy="338328"/>
          </a:xfrm>
          <a:prstGeom prst="rect">
            <a:avLst/>
          </a:prstGeom>
          <a:noFill/>
          <a:ln/>
        </p:spPr>
        <p:txBody>
          <a:bodyPr wrap="square" lIns="0" tIns="0" rIns="0" bIns="0" rtlCol="0" anchor="t"/>
          <a:lstStyle/>
          <a:p>
            <a:pPr algn="l" indent="0" marL="0">
              <a:lnSpc>
                <a:spcPct val="105000"/>
              </a:lnSpc>
              <a:buNone/>
            </a:pPr>
            <a:r>
              <a:rPr lang="en-US" sz="2200" dirty="0">
                <a:solidFill>
                  <a:srgbClr val="F4D9DC"/>
                </a:solidFill>
                <a:latin typeface="General Sans Semibold" pitchFamily="34" charset="0"/>
                <a:ea typeface="General Sans Semibold" pitchFamily="34" charset="-122"/>
                <a:cs typeface="General Sans Semibold" pitchFamily="34" charset="-120"/>
              </a:rPr>
              <a:t>/verkennen_data</a:t>
            </a:r>
            <a:endParaRPr lang="en-US" sz="2200" dirty="0"/>
          </a:p>
        </p:txBody>
      </p:sp>
      <p:sp>
        <p:nvSpPr>
          <p:cNvPr id="79" name="Text 77"/>
          <p:cNvSpPr/>
          <p:nvPr/>
        </p:nvSpPr>
        <p:spPr>
          <a:xfrm>
            <a:off x="822960" y="3035808"/>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DOET</a:t>
            </a:r>
            <a:endParaRPr lang="en-US" sz="1100" dirty="0"/>
          </a:p>
        </p:txBody>
      </p:sp>
      <p:sp>
        <p:nvSpPr>
          <p:cNvPr id="80" name="Text 78"/>
          <p:cNvSpPr/>
          <p:nvPr/>
        </p:nvSpPr>
        <p:spPr>
          <a:xfrm>
            <a:off x="822960" y="3383280"/>
            <a:ext cx="4861408" cy="54102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Kolommen, kwaliteit, verdelingen, definities en privacy.</a:t>
            </a:r>
            <a:endParaRPr lang="en-US" sz="1500" dirty="0"/>
          </a:p>
        </p:txBody>
      </p:sp>
      <p:sp>
        <p:nvSpPr>
          <p:cNvPr id="81" name="Text 79"/>
          <p:cNvSpPr/>
          <p:nvPr/>
        </p:nvSpPr>
        <p:spPr>
          <a:xfrm>
            <a:off x="822960" y="4061460"/>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2" name="Text 80"/>
          <p:cNvSpPr/>
          <p:nvPr/>
        </p:nvSpPr>
        <p:spPr>
          <a:xfrm>
            <a:off x="822960" y="4408932"/>
            <a:ext cx="4861408" cy="31623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uitvoer/data-profiel.html</a:t>
            </a:r>
            <a:endParaRPr lang="en-US" sz="1500" dirty="0"/>
          </a:p>
        </p:txBody>
      </p:sp>
      <p:sp>
        <p:nvSpPr>
          <p:cNvPr id="83" name="Shape 81"/>
          <p:cNvSpPr/>
          <p:nvPr/>
        </p:nvSpPr>
        <p:spPr>
          <a:xfrm>
            <a:off x="6233008" y="1371600"/>
            <a:ext cx="5410048" cy="3490722"/>
          </a:xfrm>
          <a:prstGeom prst="roundRect">
            <a:avLst>
              <a:gd name="adj" fmla="val 1921"/>
            </a:avLst>
          </a:prstGeom>
          <a:solidFill>
            <a:srgbClr val="DD784B"/>
          </a:solidFill>
          <a:ln/>
        </p:spPr>
        <p:txBody>
          <a:bodyPr/>
          <a:p/>
        </p:txBody>
      </p:sp>
      <p:sp>
        <p:nvSpPr>
          <p:cNvPr id="84" name="Shape 82"/>
          <p:cNvSpPr/>
          <p:nvPr/>
        </p:nvSpPr>
        <p:spPr>
          <a:xfrm>
            <a:off x="6507328" y="1645920"/>
            <a:ext cx="548640" cy="548640"/>
          </a:xfrm>
          <a:prstGeom prst="ellipse">
            <a:avLst/>
          </a:prstGeom>
          <a:solidFill>
            <a:srgbClr val="F4D9DC"/>
          </a:solidFill>
          <a:ln/>
        </p:spPr>
        <p:txBody>
          <a:bodyPr/>
          <a:p/>
        </p:txBody>
      </p:sp>
      <p:sp>
        <p:nvSpPr>
          <p:cNvPr id="85" name="Text 83"/>
          <p:cNvSpPr/>
          <p:nvPr/>
        </p:nvSpPr>
        <p:spPr>
          <a:xfrm>
            <a:off x="650732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7193128" y="1719072"/>
            <a:ext cx="4175608" cy="402336"/>
          </a:xfrm>
          <a:prstGeom prst="roundRect">
            <a:avLst>
              <a:gd name="adj" fmla="val 113636"/>
            </a:avLst>
          </a:prstGeom>
          <a:solidFill>
            <a:srgbClr val="F4D9DC"/>
          </a:solidFill>
          <a:ln/>
        </p:spPr>
        <p:txBody>
          <a:bodyPr/>
          <a:p/>
        </p:txBody>
      </p:sp>
      <p:sp>
        <p:nvSpPr>
          <p:cNvPr id="87" name="Text 85"/>
          <p:cNvSpPr/>
          <p:nvPr/>
        </p:nvSpPr>
        <p:spPr>
          <a:xfrm>
            <a:off x="7284568" y="1719072"/>
            <a:ext cx="399272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Spiegelmoment 2</a:t>
            </a:r>
            <a:endParaRPr lang="en-US" sz="1200" dirty="0"/>
          </a:p>
        </p:txBody>
      </p:sp>
      <p:sp>
        <p:nvSpPr>
          <p:cNvPr id="88" name="Text 86"/>
          <p:cNvSpPr/>
          <p:nvPr/>
        </p:nvSpPr>
        <p:spPr>
          <a:xfrm>
            <a:off x="6507328" y="2423160"/>
            <a:ext cx="4861408" cy="338328"/>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Schetsen en bouwen</a:t>
            </a:r>
            <a:endParaRPr lang="en-US" sz="2200" dirty="0"/>
          </a:p>
        </p:txBody>
      </p:sp>
      <p:sp>
        <p:nvSpPr>
          <p:cNvPr id="89" name="Text 87"/>
          <p:cNvSpPr/>
          <p:nvPr/>
        </p:nvSpPr>
        <p:spPr>
          <a:xfrm>
            <a:off x="6507328" y="3035808"/>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DOET</a:t>
            </a:r>
            <a:endParaRPr lang="en-US" sz="1100" dirty="0"/>
          </a:p>
        </p:txBody>
      </p:sp>
      <p:sp>
        <p:nvSpPr>
          <p:cNvPr id="90" name="Text 88"/>
          <p:cNvSpPr/>
          <p:nvPr/>
        </p:nvSpPr>
        <p:spPr>
          <a:xfrm>
            <a:off x="6507328" y="3383280"/>
            <a:ext cx="486140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/schets_dashboard en /bouwen_dashboard: views schetsen, dan het dashboard bouwen.</a:t>
            </a:r>
            <a:endParaRPr lang="en-US" sz="1500" dirty="0"/>
          </a:p>
        </p:txBody>
      </p:sp>
      <p:sp>
        <p:nvSpPr>
          <p:cNvPr id="91" name="Text 89"/>
          <p:cNvSpPr/>
          <p:nvPr/>
        </p:nvSpPr>
        <p:spPr>
          <a:xfrm>
            <a:off x="6507328" y="4061460"/>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2" name="Text 90"/>
          <p:cNvSpPr/>
          <p:nvPr/>
        </p:nvSpPr>
        <p:spPr>
          <a:xfrm>
            <a:off x="6507328" y="4408932"/>
            <a:ext cx="4861408" cy="31623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uitvoer/schets.html en een dashboard</a:t>
            </a:r>
            <a:endParaRPr lang="en-US" sz="1500" dirty="0"/>
          </a:p>
        </p:txBody>
      </p:sp>
      <p:sp>
        <p:nvSpPr>
          <p:cNvPr id="93" name="Text 91"/>
          <p:cNvSpPr/>
          <p:nvPr/>
        </p:nvSpPr>
        <p:spPr>
          <a:xfrm>
            <a:off x="548640" y="5045202"/>
            <a:ext cx="11094415" cy="45720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Een skill start alleen als je hem zelf typt, nooit vanzelf. Jullie prompten zelf; wij draaien de skills bij de spiegelmomenten.</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start je met de agent</a:t>
            </a:r>
            <a:endParaRPr lang="en-US" sz="3400" dirty="0"/>
          </a:p>
        </p:txBody>
      </p:sp>
      <p:sp>
        <p:nvSpPr>
          <p:cNvPr id="73" name="Shape 71"/>
          <p:cNvSpPr/>
          <p:nvPr/>
        </p:nvSpPr>
        <p:spPr>
          <a:xfrm>
            <a:off x="548640" y="1417320"/>
            <a:ext cx="11094415" cy="868680"/>
          </a:xfrm>
          <a:prstGeom prst="roundRect">
            <a:avLst>
              <a:gd name="adj" fmla="val 15512"/>
            </a:avLst>
          </a:prstGeom>
          <a:solidFill>
            <a:srgbClr val="FFFFFF"/>
          </a:solidFill>
          <a:ln/>
        </p:spPr>
        <p:txBody>
          <a:bodyPr/>
          <a:p/>
        </p:txBody>
      </p:sp>
      <p:sp>
        <p:nvSpPr>
          <p:cNvPr id="74" name="Text 72"/>
          <p:cNvSpPr/>
          <p:nvPr/>
        </p:nvSpPr>
        <p:spPr>
          <a:xfrm>
            <a:off x="822960" y="147218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GitHub-account</a:t>
            </a:r>
            <a:endParaRPr lang="en-US" sz="1600" dirty="0"/>
          </a:p>
        </p:txBody>
      </p:sp>
      <p:sp>
        <p:nvSpPr>
          <p:cNvPr id="75" name="Text 73"/>
          <p:cNvSpPr/>
          <p:nvPr/>
        </p:nvSpPr>
        <p:spPr>
          <a:xfrm>
            <a:off x="4754880" y="147218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Gratis; log in op github.com</a:t>
            </a:r>
            <a:endParaRPr lang="en-US" sz="1400" dirty="0"/>
          </a:p>
        </p:txBody>
      </p:sp>
      <p:sp>
        <p:nvSpPr>
          <p:cNvPr id="76" name="Shape 74"/>
          <p:cNvSpPr/>
          <p:nvPr/>
        </p:nvSpPr>
        <p:spPr>
          <a:xfrm>
            <a:off x="9859975" y="1687068"/>
            <a:ext cx="1554480" cy="329184"/>
          </a:xfrm>
          <a:prstGeom prst="roundRect">
            <a:avLst>
              <a:gd name="adj" fmla="val 138889"/>
            </a:avLst>
          </a:prstGeom>
          <a:solidFill>
            <a:srgbClr val="00AF81"/>
          </a:solidFill>
          <a:ln/>
        </p:spPr>
        <p:txBody>
          <a:bodyPr/>
          <a:p/>
        </p:txBody>
      </p:sp>
      <p:sp>
        <p:nvSpPr>
          <p:cNvPr id="77" name="Text 75"/>
          <p:cNvSpPr/>
          <p:nvPr/>
        </p:nvSpPr>
        <p:spPr>
          <a:xfrm>
            <a:off x="9951415" y="168706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1</a:t>
            </a:r>
            <a:endParaRPr lang="en-US" sz="1100" dirty="0"/>
          </a:p>
        </p:txBody>
      </p:sp>
      <p:sp>
        <p:nvSpPr>
          <p:cNvPr id="78" name="Shape 76"/>
          <p:cNvSpPr/>
          <p:nvPr/>
        </p:nvSpPr>
        <p:spPr>
          <a:xfrm>
            <a:off x="548640" y="2377440"/>
            <a:ext cx="11094415" cy="868680"/>
          </a:xfrm>
          <a:prstGeom prst="roundRect">
            <a:avLst>
              <a:gd name="adj" fmla="val 15512"/>
            </a:avLst>
          </a:prstGeom>
          <a:solidFill>
            <a:srgbClr val="FFFFFF"/>
          </a:solidFill>
          <a:ln/>
        </p:spPr>
        <p:txBody>
          <a:bodyPr/>
          <a:p/>
        </p:txBody>
      </p:sp>
      <p:sp>
        <p:nvSpPr>
          <p:cNvPr id="79" name="Text 77"/>
          <p:cNvSpPr/>
          <p:nvPr/>
        </p:nvSpPr>
        <p:spPr>
          <a:xfrm>
            <a:off x="822960" y="243230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Codespace</a:t>
            </a:r>
            <a:endParaRPr lang="en-US" sz="1600" dirty="0"/>
          </a:p>
        </p:txBody>
      </p:sp>
      <p:sp>
        <p:nvSpPr>
          <p:cNvPr id="80" name="Text 78"/>
          <p:cNvSpPr/>
          <p:nvPr/>
        </p:nvSpPr>
        <p:spPr>
          <a:xfrm>
            <a:off x="4754880" y="243230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Open de workshop-repo en maak er een</a:t>
            </a:r>
            <a:endParaRPr lang="en-US" sz="1400" dirty="0"/>
          </a:p>
        </p:txBody>
      </p:sp>
      <p:sp>
        <p:nvSpPr>
          <p:cNvPr id="81" name="Shape 79"/>
          <p:cNvSpPr/>
          <p:nvPr/>
        </p:nvSpPr>
        <p:spPr>
          <a:xfrm>
            <a:off x="9859975" y="2647188"/>
            <a:ext cx="1554480" cy="329184"/>
          </a:xfrm>
          <a:prstGeom prst="roundRect">
            <a:avLst>
              <a:gd name="adj" fmla="val 138889"/>
            </a:avLst>
          </a:prstGeom>
          <a:solidFill>
            <a:srgbClr val="00AF81"/>
          </a:solidFill>
          <a:ln/>
        </p:spPr>
        <p:txBody>
          <a:bodyPr/>
          <a:p/>
        </p:txBody>
      </p:sp>
      <p:sp>
        <p:nvSpPr>
          <p:cNvPr id="82" name="Text 80"/>
          <p:cNvSpPr/>
          <p:nvPr/>
        </p:nvSpPr>
        <p:spPr>
          <a:xfrm>
            <a:off x="9951415" y="264718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2</a:t>
            </a:r>
            <a:endParaRPr lang="en-US" sz="1100" dirty="0"/>
          </a:p>
        </p:txBody>
      </p:sp>
      <p:sp>
        <p:nvSpPr>
          <p:cNvPr id="83" name="Shape 81"/>
          <p:cNvSpPr/>
          <p:nvPr/>
        </p:nvSpPr>
        <p:spPr>
          <a:xfrm>
            <a:off x="548640" y="3337560"/>
            <a:ext cx="11094415" cy="868680"/>
          </a:xfrm>
          <a:prstGeom prst="roundRect">
            <a:avLst>
              <a:gd name="adj" fmla="val 15512"/>
            </a:avLst>
          </a:prstGeom>
          <a:solidFill>
            <a:srgbClr val="FFFFFF"/>
          </a:solidFill>
          <a:ln/>
        </p:spPr>
        <p:txBody>
          <a:bodyPr/>
          <a:p/>
        </p:txBody>
      </p:sp>
      <p:sp>
        <p:nvSpPr>
          <p:cNvPr id="84" name="Text 82"/>
          <p:cNvSpPr/>
          <p:nvPr/>
        </p:nvSpPr>
        <p:spPr>
          <a:xfrm>
            <a:off x="822960" y="339242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Terminal en key</a:t>
            </a:r>
            <a:endParaRPr lang="en-US" sz="1600" dirty="0"/>
          </a:p>
        </p:txBody>
      </p:sp>
      <p:sp>
        <p:nvSpPr>
          <p:cNvPr id="85" name="Text 83"/>
          <p:cNvSpPr/>
          <p:nvPr/>
        </p:nvSpPr>
        <p:spPr>
          <a:xfrm>
            <a:off x="4754880" y="339242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Plak de workshop-key van de begeleider</a:t>
            </a:r>
            <a:endParaRPr lang="en-US" sz="1400" dirty="0"/>
          </a:p>
        </p:txBody>
      </p:sp>
      <p:sp>
        <p:nvSpPr>
          <p:cNvPr id="86" name="Shape 84"/>
          <p:cNvSpPr/>
          <p:nvPr/>
        </p:nvSpPr>
        <p:spPr>
          <a:xfrm>
            <a:off x="9859975" y="3607308"/>
            <a:ext cx="1554480" cy="329184"/>
          </a:xfrm>
          <a:prstGeom prst="roundRect">
            <a:avLst>
              <a:gd name="adj" fmla="val 138889"/>
            </a:avLst>
          </a:prstGeom>
          <a:solidFill>
            <a:srgbClr val="00AF81"/>
          </a:solidFill>
          <a:ln/>
        </p:spPr>
        <p:txBody>
          <a:bodyPr/>
          <a:p/>
        </p:txBody>
      </p:sp>
      <p:sp>
        <p:nvSpPr>
          <p:cNvPr id="87" name="Text 85"/>
          <p:cNvSpPr/>
          <p:nvPr/>
        </p:nvSpPr>
        <p:spPr>
          <a:xfrm>
            <a:off x="9951415" y="360730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3</a:t>
            </a:r>
            <a:endParaRPr lang="en-US" sz="1100" dirty="0"/>
          </a:p>
        </p:txBody>
      </p:sp>
      <p:sp>
        <p:nvSpPr>
          <p:cNvPr id="88" name="Shape 86"/>
          <p:cNvSpPr/>
          <p:nvPr/>
        </p:nvSpPr>
        <p:spPr>
          <a:xfrm>
            <a:off x="548640" y="4297680"/>
            <a:ext cx="11094415" cy="868680"/>
          </a:xfrm>
          <a:prstGeom prst="roundRect">
            <a:avLst>
              <a:gd name="adj" fmla="val 15512"/>
            </a:avLst>
          </a:prstGeom>
          <a:solidFill>
            <a:srgbClr val="FFFFFF"/>
          </a:solidFill>
          <a:ln/>
        </p:spPr>
        <p:txBody>
          <a:bodyPr/>
          <a:p/>
        </p:txBody>
      </p:sp>
      <p:sp>
        <p:nvSpPr>
          <p:cNvPr id="89" name="Text 87"/>
          <p:cNvSpPr/>
          <p:nvPr/>
        </p:nvSpPr>
        <p:spPr>
          <a:xfrm>
            <a:off x="822960" y="435254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Claude Code</a:t>
            </a:r>
            <a:endParaRPr lang="en-US" sz="1600" dirty="0"/>
          </a:p>
        </p:txBody>
      </p:sp>
      <p:sp>
        <p:nvSpPr>
          <p:cNvPr id="90" name="Text 88"/>
          <p:cNvSpPr/>
          <p:nvPr/>
        </p:nvSpPr>
        <p:spPr>
          <a:xfrm>
            <a:off x="4754880" y="435254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Open het Claude-paneel</a:t>
            </a:r>
            <a:endParaRPr lang="en-US" sz="1400" dirty="0"/>
          </a:p>
        </p:txBody>
      </p:sp>
      <p:sp>
        <p:nvSpPr>
          <p:cNvPr id="91" name="Shape 89"/>
          <p:cNvSpPr/>
          <p:nvPr/>
        </p:nvSpPr>
        <p:spPr>
          <a:xfrm>
            <a:off x="9859975" y="4567428"/>
            <a:ext cx="1554480" cy="329184"/>
          </a:xfrm>
          <a:prstGeom prst="roundRect">
            <a:avLst>
              <a:gd name="adj" fmla="val 138889"/>
            </a:avLst>
          </a:prstGeom>
          <a:solidFill>
            <a:srgbClr val="3D68EC"/>
          </a:solidFill>
          <a:ln/>
        </p:spPr>
        <p:txBody>
          <a:bodyPr/>
          <a:p/>
        </p:txBody>
      </p:sp>
      <p:sp>
        <p:nvSpPr>
          <p:cNvPr id="92" name="Text 90"/>
          <p:cNvSpPr/>
          <p:nvPr/>
        </p:nvSpPr>
        <p:spPr>
          <a:xfrm>
            <a:off x="9951415" y="456742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Stap 4</a:t>
            </a:r>
            <a:endParaRPr lang="en-US" sz="1100" dirty="0"/>
          </a:p>
        </p:txBody>
      </p:sp>
      <p:sp>
        <p:nvSpPr>
          <p:cNvPr id="93" name="Text 91"/>
          <p:cNvSpPr/>
          <p:nvPr/>
        </p:nvSpPr>
        <p:spPr>
          <a:xfrm>
            <a:off x="548640" y="6291072"/>
            <a:ext cx="11094415" cy="274320"/>
          </a:xfrm>
          <a:prstGeom prst="rect">
            <a:avLst/>
          </a:prstGeom>
          <a:noFill/>
          <a:ln/>
        </p:spPr>
        <p:txBody>
          <a:bodyPr wrap="square" lIns="0" tIns="0" rIns="0" bIns="0" rtlCol="0" anchor="t"/>
          <a:lstStyle/>
          <a:p>
            <a:pPr algn="l" indent="0" marL="0">
              <a:lnSpc>
                <a:spcPct val="105000"/>
              </a:lnSpc>
              <a:buNone/>
            </a:pPr>
            <a:r>
              <a:rPr lang="en-US" sz="1100" dirty="0">
                <a:solidFill>
                  <a:srgbClr val="3D68EC"/>
                </a:solidFill>
                <a:latin typeface="General Sans" pitchFamily="34" charset="0"/>
                <a:ea typeface="General Sans" pitchFamily="34" charset="-122"/>
                <a:cs typeface="General Sans" pitchFamily="34" charset="-120"/>
              </a:rPr>
              <a:t>Loop je vast? Roep iemand, dan zoeken we het samen uit.</a:t>
            </a:r>
            <a:endParaRPr lang="en-US" sz="11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CCEEE6"/>
        </a:solidFill>
      </p:bgPr>
    </p:bg>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Stap 1: log in op GitHub</a:t>
            </a:r>
            <a:endParaRPr lang="en-US" sz="3100" dirty="0"/>
          </a:p>
        </p:txBody>
      </p:sp>
      <p:pic>
        <p:nvPicPr>
          <p:cNvPr id="73" name="Image 0" descr="Rechtsboven op github.com: de knoppen Sign in en Sign up">    </p:cNvPr>
          <p:cNvPicPr>
            <a:picLocks noChangeAspect="1"/>
          </p:cNvPicPr>
          <p:nvPr/>
        </p:nvPicPr>
        <p:blipFill>
          <a:blip r:embed="rId4"/>
          <a:stretch>
            <a:fillRect/>
          </a:stretch>
        </p:blipFill>
        <p:spPr>
          <a:xfrm>
            <a:off x="851870" y="1900000"/>
            <a:ext cx="6464595" cy="1369980"/>
          </a:xfrm>
          <a:prstGeom prst="rect">
            <a:avLst/>
          </a:prstGeom>
        </p:spPr>
      </p:pic>
      <p:sp>
        <p:nvSpPr>
          <p:cNvPr id="74" name="Text 71"/>
          <p:cNvSpPr/>
          <p:nvPr/>
        </p:nvSpPr>
        <p:spPr>
          <a:xfrm>
            <a:off x="548640" y="3519980"/>
            <a:ext cx="7071055"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github.com</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Klik rechtsboven op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Sign in</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en log in met je eigen GitHub-account. Heb je er nog geen? Maak er dan gratis een aan met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Sign up</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Stap 2: open de repo en maak een Codespace</a:t>
            </a:r>
            <a:endParaRPr lang="en-US" sz="3100" dirty="0"/>
          </a:p>
        </p:txBody>
      </p:sp>
      <p:pic>
        <p:nvPicPr>
          <p:cNvPr id="73" name="Image 0" descr="GitHub-repo met de Code-knop en de Codespaces-tab geopend">    </p:cNvPr>
          <p:cNvPicPr>
            <a:picLocks noChangeAspect="1"/>
          </p:cNvPicPr>
          <p:nvPr/>
        </p:nvPicPr>
        <p:blipFill>
          <a:blip r:embed="rId1"/>
          <a:stretch>
            <a:fillRect/>
          </a:stretch>
        </p:blipFill>
        <p:spPr>
          <a:xfrm>
            <a:off x="851870" y="1371600"/>
            <a:ext cx="6464595"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github.com/cedanl/dair-agentic-coding</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Groene knop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Code</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tab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Codespaces</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dan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Create codespace on main</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Wachten duurt ongeveer een minuut.</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2500" dirty="0">
                <a:solidFill>
                  <a:srgbClr val="3D68EC"/>
                </a:solidFill>
                <a:latin typeface="General Sans Semibold" pitchFamily="34" charset="0"/>
                <a:ea typeface="General Sans Semibold" pitchFamily="34" charset="-122"/>
                <a:cs typeface="General Sans Semibold" pitchFamily="34" charset="-120"/>
              </a:rPr>
              <a:t>Stap 3: open een terminal en plak de key (alleen de eerste keer)</a:t>
            </a:r>
            <a:endParaRPr lang="en-US" sz="2500" dirty="0"/>
          </a:p>
        </p:txBody>
      </p:sp>
      <p:pic>
        <p:nvPicPr>
          <p:cNvPr id="73" name="Image 0" descr="VS Code met het menu Terminal en New Terminal">    </p:cNvPr>
          <p:cNvPicPr>
            <a:picLocks noChangeAspect="1"/>
          </p:cNvPicPr>
          <p:nvPr/>
        </p:nvPicPr>
        <p:blipFill>
          <a:blip r:embed="rId1"/>
          <a:stretch>
            <a:fillRect/>
          </a:stretch>
        </p:blipFill>
        <p:spPr>
          <a:xfrm>
            <a:off x="851870" y="1371600"/>
            <a:ext cx="6464595"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Terminal → New Terminal</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De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workshop-key</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krijg je van de begeleider. Plak hem en druk op Enter. Je ziet niets verschijnen, dat is normaal.</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Stap 4: open het Claude-paneel</a:t>
            </a:r>
            <a:endParaRPr lang="en-US" sz="3400" dirty="0"/>
          </a:p>
        </p:txBody>
      </p:sp>
      <p:pic>
        <p:nvPicPr>
          <p:cNvPr id="73" name="Image 0" descr="VS Code met het oranje Claude-icoon rechtsboven in de editor">    </p:cNvPr>
          <p:cNvPicPr>
            <a:picLocks noChangeAspect="1"/>
          </p:cNvPicPr>
          <p:nvPr/>
        </p:nvPicPr>
        <p:blipFill>
          <a:blip r:embed="rId1"/>
          <a:stretch>
            <a:fillRect/>
          </a:stretch>
        </p:blipFill>
        <p:spPr>
          <a:xfrm>
            <a:off x="851870" y="1371600"/>
            <a:ext cx="6464595"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Klik op het oranje Claude-icoon, je hoeft niets in de terminal te typen</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Probeer als eerste instructie: "Lees data/demodata_1cho.csv en vertel in gewone taal wat erin zit."</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bg>
      <p:bgPr>
        <a:solidFill>
          <a:srgbClr val="00AF81"/>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Shape 70"/>
          <p:cNvSpPr/>
          <p:nvPr/>
        </p:nvSpPr>
        <p:spPr>
          <a:xfrm>
            <a:off x="548640" y="1280160"/>
            <a:ext cx="1005840" cy="1005840"/>
          </a:xfrm>
          <a:prstGeom prst="ellipse">
            <a:avLst/>
          </a:prstGeom>
          <a:solidFill>
            <a:srgbClr val="F4D9DC"/>
          </a:solidFill>
          <a:ln/>
        </p:spPr>
        <p:txBody>
          <a:bodyPr/>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1</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1: ken je data</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22 minuten. Verken data en codebook voor je iets bouwt.</a:t>
            </a:r>
            <a:endParaRPr lang="en-US" sz="2200" dirty="0"/>
          </a:p>
        </p:txBody>
      </p:sp>
      <p:pic>
        <p:nvPicPr>
          <p:cNvPr id="76" name="Image 0" descr="exports\261005_workshop_rad_uitvoering\img\data.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5">
    <p:bg>
      <p:bgPr>
        <a:solidFill>
          <a:srgbClr val="FCF5D4"/>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Ronde 1: wat je doet en oplevert</a:t>
            </a:r>
            <a:endParaRPr lang="en-US" sz="3400" dirty="0"/>
          </a:p>
        </p:txBody>
      </p:sp>
      <p:sp>
        <p:nvSpPr>
          <p:cNvPr id="73" name="Shape 71"/>
          <p:cNvSpPr/>
          <p:nvPr/>
        </p:nvSpPr>
        <p:spPr>
          <a:xfrm>
            <a:off x="548640" y="1371600"/>
            <a:ext cx="3515258" cy="3145536"/>
          </a:xfrm>
          <a:prstGeom prst="roundRect">
            <a:avLst>
              <a:gd name="adj" fmla="val 2366"/>
            </a:avLst>
          </a:prstGeom>
          <a:solidFill>
            <a:srgbClr val="3D68EC"/>
          </a:solidFill>
          <a:ln/>
        </p:spPr>
        <p:txBody>
          <a:bodyPr/>
          <a:p/>
        </p:txBody>
      </p:sp>
      <p:sp>
        <p:nvSpPr>
          <p:cNvPr id="74" name="Shape 72"/>
          <p:cNvSpPr/>
          <p:nvPr/>
        </p:nvSpPr>
        <p:spPr>
          <a:xfrm>
            <a:off x="822960" y="1645920"/>
            <a:ext cx="548640" cy="548640"/>
          </a:xfrm>
          <a:prstGeom prst="ellipse">
            <a:avLst/>
          </a:prstGeom>
          <a:solidFill>
            <a:srgbClr val="F4D74B"/>
          </a:solidFill>
          <a:ln/>
        </p:spPr>
        <p:txBody>
          <a:body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txBody>
          <a:bodyPr/>
          <a:p/>
        </p:txBody>
      </p:sp>
      <p:sp>
        <p:nvSpPr>
          <p:cNvPr id="77" name="Text 75"/>
          <p:cNvSpPr/>
          <p:nvPr/>
        </p:nvSpPr>
        <p:spPr>
          <a:xfrm>
            <a:off x="1600200"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Verken</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algn="l" indent="0" marL="0">
              <a:lnSpc>
                <a:spcPct val="105000"/>
              </a:lnSpc>
              <a:buNone/>
            </a:pPr>
            <a:r>
              <a:rPr lang="en-US" sz="2400" dirty="0">
                <a:solidFill>
                  <a:srgbClr val="F4D9DC"/>
                </a:solidFill>
                <a:latin typeface="General Sans Semibold" pitchFamily="34" charset="0"/>
                <a:ea typeface="General Sans Semibold" pitchFamily="34" charset="-122"/>
                <a:cs typeface="General Sans Semibold" pitchFamily="34" charset="-120"/>
              </a:rPr>
              <a:t>Wat zit erin?</a:t>
            </a:r>
            <a:endParaRPr lang="en-US" sz="2400" dirty="0"/>
          </a:p>
        </p:txBody>
      </p:sp>
      <p:sp>
        <p:nvSpPr>
          <p:cNvPr id="79" name="Text 77"/>
          <p:cNvSpPr/>
          <p:nvPr/>
        </p:nvSpPr>
        <p:spPr>
          <a:xfrm>
            <a:off x="822960"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Rijen, studenten, jaren, ontbrekende waarden en wat één rij is.</a:t>
            </a:r>
            <a:endParaRPr lang="en-US" sz="1500" dirty="0"/>
          </a:p>
        </p:txBody>
      </p:sp>
      <p:sp>
        <p:nvSpPr>
          <p:cNvPr id="80" name="Shape 78"/>
          <p:cNvSpPr/>
          <p:nvPr/>
        </p:nvSpPr>
        <p:spPr>
          <a:xfrm>
            <a:off x="4338218" y="1371600"/>
            <a:ext cx="3515258" cy="3145536"/>
          </a:xfrm>
          <a:prstGeom prst="roundRect">
            <a:avLst>
              <a:gd name="adj" fmla="val 2366"/>
            </a:avLst>
          </a:prstGeom>
          <a:solidFill>
            <a:srgbClr val="DD784B"/>
          </a:solidFill>
          <a:ln/>
        </p:spPr>
        <p:txBody>
          <a:bodyPr/>
          <a:p/>
        </p:txBody>
      </p:sp>
      <p:sp>
        <p:nvSpPr>
          <p:cNvPr id="81" name="Shape 79"/>
          <p:cNvSpPr/>
          <p:nvPr/>
        </p:nvSpPr>
        <p:spPr>
          <a:xfrm>
            <a:off x="4612538" y="1645920"/>
            <a:ext cx="548640" cy="548640"/>
          </a:xfrm>
          <a:prstGeom prst="ellipse">
            <a:avLst/>
          </a:prstGeom>
          <a:solidFill>
            <a:srgbClr val="F4D9DC"/>
          </a:solidFill>
          <a:ln/>
        </p:spPr>
        <p:txBody>
          <a:bodyPr/>
          <a:p/>
        </p:txBody>
      </p:sp>
      <p:sp>
        <p:nvSpPr>
          <p:cNvPr id="82" name="Text 80"/>
          <p:cNvSpPr/>
          <p:nvPr/>
        </p:nvSpPr>
        <p:spPr>
          <a:xfrm>
            <a:off x="461253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5298338" y="1719072"/>
            <a:ext cx="2280818" cy="402336"/>
          </a:xfrm>
          <a:prstGeom prst="roundRect">
            <a:avLst>
              <a:gd name="adj" fmla="val 113636"/>
            </a:avLst>
          </a:prstGeom>
          <a:solidFill>
            <a:srgbClr val="F4D9DC"/>
          </a:solidFill>
          <a:ln/>
        </p:spPr>
        <p:txBody>
          <a:bodyPr/>
          <a:p/>
        </p:txBody>
      </p:sp>
      <p:sp>
        <p:nvSpPr>
          <p:cNvPr id="84" name="Text 82"/>
          <p:cNvSpPr/>
          <p:nvPr/>
        </p:nvSpPr>
        <p:spPr>
          <a:xfrm>
            <a:off x="5389778"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Controleer</a:t>
            </a:r>
            <a:endParaRPr lang="en-US" sz="1200" dirty="0"/>
          </a:p>
        </p:txBody>
      </p:sp>
      <p:sp>
        <p:nvSpPr>
          <p:cNvPr id="85" name="Text 83"/>
          <p:cNvSpPr/>
          <p:nvPr/>
        </p:nvSpPr>
        <p:spPr>
          <a:xfrm>
            <a:off x="4612538"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Wat mag je laten zien?</a:t>
            </a:r>
            <a:endParaRPr lang="en-US" sz="2300" dirty="0"/>
          </a:p>
        </p:txBody>
      </p:sp>
      <p:sp>
        <p:nvSpPr>
          <p:cNvPr id="86" name="Text 84"/>
          <p:cNvSpPr/>
          <p:nvPr/>
        </p:nvSpPr>
        <p:spPr>
          <a:xfrm>
            <a:off x="4612538"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Kleine groepen en cohorten die nog niet afgelopen zijn. Wat telt wel en niet mee?</a:t>
            </a:r>
            <a:endParaRPr lang="en-US" sz="1500" dirty="0"/>
          </a:p>
        </p:txBody>
      </p:sp>
      <p:sp>
        <p:nvSpPr>
          <p:cNvPr id="87" name="Shape 85"/>
          <p:cNvSpPr/>
          <p:nvPr/>
        </p:nvSpPr>
        <p:spPr>
          <a:xfrm>
            <a:off x="8127797" y="1371600"/>
            <a:ext cx="3515258" cy="3145536"/>
          </a:xfrm>
          <a:prstGeom prst="roundRect">
            <a:avLst>
              <a:gd name="adj" fmla="val 2366"/>
            </a:avLst>
          </a:prstGeom>
          <a:solidFill>
            <a:srgbClr val="00AF81"/>
          </a:solidFill>
          <a:ln/>
        </p:spPr>
        <p:txBody>
          <a:bodyPr/>
          <a:p/>
        </p:txBody>
      </p:sp>
      <p:sp>
        <p:nvSpPr>
          <p:cNvPr id="88" name="Shape 86"/>
          <p:cNvSpPr/>
          <p:nvPr/>
        </p:nvSpPr>
        <p:spPr>
          <a:xfrm>
            <a:off x="8402117" y="1645920"/>
            <a:ext cx="548640" cy="548640"/>
          </a:xfrm>
          <a:prstGeom prst="ellipse">
            <a:avLst/>
          </a:prstGeom>
          <a:solidFill>
            <a:srgbClr val="F4D9DC"/>
          </a:solidFill>
          <a:ln/>
        </p:spPr>
        <p:txBody>
          <a:bodyPr/>
          <a:p/>
        </p:txBody>
      </p:sp>
      <p:sp>
        <p:nvSpPr>
          <p:cNvPr id="89" name="Text 87"/>
          <p:cNvSpPr/>
          <p:nvPr/>
        </p:nvSpPr>
        <p:spPr>
          <a:xfrm>
            <a:off x="8402117"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9087917" y="1719072"/>
            <a:ext cx="2280818" cy="402336"/>
          </a:xfrm>
          <a:prstGeom prst="roundRect">
            <a:avLst>
              <a:gd name="adj" fmla="val 113636"/>
            </a:avLst>
          </a:prstGeom>
          <a:solidFill>
            <a:srgbClr val="F4D9DC"/>
          </a:solidFill>
          <a:ln/>
        </p:spPr>
        <p:txBody>
          <a:bodyPr/>
          <a:p/>
        </p:txBody>
      </p:sp>
      <p:sp>
        <p:nvSpPr>
          <p:cNvPr id="91" name="Text 89"/>
          <p:cNvSpPr/>
          <p:nvPr/>
        </p:nvSpPr>
        <p:spPr>
          <a:xfrm>
            <a:off x="9179357"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Leg vast</a:t>
            </a:r>
            <a:endParaRPr lang="en-US" sz="1200" dirty="0"/>
          </a:p>
        </p:txBody>
      </p:sp>
      <p:sp>
        <p:nvSpPr>
          <p:cNvPr id="92" name="Text 90"/>
          <p:cNvSpPr/>
          <p:nvPr/>
        </p:nvSpPr>
        <p:spPr>
          <a:xfrm>
            <a:off x="8402117"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Wat bedoel je precies?</a:t>
            </a:r>
            <a:endParaRPr lang="en-US" sz="2300" dirty="0"/>
          </a:p>
        </p:txBody>
      </p:sp>
      <p:sp>
        <p:nvSpPr>
          <p:cNvPr id="93" name="Text 91"/>
          <p:cNvSpPr/>
          <p:nvPr/>
        </p:nvSpPr>
        <p:spPr>
          <a:xfrm>
            <a:off x="8402117"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 definitie van je kernmaat, wat één rij is en de drempels voor kleine groepen.</a:t>
            </a:r>
            <a:endParaRPr lang="en-US" sz="1500" dirty="0"/>
          </a:p>
        </p:txBody>
      </p:sp>
      <p:sp>
        <p:nvSpPr>
          <p:cNvPr id="94" name="Text 92"/>
          <p:cNvSpPr/>
          <p:nvPr/>
        </p:nvSpPr>
        <p:spPr>
          <a:xfrm>
            <a:off x="548640" y="4700016"/>
            <a:ext cx="11094415" cy="457200"/>
          </a:xfrm>
          <a:prstGeom prst="rect">
            <a:avLst/>
          </a:prstGeom>
          <a:noFill/>
          <a:ln/>
        </p:spPr>
        <p:txBody>
          <a:bodyPr wrap="square" lIns="0" tIns="0" rIns="0" bIns="0" rtlCol="0" anchor="t"/>
          <a:lstStyle/>
          <a:p>
            <a:pPr algn="l" indent="0" marL="0">
              <a:lnSpc>
                <a:spcPct val="105000"/>
              </a:lnSpc>
              <a:buNone/>
            </a:pPr>
            <a:r>
              <a:rPr lang="en-US" sz="1500" dirty="0">
                <a:solidFill>
                  <a:srgbClr val="DD784B"/>
                </a:solidFill>
                <a:latin typeface="General Sans Semibold" pitchFamily="34" charset="0"/>
                <a:ea typeface="General Sans Semibold" pitchFamily="34" charset="-122"/>
                <a:cs typeface="General Sans Semibold" pitchFamily="34" charset="-120"/>
              </a:rPr>
              <a:t>Probeer: "Vertel in gewone taal wat er in data/demodata_1cho.csv zit." Oplevering: begrip van de data, je definities en een eerste privacy-check.</a:t>
            </a:r>
            <a:pPr algn="l" indent="0" marL="0">
              <a:lnSpc>
                <a:spcPct val="105000"/>
              </a:lnSpc>
              <a:buNone/>
            </a:pPr>
            <a:pPr algn="l" indent="0" marL="0">
              <a:lnSpc>
                <a:spcPct val="105000"/>
              </a:lnSpc>
              <a:buNone/>
            </a:pPr>
            <a:pPr algn="l" indent="0" marL="0">
              <a:lnSpc>
                <a:spcPct val="105000"/>
              </a:lnSpc>
              <a:buNone/>
            </a:pP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6">
    <p:bg>
      <p:bgPr>
        <a:solidFill>
          <a:srgbClr val="DD784B"/>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Shape 70"/>
          <p:cNvSpPr/>
          <p:nvPr/>
        </p:nvSpPr>
        <p:spPr>
          <a:xfrm>
            <a:off x="548640" y="1280160"/>
            <a:ext cx="1005840" cy="1005840"/>
          </a:xfrm>
          <a:prstGeom prst="ellipse">
            <a:avLst/>
          </a:prstGeom>
          <a:solidFill>
            <a:srgbClr val="F4D9DC"/>
          </a:solidFill>
          <a:ln/>
        </p:spPr>
        <p:txBody>
          <a:bodyPr/>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2</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1: kijk in de skill</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zit er in /verkennen_data, en wat deed jij anders?</a:t>
            </a:r>
            <a:endParaRPr lang="en-US" sz="2200" dirty="0"/>
          </a:p>
        </p:txBody>
      </p:sp>
      <p:pic>
        <p:nvPicPr>
          <p:cNvPr id="76" name="Image 0" descr="exports\261005_workshop_rad_uitvoering\img\Boek puzzelstuk.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7">
    <p:bg>
      <p:bgPr>
        <a:solidFill>
          <a:srgbClr val="D6E2FD"/>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/verkennen_data: de stappen</a:t>
            </a:r>
            <a:endParaRPr lang="en-US" sz="3400" dirty="0"/>
          </a:p>
        </p:txBody>
      </p:sp>
      <p:sp>
        <p:nvSpPr>
          <p:cNvPr id="73" name="Shape 71"/>
          <p:cNvSpPr/>
          <p:nvPr/>
        </p:nvSpPr>
        <p:spPr>
          <a:xfrm>
            <a:off x="548640" y="1371600"/>
            <a:ext cx="2430704" cy="4160520"/>
          </a:xfrm>
          <a:prstGeom prst="roundRect">
            <a:avLst>
              <a:gd name="adj" fmla="val 3962"/>
            </a:avLst>
          </a:prstGeom>
          <a:solidFill>
            <a:srgbClr val="3D68EC"/>
          </a:solidFill>
          <a:ln/>
        </p:spPr>
        <p:txBody>
          <a:bodyPr/>
          <a:p/>
        </p:txBody>
      </p:sp>
      <p:sp>
        <p:nvSpPr>
          <p:cNvPr id="74" name="Shape 72"/>
          <p:cNvSpPr/>
          <p:nvPr/>
        </p:nvSpPr>
        <p:spPr>
          <a:xfrm>
            <a:off x="822960" y="1645920"/>
            <a:ext cx="548640" cy="548640"/>
          </a:xfrm>
          <a:prstGeom prst="ellipse">
            <a:avLst/>
          </a:prstGeom>
          <a:solidFill>
            <a:srgbClr val="F4D74B"/>
          </a:solidFill>
          <a:ln/>
        </p:spPr>
        <p:txBody>
          <a:body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txBody>
          <a:bodyPr/>
          <a:p/>
        </p:txBody>
      </p:sp>
      <p:sp>
        <p:nvSpPr>
          <p:cNvPr id="77" name="Text 75"/>
          <p:cNvSpPr/>
          <p:nvPr/>
        </p:nvSpPr>
        <p:spPr>
          <a:xfrm>
            <a:off x="1600200"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Stap 1</a:t>
            </a:r>
            <a:endParaRPr lang="en-US" sz="1200" dirty="0"/>
          </a:p>
        </p:txBody>
      </p:sp>
      <p:sp>
        <p:nvSpPr>
          <p:cNvPr id="78" name="Text 76"/>
          <p:cNvSpPr/>
          <p:nvPr/>
        </p:nvSpPr>
        <p:spPr>
          <a:xfrm>
            <a:off x="822960"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Kolommen</a:t>
            </a:r>
            <a:endParaRPr lang="en-US" sz="2000" dirty="0"/>
          </a:p>
        </p:txBody>
      </p:sp>
      <p:sp>
        <p:nvSpPr>
          <p:cNvPr id="79" name="Text 77"/>
          <p:cNvSpPr/>
          <p:nvPr/>
        </p:nvSpPr>
        <p:spPr>
          <a:xfrm>
            <a:off x="822960"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Per kolom in gewone taal wat het kan betekenen, als aanname.</a:t>
            </a:r>
            <a:endParaRPr lang="en-US" sz="1500" dirty="0"/>
          </a:p>
        </p:txBody>
      </p:sp>
      <p:sp>
        <p:nvSpPr>
          <p:cNvPr id="80" name="Text 78"/>
          <p:cNvSpPr/>
          <p:nvPr/>
        </p:nvSpPr>
        <p:spPr>
          <a:xfrm>
            <a:off x="822960"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1" name="Text 79"/>
          <p:cNvSpPr/>
          <p:nvPr/>
        </p:nvSpPr>
        <p:spPr>
          <a:xfrm>
            <a:off x="822960"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Kolomoverzicht</a:t>
            </a:r>
            <a:endParaRPr lang="en-US" sz="1500" dirty="0"/>
          </a:p>
        </p:txBody>
      </p:sp>
      <p:sp>
        <p:nvSpPr>
          <p:cNvPr id="82" name="Shape 80"/>
          <p:cNvSpPr/>
          <p:nvPr/>
        </p:nvSpPr>
        <p:spPr>
          <a:xfrm>
            <a:off x="3089072" y="3177540"/>
            <a:ext cx="237744" cy="548640"/>
          </a:xfrm>
          <a:prstGeom prst="chevron">
            <a:avLst/>
          </a:prstGeom>
          <a:solidFill>
            <a:srgbClr val="3D68EC"/>
          </a:solidFill>
          <a:ln/>
        </p:spPr>
        <p:txBody>
          <a:bodyPr/>
          <a:p/>
        </p:txBody>
      </p:sp>
      <p:sp>
        <p:nvSpPr>
          <p:cNvPr id="83" name="Shape 81"/>
          <p:cNvSpPr/>
          <p:nvPr/>
        </p:nvSpPr>
        <p:spPr>
          <a:xfrm>
            <a:off x="3436544" y="1371600"/>
            <a:ext cx="2430704" cy="4160520"/>
          </a:xfrm>
          <a:prstGeom prst="roundRect">
            <a:avLst>
              <a:gd name="adj" fmla="val 3962"/>
            </a:avLst>
          </a:prstGeom>
          <a:solidFill>
            <a:srgbClr val="DD784B"/>
          </a:solidFill>
          <a:ln/>
        </p:spPr>
        <p:txBody>
          <a:bodyPr/>
          <a:p/>
        </p:txBody>
      </p:sp>
      <p:sp>
        <p:nvSpPr>
          <p:cNvPr id="84" name="Shape 82"/>
          <p:cNvSpPr/>
          <p:nvPr/>
        </p:nvSpPr>
        <p:spPr>
          <a:xfrm>
            <a:off x="3710864" y="1645920"/>
            <a:ext cx="548640" cy="548640"/>
          </a:xfrm>
          <a:prstGeom prst="ellipse">
            <a:avLst/>
          </a:prstGeom>
          <a:solidFill>
            <a:srgbClr val="F4D9DC"/>
          </a:solidFill>
          <a:ln/>
        </p:spPr>
        <p:txBody>
          <a:bodyPr/>
          <a:p/>
        </p:txBody>
      </p:sp>
      <p:sp>
        <p:nvSpPr>
          <p:cNvPr id="85" name="Text 83"/>
          <p:cNvSpPr/>
          <p:nvPr/>
        </p:nvSpPr>
        <p:spPr>
          <a:xfrm>
            <a:off x="371086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4396664" y="1719072"/>
            <a:ext cx="1196264" cy="402336"/>
          </a:xfrm>
          <a:prstGeom prst="roundRect">
            <a:avLst>
              <a:gd name="adj" fmla="val 113636"/>
            </a:avLst>
          </a:prstGeom>
          <a:solidFill>
            <a:srgbClr val="F4D9DC"/>
          </a:solidFill>
          <a:ln/>
        </p:spPr>
        <p:txBody>
          <a:bodyPr/>
          <a:p/>
        </p:txBody>
      </p:sp>
      <p:sp>
        <p:nvSpPr>
          <p:cNvPr id="87" name="Text 85"/>
          <p:cNvSpPr/>
          <p:nvPr/>
        </p:nvSpPr>
        <p:spPr>
          <a:xfrm>
            <a:off x="4488104"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Stap 2</a:t>
            </a:r>
            <a:endParaRPr lang="en-US" sz="1200" dirty="0"/>
          </a:p>
        </p:txBody>
      </p:sp>
      <p:sp>
        <p:nvSpPr>
          <p:cNvPr id="88" name="Text 86"/>
          <p:cNvSpPr/>
          <p:nvPr/>
        </p:nvSpPr>
        <p:spPr>
          <a:xfrm>
            <a:off x="3710864"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Kwaliteit</a:t>
            </a:r>
            <a:endParaRPr lang="en-US" sz="2000" dirty="0"/>
          </a:p>
        </p:txBody>
      </p:sp>
      <p:sp>
        <p:nvSpPr>
          <p:cNvPr id="89" name="Text 87"/>
          <p:cNvSpPr/>
          <p:nvPr/>
        </p:nvSpPr>
        <p:spPr>
          <a:xfrm>
            <a:off x="3710864"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Sleutel, dubbele rijen, ontbrekende waarden en verdelingen.</a:t>
            </a:r>
            <a:endParaRPr lang="en-US" sz="1500" dirty="0"/>
          </a:p>
        </p:txBody>
      </p:sp>
      <p:sp>
        <p:nvSpPr>
          <p:cNvPr id="90" name="Text 88"/>
          <p:cNvSpPr/>
          <p:nvPr/>
        </p:nvSpPr>
        <p:spPr>
          <a:xfrm>
            <a:off x="3710864"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1" name="Text 89"/>
          <p:cNvSpPr/>
          <p:nvPr/>
        </p:nvSpPr>
        <p:spPr>
          <a:xfrm>
            <a:off x="3710864"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Datakwaliteit</a:t>
            </a:r>
            <a:endParaRPr lang="en-US" sz="1500" dirty="0"/>
          </a:p>
        </p:txBody>
      </p:sp>
      <p:sp>
        <p:nvSpPr>
          <p:cNvPr id="92" name="Shape 90"/>
          <p:cNvSpPr/>
          <p:nvPr/>
        </p:nvSpPr>
        <p:spPr>
          <a:xfrm>
            <a:off x="5976976" y="3177540"/>
            <a:ext cx="237744" cy="548640"/>
          </a:xfrm>
          <a:prstGeom prst="chevron">
            <a:avLst/>
          </a:prstGeom>
          <a:solidFill>
            <a:srgbClr val="3D68EC"/>
          </a:solidFill>
          <a:ln/>
        </p:spPr>
        <p:txBody>
          <a:bodyPr/>
          <a:p/>
        </p:txBody>
      </p:sp>
      <p:sp>
        <p:nvSpPr>
          <p:cNvPr id="93" name="Shape 91"/>
          <p:cNvSpPr/>
          <p:nvPr/>
        </p:nvSpPr>
        <p:spPr>
          <a:xfrm>
            <a:off x="6324448" y="1371600"/>
            <a:ext cx="2430704" cy="4160520"/>
          </a:xfrm>
          <a:prstGeom prst="roundRect">
            <a:avLst>
              <a:gd name="adj" fmla="val 3962"/>
            </a:avLst>
          </a:prstGeom>
          <a:solidFill>
            <a:srgbClr val="00AF81"/>
          </a:solidFill>
          <a:ln/>
        </p:spPr>
        <p:txBody>
          <a:bodyPr/>
          <a:p/>
        </p:txBody>
      </p:sp>
      <p:sp>
        <p:nvSpPr>
          <p:cNvPr id="94" name="Shape 92"/>
          <p:cNvSpPr/>
          <p:nvPr/>
        </p:nvSpPr>
        <p:spPr>
          <a:xfrm>
            <a:off x="6598768" y="1645920"/>
            <a:ext cx="548640" cy="548640"/>
          </a:xfrm>
          <a:prstGeom prst="ellipse">
            <a:avLst/>
          </a:prstGeom>
          <a:solidFill>
            <a:srgbClr val="F4D9DC"/>
          </a:solidFill>
          <a:ln/>
        </p:spPr>
        <p:txBody>
          <a:bodyPr/>
          <a:p/>
        </p:txBody>
      </p:sp>
      <p:sp>
        <p:nvSpPr>
          <p:cNvPr id="95" name="Text 93"/>
          <p:cNvSpPr/>
          <p:nvPr/>
        </p:nvSpPr>
        <p:spPr>
          <a:xfrm>
            <a:off x="659876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7284568" y="1719072"/>
            <a:ext cx="1196264" cy="402336"/>
          </a:xfrm>
          <a:prstGeom prst="roundRect">
            <a:avLst>
              <a:gd name="adj" fmla="val 113636"/>
            </a:avLst>
          </a:prstGeom>
          <a:solidFill>
            <a:srgbClr val="F4D9DC"/>
          </a:solidFill>
          <a:ln/>
        </p:spPr>
        <p:txBody>
          <a:bodyPr/>
          <a:p/>
        </p:txBody>
      </p:sp>
      <p:sp>
        <p:nvSpPr>
          <p:cNvPr id="97" name="Text 95"/>
          <p:cNvSpPr/>
          <p:nvPr/>
        </p:nvSpPr>
        <p:spPr>
          <a:xfrm>
            <a:off x="7376008"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Stap 3</a:t>
            </a:r>
            <a:endParaRPr lang="en-US" sz="1200" dirty="0"/>
          </a:p>
        </p:txBody>
      </p:sp>
      <p:sp>
        <p:nvSpPr>
          <p:cNvPr id="98" name="Text 96"/>
          <p:cNvSpPr/>
          <p:nvPr/>
        </p:nvSpPr>
        <p:spPr>
          <a:xfrm>
            <a:off x="6598768"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Definities</a:t>
            </a:r>
            <a:endParaRPr lang="en-US" sz="1900" dirty="0"/>
          </a:p>
        </p:txBody>
      </p:sp>
      <p:sp>
        <p:nvSpPr>
          <p:cNvPr id="99" name="Text 97"/>
          <p:cNvSpPr/>
          <p:nvPr/>
        </p:nvSpPr>
        <p:spPr>
          <a:xfrm>
            <a:off x="6598768"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 kernmaat letterlijk vastgelegd, met wat nog niet waarneembaar is.</a:t>
            </a:r>
            <a:endParaRPr lang="en-US" sz="1500" dirty="0"/>
          </a:p>
        </p:txBody>
      </p:sp>
      <p:sp>
        <p:nvSpPr>
          <p:cNvPr id="100" name="Text 98"/>
          <p:cNvSpPr/>
          <p:nvPr/>
        </p:nvSpPr>
        <p:spPr>
          <a:xfrm>
            <a:off x="6598768"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1" name="Text 99"/>
          <p:cNvSpPr/>
          <p:nvPr/>
        </p:nvSpPr>
        <p:spPr>
          <a:xfrm>
            <a:off x="6598768"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Afspraken</a:t>
            </a:r>
            <a:endParaRPr lang="en-US" sz="1500" dirty="0"/>
          </a:p>
        </p:txBody>
      </p:sp>
      <p:sp>
        <p:nvSpPr>
          <p:cNvPr id="102" name="Shape 100"/>
          <p:cNvSpPr/>
          <p:nvPr/>
        </p:nvSpPr>
        <p:spPr>
          <a:xfrm>
            <a:off x="8864879" y="3177540"/>
            <a:ext cx="237744" cy="548640"/>
          </a:xfrm>
          <a:prstGeom prst="chevron">
            <a:avLst/>
          </a:prstGeom>
          <a:solidFill>
            <a:srgbClr val="3D68EC"/>
          </a:solidFill>
          <a:ln/>
        </p:spPr>
        <p:txBody>
          <a:bodyPr/>
          <a:p/>
        </p:txBody>
      </p:sp>
      <p:sp>
        <p:nvSpPr>
          <p:cNvPr id="103" name="Shape 101"/>
          <p:cNvSpPr/>
          <p:nvPr/>
        </p:nvSpPr>
        <p:spPr>
          <a:xfrm>
            <a:off x="9212351" y="1371600"/>
            <a:ext cx="2430704" cy="4160520"/>
          </a:xfrm>
          <a:prstGeom prst="roundRect">
            <a:avLst>
              <a:gd name="adj" fmla="val 3962"/>
            </a:avLst>
          </a:prstGeom>
          <a:solidFill>
            <a:srgbClr val="F4D74B"/>
          </a:solidFill>
          <a:ln/>
        </p:spPr>
        <p:txBody>
          <a:bodyPr/>
          <a:p/>
        </p:txBody>
      </p:sp>
      <p:sp>
        <p:nvSpPr>
          <p:cNvPr id="104" name="Shape 102"/>
          <p:cNvSpPr/>
          <p:nvPr/>
        </p:nvSpPr>
        <p:spPr>
          <a:xfrm>
            <a:off x="9486671" y="1645920"/>
            <a:ext cx="548640" cy="548640"/>
          </a:xfrm>
          <a:prstGeom prst="ellipse">
            <a:avLst/>
          </a:prstGeom>
          <a:solidFill>
            <a:srgbClr val="3D68EC"/>
          </a:solidFill>
          <a:ln/>
        </p:spPr>
        <p:txBody>
          <a:bodyPr/>
          <a:p/>
        </p:txBody>
      </p:sp>
      <p:sp>
        <p:nvSpPr>
          <p:cNvPr id="105" name="Text 103"/>
          <p:cNvSpPr/>
          <p:nvPr/>
        </p:nvSpPr>
        <p:spPr>
          <a:xfrm>
            <a:off x="948667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6" name="Shape 104"/>
          <p:cNvSpPr/>
          <p:nvPr/>
        </p:nvSpPr>
        <p:spPr>
          <a:xfrm>
            <a:off x="10172471" y="1719072"/>
            <a:ext cx="1196264" cy="402336"/>
          </a:xfrm>
          <a:prstGeom prst="roundRect">
            <a:avLst>
              <a:gd name="adj" fmla="val 113636"/>
            </a:avLst>
          </a:prstGeom>
          <a:solidFill>
            <a:srgbClr val="3D68EC"/>
          </a:solidFill>
          <a:ln/>
        </p:spPr>
        <p:txBody>
          <a:bodyPr/>
          <a:p/>
        </p:txBody>
      </p:sp>
      <p:sp>
        <p:nvSpPr>
          <p:cNvPr id="107" name="Text 105"/>
          <p:cNvSpPr/>
          <p:nvPr/>
        </p:nvSpPr>
        <p:spPr>
          <a:xfrm>
            <a:off x="10263911"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Stap 4</a:t>
            </a:r>
            <a:endParaRPr lang="en-US" sz="1200" dirty="0"/>
          </a:p>
        </p:txBody>
      </p:sp>
      <p:sp>
        <p:nvSpPr>
          <p:cNvPr id="108" name="Text 106"/>
          <p:cNvSpPr/>
          <p:nvPr/>
        </p:nvSpPr>
        <p:spPr>
          <a:xfrm>
            <a:off x="9486671"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Privacy</a:t>
            </a:r>
            <a:endParaRPr lang="en-US" sz="2000" dirty="0"/>
          </a:p>
        </p:txBody>
      </p:sp>
      <p:sp>
        <p:nvSpPr>
          <p:cNvPr id="109" name="Text 107"/>
          <p:cNvSpPr/>
          <p:nvPr/>
        </p:nvSpPr>
        <p:spPr>
          <a:xfrm>
            <a:off x="9486671"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Ideeën bij jouw vraag en drempels voor kleine groepen.</a:t>
            </a:r>
            <a:endParaRPr lang="en-US" sz="1500" dirty="0"/>
          </a:p>
        </p:txBody>
      </p:sp>
      <p:sp>
        <p:nvSpPr>
          <p:cNvPr id="110" name="Text 108"/>
          <p:cNvSpPr/>
          <p:nvPr/>
        </p:nvSpPr>
        <p:spPr>
          <a:xfrm>
            <a:off x="9486671"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11" name="Text 109"/>
          <p:cNvSpPr/>
          <p:nvPr/>
        </p:nvSpPr>
        <p:spPr>
          <a:xfrm>
            <a:off x="9486671"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Ideeën en privacy</a:t>
            </a:r>
            <a:endParaRPr lang="en-US" sz="1500" dirty="0"/>
          </a:p>
        </p:txBody>
      </p:sp>
      <p:sp>
        <p:nvSpPr>
          <p:cNvPr id="112" name="Text 110"/>
          <p:cNvSpPr/>
          <p:nvPr/>
        </p:nvSpPr>
        <p:spPr>
          <a:xfrm>
            <a:off x="548640" y="57150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Na drie korte vragen. In: data/demodata_1cho.csv en je vraag. Uit: uitvoer/data-profiel.html.</a:t>
            </a:r>
            <a:pPr algn="l" indent="0" marL="0">
              <a:lnSpc>
                <a:spcPct val="105000"/>
              </a:lnSpc>
              <a:buNone/>
            </a:pPr>
            <a:pPr algn="l" indent="0" marL="0">
              <a:lnSpc>
                <a:spcPct val="105000"/>
              </a:lnSpc>
              <a:buNone/>
            </a:pPr>
            <a:pPr algn="l" indent="0" marL="0">
              <a:lnSpc>
                <a:spcPct val="105000"/>
              </a:lnSpc>
              <a:buNone/>
            </a:pP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8">
    <p:bg>
      <p:bgPr>
        <a:solidFill>
          <a:srgbClr val="FAEAEA"/>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Wat skill 1 voor je afvangt</a:t>
            </a:r>
            <a:endParaRPr lang="en-US" sz="3400" dirty="0"/>
          </a:p>
        </p:txBody>
      </p:sp>
      <p:sp>
        <p:nvSpPr>
          <p:cNvPr id="73" name="Shape 71"/>
          <p:cNvSpPr/>
          <p:nvPr/>
        </p:nvSpPr>
        <p:spPr>
          <a:xfrm>
            <a:off x="548640" y="1371600"/>
            <a:ext cx="2567864" cy="3025648"/>
          </a:xfrm>
          <a:prstGeom prst="roundRect">
            <a:avLst>
              <a:gd name="adj" fmla="val 3550"/>
            </a:avLst>
          </a:prstGeom>
          <a:solidFill>
            <a:srgbClr val="3D68EC"/>
          </a:solidFill>
          <a:ln/>
        </p:spPr>
        <p:txBody>
          <a:bodyPr/>
          <a:p/>
        </p:txBody>
      </p:sp>
      <p:sp>
        <p:nvSpPr>
          <p:cNvPr id="74" name="Shape 72"/>
          <p:cNvSpPr/>
          <p:nvPr/>
        </p:nvSpPr>
        <p:spPr>
          <a:xfrm>
            <a:off x="822960" y="1719072"/>
            <a:ext cx="2019224" cy="402336"/>
          </a:xfrm>
          <a:prstGeom prst="roundRect">
            <a:avLst>
              <a:gd name="adj" fmla="val 113636"/>
            </a:avLst>
          </a:prstGeom>
          <a:solidFill>
            <a:srgbClr val="F4D74B"/>
          </a:solidFill>
          <a:ln/>
        </p:spPr>
        <p:txBody>
          <a:bodyPr/>
          <a:p/>
        </p:txBody>
      </p:sp>
      <p:sp>
        <p:nvSpPr>
          <p:cNvPr id="75" name="Text 73"/>
          <p:cNvSpPr/>
          <p:nvPr/>
        </p:nvSpPr>
        <p:spPr>
          <a:xfrm>
            <a:off x="914400"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Valkuil</a:t>
            </a:r>
            <a:endParaRPr lang="en-US" sz="1200" dirty="0"/>
          </a:p>
        </p:txBody>
      </p:sp>
      <p:sp>
        <p:nvSpPr>
          <p:cNvPr id="76" name="Text 74"/>
          <p:cNvSpPr/>
          <p:nvPr/>
        </p:nvSpPr>
        <p:spPr>
          <a:xfrm>
            <a:off x="822960"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Laatste cohort</a:t>
            </a:r>
            <a:endParaRPr lang="en-US" sz="1900" dirty="0"/>
          </a:p>
        </p:txBody>
      </p:sp>
      <p:sp>
        <p:nvSpPr>
          <p:cNvPr id="77" name="Text 75"/>
          <p:cNvSpPr/>
          <p:nvPr/>
        </p:nvSpPr>
        <p:spPr>
          <a:xfrm>
            <a:off x="822960"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Het laatste cohort lijkt helemaal uit te vallen. De skill sluit het uit.</a:t>
            </a:r>
            <a:endParaRPr lang="en-US" sz="1500" dirty="0"/>
          </a:p>
        </p:txBody>
      </p:sp>
      <p:sp>
        <p:nvSpPr>
          <p:cNvPr id="78" name="Shape 76"/>
          <p:cNvSpPr/>
          <p:nvPr/>
        </p:nvSpPr>
        <p:spPr>
          <a:xfrm>
            <a:off x="3390824" y="1371600"/>
            <a:ext cx="2567864" cy="3025648"/>
          </a:xfrm>
          <a:prstGeom prst="roundRect">
            <a:avLst>
              <a:gd name="adj" fmla="val 3550"/>
            </a:avLst>
          </a:prstGeom>
          <a:solidFill>
            <a:srgbClr val="DD784B"/>
          </a:solidFill>
          <a:ln/>
        </p:spPr>
        <p:txBody>
          <a:bodyPr/>
          <a:p/>
        </p:txBody>
      </p:sp>
      <p:sp>
        <p:nvSpPr>
          <p:cNvPr id="79" name="Shape 77"/>
          <p:cNvSpPr/>
          <p:nvPr/>
        </p:nvSpPr>
        <p:spPr>
          <a:xfrm>
            <a:off x="3665144" y="1719072"/>
            <a:ext cx="2019224" cy="402336"/>
          </a:xfrm>
          <a:prstGeom prst="roundRect">
            <a:avLst>
              <a:gd name="adj" fmla="val 113636"/>
            </a:avLst>
          </a:prstGeom>
          <a:solidFill>
            <a:srgbClr val="F4D9DC"/>
          </a:solidFill>
          <a:ln/>
        </p:spPr>
        <p:txBody>
          <a:bodyPr/>
          <a:p/>
        </p:txBody>
      </p:sp>
      <p:sp>
        <p:nvSpPr>
          <p:cNvPr id="80" name="Text 78"/>
          <p:cNvSpPr/>
          <p:nvPr/>
        </p:nvSpPr>
        <p:spPr>
          <a:xfrm>
            <a:off x="3756584"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Valkuil</a:t>
            </a:r>
            <a:endParaRPr lang="en-US" sz="1200" dirty="0"/>
          </a:p>
        </p:txBody>
      </p:sp>
      <p:sp>
        <p:nvSpPr>
          <p:cNvPr id="81" name="Text 79"/>
          <p:cNvSpPr/>
          <p:nvPr/>
        </p:nvSpPr>
        <p:spPr>
          <a:xfrm>
            <a:off x="3665144" y="2423160"/>
            <a:ext cx="201922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Eén waarde</a:t>
            </a:r>
            <a:endParaRPr lang="en-US" sz="2000" dirty="0"/>
          </a:p>
        </p:txBody>
      </p:sp>
      <p:sp>
        <p:nvSpPr>
          <p:cNvPr id="82" name="Text 80"/>
          <p:cNvSpPr/>
          <p:nvPr/>
        </p:nvSpPr>
        <p:spPr>
          <a:xfrm>
            <a:off x="3665144"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Opleidingsvorm is overal voltijd. De skill laat die weg.</a:t>
            </a:r>
            <a:endParaRPr lang="en-US" sz="1500" dirty="0"/>
          </a:p>
        </p:txBody>
      </p:sp>
      <p:sp>
        <p:nvSpPr>
          <p:cNvPr id="83" name="Shape 81"/>
          <p:cNvSpPr/>
          <p:nvPr/>
        </p:nvSpPr>
        <p:spPr>
          <a:xfrm>
            <a:off x="6233008" y="1371600"/>
            <a:ext cx="2567864" cy="3025648"/>
          </a:xfrm>
          <a:prstGeom prst="roundRect">
            <a:avLst>
              <a:gd name="adj" fmla="val 3550"/>
            </a:avLst>
          </a:prstGeom>
          <a:solidFill>
            <a:srgbClr val="00AF81"/>
          </a:solidFill>
          <a:ln/>
        </p:spPr>
        <p:txBody>
          <a:bodyPr/>
          <a:p/>
        </p:txBody>
      </p:sp>
      <p:sp>
        <p:nvSpPr>
          <p:cNvPr id="84" name="Shape 82"/>
          <p:cNvSpPr/>
          <p:nvPr/>
        </p:nvSpPr>
        <p:spPr>
          <a:xfrm>
            <a:off x="6507328" y="1719072"/>
            <a:ext cx="2019224" cy="402336"/>
          </a:xfrm>
          <a:prstGeom prst="roundRect">
            <a:avLst>
              <a:gd name="adj" fmla="val 113636"/>
            </a:avLst>
          </a:prstGeom>
          <a:solidFill>
            <a:srgbClr val="F4D9DC"/>
          </a:solidFill>
          <a:ln/>
        </p:spPr>
        <p:txBody>
          <a:bodyPr/>
          <a:p/>
        </p:txBody>
      </p:sp>
      <p:sp>
        <p:nvSpPr>
          <p:cNvPr id="85" name="Text 83"/>
          <p:cNvSpPr/>
          <p:nvPr/>
        </p:nvSpPr>
        <p:spPr>
          <a:xfrm>
            <a:off x="6598768"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Privacy</a:t>
            </a:r>
            <a:endParaRPr lang="en-US" sz="1200" dirty="0"/>
          </a:p>
        </p:txBody>
      </p:sp>
      <p:sp>
        <p:nvSpPr>
          <p:cNvPr id="86" name="Text 84"/>
          <p:cNvSpPr/>
          <p:nvPr/>
        </p:nvSpPr>
        <p:spPr>
          <a:xfrm>
            <a:off x="6507328"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Kleine groepen</a:t>
            </a:r>
            <a:endParaRPr lang="en-US" sz="1900" dirty="0"/>
          </a:p>
        </p:txBody>
      </p:sp>
      <p:sp>
        <p:nvSpPr>
          <p:cNvPr id="87" name="Text 85"/>
          <p:cNvSpPr/>
          <p:nvPr/>
        </p:nvSpPr>
        <p:spPr>
          <a:xfrm>
            <a:off x="6507328"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onder de 30 studenten worden niet getoond.</a:t>
            </a:r>
            <a:endParaRPr lang="en-US" sz="1500" dirty="0"/>
          </a:p>
        </p:txBody>
      </p:sp>
      <p:sp>
        <p:nvSpPr>
          <p:cNvPr id="88" name="Shape 86"/>
          <p:cNvSpPr/>
          <p:nvPr/>
        </p:nvSpPr>
        <p:spPr>
          <a:xfrm>
            <a:off x="9075191" y="1371600"/>
            <a:ext cx="2567864" cy="3025648"/>
          </a:xfrm>
          <a:prstGeom prst="roundRect">
            <a:avLst>
              <a:gd name="adj" fmla="val 3550"/>
            </a:avLst>
          </a:prstGeom>
          <a:solidFill>
            <a:srgbClr val="F4D74B"/>
          </a:solidFill>
          <a:ln/>
        </p:spPr>
        <p:txBody>
          <a:bodyPr/>
          <a:p/>
        </p:txBody>
      </p:sp>
      <p:sp>
        <p:nvSpPr>
          <p:cNvPr id="89" name="Shape 87"/>
          <p:cNvSpPr/>
          <p:nvPr/>
        </p:nvSpPr>
        <p:spPr>
          <a:xfrm>
            <a:off x="9349511" y="1719072"/>
            <a:ext cx="2019224" cy="402336"/>
          </a:xfrm>
          <a:prstGeom prst="roundRect">
            <a:avLst>
              <a:gd name="adj" fmla="val 113636"/>
            </a:avLst>
          </a:prstGeom>
          <a:solidFill>
            <a:srgbClr val="3D68EC"/>
          </a:solidFill>
          <a:ln/>
        </p:spPr>
        <p:txBody>
          <a:bodyPr/>
          <a:p/>
        </p:txBody>
      </p:sp>
      <p:sp>
        <p:nvSpPr>
          <p:cNvPr id="90" name="Text 88"/>
          <p:cNvSpPr/>
          <p:nvPr/>
        </p:nvSpPr>
        <p:spPr>
          <a:xfrm>
            <a:off x="9440951"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Framing</a:t>
            </a:r>
            <a:endParaRPr lang="en-US" sz="1200" dirty="0"/>
          </a:p>
        </p:txBody>
      </p:sp>
      <p:sp>
        <p:nvSpPr>
          <p:cNvPr id="91" name="Text 89"/>
          <p:cNvSpPr/>
          <p:nvPr/>
        </p:nvSpPr>
        <p:spPr>
          <a:xfrm>
            <a:off x="9349511" y="2423160"/>
            <a:ext cx="2019224" cy="57200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Geen oorzaak</a:t>
            </a:r>
            <a:endParaRPr lang="en-US" sz="2000" dirty="0"/>
          </a:p>
        </p:txBody>
      </p:sp>
      <p:sp>
        <p:nvSpPr>
          <p:cNvPr id="92" name="Text 90"/>
          <p:cNvSpPr/>
          <p:nvPr/>
        </p:nvSpPr>
        <p:spPr>
          <a:xfrm>
            <a:off x="9349511"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heet nooit effect. De skill noemt wat niet kan.</a:t>
            </a:r>
            <a:endParaRPr lang="en-US" sz="1500" dirty="0"/>
          </a:p>
        </p:txBody>
      </p:sp>
      <p:sp>
        <p:nvSpPr>
          <p:cNvPr id="93" name="Text 91"/>
          <p:cNvSpPr/>
          <p:nvPr/>
        </p:nvSpPr>
        <p:spPr>
          <a:xfrm>
            <a:off x="548640" y="4580128"/>
            <a:ext cx="11094415" cy="457200"/>
          </a:xfrm>
          <a:prstGeom prst="rect">
            <a:avLst/>
          </a:prstGeom>
          <a:noFill/>
          <a:ln/>
        </p:spPr>
        <p:txBody>
          <a:bodyPr wrap="square" lIns="0" tIns="0" rIns="0" bIns="0" rtlCol="0" anchor="t"/>
          <a:lstStyle/>
          <a:p>
            <a:pPr algn="l" indent="0" marL="0">
              <a:lnSpc>
                <a:spcPct val="105000"/>
              </a:lnSpc>
              <a:buNone/>
            </a:pPr>
            <a:r>
              <a:rPr lang="en-US" sz="1700" dirty="0">
                <a:solidFill>
                  <a:srgbClr val="000000"/>
                </a:solidFill>
                <a:latin typeface="General Sans" pitchFamily="34" charset="0"/>
                <a:ea typeface="General Sans" pitchFamily="34" charset="-122"/>
                <a:cs typeface="General Sans" pitchFamily="34" charset="-120"/>
              </a:rPr>
              <a:t>Wat misten jullie zelf, en wat zagen jullie juist wel? Dat is de vraag voor dit moment.</a:t>
            </a:r>
            <a:endParaRPr lang="en-US" sz="17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CCEEE6"/>
        </a:solidFill>
      </p:bgPr>
    </p:bg>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Zo ziet het dataprofiel eruit</a:t>
            </a:r>
            <a:endParaRPr lang="en-US" sz="3100" dirty="0"/>
          </a:p>
        </p:txBody>
      </p:sp>
      <p:pic>
        <p:nvPicPr>
          <p:cNvPr id="73" name="Image 0" descr="Schermafbeelding van data-profiel.html: menu links, tegels met kerncijfers en een tabel met keuzes en aannames">    </p:cNvPr>
          <p:cNvPicPr>
            <a:picLocks noChangeAspect="1"/>
          </p:cNvPicPr>
          <p:nvPr/>
        </p:nvPicPr>
        <p:blipFill>
          <a:blip r:embed="rId4"/>
          <a:stretch>
            <a:fillRect/>
          </a:stretch>
        </p:blipFill>
        <p:spPr>
          <a:xfrm>
            <a:off x="640000" y="1371600"/>
            <a:ext cx="6900000" cy="3881250"/>
          </a:xfrm>
          <a:prstGeom prst="rect">
            <a:avLst/>
          </a:prstGeom>
        </p:spPr>
      </p:pic>
      <p:sp>
        <p:nvSpPr>
          <p:cNvPr id="74" name="Text 71"/>
          <p:cNvSpPr/>
          <p:nvPr/>
        </p:nvSpPr>
        <p:spPr>
          <a:xfrm>
            <a:off x="640000" y="5402850"/>
            <a:ext cx="6900000"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uitvoer/data-profiel.html</a:t>
            </a:r>
            <a:endParaRPr lang="en-US" sz="1300" dirty="0"/>
          </a:p>
        </p:txBody>
      </p:sp>
      <p:sp>
        <p:nvSpPr>
          <p:cNvPr id="75" name="Text 72"/>
          <p:cNvSpPr/>
          <p:nvPr/>
        </p:nvSpPr>
        <p:spPr>
          <a:xfrm>
            <a:off x="7800000" y="1463040"/>
            <a:ext cx="390000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Dit is de uitkomst van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verkennen_data</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een menu, tegels met de kerncijfers en een tabel met je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keuzes en aannames</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Open het met rechtsklik en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Show Preview</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9">
    <p:bg>
      <p:bgPr>
        <a:solidFill>
          <a:srgbClr val="3D68EC"/>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p/>
        </p:txBody>
      </p:sp>
      <p:sp>
        <p:nvSpPr>
          <p:cNvPr id="3" name="Shape 1"/>
          <p:cNvSpPr/>
          <p:nvPr/>
        </p:nvSpPr>
        <p:spPr>
          <a:xfrm>
            <a:off x="11212173" y="399224"/>
            <a:ext cx="34616" cy="34616"/>
          </a:xfrm>
          <a:prstGeom prst="ellipse">
            <a:avLst/>
          </a:prstGeom>
          <a:solidFill>
            <a:srgbClr val="F4D9DC"/>
          </a:solidFill>
          <a:ln/>
        </p:spPr>
        <p:txBody>
          <a:bodyPr/>
          <a:p/>
        </p:txBody>
      </p:sp>
      <p:sp>
        <p:nvSpPr>
          <p:cNvPr id="4" name="Shape 2"/>
          <p:cNvSpPr/>
          <p:nvPr/>
        </p:nvSpPr>
        <p:spPr>
          <a:xfrm>
            <a:off x="11398641" y="399224"/>
            <a:ext cx="34616" cy="34616"/>
          </a:xfrm>
          <a:prstGeom prst="ellipse">
            <a:avLst/>
          </a:prstGeom>
          <a:solidFill>
            <a:srgbClr val="F4D9DC"/>
          </a:solidFill>
          <a:ln/>
        </p:spPr>
        <p:txBody>
          <a:bodyPr/>
          <a:p/>
        </p:txBody>
      </p:sp>
      <p:sp>
        <p:nvSpPr>
          <p:cNvPr id="5" name="Shape 3"/>
          <p:cNvSpPr/>
          <p:nvPr/>
        </p:nvSpPr>
        <p:spPr>
          <a:xfrm>
            <a:off x="11258374" y="435357"/>
            <a:ext cx="51936" cy="51936"/>
          </a:xfrm>
          <a:prstGeom prst="ellipse">
            <a:avLst/>
          </a:prstGeom>
          <a:solidFill>
            <a:srgbClr val="F4D9DC"/>
          </a:solidFill>
          <a:ln/>
        </p:spPr>
        <p:txBody>
          <a:bodyPr/>
          <a:p/>
        </p:txBody>
      </p:sp>
      <p:sp>
        <p:nvSpPr>
          <p:cNvPr id="6" name="Shape 4"/>
          <p:cNvSpPr/>
          <p:nvPr/>
        </p:nvSpPr>
        <p:spPr>
          <a:xfrm>
            <a:off x="11335407" y="435306"/>
            <a:ext cx="51718" cy="51718"/>
          </a:xfrm>
          <a:prstGeom prst="ellipse">
            <a:avLst/>
          </a:prstGeom>
          <a:solidFill>
            <a:srgbClr val="F4D9DC"/>
          </a:solidFill>
          <a:ln/>
        </p:spPr>
        <p:txBody>
          <a:bodyPr/>
          <a:p/>
        </p:txBody>
      </p:sp>
      <p:sp>
        <p:nvSpPr>
          <p:cNvPr id="7" name="Shape 5"/>
          <p:cNvSpPr/>
          <p:nvPr/>
        </p:nvSpPr>
        <p:spPr>
          <a:xfrm>
            <a:off x="11127388" y="442398"/>
            <a:ext cx="35294" cy="35294"/>
          </a:xfrm>
          <a:prstGeom prst="ellipse">
            <a:avLst/>
          </a:prstGeom>
          <a:solidFill>
            <a:srgbClr val="F4D9DC"/>
          </a:solidFill>
          <a:ln/>
        </p:spPr>
        <p:txBody>
          <a:bodyPr/>
          <a:p/>
        </p:txBody>
      </p:sp>
      <p:sp>
        <p:nvSpPr>
          <p:cNvPr id="8" name="Shape 6"/>
          <p:cNvSpPr/>
          <p:nvPr/>
        </p:nvSpPr>
        <p:spPr>
          <a:xfrm>
            <a:off x="11482145" y="441649"/>
            <a:ext cx="35960" cy="35960"/>
          </a:xfrm>
          <a:prstGeom prst="ellipse">
            <a:avLst/>
          </a:prstGeom>
          <a:solidFill>
            <a:srgbClr val="F4D9DC"/>
          </a:solidFill>
          <a:ln/>
        </p:spPr>
        <p:txBody>
          <a:bodyPr/>
          <a:p/>
        </p:txBody>
      </p:sp>
      <p:sp>
        <p:nvSpPr>
          <p:cNvPr id="9" name="Shape 7"/>
          <p:cNvSpPr/>
          <p:nvPr/>
        </p:nvSpPr>
        <p:spPr>
          <a:xfrm>
            <a:off x="11185603" y="459328"/>
            <a:ext cx="52167" cy="52167"/>
          </a:xfrm>
          <a:prstGeom prst="ellipse">
            <a:avLst/>
          </a:prstGeom>
          <a:solidFill>
            <a:srgbClr val="F4D9DC"/>
          </a:solidFill>
          <a:ln/>
        </p:spPr>
        <p:txBody>
          <a:bodyPr/>
          <a:p/>
        </p:txBody>
      </p:sp>
      <p:sp>
        <p:nvSpPr>
          <p:cNvPr id="10" name="Shape 8"/>
          <p:cNvSpPr/>
          <p:nvPr/>
        </p:nvSpPr>
        <p:spPr>
          <a:xfrm>
            <a:off x="11408043" y="458713"/>
            <a:ext cx="52384" cy="52384"/>
          </a:xfrm>
          <a:prstGeom prst="ellipse">
            <a:avLst/>
          </a:prstGeom>
          <a:solidFill>
            <a:srgbClr val="F4D9DC"/>
          </a:solidFill>
          <a:ln/>
        </p:spPr>
        <p:txBody>
          <a:bodyPr/>
          <a:p/>
        </p:txBody>
      </p:sp>
      <p:sp>
        <p:nvSpPr>
          <p:cNvPr id="11" name="Shape 9"/>
          <p:cNvSpPr/>
          <p:nvPr/>
        </p:nvSpPr>
        <p:spPr>
          <a:xfrm>
            <a:off x="11241891" y="499749"/>
            <a:ext cx="36613" cy="36613"/>
          </a:xfrm>
          <a:prstGeom prst="ellipse">
            <a:avLst/>
          </a:prstGeom>
          <a:solidFill>
            <a:srgbClr val="F4D9DC"/>
          </a:solidFill>
          <a:ln/>
        </p:spPr>
        <p:txBody>
          <a:bodyPr/>
          <a:p/>
        </p:txBody>
      </p:sp>
      <p:sp>
        <p:nvSpPr>
          <p:cNvPr id="12" name="Shape 10"/>
          <p:cNvSpPr/>
          <p:nvPr/>
        </p:nvSpPr>
        <p:spPr>
          <a:xfrm>
            <a:off x="11294557" y="500146"/>
            <a:ext cx="57223" cy="57223"/>
          </a:xfrm>
          <a:prstGeom prst="ellipse">
            <a:avLst/>
          </a:prstGeom>
          <a:solidFill>
            <a:srgbClr val="F4D9DC"/>
          </a:solidFill>
          <a:ln/>
        </p:spPr>
        <p:txBody>
          <a:bodyPr/>
          <a:p/>
        </p:txBody>
      </p:sp>
      <p:sp>
        <p:nvSpPr>
          <p:cNvPr id="13" name="Shape 11"/>
          <p:cNvSpPr/>
          <p:nvPr/>
        </p:nvSpPr>
        <p:spPr>
          <a:xfrm>
            <a:off x="11364102" y="498770"/>
            <a:ext cx="35294" cy="35294"/>
          </a:xfrm>
          <a:prstGeom prst="ellipse">
            <a:avLst/>
          </a:prstGeom>
          <a:solidFill>
            <a:srgbClr val="F4D9DC"/>
          </a:solidFill>
          <a:ln/>
        </p:spPr>
        <p:txBody>
          <a:bodyPr/>
          <a:p/>
        </p:txBody>
      </p:sp>
      <p:sp>
        <p:nvSpPr>
          <p:cNvPr id="14" name="Shape 12"/>
          <p:cNvSpPr/>
          <p:nvPr/>
        </p:nvSpPr>
        <p:spPr>
          <a:xfrm>
            <a:off x="11123515" y="504524"/>
            <a:ext cx="51936" cy="51936"/>
          </a:xfrm>
          <a:prstGeom prst="ellipse">
            <a:avLst/>
          </a:prstGeom>
          <a:solidFill>
            <a:srgbClr val="F4D9DC"/>
          </a:solidFill>
          <a:ln/>
        </p:spPr>
        <p:txBody>
          <a:bodyPr/>
          <a:p/>
        </p:txBody>
      </p:sp>
      <p:sp>
        <p:nvSpPr>
          <p:cNvPr id="15" name="Shape 13"/>
          <p:cNvSpPr/>
          <p:nvPr/>
        </p:nvSpPr>
        <p:spPr>
          <a:xfrm>
            <a:off x="11470202" y="504300"/>
            <a:ext cx="52384" cy="52384"/>
          </a:xfrm>
          <a:prstGeom prst="ellipse">
            <a:avLst/>
          </a:prstGeom>
          <a:solidFill>
            <a:srgbClr val="F4D9DC"/>
          </a:solidFill>
          <a:ln/>
        </p:spPr>
        <p:txBody>
          <a:bodyPr/>
          <a:p/>
        </p:txBody>
      </p:sp>
      <p:sp>
        <p:nvSpPr>
          <p:cNvPr id="16" name="Shape 14"/>
          <p:cNvSpPr/>
          <p:nvPr/>
        </p:nvSpPr>
        <p:spPr>
          <a:xfrm>
            <a:off x="11060774" y="508825"/>
            <a:ext cx="35627" cy="35627"/>
          </a:xfrm>
          <a:prstGeom prst="ellipse">
            <a:avLst/>
          </a:prstGeom>
          <a:solidFill>
            <a:srgbClr val="F4D9DC"/>
          </a:solidFill>
          <a:ln/>
        </p:spPr>
        <p:txBody>
          <a:bodyPr/>
          <a:p/>
        </p:txBody>
      </p:sp>
      <p:sp>
        <p:nvSpPr>
          <p:cNvPr id="17" name="Shape 15"/>
          <p:cNvSpPr/>
          <p:nvPr/>
        </p:nvSpPr>
        <p:spPr>
          <a:xfrm>
            <a:off x="11548535" y="508038"/>
            <a:ext cx="36613" cy="36613"/>
          </a:xfrm>
          <a:prstGeom prst="ellipse">
            <a:avLst/>
          </a:prstGeom>
          <a:solidFill>
            <a:srgbClr val="F4D9DC"/>
          </a:solidFill>
          <a:ln/>
        </p:spPr>
        <p:txBody>
          <a:bodyPr/>
          <a:p/>
        </p:txBody>
      </p:sp>
      <p:sp>
        <p:nvSpPr>
          <p:cNvPr id="18" name="Shape 16"/>
          <p:cNvSpPr/>
          <p:nvPr/>
        </p:nvSpPr>
        <p:spPr>
          <a:xfrm>
            <a:off x="11191466" y="533379"/>
            <a:ext cx="57825" cy="57825"/>
          </a:xfrm>
          <a:prstGeom prst="ellipse">
            <a:avLst/>
          </a:prstGeom>
          <a:solidFill>
            <a:srgbClr val="F4D9DC"/>
          </a:solidFill>
          <a:ln/>
        </p:spPr>
        <p:txBody>
          <a:bodyPr/>
          <a:p/>
        </p:txBody>
      </p:sp>
      <p:sp>
        <p:nvSpPr>
          <p:cNvPr id="19" name="Shape 17"/>
          <p:cNvSpPr/>
          <p:nvPr/>
        </p:nvSpPr>
        <p:spPr>
          <a:xfrm>
            <a:off x="11396535" y="533494"/>
            <a:ext cx="57428" cy="57428"/>
          </a:xfrm>
          <a:prstGeom prst="ellipse">
            <a:avLst/>
          </a:prstGeom>
          <a:solidFill>
            <a:srgbClr val="F4D9DC"/>
          </a:solidFill>
          <a:ln/>
        </p:spPr>
        <p:txBody>
          <a:bodyPr/>
          <a:p/>
        </p:txBody>
      </p:sp>
      <p:sp>
        <p:nvSpPr>
          <p:cNvPr id="20" name="Shape 18"/>
          <p:cNvSpPr/>
          <p:nvPr/>
        </p:nvSpPr>
        <p:spPr>
          <a:xfrm>
            <a:off x="11079087" y="567226"/>
            <a:ext cx="51270" cy="51270"/>
          </a:xfrm>
          <a:prstGeom prst="ellipse">
            <a:avLst/>
          </a:prstGeom>
          <a:solidFill>
            <a:srgbClr val="F4D9DC"/>
          </a:solidFill>
          <a:ln/>
        </p:spPr>
        <p:txBody>
          <a:bodyPr/>
          <a:p/>
        </p:txBody>
      </p:sp>
      <p:sp>
        <p:nvSpPr>
          <p:cNvPr id="21" name="Shape 19"/>
          <p:cNvSpPr/>
          <p:nvPr/>
        </p:nvSpPr>
        <p:spPr>
          <a:xfrm>
            <a:off x="11339728" y="567053"/>
            <a:ext cx="34616" cy="34616"/>
          </a:xfrm>
          <a:prstGeom prst="ellipse">
            <a:avLst/>
          </a:prstGeom>
          <a:solidFill>
            <a:srgbClr val="F4D9DC"/>
          </a:solidFill>
          <a:ln/>
        </p:spPr>
        <p:txBody>
          <a:bodyPr/>
          <a:p/>
        </p:txBody>
      </p:sp>
      <p:sp>
        <p:nvSpPr>
          <p:cNvPr id="22" name="Shape 20"/>
          <p:cNvSpPr/>
          <p:nvPr/>
        </p:nvSpPr>
        <p:spPr>
          <a:xfrm>
            <a:off x="11515167" y="566234"/>
            <a:ext cx="52819" cy="52819"/>
          </a:xfrm>
          <a:prstGeom prst="ellipse">
            <a:avLst/>
          </a:prstGeom>
          <a:solidFill>
            <a:srgbClr val="F4D9DC"/>
          </a:solidFill>
          <a:ln/>
        </p:spPr>
        <p:txBody>
          <a:bodyPr/>
          <a:p/>
        </p:txBody>
      </p:sp>
      <p:sp>
        <p:nvSpPr>
          <p:cNvPr id="23" name="Shape 21"/>
          <p:cNvSpPr/>
          <p:nvPr/>
        </p:nvSpPr>
        <p:spPr>
          <a:xfrm>
            <a:off x="11262860" y="569742"/>
            <a:ext cx="34961" cy="34961"/>
          </a:xfrm>
          <a:prstGeom prst="ellipse">
            <a:avLst/>
          </a:prstGeom>
          <a:solidFill>
            <a:srgbClr val="F4D9DC"/>
          </a:solidFill>
          <a:ln/>
        </p:spPr>
        <p:txBody>
          <a:bodyPr/>
          <a:p/>
        </p:txBody>
      </p:sp>
      <p:sp>
        <p:nvSpPr>
          <p:cNvPr id="24" name="Shape 22"/>
          <p:cNvSpPr/>
          <p:nvPr/>
        </p:nvSpPr>
        <p:spPr>
          <a:xfrm>
            <a:off x="11462521" y="569818"/>
            <a:ext cx="35294" cy="35294"/>
          </a:xfrm>
          <a:prstGeom prst="ellipse">
            <a:avLst/>
          </a:prstGeom>
          <a:solidFill>
            <a:srgbClr val="F4D9DC"/>
          </a:solidFill>
          <a:ln/>
        </p:spPr>
        <p:txBody>
          <a:bodyPr/>
          <a:p/>
        </p:txBody>
      </p:sp>
      <p:sp>
        <p:nvSpPr>
          <p:cNvPr id="25" name="Shape 23"/>
          <p:cNvSpPr/>
          <p:nvPr/>
        </p:nvSpPr>
        <p:spPr>
          <a:xfrm>
            <a:off x="11145681" y="573441"/>
            <a:ext cx="34270" cy="34270"/>
          </a:xfrm>
          <a:prstGeom prst="ellipse">
            <a:avLst/>
          </a:prstGeom>
          <a:solidFill>
            <a:srgbClr val="F4D9DC"/>
          </a:solidFill>
          <a:ln/>
        </p:spPr>
        <p:txBody>
          <a:bodyPr/>
          <a:p/>
        </p:txBody>
      </p:sp>
      <p:sp>
        <p:nvSpPr>
          <p:cNvPr id="26" name="Shape 24"/>
          <p:cNvSpPr/>
          <p:nvPr/>
        </p:nvSpPr>
        <p:spPr>
          <a:xfrm>
            <a:off x="11592015" y="593213"/>
            <a:ext cx="35294" cy="35294"/>
          </a:xfrm>
          <a:prstGeom prst="ellipse">
            <a:avLst/>
          </a:prstGeom>
          <a:solidFill>
            <a:srgbClr val="F4D9DC"/>
          </a:solidFill>
          <a:ln/>
        </p:spPr>
        <p:txBody>
          <a:bodyPr/>
          <a:p/>
        </p:txBody>
      </p:sp>
      <p:sp>
        <p:nvSpPr>
          <p:cNvPr id="27" name="Shape 25"/>
          <p:cNvSpPr/>
          <p:nvPr/>
        </p:nvSpPr>
        <p:spPr>
          <a:xfrm>
            <a:off x="11019124" y="593444"/>
            <a:ext cx="34616" cy="34616"/>
          </a:xfrm>
          <a:prstGeom prst="ellipse">
            <a:avLst/>
          </a:prstGeom>
          <a:solidFill>
            <a:srgbClr val="F4D9DC"/>
          </a:solidFill>
          <a:ln/>
        </p:spPr>
        <p:txBody>
          <a:bodyPr/>
          <a:p/>
        </p:txBody>
      </p:sp>
      <p:sp>
        <p:nvSpPr>
          <p:cNvPr id="28" name="Shape 26"/>
          <p:cNvSpPr/>
          <p:nvPr/>
        </p:nvSpPr>
        <p:spPr>
          <a:xfrm>
            <a:off x="11403576" y="610214"/>
            <a:ext cx="34961" cy="34961"/>
          </a:xfrm>
          <a:prstGeom prst="ellipse">
            <a:avLst/>
          </a:prstGeom>
          <a:solidFill>
            <a:srgbClr val="F4D9DC"/>
          </a:solidFill>
          <a:ln/>
        </p:spPr>
        <p:txBody>
          <a:bodyPr/>
          <a:p/>
        </p:txBody>
      </p:sp>
      <p:sp>
        <p:nvSpPr>
          <p:cNvPr id="29" name="Shape 27"/>
          <p:cNvSpPr/>
          <p:nvPr/>
        </p:nvSpPr>
        <p:spPr>
          <a:xfrm>
            <a:off x="11201662" y="616570"/>
            <a:ext cx="35627" cy="35627"/>
          </a:xfrm>
          <a:prstGeom prst="ellipse">
            <a:avLst/>
          </a:prstGeom>
          <a:solidFill>
            <a:srgbClr val="F4D9DC"/>
          </a:solidFill>
          <a:ln/>
        </p:spPr>
        <p:txBody>
          <a:bodyPr/>
          <a:p/>
        </p:txBody>
      </p:sp>
      <p:sp>
        <p:nvSpPr>
          <p:cNvPr id="30" name="Shape 28"/>
          <p:cNvSpPr/>
          <p:nvPr/>
        </p:nvSpPr>
        <p:spPr>
          <a:xfrm>
            <a:off x="11127484" y="620705"/>
            <a:ext cx="58030" cy="58030"/>
          </a:xfrm>
          <a:prstGeom prst="ellipse">
            <a:avLst/>
          </a:prstGeom>
          <a:solidFill>
            <a:srgbClr val="F4D9DC"/>
          </a:solidFill>
          <a:ln/>
        </p:spPr>
        <p:txBody>
          <a:bodyPr/>
          <a:p/>
        </p:txBody>
      </p:sp>
      <p:sp>
        <p:nvSpPr>
          <p:cNvPr id="31" name="Shape 29"/>
          <p:cNvSpPr/>
          <p:nvPr/>
        </p:nvSpPr>
        <p:spPr>
          <a:xfrm>
            <a:off x="11460767" y="620852"/>
            <a:ext cx="57428" cy="57428"/>
          </a:xfrm>
          <a:prstGeom prst="ellipse">
            <a:avLst/>
          </a:prstGeom>
          <a:solidFill>
            <a:srgbClr val="F4D9DC"/>
          </a:solidFill>
          <a:ln/>
        </p:spPr>
        <p:txBody>
          <a:bodyPr/>
          <a:p/>
        </p:txBody>
      </p:sp>
      <p:sp>
        <p:nvSpPr>
          <p:cNvPr id="32" name="Shape 30"/>
          <p:cNvSpPr/>
          <p:nvPr/>
        </p:nvSpPr>
        <p:spPr>
          <a:xfrm>
            <a:off x="11055219" y="640144"/>
            <a:ext cx="51718" cy="51718"/>
          </a:xfrm>
          <a:prstGeom prst="ellipse">
            <a:avLst/>
          </a:prstGeom>
          <a:solidFill>
            <a:srgbClr val="F4D9DC"/>
          </a:solidFill>
          <a:ln/>
        </p:spPr>
        <p:txBody>
          <a:bodyPr/>
          <a:p/>
        </p:txBody>
      </p:sp>
      <p:sp>
        <p:nvSpPr>
          <p:cNvPr id="33" name="Shape 31"/>
          <p:cNvSpPr/>
          <p:nvPr/>
        </p:nvSpPr>
        <p:spPr>
          <a:xfrm>
            <a:off x="11539330" y="640266"/>
            <a:ext cx="51270" cy="51270"/>
          </a:xfrm>
          <a:prstGeom prst="ellipse">
            <a:avLst/>
          </a:prstGeom>
          <a:solidFill>
            <a:srgbClr val="F4D9DC"/>
          </a:solidFill>
          <a:ln/>
        </p:spPr>
        <p:txBody>
          <a:bodyPr/>
          <a:p/>
        </p:txBody>
      </p:sp>
      <p:sp>
        <p:nvSpPr>
          <p:cNvPr id="34" name="Shape 32"/>
          <p:cNvSpPr/>
          <p:nvPr/>
        </p:nvSpPr>
        <p:spPr>
          <a:xfrm>
            <a:off x="11429576" y="682274"/>
            <a:ext cx="35627" cy="35627"/>
          </a:xfrm>
          <a:prstGeom prst="ellipse">
            <a:avLst/>
          </a:prstGeom>
          <a:solidFill>
            <a:srgbClr val="F4D9DC"/>
          </a:solidFill>
          <a:ln/>
        </p:spPr>
        <p:txBody>
          <a:bodyPr/>
          <a:p/>
        </p:txBody>
      </p:sp>
      <p:sp>
        <p:nvSpPr>
          <p:cNvPr id="35" name="Shape 33"/>
          <p:cNvSpPr/>
          <p:nvPr/>
        </p:nvSpPr>
        <p:spPr>
          <a:xfrm>
            <a:off x="11004076" y="687222"/>
            <a:ext cx="34616" cy="34616"/>
          </a:xfrm>
          <a:prstGeom prst="ellipse">
            <a:avLst/>
          </a:prstGeom>
          <a:solidFill>
            <a:srgbClr val="F4D9DC"/>
          </a:solidFill>
          <a:ln/>
        </p:spPr>
        <p:txBody>
          <a:bodyPr/>
          <a:p/>
        </p:txBody>
      </p:sp>
      <p:sp>
        <p:nvSpPr>
          <p:cNvPr id="36" name="Shape 34"/>
          <p:cNvSpPr/>
          <p:nvPr/>
        </p:nvSpPr>
        <p:spPr>
          <a:xfrm>
            <a:off x="11502052" y="685321"/>
            <a:ext cx="34270" cy="34270"/>
          </a:xfrm>
          <a:prstGeom prst="ellipse">
            <a:avLst/>
          </a:prstGeom>
          <a:solidFill>
            <a:srgbClr val="F4D9DC"/>
          </a:solidFill>
          <a:ln/>
        </p:spPr>
        <p:txBody>
          <a:bodyPr/>
          <a:p/>
        </p:txBody>
      </p:sp>
      <p:sp>
        <p:nvSpPr>
          <p:cNvPr id="37" name="Shape 35"/>
          <p:cNvSpPr/>
          <p:nvPr/>
        </p:nvSpPr>
        <p:spPr>
          <a:xfrm>
            <a:off x="11606321" y="686422"/>
            <a:ext cx="35627" cy="35627"/>
          </a:xfrm>
          <a:prstGeom prst="ellipse">
            <a:avLst/>
          </a:prstGeom>
          <a:solidFill>
            <a:srgbClr val="F4D9DC"/>
          </a:solidFill>
          <a:ln/>
        </p:spPr>
        <p:txBody>
          <a:bodyPr/>
          <a:p/>
        </p:txBody>
      </p:sp>
      <p:sp>
        <p:nvSpPr>
          <p:cNvPr id="38" name="Shape 36"/>
          <p:cNvSpPr/>
          <p:nvPr/>
        </p:nvSpPr>
        <p:spPr>
          <a:xfrm>
            <a:off x="11108908" y="688957"/>
            <a:ext cx="35294" cy="35294"/>
          </a:xfrm>
          <a:prstGeom prst="ellipse">
            <a:avLst/>
          </a:prstGeom>
          <a:solidFill>
            <a:srgbClr val="F4D9DC"/>
          </a:solidFill>
          <a:ln/>
        </p:spPr>
        <p:txBody>
          <a:bodyPr/>
          <a:p/>
        </p:txBody>
      </p:sp>
      <p:sp>
        <p:nvSpPr>
          <p:cNvPr id="39" name="Shape 37"/>
          <p:cNvSpPr/>
          <p:nvPr/>
        </p:nvSpPr>
        <p:spPr>
          <a:xfrm>
            <a:off x="11179733" y="690371"/>
            <a:ext cx="36613" cy="36613"/>
          </a:xfrm>
          <a:prstGeom prst="ellipse">
            <a:avLst/>
          </a:prstGeom>
          <a:solidFill>
            <a:srgbClr val="F4D9DC"/>
          </a:solidFill>
          <a:ln/>
        </p:spPr>
        <p:txBody>
          <a:bodyPr/>
          <a:p/>
        </p:txBody>
      </p:sp>
      <p:sp>
        <p:nvSpPr>
          <p:cNvPr id="40" name="Shape 38"/>
          <p:cNvSpPr/>
          <p:nvPr/>
        </p:nvSpPr>
        <p:spPr>
          <a:xfrm>
            <a:off x="11054764" y="716576"/>
            <a:ext cx="51936" cy="51936"/>
          </a:xfrm>
          <a:prstGeom prst="ellipse">
            <a:avLst/>
          </a:prstGeom>
          <a:solidFill>
            <a:srgbClr val="F4D9DC"/>
          </a:solidFill>
          <a:ln/>
        </p:spPr>
        <p:txBody>
          <a:bodyPr/>
          <a:p/>
        </p:txBody>
      </p:sp>
      <p:sp>
        <p:nvSpPr>
          <p:cNvPr id="41" name="Shape 39"/>
          <p:cNvSpPr/>
          <p:nvPr/>
        </p:nvSpPr>
        <p:spPr>
          <a:xfrm>
            <a:off x="11539023" y="716851"/>
            <a:ext cx="51488" cy="51488"/>
          </a:xfrm>
          <a:prstGeom prst="ellipse">
            <a:avLst/>
          </a:prstGeom>
          <a:solidFill>
            <a:srgbClr val="F4D9DC"/>
          </a:solidFill>
          <a:ln/>
        </p:spPr>
        <p:txBody>
          <a:bodyPr/>
          <a:p/>
        </p:txBody>
      </p:sp>
      <p:sp>
        <p:nvSpPr>
          <p:cNvPr id="42" name="Shape 40"/>
          <p:cNvSpPr/>
          <p:nvPr/>
        </p:nvSpPr>
        <p:spPr>
          <a:xfrm>
            <a:off x="11127490" y="729288"/>
            <a:ext cx="58222" cy="58222"/>
          </a:xfrm>
          <a:prstGeom prst="ellipse">
            <a:avLst/>
          </a:prstGeom>
          <a:solidFill>
            <a:srgbClr val="F4D9DC"/>
          </a:solidFill>
          <a:ln/>
        </p:spPr>
        <p:txBody>
          <a:bodyPr/>
          <a:p/>
        </p:txBody>
      </p:sp>
      <p:sp>
        <p:nvSpPr>
          <p:cNvPr id="43" name="Shape 41"/>
          <p:cNvSpPr/>
          <p:nvPr/>
        </p:nvSpPr>
        <p:spPr>
          <a:xfrm>
            <a:off x="11460671" y="729781"/>
            <a:ext cx="57633" cy="57633"/>
          </a:xfrm>
          <a:prstGeom prst="ellipse">
            <a:avLst/>
          </a:prstGeom>
          <a:solidFill>
            <a:srgbClr val="F4D9DC"/>
          </a:solidFill>
          <a:ln/>
        </p:spPr>
        <p:txBody>
          <a:bodyPr/>
          <a:p/>
        </p:txBody>
      </p:sp>
      <p:sp>
        <p:nvSpPr>
          <p:cNvPr id="44" name="Shape 42"/>
          <p:cNvSpPr/>
          <p:nvPr/>
        </p:nvSpPr>
        <p:spPr>
          <a:xfrm>
            <a:off x="11407973" y="756415"/>
            <a:ext cx="35960" cy="35960"/>
          </a:xfrm>
          <a:prstGeom prst="ellipse">
            <a:avLst/>
          </a:prstGeom>
          <a:solidFill>
            <a:srgbClr val="F4D9DC"/>
          </a:solidFill>
          <a:ln/>
        </p:spPr>
        <p:txBody>
          <a:bodyPr/>
          <a:p/>
        </p:txBody>
      </p:sp>
      <p:sp>
        <p:nvSpPr>
          <p:cNvPr id="45" name="Shape 43"/>
          <p:cNvSpPr/>
          <p:nvPr/>
        </p:nvSpPr>
        <p:spPr>
          <a:xfrm>
            <a:off x="11207308" y="763884"/>
            <a:ext cx="34616" cy="34616"/>
          </a:xfrm>
          <a:prstGeom prst="ellipse">
            <a:avLst/>
          </a:prstGeom>
          <a:solidFill>
            <a:srgbClr val="F4D9DC"/>
          </a:solidFill>
          <a:ln/>
        </p:spPr>
        <p:txBody>
          <a:bodyPr/>
          <a:p/>
        </p:txBody>
      </p:sp>
      <p:sp>
        <p:nvSpPr>
          <p:cNvPr id="46" name="Shape 44"/>
          <p:cNvSpPr/>
          <p:nvPr/>
        </p:nvSpPr>
        <p:spPr>
          <a:xfrm>
            <a:off x="11018670" y="780462"/>
            <a:ext cx="34616" cy="34616"/>
          </a:xfrm>
          <a:prstGeom prst="ellipse">
            <a:avLst/>
          </a:prstGeom>
          <a:solidFill>
            <a:srgbClr val="F4D9DC"/>
          </a:solidFill>
          <a:ln/>
        </p:spPr>
        <p:txBody>
          <a:bodyPr/>
          <a:p/>
        </p:txBody>
      </p:sp>
      <p:sp>
        <p:nvSpPr>
          <p:cNvPr id="47" name="Shape 45"/>
          <p:cNvSpPr/>
          <p:nvPr/>
        </p:nvSpPr>
        <p:spPr>
          <a:xfrm>
            <a:off x="11591670" y="780123"/>
            <a:ext cx="35294" cy="35294"/>
          </a:xfrm>
          <a:prstGeom prst="ellipse">
            <a:avLst/>
          </a:prstGeom>
          <a:solidFill>
            <a:srgbClr val="F4D9DC"/>
          </a:solidFill>
          <a:ln/>
        </p:spPr>
        <p:txBody>
          <a:bodyPr/>
          <a:p/>
        </p:txBody>
      </p:sp>
      <p:sp>
        <p:nvSpPr>
          <p:cNvPr id="48" name="Shape 46"/>
          <p:cNvSpPr/>
          <p:nvPr/>
        </p:nvSpPr>
        <p:spPr>
          <a:xfrm>
            <a:off x="11079010" y="790179"/>
            <a:ext cx="51270" cy="51270"/>
          </a:xfrm>
          <a:prstGeom prst="ellipse">
            <a:avLst/>
          </a:prstGeom>
          <a:solidFill>
            <a:srgbClr val="F4D9DC"/>
          </a:solidFill>
          <a:ln/>
        </p:spPr>
        <p:txBody>
          <a:bodyPr/>
          <a:p/>
        </p:txBody>
      </p:sp>
      <p:sp>
        <p:nvSpPr>
          <p:cNvPr id="49" name="Shape 47"/>
          <p:cNvSpPr/>
          <p:nvPr/>
        </p:nvSpPr>
        <p:spPr>
          <a:xfrm>
            <a:off x="11515218" y="789692"/>
            <a:ext cx="52602" cy="52602"/>
          </a:xfrm>
          <a:prstGeom prst="ellipse">
            <a:avLst/>
          </a:prstGeom>
          <a:solidFill>
            <a:srgbClr val="F4D9DC"/>
          </a:solidFill>
          <a:ln/>
        </p:spPr>
        <p:txBody>
          <a:bodyPr/>
          <a:p/>
        </p:txBody>
      </p:sp>
      <p:sp>
        <p:nvSpPr>
          <p:cNvPr id="50" name="Shape 48"/>
          <p:cNvSpPr/>
          <p:nvPr/>
        </p:nvSpPr>
        <p:spPr>
          <a:xfrm>
            <a:off x="11147371" y="803460"/>
            <a:ext cx="35627" cy="35627"/>
          </a:xfrm>
          <a:prstGeom prst="ellipse">
            <a:avLst/>
          </a:prstGeom>
          <a:solidFill>
            <a:srgbClr val="F4D9DC"/>
          </a:solidFill>
          <a:ln/>
        </p:spPr>
        <p:txBody>
          <a:bodyPr/>
          <a:p/>
        </p:txBody>
      </p:sp>
      <p:sp>
        <p:nvSpPr>
          <p:cNvPr id="51" name="Shape 49"/>
          <p:cNvSpPr/>
          <p:nvPr/>
        </p:nvSpPr>
        <p:spPr>
          <a:xfrm>
            <a:off x="11347786" y="804293"/>
            <a:ext cx="35294" cy="35294"/>
          </a:xfrm>
          <a:prstGeom prst="ellipse">
            <a:avLst/>
          </a:prstGeom>
          <a:solidFill>
            <a:srgbClr val="F4D9DC"/>
          </a:solidFill>
          <a:ln/>
        </p:spPr>
        <p:txBody>
          <a:bodyPr/>
          <a:p/>
        </p:txBody>
      </p:sp>
      <p:sp>
        <p:nvSpPr>
          <p:cNvPr id="52" name="Shape 50"/>
          <p:cNvSpPr/>
          <p:nvPr/>
        </p:nvSpPr>
        <p:spPr>
          <a:xfrm>
            <a:off x="11465119" y="800919"/>
            <a:ext cx="34961" cy="34961"/>
          </a:xfrm>
          <a:prstGeom prst="ellipse">
            <a:avLst/>
          </a:prstGeom>
          <a:solidFill>
            <a:srgbClr val="F4D9DC"/>
          </a:solidFill>
          <a:ln/>
        </p:spPr>
        <p:txBody>
          <a:bodyPr/>
          <a:p/>
        </p:txBody>
      </p:sp>
      <p:sp>
        <p:nvSpPr>
          <p:cNvPr id="53" name="Shape 51"/>
          <p:cNvSpPr/>
          <p:nvPr/>
        </p:nvSpPr>
        <p:spPr>
          <a:xfrm>
            <a:off x="11270669" y="806590"/>
            <a:ext cx="35627" cy="35627"/>
          </a:xfrm>
          <a:prstGeom prst="ellipse">
            <a:avLst/>
          </a:prstGeom>
          <a:solidFill>
            <a:srgbClr val="F4D9DC"/>
          </a:solidFill>
          <a:ln/>
        </p:spPr>
        <p:txBody>
          <a:bodyPr/>
          <a:p/>
        </p:txBody>
      </p:sp>
      <p:sp>
        <p:nvSpPr>
          <p:cNvPr id="54" name="Shape 52"/>
          <p:cNvSpPr/>
          <p:nvPr/>
        </p:nvSpPr>
        <p:spPr>
          <a:xfrm>
            <a:off x="11191498" y="817766"/>
            <a:ext cx="57633" cy="57633"/>
          </a:xfrm>
          <a:prstGeom prst="ellipse">
            <a:avLst/>
          </a:prstGeom>
          <a:solidFill>
            <a:srgbClr val="F4D9DC"/>
          </a:solidFill>
          <a:ln/>
        </p:spPr>
        <p:txBody>
          <a:bodyPr/>
          <a:p/>
        </p:txBody>
      </p:sp>
      <p:sp>
        <p:nvSpPr>
          <p:cNvPr id="55" name="Shape 53"/>
          <p:cNvSpPr/>
          <p:nvPr/>
        </p:nvSpPr>
        <p:spPr>
          <a:xfrm>
            <a:off x="11396573" y="817888"/>
            <a:ext cx="57633" cy="57633"/>
          </a:xfrm>
          <a:prstGeom prst="ellipse">
            <a:avLst/>
          </a:prstGeom>
          <a:solidFill>
            <a:srgbClr val="F4D9DC"/>
          </a:solidFill>
          <a:ln/>
        </p:spPr>
        <p:txBody>
          <a:bodyPr/>
          <a:p/>
        </p:txBody>
      </p:sp>
      <p:sp>
        <p:nvSpPr>
          <p:cNvPr id="56" name="Shape 54"/>
          <p:cNvSpPr/>
          <p:nvPr/>
        </p:nvSpPr>
        <p:spPr>
          <a:xfrm>
            <a:off x="11123445" y="851985"/>
            <a:ext cx="52167" cy="52167"/>
          </a:xfrm>
          <a:prstGeom prst="ellipse">
            <a:avLst/>
          </a:prstGeom>
          <a:solidFill>
            <a:srgbClr val="F4D9DC"/>
          </a:solidFill>
          <a:ln/>
        </p:spPr>
        <p:txBody>
          <a:bodyPr/>
          <a:p/>
        </p:txBody>
      </p:sp>
      <p:sp>
        <p:nvSpPr>
          <p:cNvPr id="57" name="Shape 55"/>
          <p:cNvSpPr/>
          <p:nvPr/>
        </p:nvSpPr>
        <p:spPr>
          <a:xfrm>
            <a:off x="11294647" y="851390"/>
            <a:ext cx="57223" cy="57223"/>
          </a:xfrm>
          <a:prstGeom prst="ellipse">
            <a:avLst/>
          </a:prstGeom>
          <a:solidFill>
            <a:srgbClr val="F4D9DC"/>
          </a:solidFill>
          <a:ln/>
        </p:spPr>
        <p:txBody>
          <a:bodyPr/>
          <a:p/>
        </p:txBody>
      </p:sp>
      <p:sp>
        <p:nvSpPr>
          <p:cNvPr id="58" name="Shape 56"/>
          <p:cNvSpPr/>
          <p:nvPr/>
        </p:nvSpPr>
        <p:spPr>
          <a:xfrm>
            <a:off x="11470202" y="852382"/>
            <a:ext cx="52384" cy="52384"/>
          </a:xfrm>
          <a:prstGeom prst="ellipse">
            <a:avLst/>
          </a:prstGeom>
          <a:solidFill>
            <a:srgbClr val="F4D9DC"/>
          </a:solidFill>
          <a:ln/>
        </p:spPr>
        <p:txBody>
          <a:bodyPr/>
          <a:p/>
        </p:txBody>
      </p:sp>
      <p:sp>
        <p:nvSpPr>
          <p:cNvPr id="59" name="Shape 57"/>
          <p:cNvSpPr/>
          <p:nvPr/>
        </p:nvSpPr>
        <p:spPr>
          <a:xfrm>
            <a:off x="11060774" y="864607"/>
            <a:ext cx="35627" cy="35627"/>
          </a:xfrm>
          <a:prstGeom prst="ellipse">
            <a:avLst/>
          </a:prstGeom>
          <a:solidFill>
            <a:srgbClr val="F4D9DC"/>
          </a:solidFill>
          <a:ln/>
        </p:spPr>
        <p:txBody>
          <a:bodyPr/>
          <a:p/>
        </p:txBody>
      </p:sp>
      <p:sp>
        <p:nvSpPr>
          <p:cNvPr id="60" name="Shape 58"/>
          <p:cNvSpPr/>
          <p:nvPr/>
        </p:nvSpPr>
        <p:spPr>
          <a:xfrm>
            <a:off x="11548733" y="864185"/>
            <a:ext cx="35627" cy="35627"/>
          </a:xfrm>
          <a:prstGeom prst="ellipse">
            <a:avLst/>
          </a:prstGeom>
          <a:solidFill>
            <a:srgbClr val="F4D9DC"/>
          </a:solidFill>
          <a:ln/>
        </p:spPr>
        <p:txBody>
          <a:bodyPr/>
          <a:p/>
        </p:txBody>
      </p:sp>
      <p:sp>
        <p:nvSpPr>
          <p:cNvPr id="61" name="Shape 59"/>
          <p:cNvSpPr/>
          <p:nvPr/>
        </p:nvSpPr>
        <p:spPr>
          <a:xfrm>
            <a:off x="11246231" y="873908"/>
            <a:ext cx="35627" cy="35627"/>
          </a:xfrm>
          <a:prstGeom prst="ellipse">
            <a:avLst/>
          </a:prstGeom>
          <a:solidFill>
            <a:srgbClr val="F4D9DC"/>
          </a:solidFill>
          <a:ln/>
        </p:spPr>
        <p:txBody>
          <a:bodyPr/>
          <a:p/>
        </p:txBody>
      </p:sp>
      <p:sp>
        <p:nvSpPr>
          <p:cNvPr id="62" name="Shape 60"/>
          <p:cNvSpPr/>
          <p:nvPr/>
        </p:nvSpPr>
        <p:spPr>
          <a:xfrm>
            <a:off x="11367418" y="872896"/>
            <a:ext cx="35627" cy="35627"/>
          </a:xfrm>
          <a:prstGeom prst="ellipse">
            <a:avLst/>
          </a:prstGeom>
          <a:solidFill>
            <a:srgbClr val="F4D9DC"/>
          </a:solidFill>
          <a:ln/>
        </p:spPr>
        <p:txBody>
          <a:bodyPr/>
          <a:p/>
        </p:txBody>
      </p:sp>
      <p:sp>
        <p:nvSpPr>
          <p:cNvPr id="63" name="Shape 61"/>
          <p:cNvSpPr/>
          <p:nvPr/>
        </p:nvSpPr>
        <p:spPr>
          <a:xfrm>
            <a:off x="11185366" y="897322"/>
            <a:ext cx="51936" cy="51936"/>
          </a:xfrm>
          <a:prstGeom prst="ellipse">
            <a:avLst/>
          </a:prstGeom>
          <a:solidFill>
            <a:srgbClr val="F4D9DC"/>
          </a:solidFill>
          <a:ln/>
        </p:spPr>
        <p:txBody>
          <a:bodyPr/>
          <a:p/>
        </p:txBody>
      </p:sp>
      <p:sp>
        <p:nvSpPr>
          <p:cNvPr id="64" name="Shape 62"/>
          <p:cNvSpPr/>
          <p:nvPr/>
        </p:nvSpPr>
        <p:spPr>
          <a:xfrm>
            <a:off x="11407845" y="897655"/>
            <a:ext cx="52602" cy="52602"/>
          </a:xfrm>
          <a:prstGeom prst="ellipse">
            <a:avLst/>
          </a:prstGeom>
          <a:solidFill>
            <a:srgbClr val="F4D9DC"/>
          </a:solidFill>
          <a:ln/>
        </p:spPr>
        <p:txBody>
          <a:bodyPr/>
          <a:p/>
        </p:txBody>
      </p:sp>
      <p:sp>
        <p:nvSpPr>
          <p:cNvPr id="65" name="Shape 63"/>
          <p:cNvSpPr/>
          <p:nvPr/>
        </p:nvSpPr>
        <p:spPr>
          <a:xfrm>
            <a:off x="11258822" y="921466"/>
            <a:ext cx="51270" cy="51270"/>
          </a:xfrm>
          <a:prstGeom prst="ellipse">
            <a:avLst/>
          </a:prstGeom>
          <a:solidFill>
            <a:srgbClr val="F4D9DC"/>
          </a:solidFill>
          <a:ln/>
        </p:spPr>
        <p:txBody>
          <a:bodyPr/>
          <a:p/>
        </p:txBody>
      </p:sp>
      <p:sp>
        <p:nvSpPr>
          <p:cNvPr id="66" name="Shape 64"/>
          <p:cNvSpPr/>
          <p:nvPr/>
        </p:nvSpPr>
        <p:spPr>
          <a:xfrm>
            <a:off x="11335350" y="921504"/>
            <a:ext cx="51270" cy="51270"/>
          </a:xfrm>
          <a:prstGeom prst="ellipse">
            <a:avLst/>
          </a:prstGeom>
          <a:solidFill>
            <a:srgbClr val="F4D9DC"/>
          </a:solidFill>
          <a:ln/>
        </p:spPr>
        <p:txBody>
          <a:bodyPr/>
          <a:p/>
        </p:txBody>
      </p:sp>
      <p:sp>
        <p:nvSpPr>
          <p:cNvPr id="67" name="Shape 65"/>
          <p:cNvSpPr/>
          <p:nvPr/>
        </p:nvSpPr>
        <p:spPr>
          <a:xfrm>
            <a:off x="11127388" y="931368"/>
            <a:ext cx="35294" cy="35294"/>
          </a:xfrm>
          <a:prstGeom prst="ellipse">
            <a:avLst/>
          </a:prstGeom>
          <a:solidFill>
            <a:srgbClr val="F4D9DC"/>
          </a:solidFill>
          <a:ln/>
        </p:spPr>
        <p:txBody>
          <a:bodyPr/>
          <a:p/>
        </p:txBody>
      </p:sp>
      <p:sp>
        <p:nvSpPr>
          <p:cNvPr id="68" name="Shape 66"/>
          <p:cNvSpPr/>
          <p:nvPr/>
        </p:nvSpPr>
        <p:spPr>
          <a:xfrm>
            <a:off x="11481979" y="931035"/>
            <a:ext cx="35960" cy="35960"/>
          </a:xfrm>
          <a:prstGeom prst="ellipse">
            <a:avLst/>
          </a:prstGeom>
          <a:solidFill>
            <a:srgbClr val="F4D9DC"/>
          </a:solidFill>
          <a:ln/>
        </p:spPr>
        <p:txBody>
          <a:bodyPr/>
          <a:p/>
        </p:txBody>
      </p:sp>
      <p:sp>
        <p:nvSpPr>
          <p:cNvPr id="69" name="Shape 67"/>
          <p:cNvSpPr/>
          <p:nvPr/>
        </p:nvSpPr>
        <p:spPr>
          <a:xfrm>
            <a:off x="11211987" y="974695"/>
            <a:ext cx="34961" cy="34961"/>
          </a:xfrm>
          <a:prstGeom prst="ellipse">
            <a:avLst/>
          </a:prstGeom>
          <a:solidFill>
            <a:srgbClr val="F4D9DC"/>
          </a:solidFill>
          <a:ln/>
        </p:spPr>
        <p:txBody>
          <a:bodyPr/>
          <a:p/>
        </p:txBody>
      </p:sp>
      <p:sp>
        <p:nvSpPr>
          <p:cNvPr id="70" name="Shape 68"/>
          <p:cNvSpPr/>
          <p:nvPr/>
        </p:nvSpPr>
        <p:spPr>
          <a:xfrm>
            <a:off x="11398461" y="974695"/>
            <a:ext cx="34961" cy="34961"/>
          </a:xfrm>
          <a:prstGeom prst="ellipse">
            <a:avLst/>
          </a:prstGeom>
          <a:solidFill>
            <a:srgbClr val="F4D9DC"/>
          </a:solidFill>
          <a:ln/>
        </p:spPr>
        <p:txBody>
          <a:bodyPr/>
          <a:p/>
        </p:txBody>
      </p:sp>
      <p:sp>
        <p:nvSpPr>
          <p:cNvPr id="71" name="Shape 69"/>
          <p:cNvSpPr/>
          <p:nvPr/>
        </p:nvSpPr>
        <p:spPr>
          <a:xfrm>
            <a:off x="11304837" y="988501"/>
            <a:ext cx="35627" cy="35627"/>
          </a:xfrm>
          <a:prstGeom prst="ellipse">
            <a:avLst/>
          </a:prstGeom>
          <a:solidFill>
            <a:srgbClr val="F4D9DC"/>
          </a:solidFill>
          <a:ln/>
        </p:spPr>
        <p:txBody>
          <a:bodyPr/>
          <a:p/>
        </p:txBody>
      </p:sp>
      <p:sp>
        <p:nvSpPr>
          <p:cNvPr id="72" name="Shape 70"/>
          <p:cNvSpPr/>
          <p:nvPr/>
        </p:nvSpPr>
        <p:spPr>
          <a:xfrm>
            <a:off x="548640" y="1280160"/>
            <a:ext cx="1005840" cy="1005840"/>
          </a:xfrm>
          <a:prstGeom prst="ellipse">
            <a:avLst/>
          </a:prstGeom>
          <a:solidFill>
            <a:srgbClr val="F4D74B"/>
          </a:solidFill>
          <a:ln/>
        </p:spPr>
        <p:txBody>
          <a:bodyPr/>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3</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2: bouw het dashboard</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22 minuten. Wissel van rol en maak de conclusie zichtbaar.</a:t>
            </a:r>
            <a:endParaRPr lang="en-US" sz="2200" dirty="0"/>
          </a:p>
        </p:txBody>
      </p:sp>
      <p:pic>
        <p:nvPicPr>
          <p:cNvPr id="76" name="Image 0" descr="exports\261005_workshop_rad_uitvoering\img\Laptopman.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0">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Wat je dashboard minimaal heeft</a:t>
            </a:r>
            <a:endParaRPr lang="en-US" sz="3400" dirty="0"/>
          </a:p>
        </p:txBody>
      </p:sp>
      <p:sp>
        <p:nvSpPr>
          <p:cNvPr id="73" name="Shape 71"/>
          <p:cNvSpPr/>
          <p:nvPr/>
        </p:nvSpPr>
        <p:spPr>
          <a:xfrm>
            <a:off x="548640" y="1371600"/>
            <a:ext cx="2567864" cy="3025648"/>
          </a:xfrm>
          <a:prstGeom prst="roundRect">
            <a:avLst>
              <a:gd name="adj" fmla="val 3550"/>
            </a:avLst>
          </a:prstGeom>
          <a:solidFill>
            <a:srgbClr val="3D68EC"/>
          </a:solidFill>
          <a:ln/>
        </p:spPr>
        <p:txBody>
          <a:bodyPr/>
          <a:p/>
        </p:txBody>
      </p:sp>
      <p:sp>
        <p:nvSpPr>
          <p:cNvPr id="74" name="Shape 72"/>
          <p:cNvSpPr/>
          <p:nvPr/>
        </p:nvSpPr>
        <p:spPr>
          <a:xfrm>
            <a:off x="822960" y="1645920"/>
            <a:ext cx="548640" cy="548640"/>
          </a:xfrm>
          <a:prstGeom prst="ellipse">
            <a:avLst/>
          </a:prstGeom>
          <a:solidFill>
            <a:srgbClr val="F4D74B"/>
          </a:solidFill>
          <a:ln/>
        </p:spPr>
        <p:txBody>
          <a:body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333424" cy="402336"/>
          </a:xfrm>
          <a:prstGeom prst="roundRect">
            <a:avLst>
              <a:gd name="adj" fmla="val 113636"/>
            </a:avLst>
          </a:prstGeom>
          <a:solidFill>
            <a:srgbClr val="F4D74B"/>
          </a:solidFill>
          <a:ln/>
        </p:spPr>
        <p:txBody>
          <a:bodyPr/>
          <a:p/>
        </p:txBody>
      </p:sp>
      <p:sp>
        <p:nvSpPr>
          <p:cNvPr id="77" name="Text 75"/>
          <p:cNvSpPr/>
          <p:nvPr/>
        </p:nvSpPr>
        <p:spPr>
          <a:xfrm>
            <a:off x="1600200"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Grafiek</a:t>
            </a:r>
            <a:endParaRPr lang="en-US" sz="1200" dirty="0"/>
          </a:p>
        </p:txBody>
      </p:sp>
      <p:sp>
        <p:nvSpPr>
          <p:cNvPr id="78" name="Text 76"/>
          <p:cNvSpPr/>
          <p:nvPr/>
        </p:nvSpPr>
        <p:spPr>
          <a:xfrm>
            <a:off x="822960"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Conclusie als titel</a:t>
            </a:r>
            <a:endParaRPr lang="en-US" sz="1900" dirty="0"/>
          </a:p>
        </p:txBody>
      </p:sp>
      <p:sp>
        <p:nvSpPr>
          <p:cNvPr id="79" name="Text 77"/>
          <p:cNvSpPr/>
          <p:nvPr/>
        </p:nvSpPr>
        <p:spPr>
          <a:xfrm>
            <a:off x="822960"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"Uitval is het hoogst in techniek" in plaats van "Uitval per sector".</a:t>
            </a:r>
            <a:endParaRPr lang="en-US" sz="1500" dirty="0"/>
          </a:p>
        </p:txBody>
      </p:sp>
      <p:sp>
        <p:nvSpPr>
          <p:cNvPr id="80" name="Shape 78"/>
          <p:cNvSpPr/>
          <p:nvPr/>
        </p:nvSpPr>
        <p:spPr>
          <a:xfrm>
            <a:off x="3390824" y="1371600"/>
            <a:ext cx="2567864" cy="3025648"/>
          </a:xfrm>
          <a:prstGeom prst="roundRect">
            <a:avLst>
              <a:gd name="adj" fmla="val 3550"/>
            </a:avLst>
          </a:prstGeom>
          <a:solidFill>
            <a:srgbClr val="DD784B"/>
          </a:solidFill>
          <a:ln/>
        </p:spPr>
        <p:txBody>
          <a:bodyPr/>
          <a:p/>
        </p:txBody>
      </p:sp>
      <p:sp>
        <p:nvSpPr>
          <p:cNvPr id="81" name="Shape 79"/>
          <p:cNvSpPr/>
          <p:nvPr/>
        </p:nvSpPr>
        <p:spPr>
          <a:xfrm>
            <a:off x="3665144" y="1645920"/>
            <a:ext cx="548640" cy="548640"/>
          </a:xfrm>
          <a:prstGeom prst="ellipse">
            <a:avLst/>
          </a:prstGeom>
          <a:solidFill>
            <a:srgbClr val="F4D9DC"/>
          </a:solidFill>
          <a:ln/>
        </p:spPr>
        <p:txBody>
          <a:bodyPr/>
          <a:p/>
        </p:txBody>
      </p:sp>
      <p:sp>
        <p:nvSpPr>
          <p:cNvPr id="82" name="Text 80"/>
          <p:cNvSpPr/>
          <p:nvPr/>
        </p:nvSpPr>
        <p:spPr>
          <a:xfrm>
            <a:off x="366514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4350944" y="1719072"/>
            <a:ext cx="1333424" cy="402336"/>
          </a:xfrm>
          <a:prstGeom prst="roundRect">
            <a:avLst>
              <a:gd name="adj" fmla="val 113636"/>
            </a:avLst>
          </a:prstGeom>
          <a:solidFill>
            <a:srgbClr val="F4D9DC"/>
          </a:solidFill>
          <a:ln/>
        </p:spPr>
        <p:txBody>
          <a:bodyPr/>
          <a:p/>
        </p:txBody>
      </p:sp>
      <p:sp>
        <p:nvSpPr>
          <p:cNvPr id="84" name="Text 82"/>
          <p:cNvSpPr/>
          <p:nvPr/>
        </p:nvSpPr>
        <p:spPr>
          <a:xfrm>
            <a:off x="4442384"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Vergelijking</a:t>
            </a:r>
            <a:endParaRPr lang="en-US" sz="1200" dirty="0"/>
          </a:p>
        </p:txBody>
      </p:sp>
      <p:sp>
        <p:nvSpPr>
          <p:cNvPr id="85" name="Text 83"/>
          <p:cNvSpPr/>
          <p:nvPr/>
        </p:nvSpPr>
        <p:spPr>
          <a:xfrm>
            <a:off x="3665144" y="2423160"/>
            <a:ext cx="201922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Eén nul-as</a:t>
            </a:r>
            <a:endParaRPr lang="en-US" sz="2000" dirty="0"/>
          </a:p>
        </p:txBody>
      </p:sp>
      <p:sp>
        <p:nvSpPr>
          <p:cNvPr id="86" name="Text 84"/>
          <p:cNvSpPr/>
          <p:nvPr/>
        </p:nvSpPr>
        <p:spPr>
          <a:xfrm>
            <a:off x="3665144"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of cohorten naast elkaar, vergelijkbaar en eerlijk.</a:t>
            </a:r>
            <a:endParaRPr lang="en-US" sz="1500" dirty="0"/>
          </a:p>
        </p:txBody>
      </p:sp>
      <p:sp>
        <p:nvSpPr>
          <p:cNvPr id="87" name="Shape 85"/>
          <p:cNvSpPr/>
          <p:nvPr/>
        </p:nvSpPr>
        <p:spPr>
          <a:xfrm>
            <a:off x="6233008" y="1371600"/>
            <a:ext cx="2567864" cy="3025648"/>
          </a:xfrm>
          <a:prstGeom prst="roundRect">
            <a:avLst>
              <a:gd name="adj" fmla="val 3550"/>
            </a:avLst>
          </a:prstGeom>
          <a:solidFill>
            <a:srgbClr val="00AF81"/>
          </a:solidFill>
          <a:ln/>
        </p:spPr>
        <p:txBody>
          <a:bodyPr/>
          <a:p/>
        </p:txBody>
      </p:sp>
      <p:sp>
        <p:nvSpPr>
          <p:cNvPr id="88" name="Shape 86"/>
          <p:cNvSpPr/>
          <p:nvPr/>
        </p:nvSpPr>
        <p:spPr>
          <a:xfrm>
            <a:off x="6507328" y="1645920"/>
            <a:ext cx="548640" cy="548640"/>
          </a:xfrm>
          <a:prstGeom prst="ellipse">
            <a:avLst/>
          </a:prstGeom>
          <a:solidFill>
            <a:srgbClr val="F4D9DC"/>
          </a:solidFill>
          <a:ln/>
        </p:spPr>
        <p:txBody>
          <a:bodyPr/>
          <a:p/>
        </p:txBody>
      </p:sp>
      <p:sp>
        <p:nvSpPr>
          <p:cNvPr id="89" name="Text 87"/>
          <p:cNvSpPr/>
          <p:nvPr/>
        </p:nvSpPr>
        <p:spPr>
          <a:xfrm>
            <a:off x="650732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7193128" y="1719072"/>
            <a:ext cx="1333424" cy="402336"/>
          </a:xfrm>
          <a:prstGeom prst="roundRect">
            <a:avLst>
              <a:gd name="adj" fmla="val 113636"/>
            </a:avLst>
          </a:prstGeom>
          <a:solidFill>
            <a:srgbClr val="F4D9DC"/>
          </a:solidFill>
          <a:ln/>
        </p:spPr>
        <p:txBody>
          <a:bodyPr/>
          <a:p/>
        </p:txBody>
      </p:sp>
      <p:sp>
        <p:nvSpPr>
          <p:cNvPr id="91" name="Text 89"/>
          <p:cNvSpPr/>
          <p:nvPr/>
        </p:nvSpPr>
        <p:spPr>
          <a:xfrm>
            <a:off x="7284568"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Filter</a:t>
            </a:r>
            <a:endParaRPr lang="en-US" sz="1200" dirty="0"/>
          </a:p>
        </p:txBody>
      </p:sp>
      <p:sp>
        <p:nvSpPr>
          <p:cNvPr id="92" name="Text 90"/>
          <p:cNvSpPr/>
          <p:nvPr/>
        </p:nvSpPr>
        <p:spPr>
          <a:xfrm>
            <a:off x="6507328"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Sector of cohort</a:t>
            </a:r>
            <a:endParaRPr lang="en-US" sz="1900" dirty="0"/>
          </a:p>
        </p:txBody>
      </p:sp>
      <p:sp>
        <p:nvSpPr>
          <p:cNvPr id="93" name="Text 91"/>
          <p:cNvSpPr/>
          <p:nvPr/>
        </p:nvSpPr>
        <p:spPr>
          <a:xfrm>
            <a:off x="6507328"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Ook na het filteren worden kleine groepen niet getoond.</a:t>
            </a:r>
            <a:endParaRPr lang="en-US" sz="1500" dirty="0"/>
          </a:p>
        </p:txBody>
      </p:sp>
      <p:sp>
        <p:nvSpPr>
          <p:cNvPr id="94" name="Shape 92"/>
          <p:cNvSpPr/>
          <p:nvPr/>
        </p:nvSpPr>
        <p:spPr>
          <a:xfrm>
            <a:off x="9075191" y="1371600"/>
            <a:ext cx="2567864" cy="3025648"/>
          </a:xfrm>
          <a:prstGeom prst="roundRect">
            <a:avLst>
              <a:gd name="adj" fmla="val 3550"/>
            </a:avLst>
          </a:prstGeom>
          <a:solidFill>
            <a:srgbClr val="F4D74B"/>
          </a:solidFill>
          <a:ln/>
        </p:spPr>
        <p:txBody>
          <a:bodyPr/>
          <a:p/>
        </p:txBody>
      </p:sp>
      <p:sp>
        <p:nvSpPr>
          <p:cNvPr id="95" name="Shape 93"/>
          <p:cNvSpPr/>
          <p:nvPr/>
        </p:nvSpPr>
        <p:spPr>
          <a:xfrm>
            <a:off x="9349511" y="1645920"/>
            <a:ext cx="548640" cy="548640"/>
          </a:xfrm>
          <a:prstGeom prst="ellipse">
            <a:avLst/>
          </a:prstGeom>
          <a:solidFill>
            <a:srgbClr val="3D68EC"/>
          </a:solidFill>
          <a:ln/>
        </p:spPr>
        <p:txBody>
          <a:bodyPr/>
          <a:p/>
        </p:txBody>
      </p:sp>
      <p:sp>
        <p:nvSpPr>
          <p:cNvPr id="96" name="Text 94"/>
          <p:cNvSpPr/>
          <p:nvPr/>
        </p:nvSpPr>
        <p:spPr>
          <a:xfrm>
            <a:off x="934951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97" name="Shape 95"/>
          <p:cNvSpPr/>
          <p:nvPr/>
        </p:nvSpPr>
        <p:spPr>
          <a:xfrm>
            <a:off x="10035311" y="1719072"/>
            <a:ext cx="1333424" cy="402336"/>
          </a:xfrm>
          <a:prstGeom prst="roundRect">
            <a:avLst>
              <a:gd name="adj" fmla="val 113636"/>
            </a:avLst>
          </a:prstGeom>
          <a:solidFill>
            <a:srgbClr val="3D68EC"/>
          </a:solidFill>
          <a:ln/>
        </p:spPr>
        <p:txBody>
          <a:bodyPr/>
          <a:p/>
        </p:txBody>
      </p:sp>
      <p:sp>
        <p:nvSpPr>
          <p:cNvPr id="98" name="Text 96"/>
          <p:cNvSpPr/>
          <p:nvPr/>
        </p:nvSpPr>
        <p:spPr>
          <a:xfrm>
            <a:off x="10126751"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Uitleg</a:t>
            </a:r>
            <a:endParaRPr lang="en-US" sz="1200" dirty="0"/>
          </a:p>
        </p:txBody>
      </p:sp>
      <p:sp>
        <p:nvSpPr>
          <p:cNvPr id="99" name="Text 97"/>
          <p:cNvSpPr/>
          <p:nvPr/>
        </p:nvSpPr>
        <p:spPr>
          <a:xfrm>
            <a:off x="9349511"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Zo lees je dit</a:t>
            </a:r>
            <a:endParaRPr lang="en-US" sz="1900" dirty="0"/>
          </a:p>
        </p:txBody>
      </p:sp>
      <p:sp>
        <p:nvSpPr>
          <p:cNvPr id="100" name="Text 98"/>
          <p:cNvSpPr/>
          <p:nvPr/>
        </p:nvSpPr>
        <p:spPr>
          <a:xfrm>
            <a:off x="9349511"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Definities, bron en wat het dashboard niet kan zeggen.</a:t>
            </a:r>
            <a:endParaRPr lang="en-US" sz="1500" dirty="0"/>
          </a:p>
        </p:txBody>
      </p:sp>
      <p:sp>
        <p:nvSpPr>
          <p:cNvPr id="101" name="Text 99"/>
          <p:cNvSpPr/>
          <p:nvPr/>
        </p:nvSpPr>
        <p:spPr>
          <a:xfrm>
            <a:off x="548640" y="4580128"/>
            <a:ext cx="11094415" cy="457200"/>
          </a:xfrm>
          <a:prstGeom prst="rect">
            <a:avLst/>
          </a:prstGeom>
          <a:noFill/>
          <a:ln/>
        </p:spPr>
        <p:txBody>
          <a:bodyPr wrap="square" lIns="0" tIns="0" rIns="0" bIns="0" rtlCol="0" anchor="t"/>
          <a:lstStyle/>
          <a:p>
            <a:pPr algn="l" indent="0" marL="0">
              <a:lnSpc>
                <a:spcPct val="105000"/>
              </a:lnSpc>
              <a:buNone/>
            </a:pPr>
            <a:r>
              <a:rPr lang="en-US" sz="1500" dirty="0">
                <a:solidFill>
                  <a:srgbClr val="00AF81"/>
                </a:solidFill>
                <a:latin typeface="General Sans Semibold" pitchFamily="34" charset="0"/>
                <a:ea typeface="General Sans Semibold" pitchFamily="34" charset="-122"/>
                <a:cs typeface="General Sans Semibold" pitchFamily="34" charset="-120"/>
              </a:rPr>
              <a:t>Probeer:</a:t>
            </a:r>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 "Bouw een Streamlit-dashboard dat laat zien welke eerstejaars binnen een jaar stoppen, per sector." Het dashboard is het middel, de casusvraag het doel.</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1">
    <p:bg>
      <p:bgPr>
        <a:solidFill>
          <a:srgbClr val="FAEAEA"/>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Responsible zit in het bouwen</a:t>
            </a:r>
            <a:endParaRPr lang="en-US" sz="3400" dirty="0"/>
          </a:p>
        </p:txBody>
      </p:sp>
      <p:sp>
        <p:nvSpPr>
          <p:cNvPr id="73" name="Shape 71"/>
          <p:cNvSpPr/>
          <p:nvPr/>
        </p:nvSpPr>
        <p:spPr>
          <a:xfrm>
            <a:off x="548640" y="1371600"/>
            <a:ext cx="2567864" cy="3016758"/>
          </a:xfrm>
          <a:prstGeom prst="roundRect">
            <a:avLst>
              <a:gd name="adj" fmla="val 3550"/>
            </a:avLst>
          </a:prstGeom>
          <a:solidFill>
            <a:srgbClr val="3D68EC"/>
          </a:solidFill>
          <a:ln/>
        </p:spPr>
        <p:txBody>
          <a:bodyPr/>
          <a:p/>
        </p:txBody>
      </p:sp>
      <p:sp>
        <p:nvSpPr>
          <p:cNvPr id="74" name="Shape 72"/>
          <p:cNvSpPr/>
          <p:nvPr/>
        </p:nvSpPr>
        <p:spPr>
          <a:xfrm>
            <a:off x="822960" y="1719072"/>
            <a:ext cx="2019224" cy="402336"/>
          </a:xfrm>
          <a:prstGeom prst="roundRect">
            <a:avLst>
              <a:gd name="adj" fmla="val 113636"/>
            </a:avLst>
          </a:prstGeom>
          <a:solidFill>
            <a:srgbClr val="F4D74B"/>
          </a:solidFill>
          <a:ln/>
        </p:spPr>
        <p:txBody>
          <a:bodyPr/>
          <a:p/>
        </p:txBody>
      </p:sp>
      <p:sp>
        <p:nvSpPr>
          <p:cNvPr id="75" name="Text 73"/>
          <p:cNvSpPr/>
          <p:nvPr/>
        </p:nvSpPr>
        <p:spPr>
          <a:xfrm>
            <a:off x="914400"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Privacy</a:t>
            </a:r>
            <a:endParaRPr lang="en-US" sz="1200" dirty="0"/>
          </a:p>
        </p:txBody>
      </p:sp>
      <p:sp>
        <p:nvSpPr>
          <p:cNvPr id="76" name="Text 74"/>
          <p:cNvSpPr/>
          <p:nvPr/>
        </p:nvSpPr>
        <p:spPr>
          <a:xfrm>
            <a:off x="822960"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Drempel</a:t>
            </a:r>
            <a:endParaRPr lang="en-US" sz="2000" dirty="0"/>
          </a:p>
        </p:txBody>
      </p:sp>
      <p:sp>
        <p:nvSpPr>
          <p:cNvPr id="77" name="Text 75"/>
          <p:cNvSpPr/>
          <p:nvPr/>
        </p:nvSpPr>
        <p:spPr>
          <a:xfrm>
            <a:off x="822960"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Geen groepen onder de 30 studenten, geen percentages onder 5.</a:t>
            </a:r>
            <a:endParaRPr lang="en-US" sz="1500" dirty="0"/>
          </a:p>
        </p:txBody>
      </p:sp>
      <p:sp>
        <p:nvSpPr>
          <p:cNvPr id="78" name="Shape 76"/>
          <p:cNvSpPr/>
          <p:nvPr/>
        </p:nvSpPr>
        <p:spPr>
          <a:xfrm>
            <a:off x="3390824" y="1371600"/>
            <a:ext cx="2567864" cy="3016758"/>
          </a:xfrm>
          <a:prstGeom prst="roundRect">
            <a:avLst>
              <a:gd name="adj" fmla="val 3550"/>
            </a:avLst>
          </a:prstGeom>
          <a:solidFill>
            <a:srgbClr val="DD784B"/>
          </a:solidFill>
          <a:ln/>
        </p:spPr>
        <p:txBody>
          <a:bodyPr/>
          <a:p/>
        </p:txBody>
      </p:sp>
      <p:sp>
        <p:nvSpPr>
          <p:cNvPr id="79" name="Shape 77"/>
          <p:cNvSpPr/>
          <p:nvPr/>
        </p:nvSpPr>
        <p:spPr>
          <a:xfrm>
            <a:off x="3665144" y="1719072"/>
            <a:ext cx="2019224" cy="402336"/>
          </a:xfrm>
          <a:prstGeom prst="roundRect">
            <a:avLst>
              <a:gd name="adj" fmla="val 113636"/>
            </a:avLst>
          </a:prstGeom>
          <a:solidFill>
            <a:srgbClr val="F4D9DC"/>
          </a:solidFill>
          <a:ln/>
        </p:spPr>
        <p:txBody>
          <a:bodyPr/>
          <a:p/>
        </p:txBody>
      </p:sp>
      <p:sp>
        <p:nvSpPr>
          <p:cNvPr id="80" name="Text 78"/>
          <p:cNvSpPr/>
          <p:nvPr/>
        </p:nvSpPr>
        <p:spPr>
          <a:xfrm>
            <a:off x="3756584"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Eerlijk</a:t>
            </a:r>
            <a:endParaRPr lang="en-US" sz="1200" dirty="0"/>
          </a:p>
        </p:txBody>
      </p:sp>
      <p:sp>
        <p:nvSpPr>
          <p:cNvPr id="81" name="Text 79"/>
          <p:cNvSpPr/>
          <p:nvPr/>
        </p:nvSpPr>
        <p:spPr>
          <a:xfrm>
            <a:off x="3665144"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Geen oorzaak</a:t>
            </a:r>
            <a:endParaRPr lang="en-US" sz="2000" dirty="0"/>
          </a:p>
        </p:txBody>
      </p:sp>
      <p:sp>
        <p:nvSpPr>
          <p:cNvPr id="82" name="Text 80"/>
          <p:cNvSpPr/>
          <p:nvPr/>
        </p:nvSpPr>
        <p:spPr>
          <a:xfrm>
            <a:off x="3665144"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is nog geen oorzaak, en groepen worden niet gestigmatiseerd.</a:t>
            </a:r>
            <a:endParaRPr lang="en-US" sz="1500" dirty="0"/>
          </a:p>
        </p:txBody>
      </p:sp>
      <p:sp>
        <p:nvSpPr>
          <p:cNvPr id="83" name="Shape 81"/>
          <p:cNvSpPr/>
          <p:nvPr/>
        </p:nvSpPr>
        <p:spPr>
          <a:xfrm>
            <a:off x="6233008" y="1371600"/>
            <a:ext cx="2567864" cy="3016758"/>
          </a:xfrm>
          <a:prstGeom prst="roundRect">
            <a:avLst>
              <a:gd name="adj" fmla="val 3550"/>
            </a:avLst>
          </a:prstGeom>
          <a:solidFill>
            <a:srgbClr val="00AF81"/>
          </a:solidFill>
          <a:ln/>
        </p:spPr>
        <p:txBody>
          <a:bodyPr/>
          <a:p/>
        </p:txBody>
      </p:sp>
      <p:sp>
        <p:nvSpPr>
          <p:cNvPr id="84" name="Shape 82"/>
          <p:cNvSpPr/>
          <p:nvPr/>
        </p:nvSpPr>
        <p:spPr>
          <a:xfrm>
            <a:off x="6507328" y="1719072"/>
            <a:ext cx="2019224" cy="402336"/>
          </a:xfrm>
          <a:prstGeom prst="roundRect">
            <a:avLst>
              <a:gd name="adj" fmla="val 113636"/>
            </a:avLst>
          </a:prstGeom>
          <a:solidFill>
            <a:srgbClr val="F4D9DC"/>
          </a:solidFill>
          <a:ln/>
        </p:spPr>
        <p:txBody>
          <a:bodyPr/>
          <a:p/>
        </p:txBody>
      </p:sp>
      <p:sp>
        <p:nvSpPr>
          <p:cNvPr id="85" name="Text 83"/>
          <p:cNvSpPr/>
          <p:nvPr/>
        </p:nvSpPr>
        <p:spPr>
          <a:xfrm>
            <a:off x="6598768"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Toegankelijk</a:t>
            </a:r>
            <a:endParaRPr lang="en-US" sz="1200" dirty="0"/>
          </a:p>
        </p:txBody>
      </p:sp>
      <p:sp>
        <p:nvSpPr>
          <p:cNvPr id="86" name="Text 84"/>
          <p:cNvSpPr/>
          <p:nvPr/>
        </p:nvSpPr>
        <p:spPr>
          <a:xfrm>
            <a:off x="6507328"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Leesbaar</a:t>
            </a:r>
            <a:endParaRPr lang="en-US" sz="2000" dirty="0"/>
          </a:p>
        </p:txBody>
      </p:sp>
      <p:sp>
        <p:nvSpPr>
          <p:cNvPr id="87" name="Text 85"/>
          <p:cNvSpPr/>
          <p:nvPr/>
        </p:nvSpPr>
        <p:spPr>
          <a:xfrm>
            <a:off x="6507328"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Kleurcontrast, alt-tekst en kleuren die ook zonder rood-groen werken.</a:t>
            </a:r>
            <a:endParaRPr lang="en-US" sz="1500" dirty="0"/>
          </a:p>
        </p:txBody>
      </p:sp>
      <p:sp>
        <p:nvSpPr>
          <p:cNvPr id="88" name="Shape 86"/>
          <p:cNvSpPr/>
          <p:nvPr/>
        </p:nvSpPr>
        <p:spPr>
          <a:xfrm>
            <a:off x="9075191" y="1371600"/>
            <a:ext cx="2567864" cy="3016758"/>
          </a:xfrm>
          <a:prstGeom prst="roundRect">
            <a:avLst>
              <a:gd name="adj" fmla="val 3550"/>
            </a:avLst>
          </a:prstGeom>
          <a:solidFill>
            <a:srgbClr val="F4D74B"/>
          </a:solidFill>
          <a:ln/>
        </p:spPr>
        <p:txBody>
          <a:bodyPr/>
          <a:p/>
        </p:txBody>
      </p:sp>
      <p:sp>
        <p:nvSpPr>
          <p:cNvPr id="89" name="Shape 87"/>
          <p:cNvSpPr/>
          <p:nvPr/>
        </p:nvSpPr>
        <p:spPr>
          <a:xfrm>
            <a:off x="9349511" y="1719072"/>
            <a:ext cx="2019224" cy="402336"/>
          </a:xfrm>
          <a:prstGeom prst="roundRect">
            <a:avLst>
              <a:gd name="adj" fmla="val 113636"/>
            </a:avLst>
          </a:prstGeom>
          <a:solidFill>
            <a:srgbClr val="3D68EC"/>
          </a:solidFill>
          <a:ln/>
        </p:spPr>
        <p:txBody>
          <a:bodyPr/>
          <a:p/>
        </p:txBody>
      </p:sp>
      <p:sp>
        <p:nvSpPr>
          <p:cNvPr id="90" name="Text 88"/>
          <p:cNvSpPr/>
          <p:nvPr/>
        </p:nvSpPr>
        <p:spPr>
          <a:xfrm>
            <a:off x="9440951"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Bron</a:t>
            </a:r>
            <a:endParaRPr lang="en-US" sz="1200" dirty="0"/>
          </a:p>
        </p:txBody>
      </p:sp>
      <p:sp>
        <p:nvSpPr>
          <p:cNvPr id="91" name="Text 89"/>
          <p:cNvSpPr/>
          <p:nvPr/>
        </p:nvSpPr>
        <p:spPr>
          <a:xfrm>
            <a:off x="9349511"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Uitleg</a:t>
            </a:r>
            <a:endParaRPr lang="en-US" sz="2000" dirty="0"/>
          </a:p>
        </p:txBody>
      </p:sp>
      <p:sp>
        <p:nvSpPr>
          <p:cNvPr id="92" name="Text 90"/>
          <p:cNvSpPr/>
          <p:nvPr/>
        </p:nvSpPr>
        <p:spPr>
          <a:xfrm>
            <a:off x="9349511"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Bron, definities en peildatum bij elke grafiek.</a:t>
            </a:r>
            <a:endParaRPr lang="en-US" sz="1500" dirty="0"/>
          </a:p>
        </p:txBody>
      </p:sp>
      <p:sp>
        <p:nvSpPr>
          <p:cNvPr id="93" name="Text 91"/>
          <p:cNvSpPr/>
          <p:nvPr/>
        </p:nvSpPr>
        <p:spPr>
          <a:xfrm>
            <a:off x="548640" y="4571238"/>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Geen aparte stap achteraf: de skill past deze checks toe tijdens het bouwen.</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2">
    <p:bg>
      <p:bgPr>
        <a:solidFill>
          <a:srgbClr val="DD784B"/>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Shape 70"/>
          <p:cNvSpPr/>
          <p:nvPr/>
        </p:nvSpPr>
        <p:spPr>
          <a:xfrm>
            <a:off x="548640" y="1280160"/>
            <a:ext cx="1005840" cy="1005840"/>
          </a:xfrm>
          <a:prstGeom prst="ellipse">
            <a:avLst/>
          </a:prstGeom>
          <a:solidFill>
            <a:srgbClr val="F4D9DC"/>
          </a:solidFill>
          <a:ln/>
        </p:spPr>
        <p:txBody>
          <a:bodyPr/>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4</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2: kijk in de skills</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zit er in /schets_dashboard en /bouwen_dashboard, en wat miste je dashboard?</a:t>
            </a:r>
            <a:endParaRPr lang="en-US" sz="2200" dirty="0"/>
          </a:p>
        </p:txBody>
      </p:sp>
      <p:pic>
        <p:nvPicPr>
          <p:cNvPr id="76" name="Image 0" descr="exports\261005_workshop_rad_uitvoering\img\Puzzelstuk 3D.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/schets_dashboard: van voorstel naar views</a:t>
            </a:r>
            <a:endParaRPr lang="en-US" sz="3400" dirty="0"/>
          </a:p>
        </p:txBody>
      </p:sp>
      <p:sp>
        <p:nvSpPr>
          <p:cNvPr id="73" name="Shape 71"/>
          <p:cNvSpPr/>
          <p:nvPr/>
        </p:nvSpPr>
        <p:spPr>
          <a:xfrm>
            <a:off x="548640" y="1371600"/>
            <a:ext cx="2430704" cy="4160520"/>
          </a:xfrm>
          <a:prstGeom prst="roundRect">
            <a:avLst>
              <a:gd name="adj" fmla="val 3962"/>
            </a:avLst>
          </a:prstGeom>
          <a:solidFill>
            <a:srgbClr val="3D68EC"/>
          </a:solidFill>
          <a:ln/>
        </p:spPr>
        <p:txBody>
          <a:bodyPr/>
          <a:p/>
        </p:txBody>
      </p:sp>
      <p:sp>
        <p:nvSpPr>
          <p:cNvPr id="74" name="Shape 72"/>
          <p:cNvSpPr/>
          <p:nvPr/>
        </p:nvSpPr>
        <p:spPr>
          <a:xfrm>
            <a:off x="822960" y="1645920"/>
            <a:ext cx="548640" cy="548640"/>
          </a:xfrm>
          <a:prstGeom prst="ellipse">
            <a:avLst/>
          </a:prstGeom>
          <a:solidFill>
            <a:srgbClr val="F4D74B"/>
          </a:solidFill>
          <a:ln/>
        </p:spPr>
        <p:txBody>
          <a:body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txBody>
          <a:bodyPr/>
          <a:p/>
        </p:txBody>
      </p:sp>
      <p:sp>
        <p:nvSpPr>
          <p:cNvPr id="77" name="Text 75"/>
          <p:cNvSpPr/>
          <p:nvPr/>
        </p:nvSpPr>
        <p:spPr>
          <a:xfrm>
            <a:off x="1600200"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Voorstel</a:t>
            </a:r>
            <a:endParaRPr lang="en-US" sz="1200" dirty="0"/>
          </a:p>
        </p:txBody>
      </p:sp>
      <p:sp>
        <p:nvSpPr>
          <p:cNvPr id="78" name="Text 76"/>
          <p:cNvSpPr/>
          <p:nvPr/>
        </p:nvSpPr>
        <p:spPr>
          <a:xfrm>
            <a:off x="822960"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Eerst een voorstel</a:t>
            </a:r>
            <a:endParaRPr lang="en-US" sz="1900" dirty="0"/>
          </a:p>
        </p:txBody>
      </p:sp>
      <p:sp>
        <p:nvSpPr>
          <p:cNvPr id="79" name="Text 77"/>
          <p:cNvSpPr/>
          <p:nvPr/>
        </p:nvSpPr>
        <p:spPr>
          <a:xfrm>
            <a:off x="822960"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Twee of drie views met grafiektype en volgorde, in één bericht.</a:t>
            </a:r>
            <a:endParaRPr lang="en-US" sz="1500" dirty="0"/>
          </a:p>
        </p:txBody>
      </p:sp>
      <p:sp>
        <p:nvSpPr>
          <p:cNvPr id="80" name="Text 78"/>
          <p:cNvSpPr/>
          <p:nvPr/>
        </p:nvSpPr>
        <p:spPr>
          <a:xfrm>
            <a:off x="822960"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1" name="Text 79"/>
          <p:cNvSpPr/>
          <p:nvPr/>
        </p:nvSpPr>
        <p:spPr>
          <a:xfrm>
            <a:off x="822960"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Aannames</a:t>
            </a:r>
            <a:endParaRPr lang="en-US" sz="1500" dirty="0"/>
          </a:p>
        </p:txBody>
      </p:sp>
      <p:sp>
        <p:nvSpPr>
          <p:cNvPr id="82" name="Shape 80"/>
          <p:cNvSpPr/>
          <p:nvPr/>
        </p:nvSpPr>
        <p:spPr>
          <a:xfrm>
            <a:off x="3089072" y="3177540"/>
            <a:ext cx="237744" cy="548640"/>
          </a:xfrm>
          <a:prstGeom prst="chevron">
            <a:avLst/>
          </a:prstGeom>
          <a:solidFill>
            <a:srgbClr val="3D68EC"/>
          </a:solidFill>
          <a:ln/>
        </p:spPr>
        <p:txBody>
          <a:bodyPr/>
          <a:p/>
        </p:txBody>
      </p:sp>
      <p:sp>
        <p:nvSpPr>
          <p:cNvPr id="83" name="Shape 81"/>
          <p:cNvSpPr/>
          <p:nvPr/>
        </p:nvSpPr>
        <p:spPr>
          <a:xfrm>
            <a:off x="3436544" y="1371600"/>
            <a:ext cx="2430704" cy="4160520"/>
          </a:xfrm>
          <a:prstGeom prst="roundRect">
            <a:avLst>
              <a:gd name="adj" fmla="val 3962"/>
            </a:avLst>
          </a:prstGeom>
          <a:solidFill>
            <a:srgbClr val="DD784B"/>
          </a:solidFill>
          <a:ln/>
        </p:spPr>
        <p:txBody>
          <a:bodyPr/>
          <a:p/>
        </p:txBody>
      </p:sp>
      <p:sp>
        <p:nvSpPr>
          <p:cNvPr id="84" name="Shape 82"/>
          <p:cNvSpPr/>
          <p:nvPr/>
        </p:nvSpPr>
        <p:spPr>
          <a:xfrm>
            <a:off x="3710864" y="1645920"/>
            <a:ext cx="548640" cy="548640"/>
          </a:xfrm>
          <a:prstGeom prst="ellipse">
            <a:avLst/>
          </a:prstGeom>
          <a:solidFill>
            <a:srgbClr val="F4D9DC"/>
          </a:solidFill>
          <a:ln/>
        </p:spPr>
        <p:txBody>
          <a:bodyPr/>
          <a:p/>
        </p:txBody>
      </p:sp>
      <p:sp>
        <p:nvSpPr>
          <p:cNvPr id="85" name="Text 83"/>
          <p:cNvSpPr/>
          <p:nvPr/>
        </p:nvSpPr>
        <p:spPr>
          <a:xfrm>
            <a:off x="371086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4396664" y="1719072"/>
            <a:ext cx="1196264" cy="402336"/>
          </a:xfrm>
          <a:prstGeom prst="roundRect">
            <a:avLst>
              <a:gd name="adj" fmla="val 113636"/>
            </a:avLst>
          </a:prstGeom>
          <a:solidFill>
            <a:srgbClr val="F4D9DC"/>
          </a:solidFill>
          <a:ln/>
        </p:spPr>
        <p:txBody>
          <a:bodyPr/>
          <a:p/>
        </p:txBody>
      </p:sp>
      <p:sp>
        <p:nvSpPr>
          <p:cNvPr id="87" name="Text 85"/>
          <p:cNvSpPr/>
          <p:nvPr/>
        </p:nvSpPr>
        <p:spPr>
          <a:xfrm>
            <a:off x="4488104"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Per view</a:t>
            </a:r>
            <a:endParaRPr lang="en-US" sz="1200" dirty="0"/>
          </a:p>
        </p:txBody>
      </p:sp>
      <p:sp>
        <p:nvSpPr>
          <p:cNvPr id="88" name="Text 86"/>
          <p:cNvSpPr/>
          <p:nvPr/>
        </p:nvSpPr>
        <p:spPr>
          <a:xfrm>
            <a:off x="3710864"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Vraag en maat</a:t>
            </a:r>
            <a:endParaRPr lang="en-US" sz="1900" dirty="0"/>
          </a:p>
        </p:txBody>
      </p:sp>
      <p:sp>
        <p:nvSpPr>
          <p:cNvPr id="89" name="Text 87"/>
          <p:cNvSpPr/>
          <p:nvPr/>
        </p:nvSpPr>
        <p:spPr>
          <a:xfrm>
            <a:off x="3710864"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Vraag, maat, uitsplitsing en grafiektype, met een schetsplaatje.</a:t>
            </a:r>
            <a:endParaRPr lang="en-US" sz="1500" dirty="0"/>
          </a:p>
        </p:txBody>
      </p:sp>
      <p:sp>
        <p:nvSpPr>
          <p:cNvPr id="90" name="Text 88"/>
          <p:cNvSpPr/>
          <p:nvPr/>
        </p:nvSpPr>
        <p:spPr>
          <a:xfrm>
            <a:off x="3710864"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1" name="Text 89"/>
          <p:cNvSpPr/>
          <p:nvPr/>
        </p:nvSpPr>
        <p:spPr>
          <a:xfrm>
            <a:off x="3710864"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Views</a:t>
            </a:r>
            <a:endParaRPr lang="en-US" sz="1500" dirty="0"/>
          </a:p>
        </p:txBody>
      </p:sp>
      <p:sp>
        <p:nvSpPr>
          <p:cNvPr id="92" name="Shape 90"/>
          <p:cNvSpPr/>
          <p:nvPr/>
        </p:nvSpPr>
        <p:spPr>
          <a:xfrm>
            <a:off x="5976976" y="3177540"/>
            <a:ext cx="237744" cy="548640"/>
          </a:xfrm>
          <a:prstGeom prst="chevron">
            <a:avLst/>
          </a:prstGeom>
          <a:solidFill>
            <a:srgbClr val="3D68EC"/>
          </a:solidFill>
          <a:ln/>
        </p:spPr>
        <p:txBody>
          <a:bodyPr/>
          <a:p/>
        </p:txBody>
      </p:sp>
      <p:sp>
        <p:nvSpPr>
          <p:cNvPr id="93" name="Shape 91"/>
          <p:cNvSpPr/>
          <p:nvPr/>
        </p:nvSpPr>
        <p:spPr>
          <a:xfrm>
            <a:off x="6324448" y="1371600"/>
            <a:ext cx="2430704" cy="4160520"/>
          </a:xfrm>
          <a:prstGeom prst="roundRect">
            <a:avLst>
              <a:gd name="adj" fmla="val 3962"/>
            </a:avLst>
          </a:prstGeom>
          <a:solidFill>
            <a:srgbClr val="00AF81"/>
          </a:solidFill>
          <a:ln/>
        </p:spPr>
        <p:txBody>
          <a:bodyPr/>
          <a:p/>
        </p:txBody>
      </p:sp>
      <p:sp>
        <p:nvSpPr>
          <p:cNvPr id="94" name="Shape 92"/>
          <p:cNvSpPr/>
          <p:nvPr/>
        </p:nvSpPr>
        <p:spPr>
          <a:xfrm>
            <a:off x="6598768" y="1645920"/>
            <a:ext cx="548640" cy="548640"/>
          </a:xfrm>
          <a:prstGeom prst="ellipse">
            <a:avLst/>
          </a:prstGeom>
          <a:solidFill>
            <a:srgbClr val="F4D9DC"/>
          </a:solidFill>
          <a:ln/>
        </p:spPr>
        <p:txBody>
          <a:bodyPr/>
          <a:p/>
        </p:txBody>
      </p:sp>
      <p:sp>
        <p:nvSpPr>
          <p:cNvPr id="95" name="Text 93"/>
          <p:cNvSpPr/>
          <p:nvPr/>
        </p:nvSpPr>
        <p:spPr>
          <a:xfrm>
            <a:off x="659876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7284568" y="1719072"/>
            <a:ext cx="1196264" cy="402336"/>
          </a:xfrm>
          <a:prstGeom prst="roundRect">
            <a:avLst>
              <a:gd name="adj" fmla="val 113636"/>
            </a:avLst>
          </a:prstGeom>
          <a:solidFill>
            <a:srgbClr val="F4D9DC"/>
          </a:solidFill>
          <a:ln/>
        </p:spPr>
        <p:txBody>
          <a:bodyPr/>
          <a:p/>
        </p:txBody>
      </p:sp>
      <p:sp>
        <p:nvSpPr>
          <p:cNvPr id="97" name="Text 95"/>
          <p:cNvSpPr/>
          <p:nvPr/>
        </p:nvSpPr>
        <p:spPr>
          <a:xfrm>
            <a:off x="7376008"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Valt weg</a:t>
            </a:r>
            <a:endParaRPr lang="en-US" sz="1200" dirty="0"/>
          </a:p>
        </p:txBody>
      </p:sp>
      <p:sp>
        <p:nvSpPr>
          <p:cNvPr id="98" name="Text 96"/>
          <p:cNvSpPr/>
          <p:nvPr/>
        </p:nvSpPr>
        <p:spPr>
          <a:xfrm>
            <a:off x="6598768"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Privacy en tijd</a:t>
            </a:r>
            <a:endParaRPr lang="en-US" sz="2000" dirty="0"/>
          </a:p>
        </p:txBody>
      </p:sp>
      <p:sp>
        <p:nvSpPr>
          <p:cNvPr id="99" name="Text 97"/>
          <p:cNvSpPr/>
          <p:nvPr/>
        </p:nvSpPr>
        <p:spPr>
          <a:xfrm>
            <a:off x="6598768"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onder de drempel en perioden die nog niet waarneembaar zijn.</a:t>
            </a:r>
            <a:endParaRPr lang="en-US" sz="1500" dirty="0"/>
          </a:p>
        </p:txBody>
      </p:sp>
      <p:sp>
        <p:nvSpPr>
          <p:cNvPr id="100" name="Text 98"/>
          <p:cNvSpPr/>
          <p:nvPr/>
        </p:nvSpPr>
        <p:spPr>
          <a:xfrm>
            <a:off x="6598768"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1" name="Text 99"/>
          <p:cNvSpPr/>
          <p:nvPr/>
        </p:nvSpPr>
        <p:spPr>
          <a:xfrm>
            <a:off x="6598768"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Eerlijk</a:t>
            </a:r>
            <a:endParaRPr lang="en-US" sz="1500" dirty="0"/>
          </a:p>
        </p:txBody>
      </p:sp>
      <p:sp>
        <p:nvSpPr>
          <p:cNvPr id="102" name="Shape 100"/>
          <p:cNvSpPr/>
          <p:nvPr/>
        </p:nvSpPr>
        <p:spPr>
          <a:xfrm>
            <a:off x="8864879" y="3177540"/>
            <a:ext cx="237744" cy="548640"/>
          </a:xfrm>
          <a:prstGeom prst="chevron">
            <a:avLst/>
          </a:prstGeom>
          <a:solidFill>
            <a:srgbClr val="3D68EC"/>
          </a:solidFill>
          <a:ln/>
        </p:spPr>
        <p:txBody>
          <a:bodyPr/>
          <a:p/>
        </p:txBody>
      </p:sp>
      <p:sp>
        <p:nvSpPr>
          <p:cNvPr id="103" name="Shape 101"/>
          <p:cNvSpPr/>
          <p:nvPr/>
        </p:nvSpPr>
        <p:spPr>
          <a:xfrm>
            <a:off x="9212351" y="1371600"/>
            <a:ext cx="2430704" cy="4160520"/>
          </a:xfrm>
          <a:prstGeom prst="roundRect">
            <a:avLst>
              <a:gd name="adj" fmla="val 3962"/>
            </a:avLst>
          </a:prstGeom>
          <a:solidFill>
            <a:srgbClr val="F4D74B"/>
          </a:solidFill>
          <a:ln/>
        </p:spPr>
        <p:txBody>
          <a:bodyPr/>
          <a:p/>
        </p:txBody>
      </p:sp>
      <p:sp>
        <p:nvSpPr>
          <p:cNvPr id="104" name="Shape 102"/>
          <p:cNvSpPr/>
          <p:nvPr/>
        </p:nvSpPr>
        <p:spPr>
          <a:xfrm>
            <a:off x="9486671" y="1645920"/>
            <a:ext cx="548640" cy="548640"/>
          </a:xfrm>
          <a:prstGeom prst="ellipse">
            <a:avLst/>
          </a:prstGeom>
          <a:solidFill>
            <a:srgbClr val="3D68EC"/>
          </a:solidFill>
          <a:ln/>
        </p:spPr>
        <p:txBody>
          <a:bodyPr/>
          <a:p/>
        </p:txBody>
      </p:sp>
      <p:sp>
        <p:nvSpPr>
          <p:cNvPr id="105" name="Text 103"/>
          <p:cNvSpPr/>
          <p:nvPr/>
        </p:nvSpPr>
        <p:spPr>
          <a:xfrm>
            <a:off x="948667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6" name="Shape 104"/>
          <p:cNvSpPr/>
          <p:nvPr/>
        </p:nvSpPr>
        <p:spPr>
          <a:xfrm>
            <a:off x="10172471" y="1719072"/>
            <a:ext cx="1196264" cy="402336"/>
          </a:xfrm>
          <a:prstGeom prst="roundRect">
            <a:avLst>
              <a:gd name="adj" fmla="val 113636"/>
            </a:avLst>
          </a:prstGeom>
          <a:solidFill>
            <a:srgbClr val="3D68EC"/>
          </a:solidFill>
          <a:ln/>
        </p:spPr>
        <p:txBody>
          <a:bodyPr/>
          <a:p/>
        </p:txBody>
      </p:sp>
      <p:sp>
        <p:nvSpPr>
          <p:cNvPr id="107" name="Text 105"/>
          <p:cNvSpPr/>
          <p:nvPr/>
        </p:nvSpPr>
        <p:spPr>
          <a:xfrm>
            <a:off x="10263911"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Eindigt</a:t>
            </a:r>
            <a:endParaRPr lang="en-US" sz="1200" dirty="0"/>
          </a:p>
        </p:txBody>
      </p:sp>
      <p:sp>
        <p:nvSpPr>
          <p:cNvPr id="108" name="Text 106"/>
          <p:cNvSpPr/>
          <p:nvPr/>
        </p:nvSpPr>
        <p:spPr>
          <a:xfrm>
            <a:off x="9486671"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Wat het niet kan</a:t>
            </a:r>
            <a:endParaRPr lang="en-US" sz="2000" dirty="0"/>
          </a:p>
        </p:txBody>
      </p:sp>
      <p:sp>
        <p:nvSpPr>
          <p:cNvPr id="109" name="Text 107"/>
          <p:cNvSpPr/>
          <p:nvPr/>
        </p:nvSpPr>
        <p:spPr>
          <a:xfrm>
            <a:off x="9486671"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Geen oorzaak, alleen verband, en niets over de werkelijkheid op demodata.</a:t>
            </a:r>
            <a:endParaRPr lang="en-US" sz="1500" dirty="0"/>
          </a:p>
        </p:txBody>
      </p:sp>
      <p:sp>
        <p:nvSpPr>
          <p:cNvPr id="110" name="Text 108"/>
          <p:cNvSpPr/>
          <p:nvPr/>
        </p:nvSpPr>
        <p:spPr>
          <a:xfrm>
            <a:off x="9486671"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11" name="Text 109"/>
          <p:cNvSpPr/>
          <p:nvPr/>
        </p:nvSpPr>
        <p:spPr>
          <a:xfrm>
            <a:off x="9486671"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schets.html</a:t>
            </a:r>
            <a:endParaRPr lang="en-US" sz="1500" dirty="0"/>
          </a:p>
        </p:txBody>
      </p:sp>
      <p:sp>
        <p:nvSpPr>
          <p:cNvPr id="112" name="Text 110"/>
          <p:cNvSpPr/>
          <p:nvPr/>
        </p:nvSpPr>
        <p:spPr>
          <a:xfrm>
            <a:off x="548640" y="57150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In: uitvoer/data-profiel.html en je vraag. Uit: uitvoer/schets.html, zonder code.</a:t>
            </a:r>
            <a:pPr algn="l" indent="0" marL="0">
              <a:lnSpc>
                <a:spcPct val="105000"/>
              </a:lnSpc>
              <a:buNone/>
            </a:pPr>
            <a:pPr algn="l" indent="0" marL="0">
              <a:lnSpc>
                <a:spcPct val="105000"/>
              </a:lnSpc>
              <a:buNone/>
            </a:pPr>
            <a:pPr algn="l" indent="0" marL="0">
              <a:lnSpc>
                <a:spcPct val="105000"/>
              </a:lnSpc>
              <a:buNone/>
            </a:pPr>
            <a:endParaRPr lang="en-US" sz="18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CCEEE6"/>
        </a:solidFill>
      </p:bgPr>
    </p:bg>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Zo ziet de schets eruit</a:t>
            </a:r>
            <a:endParaRPr lang="en-US" sz="3100" dirty="0"/>
          </a:p>
        </p:txBody>
      </p:sp>
      <p:pic>
        <p:nvPicPr>
          <p:cNvPr id="73" name="Image 0" descr="Schermafbeelding van schets.html: de vraag, keuzes van de gebruiker en views">    </p:cNvPr>
          <p:cNvPicPr>
            <a:picLocks noChangeAspect="1"/>
          </p:cNvPicPr>
          <p:nvPr/>
        </p:nvPicPr>
        <p:blipFill>
          <a:blip r:embed="rId4"/>
          <a:stretch>
            <a:fillRect/>
          </a:stretch>
        </p:blipFill>
        <p:spPr>
          <a:xfrm>
            <a:off x="640000" y="1371600"/>
            <a:ext cx="6900000" cy="3881250"/>
          </a:xfrm>
          <a:prstGeom prst="rect">
            <a:avLst/>
          </a:prstGeom>
        </p:spPr>
      </p:pic>
      <p:sp>
        <p:nvSpPr>
          <p:cNvPr id="74" name="Text 71"/>
          <p:cNvSpPr/>
          <p:nvPr/>
        </p:nvSpPr>
        <p:spPr>
          <a:xfrm>
            <a:off x="640000" y="5402850"/>
            <a:ext cx="6900000"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uitvoer/schets.html</a:t>
            </a:r>
            <a:endParaRPr lang="en-US" sz="1300" dirty="0"/>
          </a:p>
        </p:txBody>
      </p:sp>
      <p:sp>
        <p:nvSpPr>
          <p:cNvPr id="75" name="Text 72"/>
          <p:cNvSpPr/>
          <p:nvPr/>
        </p:nvSpPr>
        <p:spPr>
          <a:xfrm>
            <a:off x="7800000" y="1463040"/>
            <a:ext cx="390000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Dit is de uitkomst van schets_dashboard: je vraag, je keuzes en per view de maat, de uitsplitsing en een schetsplaatje. Zonder data en zonder conclusie.</a:t>
            </a:r>
            <a:pPr algn="l" indent="0" marL="0">
              <a:lnSpc>
                <a:spcPct val="105000"/>
              </a:lnSpc>
              <a:spcAft>
                <a:spcPts val="800"/>
              </a:spcAft>
              <a:buNone/>
            </a:pPr>
            <a:pPr algn="l" indent="0" marL="0">
              <a:lnSpc>
                <a:spcPct val="105000"/>
              </a:lnSpc>
              <a:spcAft>
                <a:spcPts val="800"/>
              </a:spcAft>
              <a:buNone/>
            </a:pPr>
            <a:pPr algn="l" indent="0" marL="0">
              <a:lnSpc>
                <a:spcPct val="105000"/>
              </a:lnSpc>
              <a:spcAft>
                <a:spcPts val="800"/>
              </a:spcAft>
              <a:buNone/>
            </a:pPr>
            <a:pPr algn="l" indent="0" marL="0">
              <a:lnSpc>
                <a:spcPct val="105000"/>
              </a:lnSpc>
              <a:spcAft>
                <a:spcPts val="800"/>
              </a:spcAft>
              <a:buNone/>
            </a:pPr>
            <a:pPr algn="l" indent="0" marL="0">
              <a:lnSpc>
                <a:spcPct val="105000"/>
              </a:lnSpc>
              <a:spcAft>
                <a:spcPts val="800"/>
              </a:spcAft>
              <a:buNone/>
            </a:pPr>
            <a:pPr algn="l" indent="0" marL="0">
              <a:lnSpc>
                <a:spcPct val="105000"/>
              </a:lnSpc>
              <a:spcAft>
                <a:spcPts val="800"/>
              </a:spcAft>
              <a:buNone/>
            </a:pP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3">
    <p:bg>
      <p:bgPr>
        <a:solidFill>
          <a:srgbClr val="D6E2FD"/>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/bouwen_dashboard: wat de skill doet</a:t>
            </a:r>
            <a:endParaRPr lang="en-US" sz="3400" dirty="0"/>
          </a:p>
        </p:txBody>
      </p:sp>
      <p:sp>
        <p:nvSpPr>
          <p:cNvPr id="73" name="Shape 71"/>
          <p:cNvSpPr/>
          <p:nvPr/>
        </p:nvSpPr>
        <p:spPr>
          <a:xfrm>
            <a:off x="548640" y="1371600"/>
            <a:ext cx="2430704" cy="4160520"/>
          </a:xfrm>
          <a:prstGeom prst="roundRect">
            <a:avLst>
              <a:gd name="adj" fmla="val 3962"/>
            </a:avLst>
          </a:prstGeom>
          <a:solidFill>
            <a:srgbClr val="3D68EC"/>
          </a:solidFill>
          <a:ln/>
        </p:spPr>
        <p:txBody>
          <a:bodyPr/>
          <a:p/>
        </p:txBody>
      </p:sp>
      <p:sp>
        <p:nvSpPr>
          <p:cNvPr id="74" name="Shape 72"/>
          <p:cNvSpPr/>
          <p:nvPr/>
        </p:nvSpPr>
        <p:spPr>
          <a:xfrm>
            <a:off x="822960" y="1645920"/>
            <a:ext cx="548640" cy="548640"/>
          </a:xfrm>
          <a:prstGeom prst="ellipse">
            <a:avLst/>
          </a:prstGeom>
          <a:solidFill>
            <a:srgbClr val="F4D74B"/>
          </a:solidFill>
          <a:ln/>
        </p:spPr>
        <p:txBody>
          <a:body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txBody>
          <a:bodyPr/>
          <a:p/>
        </p:txBody>
      </p:sp>
      <p:sp>
        <p:nvSpPr>
          <p:cNvPr id="77" name="Text 75"/>
          <p:cNvSpPr/>
          <p:nvPr/>
        </p:nvSpPr>
        <p:spPr>
          <a:xfrm>
            <a:off x="1600200"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Leest in</a:t>
            </a:r>
            <a:endParaRPr lang="en-US" sz="1200" dirty="0"/>
          </a:p>
        </p:txBody>
      </p:sp>
      <p:sp>
        <p:nvSpPr>
          <p:cNvPr id="78" name="Text 76"/>
          <p:cNvSpPr/>
          <p:nvPr/>
        </p:nvSpPr>
        <p:spPr>
          <a:xfrm>
            <a:off x="822960"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Profiel en schets</a:t>
            </a:r>
            <a:endParaRPr lang="en-US" sz="1900" dirty="0"/>
          </a:p>
        </p:txBody>
      </p:sp>
      <p:sp>
        <p:nvSpPr>
          <p:cNvPr id="79" name="Text 77"/>
          <p:cNvSpPr/>
          <p:nvPr/>
        </p:nvSpPr>
        <p:spPr>
          <a:xfrm>
            <a:off x="822960"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uitvoer/data-profiel.html en uitvoer/schets.html.</a:t>
            </a:r>
            <a:endParaRPr lang="en-US" sz="1500" dirty="0"/>
          </a:p>
        </p:txBody>
      </p:sp>
      <p:sp>
        <p:nvSpPr>
          <p:cNvPr id="80" name="Text 78"/>
          <p:cNvSpPr/>
          <p:nvPr/>
        </p:nvSpPr>
        <p:spPr>
          <a:xfrm>
            <a:off x="822960"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1" name="Text 79"/>
          <p:cNvSpPr/>
          <p:nvPr/>
        </p:nvSpPr>
        <p:spPr>
          <a:xfrm>
            <a:off x="822960"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Vaste invoer</a:t>
            </a:r>
            <a:endParaRPr lang="en-US" sz="1500" dirty="0"/>
          </a:p>
        </p:txBody>
      </p:sp>
      <p:sp>
        <p:nvSpPr>
          <p:cNvPr id="82" name="Shape 80"/>
          <p:cNvSpPr/>
          <p:nvPr/>
        </p:nvSpPr>
        <p:spPr>
          <a:xfrm>
            <a:off x="3089072" y="3177540"/>
            <a:ext cx="237744" cy="548640"/>
          </a:xfrm>
          <a:prstGeom prst="chevron">
            <a:avLst/>
          </a:prstGeom>
          <a:solidFill>
            <a:srgbClr val="3D68EC"/>
          </a:solidFill>
          <a:ln/>
        </p:spPr>
        <p:txBody>
          <a:bodyPr/>
          <a:p/>
        </p:txBody>
      </p:sp>
      <p:sp>
        <p:nvSpPr>
          <p:cNvPr id="83" name="Shape 81"/>
          <p:cNvSpPr/>
          <p:nvPr/>
        </p:nvSpPr>
        <p:spPr>
          <a:xfrm>
            <a:off x="3436544" y="1371600"/>
            <a:ext cx="2430704" cy="4160520"/>
          </a:xfrm>
          <a:prstGeom prst="roundRect">
            <a:avLst>
              <a:gd name="adj" fmla="val 3962"/>
            </a:avLst>
          </a:prstGeom>
          <a:solidFill>
            <a:srgbClr val="DD784B"/>
          </a:solidFill>
          <a:ln/>
        </p:spPr>
        <p:txBody>
          <a:bodyPr/>
          <a:p/>
        </p:txBody>
      </p:sp>
      <p:sp>
        <p:nvSpPr>
          <p:cNvPr id="84" name="Shape 82"/>
          <p:cNvSpPr/>
          <p:nvPr/>
        </p:nvSpPr>
        <p:spPr>
          <a:xfrm>
            <a:off x="3710864" y="1645920"/>
            <a:ext cx="548640" cy="548640"/>
          </a:xfrm>
          <a:prstGeom prst="ellipse">
            <a:avLst/>
          </a:prstGeom>
          <a:solidFill>
            <a:srgbClr val="F4D9DC"/>
          </a:solidFill>
          <a:ln/>
        </p:spPr>
        <p:txBody>
          <a:bodyPr/>
          <a:p/>
        </p:txBody>
      </p:sp>
      <p:sp>
        <p:nvSpPr>
          <p:cNvPr id="85" name="Text 83"/>
          <p:cNvSpPr/>
          <p:nvPr/>
        </p:nvSpPr>
        <p:spPr>
          <a:xfrm>
            <a:off x="371086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4396664" y="1719072"/>
            <a:ext cx="1196264" cy="402336"/>
          </a:xfrm>
          <a:prstGeom prst="roundRect">
            <a:avLst>
              <a:gd name="adj" fmla="val 113636"/>
            </a:avLst>
          </a:prstGeom>
          <a:solidFill>
            <a:srgbClr val="F4D9DC"/>
          </a:solidFill>
          <a:ln/>
        </p:spPr>
        <p:txBody>
          <a:bodyPr/>
          <a:p/>
        </p:txBody>
      </p:sp>
      <p:sp>
        <p:nvSpPr>
          <p:cNvPr id="87" name="Text 85"/>
          <p:cNvSpPr/>
          <p:nvPr/>
        </p:nvSpPr>
        <p:spPr>
          <a:xfrm>
            <a:off x="4488104"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Bouwt</a:t>
            </a:r>
            <a:endParaRPr lang="en-US" sz="1200" dirty="0"/>
          </a:p>
        </p:txBody>
      </p:sp>
      <p:sp>
        <p:nvSpPr>
          <p:cNvPr id="88" name="Text 86"/>
          <p:cNvSpPr/>
          <p:nvPr/>
        </p:nvSpPr>
        <p:spPr>
          <a:xfrm>
            <a:off x="3710864"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Het dashboard</a:t>
            </a:r>
            <a:endParaRPr lang="en-US" sz="1900" dirty="0"/>
          </a:p>
        </p:txBody>
      </p:sp>
      <p:sp>
        <p:nvSpPr>
          <p:cNvPr id="89" name="Text 87"/>
          <p:cNvSpPr/>
          <p:nvPr/>
        </p:nvSpPr>
        <p:spPr>
          <a:xfrm>
            <a:off x="3710864"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Alle views in één keer, met de checks erin en een uploadscherm eerst.</a:t>
            </a:r>
            <a:endParaRPr lang="en-US" sz="1500" dirty="0"/>
          </a:p>
        </p:txBody>
      </p:sp>
      <p:sp>
        <p:nvSpPr>
          <p:cNvPr id="90" name="Text 88"/>
          <p:cNvSpPr/>
          <p:nvPr/>
        </p:nvSpPr>
        <p:spPr>
          <a:xfrm>
            <a:off x="3710864"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1" name="Text 89"/>
          <p:cNvSpPr/>
          <p:nvPr/>
        </p:nvSpPr>
        <p:spPr>
          <a:xfrm>
            <a:off x="3710864"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Werkend dashboard</a:t>
            </a:r>
            <a:endParaRPr lang="en-US" sz="1500" dirty="0"/>
          </a:p>
        </p:txBody>
      </p:sp>
      <p:sp>
        <p:nvSpPr>
          <p:cNvPr id="92" name="Shape 90"/>
          <p:cNvSpPr/>
          <p:nvPr/>
        </p:nvSpPr>
        <p:spPr>
          <a:xfrm>
            <a:off x="5976976" y="3177540"/>
            <a:ext cx="237744" cy="548640"/>
          </a:xfrm>
          <a:prstGeom prst="chevron">
            <a:avLst/>
          </a:prstGeom>
          <a:solidFill>
            <a:srgbClr val="3D68EC"/>
          </a:solidFill>
          <a:ln/>
        </p:spPr>
        <p:txBody>
          <a:bodyPr/>
          <a:p/>
        </p:txBody>
      </p:sp>
      <p:sp>
        <p:nvSpPr>
          <p:cNvPr id="93" name="Shape 91"/>
          <p:cNvSpPr/>
          <p:nvPr/>
        </p:nvSpPr>
        <p:spPr>
          <a:xfrm>
            <a:off x="6324448" y="1371600"/>
            <a:ext cx="2430704" cy="4160520"/>
          </a:xfrm>
          <a:prstGeom prst="roundRect">
            <a:avLst>
              <a:gd name="adj" fmla="val 3962"/>
            </a:avLst>
          </a:prstGeom>
          <a:solidFill>
            <a:srgbClr val="00AF81"/>
          </a:solidFill>
          <a:ln/>
        </p:spPr>
        <p:txBody>
          <a:bodyPr/>
          <a:p/>
        </p:txBody>
      </p:sp>
      <p:sp>
        <p:nvSpPr>
          <p:cNvPr id="94" name="Shape 92"/>
          <p:cNvSpPr/>
          <p:nvPr/>
        </p:nvSpPr>
        <p:spPr>
          <a:xfrm>
            <a:off x="6598768" y="1645920"/>
            <a:ext cx="548640" cy="548640"/>
          </a:xfrm>
          <a:prstGeom prst="ellipse">
            <a:avLst/>
          </a:prstGeom>
          <a:solidFill>
            <a:srgbClr val="F4D9DC"/>
          </a:solidFill>
          <a:ln/>
        </p:spPr>
        <p:txBody>
          <a:bodyPr/>
          <a:p/>
        </p:txBody>
      </p:sp>
      <p:sp>
        <p:nvSpPr>
          <p:cNvPr id="95" name="Text 93"/>
          <p:cNvSpPr/>
          <p:nvPr/>
        </p:nvSpPr>
        <p:spPr>
          <a:xfrm>
            <a:off x="659876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7284568" y="1719072"/>
            <a:ext cx="1196264" cy="402336"/>
          </a:xfrm>
          <a:prstGeom prst="roundRect">
            <a:avLst>
              <a:gd name="adj" fmla="val 113636"/>
            </a:avLst>
          </a:prstGeom>
          <a:solidFill>
            <a:srgbClr val="F4D9DC"/>
          </a:solidFill>
          <a:ln/>
        </p:spPr>
        <p:txBody>
          <a:bodyPr/>
          <a:p/>
        </p:txBody>
      </p:sp>
      <p:sp>
        <p:nvSpPr>
          <p:cNvPr id="97" name="Text 95"/>
          <p:cNvSpPr/>
          <p:nvPr/>
        </p:nvSpPr>
        <p:spPr>
          <a:xfrm>
            <a:off x="7376008"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Controleert</a:t>
            </a:r>
            <a:endParaRPr lang="en-US" sz="1200" dirty="0"/>
          </a:p>
        </p:txBody>
      </p:sp>
      <p:sp>
        <p:nvSpPr>
          <p:cNvPr id="98" name="Text 96"/>
          <p:cNvSpPr/>
          <p:nvPr/>
        </p:nvSpPr>
        <p:spPr>
          <a:xfrm>
            <a:off x="6598768"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Pagina en cijfers</a:t>
            </a:r>
            <a:endParaRPr lang="en-US" sz="2000" dirty="0"/>
          </a:p>
        </p:txBody>
      </p:sp>
      <p:sp>
        <p:nvSpPr>
          <p:cNvPr id="99" name="Text 97"/>
          <p:cNvSpPr/>
          <p:nvPr/>
        </p:nvSpPr>
        <p:spPr>
          <a:xfrm>
            <a:off x="6598768"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Bekijkt de hele pagina en rekent de uitkomst na op de data.</a:t>
            </a:r>
            <a:endParaRPr lang="en-US" sz="1500" dirty="0"/>
          </a:p>
        </p:txBody>
      </p:sp>
      <p:sp>
        <p:nvSpPr>
          <p:cNvPr id="100" name="Text 98"/>
          <p:cNvSpPr/>
          <p:nvPr/>
        </p:nvSpPr>
        <p:spPr>
          <a:xfrm>
            <a:off x="6598768"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1" name="Text 99"/>
          <p:cNvSpPr/>
          <p:nvPr/>
        </p:nvSpPr>
        <p:spPr>
          <a:xfrm>
            <a:off x="6598768"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Nagekeken</a:t>
            </a:r>
            <a:endParaRPr lang="en-US" sz="1500" dirty="0"/>
          </a:p>
        </p:txBody>
      </p:sp>
      <p:sp>
        <p:nvSpPr>
          <p:cNvPr id="102" name="Shape 100"/>
          <p:cNvSpPr/>
          <p:nvPr/>
        </p:nvSpPr>
        <p:spPr>
          <a:xfrm>
            <a:off x="8864879" y="3177540"/>
            <a:ext cx="237744" cy="548640"/>
          </a:xfrm>
          <a:prstGeom prst="chevron">
            <a:avLst/>
          </a:prstGeom>
          <a:solidFill>
            <a:srgbClr val="3D68EC"/>
          </a:solidFill>
          <a:ln/>
        </p:spPr>
        <p:txBody>
          <a:bodyPr/>
          <a:p/>
        </p:txBody>
      </p:sp>
      <p:sp>
        <p:nvSpPr>
          <p:cNvPr id="103" name="Shape 101"/>
          <p:cNvSpPr/>
          <p:nvPr/>
        </p:nvSpPr>
        <p:spPr>
          <a:xfrm>
            <a:off x="9212351" y="1371600"/>
            <a:ext cx="2430704" cy="4160520"/>
          </a:xfrm>
          <a:prstGeom prst="roundRect">
            <a:avLst>
              <a:gd name="adj" fmla="val 3962"/>
            </a:avLst>
          </a:prstGeom>
          <a:solidFill>
            <a:srgbClr val="F4D74B"/>
          </a:solidFill>
          <a:ln/>
        </p:spPr>
        <p:txBody>
          <a:bodyPr/>
          <a:p/>
        </p:txBody>
      </p:sp>
      <p:sp>
        <p:nvSpPr>
          <p:cNvPr id="104" name="Shape 102"/>
          <p:cNvSpPr/>
          <p:nvPr/>
        </p:nvSpPr>
        <p:spPr>
          <a:xfrm>
            <a:off x="9486671" y="1645920"/>
            <a:ext cx="548640" cy="548640"/>
          </a:xfrm>
          <a:prstGeom prst="ellipse">
            <a:avLst/>
          </a:prstGeom>
          <a:solidFill>
            <a:srgbClr val="3D68EC"/>
          </a:solidFill>
          <a:ln/>
        </p:spPr>
        <p:txBody>
          <a:bodyPr/>
          <a:p/>
        </p:txBody>
      </p:sp>
      <p:sp>
        <p:nvSpPr>
          <p:cNvPr id="105" name="Text 103"/>
          <p:cNvSpPr/>
          <p:nvPr/>
        </p:nvSpPr>
        <p:spPr>
          <a:xfrm>
            <a:off x="948667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6" name="Shape 104"/>
          <p:cNvSpPr/>
          <p:nvPr/>
        </p:nvSpPr>
        <p:spPr>
          <a:xfrm>
            <a:off x="10172471" y="1719072"/>
            <a:ext cx="1196264" cy="402336"/>
          </a:xfrm>
          <a:prstGeom prst="roundRect">
            <a:avLst>
              <a:gd name="adj" fmla="val 113636"/>
            </a:avLst>
          </a:prstGeom>
          <a:solidFill>
            <a:srgbClr val="3D68EC"/>
          </a:solidFill>
          <a:ln/>
        </p:spPr>
        <p:txBody>
          <a:bodyPr/>
          <a:p/>
        </p:txBody>
      </p:sp>
      <p:sp>
        <p:nvSpPr>
          <p:cNvPr id="107" name="Text 105"/>
          <p:cNvSpPr/>
          <p:nvPr/>
        </p:nvSpPr>
        <p:spPr>
          <a:xfrm>
            <a:off x="10263911"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Rondt af</a:t>
            </a:r>
            <a:endParaRPr lang="en-US" sz="1200" dirty="0"/>
          </a:p>
        </p:txBody>
      </p:sp>
      <p:sp>
        <p:nvSpPr>
          <p:cNvPr id="108" name="Text 106"/>
          <p:cNvSpPr/>
          <p:nvPr/>
        </p:nvSpPr>
        <p:spPr>
          <a:xfrm>
            <a:off x="9486671"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Testen</a:t>
            </a:r>
            <a:endParaRPr lang="en-US" sz="2000" dirty="0"/>
          </a:p>
        </p:txBody>
      </p:sp>
      <p:sp>
        <p:nvSpPr>
          <p:cNvPr id="109" name="Text 107"/>
          <p:cNvSpPr/>
          <p:nvPr/>
        </p:nvSpPr>
        <p:spPr>
          <a:xfrm>
            <a:off x="9486671"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Tests bewaren, waarden-check, snelle stijlcheck en opnieuw testen.</a:t>
            </a:r>
            <a:endParaRPr lang="en-US" sz="1500" dirty="0"/>
          </a:p>
        </p:txBody>
      </p:sp>
      <p:sp>
        <p:nvSpPr>
          <p:cNvPr id="110" name="Text 108"/>
          <p:cNvSpPr/>
          <p:nvPr/>
        </p:nvSpPr>
        <p:spPr>
          <a:xfrm>
            <a:off x="9486671"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11" name="Text 109"/>
          <p:cNvSpPr/>
          <p:nvPr/>
        </p:nvSpPr>
        <p:spPr>
          <a:xfrm>
            <a:off x="9486671"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Getest</a:t>
            </a:r>
            <a:endParaRPr lang="en-US" sz="1500" dirty="0"/>
          </a:p>
        </p:txBody>
      </p:sp>
      <p:sp>
        <p:nvSpPr>
          <p:cNvPr id="112" name="Text 110"/>
          <p:cNvSpPr/>
          <p:nvPr/>
        </p:nvSpPr>
        <p:spPr>
          <a:xfrm>
            <a:off x="548640" y="57150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In: profiel en schets. Uit: een werkend, verantwoord dashboard. Bewaren alleen als je "bewaar" zegt; code nakijken met /check-style of /simplify-ceda is optioneel.</a:t>
            </a:r>
            <a:pPr algn="l" indent="0" marL="0">
              <a:lnSpc>
                <a:spcPct val="105000"/>
              </a:lnSpc>
              <a:buNone/>
            </a:pPr>
            <a:pPr algn="l" indent="0" marL="0">
              <a:lnSpc>
                <a:spcPct val="105000"/>
              </a:lnSpc>
              <a:buNone/>
            </a:pPr>
            <a:pPr algn="l" indent="0" marL="0">
              <a:lnSpc>
                <a:spcPct val="105000"/>
              </a:lnSpc>
              <a:buNone/>
            </a:pPr>
            <a:endParaRPr lang="en-US" sz="1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4">
    <p:bg>
      <p:bgPr>
        <a:solidFill>
          <a:srgbClr val="FCF5D4"/>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verweeft de skill de checks</a:t>
            </a:r>
            <a:endParaRPr lang="en-US" sz="3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8320811"/>
              </a:tblGrid>
              <a:tr h="0">
                <a:tc>
                  <a:txBody>
                    <a:bodyPr/>
                    <a:lstStyle/>
                    <a:p>
                      <a:pPr indent="0" marL="0">
                        <a:buNone/>
                      </a:pPr>
                      <a:r>
                        <a:rPr lang="en-US" sz="1400" dirty="0">
                          <a:solidFill>
                            <a:srgbClr val="F4D9DC"/>
                          </a:solidFill>
                          <a:latin typeface="General Sans Semibold" pitchFamily="34" charset="0"/>
                          <a:ea typeface="General Sans Semibold" pitchFamily="34" charset="-122"/>
                          <a:cs typeface="General Sans Semibold" pitchFamily="34" charset="-120"/>
                        </a:rPr>
                        <a:t>Check</a:t>
                      </a:r>
                      <a:endParaRPr lang="en-US" sz="1400" dirty="0">
                        <a:latin typeface="General Sans Semibold" charset="0"/>
                        <a:ea typeface="General Sans Semibold" charset="0"/>
                        <a:cs typeface="General Sans Semibold"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3D68EC"/>
                    </a:solidFill>
                  </a:tcPr>
                </a:tc>
                <a:tc>
                  <a:txBody>
                    <a:bodyPr/>
                    <a:lstStyle/>
                    <a:p>
                      <a:pPr indent="0" marL="0">
                        <a:buNone/>
                      </a:pPr>
                      <a:r>
                        <a:rPr lang="en-US" sz="1400" dirty="0">
                          <a:solidFill>
                            <a:srgbClr val="F4D9DC"/>
                          </a:solidFill>
                          <a:latin typeface="General Sans Semibold" pitchFamily="34" charset="0"/>
                          <a:ea typeface="General Sans Semibold" pitchFamily="34" charset="-122"/>
                          <a:cs typeface="General Sans Semibold" pitchFamily="34" charset="-120"/>
                        </a:rPr>
                        <a:t>Wat de skill in het dashboard doet</a:t>
                      </a:r>
                      <a:endParaRPr lang="en-US" sz="1400" dirty="0">
                        <a:latin typeface="General Sans Semibold" charset="0"/>
                        <a:ea typeface="General Sans Semibold" charset="0"/>
                        <a:cs typeface="General Sans Semibold"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3D68EC"/>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Privacy</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Groepen onder 30 en percentages onder 5 niet tonen; de drempel is een parameter</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Waarneembaarheid</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Cohorten waarvan de termijn nog niet af is uitsluiten en dat melden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Eerlijke framing</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Conclusie als titel, geen oorzaak, geen stigmatiserende woorden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Toegankelijkheid</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Kleurenblind-veilig palet, contrast 4,5:1, tekstuele samenvatting per grafiek</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Bron en uitleg</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Bron, definities, peildatum, n per groep en wat het niet kan zeggen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CCEEE6"/>
        </a:solidFill>
      </p:bgPr>
    </p:bg>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Zo ziet het dashboard eruit</a:t>
            </a:r>
            <a:endParaRPr lang="en-US" sz="3100" dirty="0"/>
          </a:p>
        </p:txBody>
      </p:sp>
      <p:pic>
        <p:nvPicPr>
          <p:cNvPr id="73" name="Image 0" descr="Schermafbeelding van het gebouwde dashboard: uitval in het eerste jaar per sector als staafdiagram, met filter en demodata-label">    </p:cNvPr>
          <p:cNvPicPr>
            <a:picLocks noChangeAspect="1"/>
          </p:cNvPicPr>
          <p:nvPr/>
        </p:nvPicPr>
        <p:blipFill>
          <a:blip r:embed="rId4"/>
          <a:stretch>
            <a:fillRect/>
          </a:stretch>
        </p:blipFill>
        <p:spPr>
          <a:xfrm>
            <a:off x="640000" y="1371600"/>
            <a:ext cx="5430508" cy="4450000"/>
          </a:xfrm>
          <a:prstGeom prst="rect">
            <a:avLst/>
          </a:prstGeom>
        </p:spPr>
      </p:pic>
      <p:sp>
        <p:nvSpPr>
          <p:cNvPr id="74" name="Text 71"/>
          <p:cNvSpPr/>
          <p:nvPr/>
        </p:nvSpPr>
        <p:spPr>
          <a:xfrm>
            <a:off x="640000" y="5971600"/>
            <a:ext cx="5430508"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Streamlit in Npuls-huisstijl, code in dashboard/</a:t>
            </a:r>
            <a:endParaRPr lang="en-US" sz="1300" dirty="0"/>
          </a:p>
        </p:txBody>
      </p:sp>
      <p:sp>
        <p:nvSpPr>
          <p:cNvPr id="75" name="Text 72"/>
          <p:cNvSpPr/>
          <p:nvPr/>
        </p:nvSpPr>
        <p:spPr>
          <a:xfrm>
            <a:off x="7800000" y="1463040"/>
            <a:ext cx="390000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Dit bouwt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bouwen_dashboard</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eerst een uploadscherm, dan een filter, grafieken met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n per groep</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en een label dat het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demodata</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is.</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6">
    <p:bg>
      <p:bgPr>
        <a:solidFill>
          <a:srgbClr val="00AF81"/>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Evaluatie en afsluiting: 16 minuten</a:t>
            </a:r>
            <a:endParaRPr lang="en-US" sz="3400" dirty="0"/>
          </a:p>
        </p:txBody>
      </p:sp>
      <p:sp>
        <p:nvSpPr>
          <p:cNvPr id="73" name="Shape 71"/>
          <p:cNvSpPr/>
          <p:nvPr/>
        </p:nvSpPr>
        <p:spPr>
          <a:xfrm>
            <a:off x="548640" y="1371600"/>
            <a:ext cx="2567864" cy="2567178"/>
          </a:xfrm>
          <a:prstGeom prst="roundRect">
            <a:avLst>
              <a:gd name="adj" fmla="val 3552"/>
            </a:avLst>
          </a:prstGeom>
          <a:solidFill>
            <a:srgbClr val="F4D9DC"/>
          </a:solidFill>
          <a:ln/>
        </p:spPr>
        <p:txBody>
          <a:bodyPr/>
          <a:p/>
        </p:txBody>
      </p:sp>
      <p:sp>
        <p:nvSpPr>
          <p:cNvPr id="74" name="Shape 72"/>
          <p:cNvSpPr/>
          <p:nvPr/>
        </p:nvSpPr>
        <p:spPr>
          <a:xfrm>
            <a:off x="822960" y="1645920"/>
            <a:ext cx="548640" cy="548640"/>
          </a:xfrm>
          <a:prstGeom prst="ellipse">
            <a:avLst/>
          </a:prstGeom>
          <a:solidFill>
            <a:srgbClr val="3D68EC"/>
          </a:solidFill>
          <a:ln/>
        </p:spPr>
        <p:txBody>
          <a:body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333424" cy="402336"/>
          </a:xfrm>
          <a:prstGeom prst="roundRect">
            <a:avLst>
              <a:gd name="adj" fmla="val 113636"/>
            </a:avLst>
          </a:prstGeom>
          <a:solidFill>
            <a:srgbClr val="3D68EC"/>
          </a:solidFill>
          <a:ln/>
        </p:spPr>
        <p:txBody>
          <a:bodyPr/>
          <a:p/>
        </p:txBody>
      </p:sp>
      <p:sp>
        <p:nvSpPr>
          <p:cNvPr id="77" name="Text 75"/>
          <p:cNvSpPr/>
          <p:nvPr/>
        </p:nvSpPr>
        <p:spPr>
          <a:xfrm>
            <a:off x="1600200"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4 min</a:t>
            </a:r>
            <a:endParaRPr lang="en-US" sz="1200" dirty="0"/>
          </a:p>
        </p:txBody>
      </p:sp>
      <p:sp>
        <p:nvSpPr>
          <p:cNvPr id="78" name="Text 76"/>
          <p:cNvSpPr/>
          <p:nvPr/>
        </p:nvSpPr>
        <p:spPr>
          <a:xfrm>
            <a:off x="822960"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Terugblik</a:t>
            </a:r>
            <a:endParaRPr lang="en-US" sz="2000" dirty="0"/>
          </a:p>
        </p:txBody>
      </p:sp>
      <p:sp>
        <p:nvSpPr>
          <p:cNvPr id="79" name="Text 77"/>
          <p:cNvSpPr/>
          <p:nvPr/>
        </p:nvSpPr>
        <p:spPr>
          <a:xfrm>
            <a:off x="822960"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vond je ervan? Wat ging goed, wat zag je nu pas?</a:t>
            </a:r>
            <a:endParaRPr lang="en-US" sz="1500" dirty="0"/>
          </a:p>
        </p:txBody>
      </p:sp>
      <p:sp>
        <p:nvSpPr>
          <p:cNvPr id="80" name="Shape 78"/>
          <p:cNvSpPr/>
          <p:nvPr/>
        </p:nvSpPr>
        <p:spPr>
          <a:xfrm>
            <a:off x="3390824" y="1371600"/>
            <a:ext cx="2567864" cy="2567178"/>
          </a:xfrm>
          <a:prstGeom prst="roundRect">
            <a:avLst>
              <a:gd name="adj" fmla="val 3552"/>
            </a:avLst>
          </a:prstGeom>
          <a:solidFill>
            <a:srgbClr val="F4D9DC"/>
          </a:solidFill>
          <a:ln/>
        </p:spPr>
        <p:txBody>
          <a:bodyPr/>
          <a:p/>
        </p:txBody>
      </p:sp>
      <p:sp>
        <p:nvSpPr>
          <p:cNvPr id="81" name="Shape 79"/>
          <p:cNvSpPr/>
          <p:nvPr/>
        </p:nvSpPr>
        <p:spPr>
          <a:xfrm>
            <a:off x="3665144" y="1645920"/>
            <a:ext cx="548640" cy="548640"/>
          </a:xfrm>
          <a:prstGeom prst="ellipse">
            <a:avLst/>
          </a:prstGeom>
          <a:solidFill>
            <a:srgbClr val="3D68EC"/>
          </a:solidFill>
          <a:ln/>
        </p:spPr>
        <p:txBody>
          <a:bodyPr/>
          <a:p/>
        </p:txBody>
      </p:sp>
      <p:sp>
        <p:nvSpPr>
          <p:cNvPr id="82" name="Text 80"/>
          <p:cNvSpPr/>
          <p:nvPr/>
        </p:nvSpPr>
        <p:spPr>
          <a:xfrm>
            <a:off x="366514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4350944" y="1719072"/>
            <a:ext cx="1333424" cy="402336"/>
          </a:xfrm>
          <a:prstGeom prst="roundRect">
            <a:avLst>
              <a:gd name="adj" fmla="val 113636"/>
            </a:avLst>
          </a:prstGeom>
          <a:solidFill>
            <a:srgbClr val="3D68EC"/>
          </a:solidFill>
          <a:ln/>
        </p:spPr>
        <p:txBody>
          <a:bodyPr/>
          <a:p/>
        </p:txBody>
      </p:sp>
      <p:sp>
        <p:nvSpPr>
          <p:cNvPr id="84" name="Text 82"/>
          <p:cNvSpPr/>
          <p:nvPr/>
        </p:nvSpPr>
        <p:spPr>
          <a:xfrm>
            <a:off x="4442384"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6 min</a:t>
            </a:r>
            <a:endParaRPr lang="en-US" sz="1200" dirty="0"/>
          </a:p>
        </p:txBody>
      </p:sp>
      <p:sp>
        <p:nvSpPr>
          <p:cNvPr id="85" name="Text 83"/>
          <p:cNvSpPr/>
          <p:nvPr/>
        </p:nvSpPr>
        <p:spPr>
          <a:xfrm>
            <a:off x="3665144"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Vragenlijst</a:t>
            </a:r>
            <a:endParaRPr lang="en-US" sz="2000" dirty="0"/>
          </a:p>
        </p:txBody>
      </p:sp>
      <p:sp>
        <p:nvSpPr>
          <p:cNvPr id="86" name="Text 84"/>
          <p:cNvSpPr/>
          <p:nvPr/>
        </p:nvSpPr>
        <p:spPr>
          <a:xfrm>
            <a:off x="3665144"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Typ /review-reflect: er opent een vragenlijst.</a:t>
            </a:r>
            <a:endParaRPr lang="en-US" sz="1500" dirty="0"/>
          </a:p>
        </p:txBody>
      </p:sp>
      <p:sp>
        <p:nvSpPr>
          <p:cNvPr id="87" name="Shape 85"/>
          <p:cNvSpPr/>
          <p:nvPr/>
        </p:nvSpPr>
        <p:spPr>
          <a:xfrm>
            <a:off x="6233008" y="1371600"/>
            <a:ext cx="2567864" cy="2567178"/>
          </a:xfrm>
          <a:prstGeom prst="roundRect">
            <a:avLst>
              <a:gd name="adj" fmla="val 3552"/>
            </a:avLst>
          </a:prstGeom>
          <a:solidFill>
            <a:srgbClr val="F4D9DC"/>
          </a:solidFill>
          <a:ln/>
        </p:spPr>
        <p:txBody>
          <a:bodyPr/>
          <a:p/>
        </p:txBody>
      </p:sp>
      <p:sp>
        <p:nvSpPr>
          <p:cNvPr id="88" name="Shape 86"/>
          <p:cNvSpPr/>
          <p:nvPr/>
        </p:nvSpPr>
        <p:spPr>
          <a:xfrm>
            <a:off x="6507328" y="1645920"/>
            <a:ext cx="548640" cy="548640"/>
          </a:xfrm>
          <a:prstGeom prst="ellipse">
            <a:avLst/>
          </a:prstGeom>
          <a:solidFill>
            <a:srgbClr val="3D68EC"/>
          </a:solidFill>
          <a:ln/>
        </p:spPr>
        <p:txBody>
          <a:bodyPr/>
          <a:p/>
        </p:txBody>
      </p:sp>
      <p:sp>
        <p:nvSpPr>
          <p:cNvPr id="89" name="Text 87"/>
          <p:cNvSpPr/>
          <p:nvPr/>
        </p:nvSpPr>
        <p:spPr>
          <a:xfrm>
            <a:off x="650732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7193128" y="1719072"/>
            <a:ext cx="1333424" cy="402336"/>
          </a:xfrm>
          <a:prstGeom prst="roundRect">
            <a:avLst>
              <a:gd name="adj" fmla="val 113636"/>
            </a:avLst>
          </a:prstGeom>
          <a:solidFill>
            <a:srgbClr val="3D68EC"/>
          </a:solidFill>
          <a:ln/>
        </p:spPr>
        <p:txBody>
          <a:bodyPr/>
          <a:p/>
        </p:txBody>
      </p:sp>
      <p:sp>
        <p:nvSpPr>
          <p:cNvPr id="91" name="Text 89"/>
          <p:cNvSpPr/>
          <p:nvPr/>
        </p:nvSpPr>
        <p:spPr>
          <a:xfrm>
            <a:off x="7284568"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2 min</a:t>
            </a:r>
            <a:endParaRPr lang="en-US" sz="1200" dirty="0"/>
          </a:p>
        </p:txBody>
      </p:sp>
      <p:sp>
        <p:nvSpPr>
          <p:cNvPr id="92" name="Text 90"/>
          <p:cNvSpPr/>
          <p:nvPr/>
        </p:nvSpPr>
        <p:spPr>
          <a:xfrm>
            <a:off x="6507328"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Vervolg</a:t>
            </a:r>
            <a:endParaRPr lang="en-US" sz="2000" dirty="0"/>
          </a:p>
        </p:txBody>
      </p:sp>
      <p:sp>
        <p:nvSpPr>
          <p:cNvPr id="93" name="Text 91"/>
          <p:cNvSpPr/>
          <p:nvPr/>
        </p:nvSpPr>
        <p:spPr>
          <a:xfrm>
            <a:off x="6507328"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 vragenlijst vraagt of en in welke vorm je een vervolg wilt.</a:t>
            </a:r>
            <a:endParaRPr lang="en-US" sz="1500" dirty="0"/>
          </a:p>
        </p:txBody>
      </p:sp>
      <p:sp>
        <p:nvSpPr>
          <p:cNvPr id="94" name="Shape 92"/>
          <p:cNvSpPr/>
          <p:nvPr/>
        </p:nvSpPr>
        <p:spPr>
          <a:xfrm>
            <a:off x="9075191" y="1371600"/>
            <a:ext cx="2567864" cy="2567178"/>
          </a:xfrm>
          <a:prstGeom prst="roundRect">
            <a:avLst>
              <a:gd name="adj" fmla="val 3552"/>
            </a:avLst>
          </a:prstGeom>
          <a:solidFill>
            <a:srgbClr val="F4D9DC"/>
          </a:solidFill>
          <a:ln/>
        </p:spPr>
        <p:txBody>
          <a:bodyPr/>
          <a:p/>
        </p:txBody>
      </p:sp>
      <p:sp>
        <p:nvSpPr>
          <p:cNvPr id="95" name="Shape 93"/>
          <p:cNvSpPr/>
          <p:nvPr/>
        </p:nvSpPr>
        <p:spPr>
          <a:xfrm>
            <a:off x="9349511" y="1645920"/>
            <a:ext cx="548640" cy="548640"/>
          </a:xfrm>
          <a:prstGeom prst="ellipse">
            <a:avLst/>
          </a:prstGeom>
          <a:solidFill>
            <a:srgbClr val="3D68EC"/>
          </a:solidFill>
          <a:ln/>
        </p:spPr>
        <p:txBody>
          <a:bodyPr/>
          <a:p/>
        </p:txBody>
      </p:sp>
      <p:sp>
        <p:nvSpPr>
          <p:cNvPr id="96" name="Text 94"/>
          <p:cNvSpPr/>
          <p:nvPr/>
        </p:nvSpPr>
        <p:spPr>
          <a:xfrm>
            <a:off x="934951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4</a:t>
            </a:r>
            <a:endParaRPr lang="en-US" sz="2000" dirty="0"/>
          </a:p>
        </p:txBody>
      </p:sp>
      <p:sp>
        <p:nvSpPr>
          <p:cNvPr id="97" name="Shape 95"/>
          <p:cNvSpPr/>
          <p:nvPr/>
        </p:nvSpPr>
        <p:spPr>
          <a:xfrm>
            <a:off x="10035311" y="1719072"/>
            <a:ext cx="1333424" cy="402336"/>
          </a:xfrm>
          <a:prstGeom prst="roundRect">
            <a:avLst>
              <a:gd name="adj" fmla="val 113636"/>
            </a:avLst>
          </a:prstGeom>
          <a:solidFill>
            <a:srgbClr val="3D68EC"/>
          </a:solidFill>
          <a:ln/>
        </p:spPr>
        <p:txBody>
          <a:bodyPr/>
          <a:p/>
        </p:txBody>
      </p:sp>
      <p:sp>
        <p:nvSpPr>
          <p:cNvPr id="98" name="Text 96"/>
          <p:cNvSpPr/>
          <p:nvPr/>
        </p:nvSpPr>
        <p:spPr>
          <a:xfrm>
            <a:off x="10126751"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4 min</a:t>
            </a:r>
            <a:endParaRPr lang="en-US" sz="1200" dirty="0"/>
          </a:p>
        </p:txBody>
      </p:sp>
      <p:sp>
        <p:nvSpPr>
          <p:cNvPr id="99" name="Text 97"/>
          <p:cNvSpPr/>
          <p:nvPr/>
        </p:nvSpPr>
        <p:spPr>
          <a:xfrm>
            <a:off x="9349511"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Afsluiting</a:t>
            </a:r>
            <a:endParaRPr lang="en-US" sz="2000" dirty="0"/>
          </a:p>
        </p:txBody>
      </p:sp>
      <p:sp>
        <p:nvSpPr>
          <p:cNvPr id="100" name="Text 98"/>
          <p:cNvSpPr/>
          <p:nvPr/>
        </p:nvSpPr>
        <p:spPr>
          <a:xfrm>
            <a:off x="9349511"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verloor en won je, en wat doe je morgen anders?</a:t>
            </a:r>
            <a:endParaRPr lang="en-US" sz="1500" dirty="0"/>
          </a:p>
        </p:txBody>
      </p:sp>
      <p:sp>
        <p:nvSpPr>
          <p:cNvPr id="101" name="Text 99"/>
          <p:cNvSpPr/>
          <p:nvPr/>
        </p:nvSpPr>
        <p:spPr>
          <a:xfrm>
            <a:off x="548640" y="4121658"/>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Anoniem en vrijwillig. De antwoorden bepalen of en hoe CEDA een vervolg inricht.</a:t>
            </a:r>
            <a:endParaRPr lang="en-US" sz="1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8">
    <p:bg>
      <p:bgPr>
        <a:solidFill>
          <a:srgbClr val="F4D74B"/>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3D68EC"/>
                </a:solidFill>
                <a:latin typeface="General Sans Semibold" pitchFamily="34" charset="0"/>
                <a:ea typeface="General Sans Semibold" pitchFamily="34" charset="-122"/>
                <a:cs typeface="General Sans Semibold" pitchFamily="34" charset="-120"/>
              </a:rPr>
              <a:t>Wat willen jullie nog zien?</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Typ /review-reflect: er opent een vragenlijst. Vul in wat je nog wilt zien en leren. Anoniem, en je kunt een vraag overslaan.</a:t>
            </a:r>
            <a:endParaRPr lang="en-US" sz="2200" dirty="0"/>
          </a:p>
        </p:txBody>
      </p:sp>
      <p:pic>
        <p:nvPicPr>
          <p:cNvPr id="74" name="Image 0" descr="exports\261005_workshop_rad_uitvoering\img\Lamp.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9">
    <p:bg>
      <p:bgPr>
        <a:solidFill>
          <a:srgbClr val="F4D9DC"/>
        </a:solidFill>
      </p:bgPr>
    </p:bg>
    <p:spTree>
      <p:nvGrpSpPr>
        <p:cNvPr id="1" name=""/>
        <p:cNvGrpSpPr/>
        <p:nvPr/>
      </p:nvGrpSpPr>
      <p:grpSpPr>
        <a:xfrm>
          <a:off x="0" y="0"/>
          <a:ext cx="0" cy="0"/>
          <a:chOff x="0" y="0"/>
          <a:chExt cx="0" cy="0"/>
        </a:xfrm>
      </p:grpSpPr>
      <p:sp>
        <p:nvSpPr>
          <p:cNvPr id="2" name="Text 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Afsluiting</a:t>
            </a:r>
            <a:endParaRPr lang="en-US" sz="3400" dirty="0"/>
          </a:p>
        </p:txBody>
      </p:sp>
      <p:sp>
        <p:nvSpPr>
          <p:cNvPr id="3" name="Text 1"/>
          <p:cNvSpPr/>
          <p:nvPr/>
        </p:nvSpPr>
        <p:spPr>
          <a:xfrm>
            <a:off x="548640" y="1645920"/>
            <a:ext cx="5120640" cy="1290320"/>
          </a:xfrm>
          <a:prstGeom prst="rect">
            <a:avLst/>
          </a:prstGeom>
          <a:noFill/>
          <a:ln/>
        </p:spPr>
        <p:txBody>
          <a:bodyPr wrap="square" lIns="0" tIns="0" rIns="0" bIns="0" rtlCol="0" anchor="t"/>
          <a:lstStyle/>
          <a:p>
            <a:pPr algn="l" indent="0" marL="0">
              <a:lnSpc>
                <a:spcPct val="105000"/>
              </a:lnSpc>
              <a:buNone/>
            </a:pPr>
            <a:r>
              <a:rPr lang="en-US" sz="4000" dirty="0">
                <a:solidFill>
                  <a:srgbClr val="000000"/>
                </a:solidFill>
                <a:latin typeface="Cooper Lt BT" pitchFamily="34" charset="0"/>
                <a:ea typeface="Cooper Lt BT" pitchFamily="34" charset="-122"/>
                <a:cs typeface="Cooper Lt BT" pitchFamily="34" charset="-120"/>
              </a:rPr>
              <a:t>Wat verloor en won je?</a:t>
            </a:r>
            <a:endParaRPr lang="en-US" sz="4000" dirty="0"/>
          </a:p>
        </p:txBody>
      </p:sp>
      <p:sp>
        <p:nvSpPr>
          <p:cNvPr id="4" name="Text 2"/>
          <p:cNvSpPr/>
          <p:nvPr/>
        </p:nvSpPr>
        <p:spPr>
          <a:xfrm>
            <a:off x="548640" y="3256280"/>
            <a:ext cx="5120640" cy="82296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En wat doe je morgen anders?</a:t>
            </a:r>
            <a:endParaRPr lang="en-US" sz="1800" dirty="0"/>
          </a:p>
        </p:txBody>
      </p:sp>
      <p:sp>
        <p:nvSpPr>
          <p:cNvPr id="5" name="Text 3"/>
          <p:cNvSpPr/>
          <p:nvPr/>
        </p:nvSpPr>
        <p:spPr>
          <a:xfrm>
            <a:off x="6400800" y="1600200"/>
            <a:ext cx="5242255" cy="457200"/>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Voor onderweg</a:t>
            </a:r>
            <a:endParaRPr lang="en-US" sz="2200" dirty="0"/>
          </a:p>
        </p:txBody>
      </p:sp>
      <p:sp>
        <p:nvSpPr>
          <p:cNvPr id="6" name="Shape 4"/>
          <p:cNvSpPr/>
          <p:nvPr/>
        </p:nvSpPr>
        <p:spPr>
          <a:xfrm>
            <a:off x="6400800" y="2240280"/>
            <a:ext cx="5242255" cy="1371600"/>
          </a:xfrm>
          <a:prstGeom prst="roundRect">
            <a:avLst>
              <a:gd name="adj" fmla="val 11111"/>
            </a:avLst>
          </a:prstGeom>
          <a:solidFill>
            <a:srgbClr val="00AF81"/>
          </a:solidFill>
          <a:ln/>
        </p:spPr>
        <p:txBody>
          <a:bodyPr/>
          <a:p/>
        </p:txBody>
      </p:sp>
      <p:sp>
        <p:nvSpPr>
          <p:cNvPr id="7" name="Shape 5"/>
          <p:cNvSpPr/>
          <p:nvPr/>
        </p:nvSpPr>
        <p:spPr>
          <a:xfrm>
            <a:off x="6675120" y="2441448"/>
            <a:ext cx="1371600" cy="347472"/>
          </a:xfrm>
          <a:prstGeom prst="roundRect">
            <a:avLst>
              <a:gd name="adj" fmla="val 131579"/>
            </a:avLst>
          </a:prstGeom>
          <a:solidFill>
            <a:srgbClr val="F4D9DC"/>
          </a:solidFill>
          <a:ln/>
        </p:spPr>
        <p:txBody>
          <a:bodyPr/>
          <a:p/>
        </p:txBody>
      </p:sp>
      <p:sp>
        <p:nvSpPr>
          <p:cNvPr id="8" name="Text 6"/>
          <p:cNvSpPr/>
          <p:nvPr/>
        </p:nvSpPr>
        <p:spPr>
          <a:xfrm>
            <a:off x="6766560" y="2441448"/>
            <a:ext cx="1188720" cy="347472"/>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Meenemen</a:t>
            </a:r>
            <a:endParaRPr lang="en-US" sz="1100" dirty="0"/>
          </a:p>
        </p:txBody>
      </p:sp>
      <p:sp>
        <p:nvSpPr>
          <p:cNvPr id="9" name="Text 7"/>
          <p:cNvSpPr/>
          <p:nvPr/>
        </p:nvSpPr>
        <p:spPr>
          <a:xfrm>
            <a:off x="6675120" y="2880360"/>
            <a:ext cx="4693615" cy="59436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Eigen data gebruik je in je eigen instelling, buiten deze workshop. De drie skills staan in de repo.</a:t>
            </a:r>
            <a:endParaRPr lang="en-US" sz="1500" dirty="0"/>
          </a:p>
        </p:txBody>
      </p:sp>
      <p:sp>
        <p:nvSpPr>
          <p:cNvPr id="10" name="Shape 8"/>
          <p:cNvSpPr/>
          <p:nvPr/>
        </p:nvSpPr>
        <p:spPr>
          <a:xfrm>
            <a:off x="6400800" y="3749040"/>
            <a:ext cx="5242255" cy="1371600"/>
          </a:xfrm>
          <a:prstGeom prst="roundRect">
            <a:avLst>
              <a:gd name="adj" fmla="val 11111"/>
            </a:avLst>
          </a:prstGeom>
          <a:solidFill>
            <a:srgbClr val="00AF81"/>
          </a:solidFill>
          <a:ln/>
        </p:spPr>
        <p:txBody>
          <a:bodyPr/>
          <a:p/>
        </p:txBody>
      </p:sp>
      <p:sp>
        <p:nvSpPr>
          <p:cNvPr id="11" name="Shape 9"/>
          <p:cNvSpPr/>
          <p:nvPr/>
        </p:nvSpPr>
        <p:spPr>
          <a:xfrm>
            <a:off x="6675120" y="3950208"/>
            <a:ext cx="1371600" cy="347472"/>
          </a:xfrm>
          <a:prstGeom prst="roundRect">
            <a:avLst>
              <a:gd name="adj" fmla="val 131579"/>
            </a:avLst>
          </a:prstGeom>
          <a:solidFill>
            <a:srgbClr val="F4D9DC"/>
          </a:solidFill>
          <a:ln/>
        </p:spPr>
        <p:txBody>
          <a:bodyPr/>
          <a:p/>
        </p:txBody>
      </p:sp>
      <p:sp>
        <p:nvSpPr>
          <p:cNvPr id="12" name="Text 10"/>
          <p:cNvSpPr/>
          <p:nvPr/>
        </p:nvSpPr>
        <p:spPr>
          <a:xfrm>
            <a:off x="6766560" y="3950208"/>
            <a:ext cx="1188720" cy="347472"/>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Nog even</a:t>
            </a:r>
            <a:endParaRPr lang="en-US" sz="1100" dirty="0"/>
          </a:p>
        </p:txBody>
      </p:sp>
      <p:sp>
        <p:nvSpPr>
          <p:cNvPr id="13" name="Text 11"/>
          <p:cNvSpPr/>
          <p:nvPr/>
        </p:nvSpPr>
        <p:spPr>
          <a:xfrm>
            <a:off x="6675120" y="4389120"/>
            <a:ext cx="4693615" cy="59436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Jij stuurt, de agent bouwt. Jij beslist wat je ermee doet.</a:t>
            </a:r>
            <a:endParaRPr lang="en-US" sz="1500" dirty="0"/>
          </a:p>
        </p:txBody>
      </p:sp>
      <p:pic>
        <p:nvPicPr>
          <p:cNvPr id="14" name="Image 0" descr="Npuls">    </p:cNvPr>
          <p:cNvPicPr>
            <a:picLocks noChangeAspect="1"/>
          </p:cNvPicPr>
          <p:nvPr/>
        </p:nvPicPr>
        <p:blipFill>
          <a:blip r:embed="rId1"/>
          <a:stretch>
            <a:fillRect/>
          </a:stretch>
        </p:blipFill>
        <p:spPr>
          <a:xfrm>
            <a:off x="10454335" y="5120640"/>
            <a:ext cx="1188720" cy="118872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3D68EC"/>
        </a:solidFill>
      </p:bgPr>
    </p:bg>
    <p:spTree>
      <p:nvGrpSpPr>
        <p:cNvPr id="1" name=""/>
        <p:cNvGrpSpPr/>
        <p:nvPr/>
      </p:nvGrpSpPr>
      <p:grpSpPr/>
      <p:sp>
        <p:nvSpPr>
          <p:cNvPr id="2" name="Shape 0"/>
          <p:cNvSpPr/>
          <p:nvPr/>
        </p:nvSpPr>
        <p:spPr>
          <a:xfrm>
            <a:off x="11304952" y="384048"/>
            <a:ext cx="35960" cy="35960"/>
          </a:xfrm>
          <a:prstGeom prst="ellipse">
            <a:avLst/>
          </a:prstGeom>
          <a:solidFill>
            <a:srgbClr val="F4D9DC"/>
          </a:solidFill>
          <a:ln/>
        </p:spPr>
        <p:txBody>
          <a:bodyPr/>
          <a:p/>
        </p:txBody>
      </p:sp>
      <p:sp>
        <p:nvSpPr>
          <p:cNvPr id="3" name="Shape 1"/>
          <p:cNvSpPr/>
          <p:nvPr/>
        </p:nvSpPr>
        <p:spPr>
          <a:xfrm>
            <a:off x="11212173" y="399224"/>
            <a:ext cx="34616" cy="34616"/>
          </a:xfrm>
          <a:prstGeom prst="ellipse">
            <a:avLst/>
          </a:prstGeom>
          <a:solidFill>
            <a:srgbClr val="F4D9DC"/>
          </a:solidFill>
          <a:ln/>
        </p:spPr>
        <p:txBody>
          <a:bodyPr/>
          <a:p/>
        </p:txBody>
      </p:sp>
      <p:sp>
        <p:nvSpPr>
          <p:cNvPr id="4" name="Shape 2"/>
          <p:cNvSpPr/>
          <p:nvPr/>
        </p:nvSpPr>
        <p:spPr>
          <a:xfrm>
            <a:off x="11398641" y="399224"/>
            <a:ext cx="34616" cy="34616"/>
          </a:xfrm>
          <a:prstGeom prst="ellipse">
            <a:avLst/>
          </a:prstGeom>
          <a:solidFill>
            <a:srgbClr val="F4D9DC"/>
          </a:solidFill>
          <a:ln/>
        </p:spPr>
        <p:txBody>
          <a:bodyPr/>
          <a:p/>
        </p:txBody>
      </p:sp>
      <p:sp>
        <p:nvSpPr>
          <p:cNvPr id="5" name="Shape 3"/>
          <p:cNvSpPr/>
          <p:nvPr/>
        </p:nvSpPr>
        <p:spPr>
          <a:xfrm>
            <a:off x="11258374" y="435357"/>
            <a:ext cx="51936" cy="51936"/>
          </a:xfrm>
          <a:prstGeom prst="ellipse">
            <a:avLst/>
          </a:prstGeom>
          <a:solidFill>
            <a:srgbClr val="F4D9DC"/>
          </a:solidFill>
          <a:ln/>
        </p:spPr>
        <p:txBody>
          <a:bodyPr/>
          <a:p/>
        </p:txBody>
      </p:sp>
      <p:sp>
        <p:nvSpPr>
          <p:cNvPr id="6" name="Shape 4"/>
          <p:cNvSpPr/>
          <p:nvPr/>
        </p:nvSpPr>
        <p:spPr>
          <a:xfrm>
            <a:off x="11335407" y="435306"/>
            <a:ext cx="51718" cy="51718"/>
          </a:xfrm>
          <a:prstGeom prst="ellipse">
            <a:avLst/>
          </a:prstGeom>
          <a:solidFill>
            <a:srgbClr val="F4D9DC"/>
          </a:solidFill>
          <a:ln/>
        </p:spPr>
        <p:txBody>
          <a:bodyPr/>
          <a:p/>
        </p:txBody>
      </p:sp>
      <p:sp>
        <p:nvSpPr>
          <p:cNvPr id="7" name="Shape 5"/>
          <p:cNvSpPr/>
          <p:nvPr/>
        </p:nvSpPr>
        <p:spPr>
          <a:xfrm>
            <a:off x="11127388" y="442398"/>
            <a:ext cx="35294" cy="35294"/>
          </a:xfrm>
          <a:prstGeom prst="ellipse">
            <a:avLst/>
          </a:prstGeom>
          <a:solidFill>
            <a:srgbClr val="F4D9DC"/>
          </a:solidFill>
          <a:ln/>
        </p:spPr>
        <p:txBody>
          <a:bodyPr/>
          <a:p/>
        </p:txBody>
      </p:sp>
      <p:sp>
        <p:nvSpPr>
          <p:cNvPr id="8" name="Shape 6"/>
          <p:cNvSpPr/>
          <p:nvPr/>
        </p:nvSpPr>
        <p:spPr>
          <a:xfrm>
            <a:off x="11482145" y="441649"/>
            <a:ext cx="35960" cy="35960"/>
          </a:xfrm>
          <a:prstGeom prst="ellipse">
            <a:avLst/>
          </a:prstGeom>
          <a:solidFill>
            <a:srgbClr val="F4D9DC"/>
          </a:solidFill>
          <a:ln/>
        </p:spPr>
        <p:txBody>
          <a:bodyPr/>
          <a:p/>
        </p:txBody>
      </p:sp>
      <p:sp>
        <p:nvSpPr>
          <p:cNvPr id="9" name="Shape 7"/>
          <p:cNvSpPr/>
          <p:nvPr/>
        </p:nvSpPr>
        <p:spPr>
          <a:xfrm>
            <a:off x="11185603" y="459328"/>
            <a:ext cx="52167" cy="52167"/>
          </a:xfrm>
          <a:prstGeom prst="ellipse">
            <a:avLst/>
          </a:prstGeom>
          <a:solidFill>
            <a:srgbClr val="F4D9DC"/>
          </a:solidFill>
          <a:ln/>
        </p:spPr>
        <p:txBody>
          <a:bodyPr/>
          <a:p/>
        </p:txBody>
      </p:sp>
      <p:sp>
        <p:nvSpPr>
          <p:cNvPr id="10" name="Shape 8"/>
          <p:cNvSpPr/>
          <p:nvPr/>
        </p:nvSpPr>
        <p:spPr>
          <a:xfrm>
            <a:off x="11408043" y="458713"/>
            <a:ext cx="52384" cy="52384"/>
          </a:xfrm>
          <a:prstGeom prst="ellipse">
            <a:avLst/>
          </a:prstGeom>
          <a:solidFill>
            <a:srgbClr val="F4D9DC"/>
          </a:solidFill>
          <a:ln/>
        </p:spPr>
        <p:txBody>
          <a:bodyPr/>
          <a:p/>
        </p:txBody>
      </p:sp>
      <p:sp>
        <p:nvSpPr>
          <p:cNvPr id="11" name="Shape 9"/>
          <p:cNvSpPr/>
          <p:nvPr/>
        </p:nvSpPr>
        <p:spPr>
          <a:xfrm>
            <a:off x="11241891" y="499749"/>
            <a:ext cx="36613" cy="36613"/>
          </a:xfrm>
          <a:prstGeom prst="ellipse">
            <a:avLst/>
          </a:prstGeom>
          <a:solidFill>
            <a:srgbClr val="F4D9DC"/>
          </a:solidFill>
          <a:ln/>
        </p:spPr>
        <p:txBody>
          <a:bodyPr/>
          <a:p/>
        </p:txBody>
      </p:sp>
      <p:sp>
        <p:nvSpPr>
          <p:cNvPr id="12" name="Shape 10"/>
          <p:cNvSpPr/>
          <p:nvPr/>
        </p:nvSpPr>
        <p:spPr>
          <a:xfrm>
            <a:off x="11294557" y="500146"/>
            <a:ext cx="57223" cy="57223"/>
          </a:xfrm>
          <a:prstGeom prst="ellipse">
            <a:avLst/>
          </a:prstGeom>
          <a:solidFill>
            <a:srgbClr val="F4D9DC"/>
          </a:solidFill>
          <a:ln/>
        </p:spPr>
        <p:txBody>
          <a:bodyPr/>
          <a:p/>
        </p:txBody>
      </p:sp>
      <p:sp>
        <p:nvSpPr>
          <p:cNvPr id="13" name="Shape 11"/>
          <p:cNvSpPr/>
          <p:nvPr/>
        </p:nvSpPr>
        <p:spPr>
          <a:xfrm>
            <a:off x="11364102" y="498770"/>
            <a:ext cx="35294" cy="35294"/>
          </a:xfrm>
          <a:prstGeom prst="ellipse">
            <a:avLst/>
          </a:prstGeom>
          <a:solidFill>
            <a:srgbClr val="F4D9DC"/>
          </a:solidFill>
          <a:ln/>
        </p:spPr>
        <p:txBody>
          <a:bodyPr/>
          <a:p/>
        </p:txBody>
      </p:sp>
      <p:sp>
        <p:nvSpPr>
          <p:cNvPr id="14" name="Shape 12"/>
          <p:cNvSpPr/>
          <p:nvPr/>
        </p:nvSpPr>
        <p:spPr>
          <a:xfrm>
            <a:off x="11123515" y="504524"/>
            <a:ext cx="51936" cy="51936"/>
          </a:xfrm>
          <a:prstGeom prst="ellipse">
            <a:avLst/>
          </a:prstGeom>
          <a:solidFill>
            <a:srgbClr val="F4D9DC"/>
          </a:solidFill>
          <a:ln/>
        </p:spPr>
        <p:txBody>
          <a:bodyPr/>
          <a:p/>
        </p:txBody>
      </p:sp>
      <p:sp>
        <p:nvSpPr>
          <p:cNvPr id="15" name="Shape 13"/>
          <p:cNvSpPr/>
          <p:nvPr/>
        </p:nvSpPr>
        <p:spPr>
          <a:xfrm>
            <a:off x="11470202" y="504300"/>
            <a:ext cx="52384" cy="52384"/>
          </a:xfrm>
          <a:prstGeom prst="ellipse">
            <a:avLst/>
          </a:prstGeom>
          <a:solidFill>
            <a:srgbClr val="F4D9DC"/>
          </a:solidFill>
          <a:ln/>
        </p:spPr>
        <p:txBody>
          <a:bodyPr/>
          <a:p/>
        </p:txBody>
      </p:sp>
      <p:sp>
        <p:nvSpPr>
          <p:cNvPr id="16" name="Shape 14"/>
          <p:cNvSpPr/>
          <p:nvPr/>
        </p:nvSpPr>
        <p:spPr>
          <a:xfrm>
            <a:off x="11060774" y="508825"/>
            <a:ext cx="35627" cy="35627"/>
          </a:xfrm>
          <a:prstGeom prst="ellipse">
            <a:avLst/>
          </a:prstGeom>
          <a:solidFill>
            <a:srgbClr val="F4D9DC"/>
          </a:solidFill>
          <a:ln/>
        </p:spPr>
        <p:txBody>
          <a:bodyPr/>
          <a:p/>
        </p:txBody>
      </p:sp>
      <p:sp>
        <p:nvSpPr>
          <p:cNvPr id="17" name="Shape 15"/>
          <p:cNvSpPr/>
          <p:nvPr/>
        </p:nvSpPr>
        <p:spPr>
          <a:xfrm>
            <a:off x="11548535" y="508038"/>
            <a:ext cx="36613" cy="36613"/>
          </a:xfrm>
          <a:prstGeom prst="ellipse">
            <a:avLst/>
          </a:prstGeom>
          <a:solidFill>
            <a:srgbClr val="F4D9DC"/>
          </a:solidFill>
          <a:ln/>
        </p:spPr>
        <p:txBody>
          <a:bodyPr/>
          <a:p/>
        </p:txBody>
      </p:sp>
      <p:sp>
        <p:nvSpPr>
          <p:cNvPr id="18" name="Shape 16"/>
          <p:cNvSpPr/>
          <p:nvPr/>
        </p:nvSpPr>
        <p:spPr>
          <a:xfrm>
            <a:off x="11191466" y="533379"/>
            <a:ext cx="57825" cy="57825"/>
          </a:xfrm>
          <a:prstGeom prst="ellipse">
            <a:avLst/>
          </a:prstGeom>
          <a:solidFill>
            <a:srgbClr val="F4D9DC"/>
          </a:solidFill>
          <a:ln/>
        </p:spPr>
        <p:txBody>
          <a:bodyPr/>
          <a:p/>
        </p:txBody>
      </p:sp>
      <p:sp>
        <p:nvSpPr>
          <p:cNvPr id="19" name="Shape 17"/>
          <p:cNvSpPr/>
          <p:nvPr/>
        </p:nvSpPr>
        <p:spPr>
          <a:xfrm>
            <a:off x="11396535" y="533494"/>
            <a:ext cx="57428" cy="57428"/>
          </a:xfrm>
          <a:prstGeom prst="ellipse">
            <a:avLst/>
          </a:prstGeom>
          <a:solidFill>
            <a:srgbClr val="F4D9DC"/>
          </a:solidFill>
          <a:ln/>
        </p:spPr>
        <p:txBody>
          <a:bodyPr/>
          <a:p/>
        </p:txBody>
      </p:sp>
      <p:sp>
        <p:nvSpPr>
          <p:cNvPr id="20" name="Shape 18"/>
          <p:cNvSpPr/>
          <p:nvPr/>
        </p:nvSpPr>
        <p:spPr>
          <a:xfrm>
            <a:off x="11079087" y="567226"/>
            <a:ext cx="51270" cy="51270"/>
          </a:xfrm>
          <a:prstGeom prst="ellipse">
            <a:avLst/>
          </a:prstGeom>
          <a:solidFill>
            <a:srgbClr val="F4D9DC"/>
          </a:solidFill>
          <a:ln/>
        </p:spPr>
        <p:txBody>
          <a:bodyPr/>
          <a:p/>
        </p:txBody>
      </p:sp>
      <p:sp>
        <p:nvSpPr>
          <p:cNvPr id="21" name="Shape 19"/>
          <p:cNvSpPr/>
          <p:nvPr/>
        </p:nvSpPr>
        <p:spPr>
          <a:xfrm>
            <a:off x="11339728" y="567053"/>
            <a:ext cx="34616" cy="34616"/>
          </a:xfrm>
          <a:prstGeom prst="ellipse">
            <a:avLst/>
          </a:prstGeom>
          <a:solidFill>
            <a:srgbClr val="F4D9DC"/>
          </a:solidFill>
          <a:ln/>
        </p:spPr>
        <p:txBody>
          <a:bodyPr/>
          <a:p/>
        </p:txBody>
      </p:sp>
      <p:sp>
        <p:nvSpPr>
          <p:cNvPr id="22" name="Shape 20"/>
          <p:cNvSpPr/>
          <p:nvPr/>
        </p:nvSpPr>
        <p:spPr>
          <a:xfrm>
            <a:off x="11515167" y="566234"/>
            <a:ext cx="52819" cy="52819"/>
          </a:xfrm>
          <a:prstGeom prst="ellipse">
            <a:avLst/>
          </a:prstGeom>
          <a:solidFill>
            <a:srgbClr val="F4D9DC"/>
          </a:solidFill>
          <a:ln/>
        </p:spPr>
        <p:txBody>
          <a:bodyPr/>
          <a:p/>
        </p:txBody>
      </p:sp>
      <p:sp>
        <p:nvSpPr>
          <p:cNvPr id="23" name="Shape 21"/>
          <p:cNvSpPr/>
          <p:nvPr/>
        </p:nvSpPr>
        <p:spPr>
          <a:xfrm>
            <a:off x="11262860" y="569742"/>
            <a:ext cx="34961" cy="34961"/>
          </a:xfrm>
          <a:prstGeom prst="ellipse">
            <a:avLst/>
          </a:prstGeom>
          <a:solidFill>
            <a:srgbClr val="F4D9DC"/>
          </a:solidFill>
          <a:ln/>
        </p:spPr>
        <p:txBody>
          <a:bodyPr/>
          <a:p/>
        </p:txBody>
      </p:sp>
      <p:sp>
        <p:nvSpPr>
          <p:cNvPr id="24" name="Shape 22"/>
          <p:cNvSpPr/>
          <p:nvPr/>
        </p:nvSpPr>
        <p:spPr>
          <a:xfrm>
            <a:off x="11462521" y="569818"/>
            <a:ext cx="35294" cy="35294"/>
          </a:xfrm>
          <a:prstGeom prst="ellipse">
            <a:avLst/>
          </a:prstGeom>
          <a:solidFill>
            <a:srgbClr val="F4D9DC"/>
          </a:solidFill>
          <a:ln/>
        </p:spPr>
        <p:txBody>
          <a:bodyPr/>
          <a:p/>
        </p:txBody>
      </p:sp>
      <p:sp>
        <p:nvSpPr>
          <p:cNvPr id="25" name="Shape 23"/>
          <p:cNvSpPr/>
          <p:nvPr/>
        </p:nvSpPr>
        <p:spPr>
          <a:xfrm>
            <a:off x="11145681" y="573441"/>
            <a:ext cx="34270" cy="34270"/>
          </a:xfrm>
          <a:prstGeom prst="ellipse">
            <a:avLst/>
          </a:prstGeom>
          <a:solidFill>
            <a:srgbClr val="F4D9DC"/>
          </a:solidFill>
          <a:ln/>
        </p:spPr>
        <p:txBody>
          <a:bodyPr/>
          <a:p/>
        </p:txBody>
      </p:sp>
      <p:sp>
        <p:nvSpPr>
          <p:cNvPr id="26" name="Shape 24"/>
          <p:cNvSpPr/>
          <p:nvPr/>
        </p:nvSpPr>
        <p:spPr>
          <a:xfrm>
            <a:off x="11592015" y="593213"/>
            <a:ext cx="35294" cy="35294"/>
          </a:xfrm>
          <a:prstGeom prst="ellipse">
            <a:avLst/>
          </a:prstGeom>
          <a:solidFill>
            <a:srgbClr val="F4D9DC"/>
          </a:solidFill>
          <a:ln/>
        </p:spPr>
        <p:txBody>
          <a:bodyPr/>
          <a:p/>
        </p:txBody>
      </p:sp>
      <p:sp>
        <p:nvSpPr>
          <p:cNvPr id="27" name="Shape 25"/>
          <p:cNvSpPr/>
          <p:nvPr/>
        </p:nvSpPr>
        <p:spPr>
          <a:xfrm>
            <a:off x="11019124" y="593444"/>
            <a:ext cx="34616" cy="34616"/>
          </a:xfrm>
          <a:prstGeom prst="ellipse">
            <a:avLst/>
          </a:prstGeom>
          <a:solidFill>
            <a:srgbClr val="F4D9DC"/>
          </a:solidFill>
          <a:ln/>
        </p:spPr>
        <p:txBody>
          <a:bodyPr/>
          <a:p/>
        </p:txBody>
      </p:sp>
      <p:sp>
        <p:nvSpPr>
          <p:cNvPr id="28" name="Shape 26"/>
          <p:cNvSpPr/>
          <p:nvPr/>
        </p:nvSpPr>
        <p:spPr>
          <a:xfrm>
            <a:off x="11403576" y="610214"/>
            <a:ext cx="34961" cy="34961"/>
          </a:xfrm>
          <a:prstGeom prst="ellipse">
            <a:avLst/>
          </a:prstGeom>
          <a:solidFill>
            <a:srgbClr val="F4D9DC"/>
          </a:solidFill>
          <a:ln/>
        </p:spPr>
        <p:txBody>
          <a:bodyPr/>
          <a:p/>
        </p:txBody>
      </p:sp>
      <p:sp>
        <p:nvSpPr>
          <p:cNvPr id="29" name="Shape 27"/>
          <p:cNvSpPr/>
          <p:nvPr/>
        </p:nvSpPr>
        <p:spPr>
          <a:xfrm>
            <a:off x="11201662" y="616570"/>
            <a:ext cx="35627" cy="35627"/>
          </a:xfrm>
          <a:prstGeom prst="ellipse">
            <a:avLst/>
          </a:prstGeom>
          <a:solidFill>
            <a:srgbClr val="F4D9DC"/>
          </a:solidFill>
          <a:ln/>
        </p:spPr>
        <p:txBody>
          <a:bodyPr/>
          <a:p/>
        </p:txBody>
      </p:sp>
      <p:sp>
        <p:nvSpPr>
          <p:cNvPr id="30" name="Shape 28"/>
          <p:cNvSpPr/>
          <p:nvPr/>
        </p:nvSpPr>
        <p:spPr>
          <a:xfrm>
            <a:off x="11127484" y="620705"/>
            <a:ext cx="58030" cy="58030"/>
          </a:xfrm>
          <a:prstGeom prst="ellipse">
            <a:avLst/>
          </a:prstGeom>
          <a:solidFill>
            <a:srgbClr val="F4D9DC"/>
          </a:solidFill>
          <a:ln/>
        </p:spPr>
        <p:txBody>
          <a:bodyPr/>
          <a:p/>
        </p:txBody>
      </p:sp>
      <p:sp>
        <p:nvSpPr>
          <p:cNvPr id="31" name="Shape 29"/>
          <p:cNvSpPr/>
          <p:nvPr/>
        </p:nvSpPr>
        <p:spPr>
          <a:xfrm>
            <a:off x="11460767" y="620852"/>
            <a:ext cx="57428" cy="57428"/>
          </a:xfrm>
          <a:prstGeom prst="ellipse">
            <a:avLst/>
          </a:prstGeom>
          <a:solidFill>
            <a:srgbClr val="F4D9DC"/>
          </a:solidFill>
          <a:ln/>
        </p:spPr>
        <p:txBody>
          <a:bodyPr/>
          <a:p/>
        </p:txBody>
      </p:sp>
      <p:sp>
        <p:nvSpPr>
          <p:cNvPr id="32" name="Shape 30"/>
          <p:cNvSpPr/>
          <p:nvPr/>
        </p:nvSpPr>
        <p:spPr>
          <a:xfrm>
            <a:off x="11055219" y="640144"/>
            <a:ext cx="51718" cy="51718"/>
          </a:xfrm>
          <a:prstGeom prst="ellipse">
            <a:avLst/>
          </a:prstGeom>
          <a:solidFill>
            <a:srgbClr val="F4D9DC"/>
          </a:solidFill>
          <a:ln/>
        </p:spPr>
        <p:txBody>
          <a:bodyPr/>
          <a:p/>
        </p:txBody>
      </p:sp>
      <p:sp>
        <p:nvSpPr>
          <p:cNvPr id="33" name="Shape 31"/>
          <p:cNvSpPr/>
          <p:nvPr/>
        </p:nvSpPr>
        <p:spPr>
          <a:xfrm>
            <a:off x="11539330" y="640266"/>
            <a:ext cx="51270" cy="51270"/>
          </a:xfrm>
          <a:prstGeom prst="ellipse">
            <a:avLst/>
          </a:prstGeom>
          <a:solidFill>
            <a:srgbClr val="F4D9DC"/>
          </a:solidFill>
          <a:ln/>
        </p:spPr>
        <p:txBody>
          <a:bodyPr/>
          <a:p/>
        </p:txBody>
      </p:sp>
      <p:sp>
        <p:nvSpPr>
          <p:cNvPr id="34" name="Shape 32"/>
          <p:cNvSpPr/>
          <p:nvPr/>
        </p:nvSpPr>
        <p:spPr>
          <a:xfrm>
            <a:off x="11429576" y="682274"/>
            <a:ext cx="35627" cy="35627"/>
          </a:xfrm>
          <a:prstGeom prst="ellipse">
            <a:avLst/>
          </a:prstGeom>
          <a:solidFill>
            <a:srgbClr val="F4D9DC"/>
          </a:solidFill>
          <a:ln/>
        </p:spPr>
        <p:txBody>
          <a:bodyPr/>
          <a:p/>
        </p:txBody>
      </p:sp>
      <p:sp>
        <p:nvSpPr>
          <p:cNvPr id="35" name="Shape 33"/>
          <p:cNvSpPr/>
          <p:nvPr/>
        </p:nvSpPr>
        <p:spPr>
          <a:xfrm>
            <a:off x="11004076" y="687222"/>
            <a:ext cx="34616" cy="34616"/>
          </a:xfrm>
          <a:prstGeom prst="ellipse">
            <a:avLst/>
          </a:prstGeom>
          <a:solidFill>
            <a:srgbClr val="F4D9DC"/>
          </a:solidFill>
          <a:ln/>
        </p:spPr>
        <p:txBody>
          <a:bodyPr/>
          <a:p/>
        </p:txBody>
      </p:sp>
      <p:sp>
        <p:nvSpPr>
          <p:cNvPr id="36" name="Shape 34"/>
          <p:cNvSpPr/>
          <p:nvPr/>
        </p:nvSpPr>
        <p:spPr>
          <a:xfrm>
            <a:off x="11502052" y="685321"/>
            <a:ext cx="34270" cy="34270"/>
          </a:xfrm>
          <a:prstGeom prst="ellipse">
            <a:avLst/>
          </a:prstGeom>
          <a:solidFill>
            <a:srgbClr val="F4D9DC"/>
          </a:solidFill>
          <a:ln/>
        </p:spPr>
        <p:txBody>
          <a:bodyPr/>
          <a:p/>
        </p:txBody>
      </p:sp>
      <p:sp>
        <p:nvSpPr>
          <p:cNvPr id="37" name="Shape 35"/>
          <p:cNvSpPr/>
          <p:nvPr/>
        </p:nvSpPr>
        <p:spPr>
          <a:xfrm>
            <a:off x="11606321" y="686422"/>
            <a:ext cx="35627" cy="35627"/>
          </a:xfrm>
          <a:prstGeom prst="ellipse">
            <a:avLst/>
          </a:prstGeom>
          <a:solidFill>
            <a:srgbClr val="F4D9DC"/>
          </a:solidFill>
          <a:ln/>
        </p:spPr>
        <p:txBody>
          <a:bodyPr/>
          <a:p/>
        </p:txBody>
      </p:sp>
      <p:sp>
        <p:nvSpPr>
          <p:cNvPr id="38" name="Shape 36"/>
          <p:cNvSpPr/>
          <p:nvPr/>
        </p:nvSpPr>
        <p:spPr>
          <a:xfrm>
            <a:off x="11108908" y="688957"/>
            <a:ext cx="35294" cy="35294"/>
          </a:xfrm>
          <a:prstGeom prst="ellipse">
            <a:avLst/>
          </a:prstGeom>
          <a:solidFill>
            <a:srgbClr val="F4D9DC"/>
          </a:solidFill>
          <a:ln/>
        </p:spPr>
        <p:txBody>
          <a:bodyPr/>
          <a:p/>
        </p:txBody>
      </p:sp>
      <p:sp>
        <p:nvSpPr>
          <p:cNvPr id="39" name="Shape 37"/>
          <p:cNvSpPr/>
          <p:nvPr/>
        </p:nvSpPr>
        <p:spPr>
          <a:xfrm>
            <a:off x="11179733" y="690371"/>
            <a:ext cx="36613" cy="36613"/>
          </a:xfrm>
          <a:prstGeom prst="ellipse">
            <a:avLst/>
          </a:prstGeom>
          <a:solidFill>
            <a:srgbClr val="F4D9DC"/>
          </a:solidFill>
          <a:ln/>
        </p:spPr>
        <p:txBody>
          <a:bodyPr/>
          <a:p/>
        </p:txBody>
      </p:sp>
      <p:sp>
        <p:nvSpPr>
          <p:cNvPr id="40" name="Shape 38"/>
          <p:cNvSpPr/>
          <p:nvPr/>
        </p:nvSpPr>
        <p:spPr>
          <a:xfrm>
            <a:off x="11054764" y="716576"/>
            <a:ext cx="51936" cy="51936"/>
          </a:xfrm>
          <a:prstGeom prst="ellipse">
            <a:avLst/>
          </a:prstGeom>
          <a:solidFill>
            <a:srgbClr val="F4D9DC"/>
          </a:solidFill>
          <a:ln/>
        </p:spPr>
        <p:txBody>
          <a:bodyPr/>
          <a:p/>
        </p:txBody>
      </p:sp>
      <p:sp>
        <p:nvSpPr>
          <p:cNvPr id="41" name="Shape 39"/>
          <p:cNvSpPr/>
          <p:nvPr/>
        </p:nvSpPr>
        <p:spPr>
          <a:xfrm>
            <a:off x="11539023" y="716851"/>
            <a:ext cx="51488" cy="51488"/>
          </a:xfrm>
          <a:prstGeom prst="ellipse">
            <a:avLst/>
          </a:prstGeom>
          <a:solidFill>
            <a:srgbClr val="F4D9DC"/>
          </a:solidFill>
          <a:ln/>
        </p:spPr>
        <p:txBody>
          <a:bodyPr/>
          <a:p/>
        </p:txBody>
      </p:sp>
      <p:sp>
        <p:nvSpPr>
          <p:cNvPr id="42" name="Shape 40"/>
          <p:cNvSpPr/>
          <p:nvPr/>
        </p:nvSpPr>
        <p:spPr>
          <a:xfrm>
            <a:off x="11127490" y="729288"/>
            <a:ext cx="58222" cy="58222"/>
          </a:xfrm>
          <a:prstGeom prst="ellipse">
            <a:avLst/>
          </a:prstGeom>
          <a:solidFill>
            <a:srgbClr val="F4D9DC"/>
          </a:solidFill>
          <a:ln/>
        </p:spPr>
        <p:txBody>
          <a:bodyPr/>
          <a:p/>
        </p:txBody>
      </p:sp>
      <p:sp>
        <p:nvSpPr>
          <p:cNvPr id="43" name="Shape 41"/>
          <p:cNvSpPr/>
          <p:nvPr/>
        </p:nvSpPr>
        <p:spPr>
          <a:xfrm>
            <a:off x="11460671" y="729781"/>
            <a:ext cx="57633" cy="57633"/>
          </a:xfrm>
          <a:prstGeom prst="ellipse">
            <a:avLst/>
          </a:prstGeom>
          <a:solidFill>
            <a:srgbClr val="F4D9DC"/>
          </a:solidFill>
          <a:ln/>
        </p:spPr>
        <p:txBody>
          <a:bodyPr/>
          <a:p/>
        </p:txBody>
      </p:sp>
      <p:sp>
        <p:nvSpPr>
          <p:cNvPr id="44" name="Shape 42"/>
          <p:cNvSpPr/>
          <p:nvPr/>
        </p:nvSpPr>
        <p:spPr>
          <a:xfrm>
            <a:off x="11407973" y="756415"/>
            <a:ext cx="35960" cy="35960"/>
          </a:xfrm>
          <a:prstGeom prst="ellipse">
            <a:avLst/>
          </a:prstGeom>
          <a:solidFill>
            <a:srgbClr val="F4D9DC"/>
          </a:solidFill>
          <a:ln/>
        </p:spPr>
        <p:txBody>
          <a:bodyPr/>
          <a:p/>
        </p:txBody>
      </p:sp>
      <p:sp>
        <p:nvSpPr>
          <p:cNvPr id="45" name="Shape 43"/>
          <p:cNvSpPr/>
          <p:nvPr/>
        </p:nvSpPr>
        <p:spPr>
          <a:xfrm>
            <a:off x="11207308" y="763884"/>
            <a:ext cx="34616" cy="34616"/>
          </a:xfrm>
          <a:prstGeom prst="ellipse">
            <a:avLst/>
          </a:prstGeom>
          <a:solidFill>
            <a:srgbClr val="F4D9DC"/>
          </a:solidFill>
          <a:ln/>
        </p:spPr>
        <p:txBody>
          <a:bodyPr/>
          <a:p/>
        </p:txBody>
      </p:sp>
      <p:sp>
        <p:nvSpPr>
          <p:cNvPr id="46" name="Shape 44"/>
          <p:cNvSpPr/>
          <p:nvPr/>
        </p:nvSpPr>
        <p:spPr>
          <a:xfrm>
            <a:off x="11018670" y="780462"/>
            <a:ext cx="34616" cy="34616"/>
          </a:xfrm>
          <a:prstGeom prst="ellipse">
            <a:avLst/>
          </a:prstGeom>
          <a:solidFill>
            <a:srgbClr val="F4D9DC"/>
          </a:solidFill>
          <a:ln/>
        </p:spPr>
        <p:txBody>
          <a:bodyPr/>
          <a:p/>
        </p:txBody>
      </p:sp>
      <p:sp>
        <p:nvSpPr>
          <p:cNvPr id="47" name="Shape 45"/>
          <p:cNvSpPr/>
          <p:nvPr/>
        </p:nvSpPr>
        <p:spPr>
          <a:xfrm>
            <a:off x="11591670" y="780123"/>
            <a:ext cx="35294" cy="35294"/>
          </a:xfrm>
          <a:prstGeom prst="ellipse">
            <a:avLst/>
          </a:prstGeom>
          <a:solidFill>
            <a:srgbClr val="F4D9DC"/>
          </a:solidFill>
          <a:ln/>
        </p:spPr>
        <p:txBody>
          <a:bodyPr/>
          <a:p/>
        </p:txBody>
      </p:sp>
      <p:sp>
        <p:nvSpPr>
          <p:cNvPr id="48" name="Shape 46"/>
          <p:cNvSpPr/>
          <p:nvPr/>
        </p:nvSpPr>
        <p:spPr>
          <a:xfrm>
            <a:off x="11079010" y="790179"/>
            <a:ext cx="51270" cy="51270"/>
          </a:xfrm>
          <a:prstGeom prst="ellipse">
            <a:avLst/>
          </a:prstGeom>
          <a:solidFill>
            <a:srgbClr val="F4D9DC"/>
          </a:solidFill>
          <a:ln/>
        </p:spPr>
        <p:txBody>
          <a:bodyPr/>
          <a:p/>
        </p:txBody>
      </p:sp>
      <p:sp>
        <p:nvSpPr>
          <p:cNvPr id="49" name="Shape 47"/>
          <p:cNvSpPr/>
          <p:nvPr/>
        </p:nvSpPr>
        <p:spPr>
          <a:xfrm>
            <a:off x="11515218" y="789692"/>
            <a:ext cx="52602" cy="52602"/>
          </a:xfrm>
          <a:prstGeom prst="ellipse">
            <a:avLst/>
          </a:prstGeom>
          <a:solidFill>
            <a:srgbClr val="F4D9DC"/>
          </a:solidFill>
          <a:ln/>
        </p:spPr>
        <p:txBody>
          <a:bodyPr/>
          <a:p/>
        </p:txBody>
      </p:sp>
      <p:sp>
        <p:nvSpPr>
          <p:cNvPr id="50" name="Shape 48"/>
          <p:cNvSpPr/>
          <p:nvPr/>
        </p:nvSpPr>
        <p:spPr>
          <a:xfrm>
            <a:off x="11147371" y="803460"/>
            <a:ext cx="35627" cy="35627"/>
          </a:xfrm>
          <a:prstGeom prst="ellipse">
            <a:avLst/>
          </a:prstGeom>
          <a:solidFill>
            <a:srgbClr val="F4D9DC"/>
          </a:solidFill>
          <a:ln/>
        </p:spPr>
        <p:txBody>
          <a:bodyPr/>
          <a:p/>
        </p:txBody>
      </p:sp>
      <p:sp>
        <p:nvSpPr>
          <p:cNvPr id="51" name="Shape 49"/>
          <p:cNvSpPr/>
          <p:nvPr/>
        </p:nvSpPr>
        <p:spPr>
          <a:xfrm>
            <a:off x="11347786" y="804293"/>
            <a:ext cx="35294" cy="35294"/>
          </a:xfrm>
          <a:prstGeom prst="ellipse">
            <a:avLst/>
          </a:prstGeom>
          <a:solidFill>
            <a:srgbClr val="F4D9DC"/>
          </a:solidFill>
          <a:ln/>
        </p:spPr>
        <p:txBody>
          <a:bodyPr/>
          <a:p/>
        </p:txBody>
      </p:sp>
      <p:sp>
        <p:nvSpPr>
          <p:cNvPr id="52" name="Shape 50"/>
          <p:cNvSpPr/>
          <p:nvPr/>
        </p:nvSpPr>
        <p:spPr>
          <a:xfrm>
            <a:off x="11465119" y="800919"/>
            <a:ext cx="34961" cy="34961"/>
          </a:xfrm>
          <a:prstGeom prst="ellipse">
            <a:avLst/>
          </a:prstGeom>
          <a:solidFill>
            <a:srgbClr val="F4D9DC"/>
          </a:solidFill>
          <a:ln/>
        </p:spPr>
        <p:txBody>
          <a:bodyPr/>
          <a:p/>
        </p:txBody>
      </p:sp>
      <p:sp>
        <p:nvSpPr>
          <p:cNvPr id="53" name="Shape 51"/>
          <p:cNvSpPr/>
          <p:nvPr/>
        </p:nvSpPr>
        <p:spPr>
          <a:xfrm>
            <a:off x="11270669" y="806590"/>
            <a:ext cx="35627" cy="35627"/>
          </a:xfrm>
          <a:prstGeom prst="ellipse">
            <a:avLst/>
          </a:prstGeom>
          <a:solidFill>
            <a:srgbClr val="F4D9DC"/>
          </a:solidFill>
          <a:ln/>
        </p:spPr>
        <p:txBody>
          <a:bodyPr/>
          <a:p/>
        </p:txBody>
      </p:sp>
      <p:sp>
        <p:nvSpPr>
          <p:cNvPr id="54" name="Shape 52"/>
          <p:cNvSpPr/>
          <p:nvPr/>
        </p:nvSpPr>
        <p:spPr>
          <a:xfrm>
            <a:off x="11191498" y="817766"/>
            <a:ext cx="57633" cy="57633"/>
          </a:xfrm>
          <a:prstGeom prst="ellipse">
            <a:avLst/>
          </a:prstGeom>
          <a:solidFill>
            <a:srgbClr val="F4D9DC"/>
          </a:solidFill>
          <a:ln/>
        </p:spPr>
        <p:txBody>
          <a:bodyPr/>
          <a:p/>
        </p:txBody>
      </p:sp>
      <p:sp>
        <p:nvSpPr>
          <p:cNvPr id="55" name="Shape 53"/>
          <p:cNvSpPr/>
          <p:nvPr/>
        </p:nvSpPr>
        <p:spPr>
          <a:xfrm>
            <a:off x="11396573" y="817888"/>
            <a:ext cx="57633" cy="57633"/>
          </a:xfrm>
          <a:prstGeom prst="ellipse">
            <a:avLst/>
          </a:prstGeom>
          <a:solidFill>
            <a:srgbClr val="F4D9DC"/>
          </a:solidFill>
          <a:ln/>
        </p:spPr>
        <p:txBody>
          <a:bodyPr/>
          <a:p/>
        </p:txBody>
      </p:sp>
      <p:sp>
        <p:nvSpPr>
          <p:cNvPr id="56" name="Shape 54"/>
          <p:cNvSpPr/>
          <p:nvPr/>
        </p:nvSpPr>
        <p:spPr>
          <a:xfrm>
            <a:off x="11123445" y="851985"/>
            <a:ext cx="52167" cy="52167"/>
          </a:xfrm>
          <a:prstGeom prst="ellipse">
            <a:avLst/>
          </a:prstGeom>
          <a:solidFill>
            <a:srgbClr val="F4D9DC"/>
          </a:solidFill>
          <a:ln/>
        </p:spPr>
        <p:txBody>
          <a:bodyPr/>
          <a:p/>
        </p:txBody>
      </p:sp>
      <p:sp>
        <p:nvSpPr>
          <p:cNvPr id="57" name="Shape 55"/>
          <p:cNvSpPr/>
          <p:nvPr/>
        </p:nvSpPr>
        <p:spPr>
          <a:xfrm>
            <a:off x="11294647" y="851390"/>
            <a:ext cx="57223" cy="57223"/>
          </a:xfrm>
          <a:prstGeom prst="ellipse">
            <a:avLst/>
          </a:prstGeom>
          <a:solidFill>
            <a:srgbClr val="F4D9DC"/>
          </a:solidFill>
          <a:ln/>
        </p:spPr>
        <p:txBody>
          <a:bodyPr/>
          <a:p/>
        </p:txBody>
      </p:sp>
      <p:sp>
        <p:nvSpPr>
          <p:cNvPr id="58" name="Shape 56"/>
          <p:cNvSpPr/>
          <p:nvPr/>
        </p:nvSpPr>
        <p:spPr>
          <a:xfrm>
            <a:off x="11470202" y="852382"/>
            <a:ext cx="52384" cy="52384"/>
          </a:xfrm>
          <a:prstGeom prst="ellipse">
            <a:avLst/>
          </a:prstGeom>
          <a:solidFill>
            <a:srgbClr val="F4D9DC"/>
          </a:solidFill>
          <a:ln/>
        </p:spPr>
        <p:txBody>
          <a:bodyPr/>
          <a:p/>
        </p:txBody>
      </p:sp>
      <p:sp>
        <p:nvSpPr>
          <p:cNvPr id="59" name="Shape 57"/>
          <p:cNvSpPr/>
          <p:nvPr/>
        </p:nvSpPr>
        <p:spPr>
          <a:xfrm>
            <a:off x="11060774" y="864607"/>
            <a:ext cx="35627" cy="35627"/>
          </a:xfrm>
          <a:prstGeom prst="ellipse">
            <a:avLst/>
          </a:prstGeom>
          <a:solidFill>
            <a:srgbClr val="F4D9DC"/>
          </a:solidFill>
          <a:ln/>
        </p:spPr>
        <p:txBody>
          <a:bodyPr/>
          <a:p/>
        </p:txBody>
      </p:sp>
      <p:sp>
        <p:nvSpPr>
          <p:cNvPr id="60" name="Shape 58"/>
          <p:cNvSpPr/>
          <p:nvPr/>
        </p:nvSpPr>
        <p:spPr>
          <a:xfrm>
            <a:off x="11548733" y="864185"/>
            <a:ext cx="35627" cy="35627"/>
          </a:xfrm>
          <a:prstGeom prst="ellipse">
            <a:avLst/>
          </a:prstGeom>
          <a:solidFill>
            <a:srgbClr val="F4D9DC"/>
          </a:solidFill>
          <a:ln/>
        </p:spPr>
        <p:txBody>
          <a:bodyPr/>
          <a:p/>
        </p:txBody>
      </p:sp>
      <p:sp>
        <p:nvSpPr>
          <p:cNvPr id="61" name="Shape 59"/>
          <p:cNvSpPr/>
          <p:nvPr/>
        </p:nvSpPr>
        <p:spPr>
          <a:xfrm>
            <a:off x="11246231" y="873908"/>
            <a:ext cx="35627" cy="35627"/>
          </a:xfrm>
          <a:prstGeom prst="ellipse">
            <a:avLst/>
          </a:prstGeom>
          <a:solidFill>
            <a:srgbClr val="F4D9DC"/>
          </a:solidFill>
          <a:ln/>
        </p:spPr>
        <p:txBody>
          <a:bodyPr/>
          <a:p/>
        </p:txBody>
      </p:sp>
      <p:sp>
        <p:nvSpPr>
          <p:cNvPr id="62" name="Shape 60"/>
          <p:cNvSpPr/>
          <p:nvPr/>
        </p:nvSpPr>
        <p:spPr>
          <a:xfrm>
            <a:off x="11367418" y="872896"/>
            <a:ext cx="35627" cy="35627"/>
          </a:xfrm>
          <a:prstGeom prst="ellipse">
            <a:avLst/>
          </a:prstGeom>
          <a:solidFill>
            <a:srgbClr val="F4D9DC"/>
          </a:solidFill>
          <a:ln/>
        </p:spPr>
        <p:txBody>
          <a:bodyPr/>
          <a:p/>
        </p:txBody>
      </p:sp>
      <p:sp>
        <p:nvSpPr>
          <p:cNvPr id="63" name="Shape 61"/>
          <p:cNvSpPr/>
          <p:nvPr/>
        </p:nvSpPr>
        <p:spPr>
          <a:xfrm>
            <a:off x="11185366" y="897322"/>
            <a:ext cx="51936" cy="51936"/>
          </a:xfrm>
          <a:prstGeom prst="ellipse">
            <a:avLst/>
          </a:prstGeom>
          <a:solidFill>
            <a:srgbClr val="F4D9DC"/>
          </a:solidFill>
          <a:ln/>
        </p:spPr>
        <p:txBody>
          <a:bodyPr/>
          <a:p/>
        </p:txBody>
      </p:sp>
      <p:sp>
        <p:nvSpPr>
          <p:cNvPr id="64" name="Shape 62"/>
          <p:cNvSpPr/>
          <p:nvPr/>
        </p:nvSpPr>
        <p:spPr>
          <a:xfrm>
            <a:off x="11407845" y="897655"/>
            <a:ext cx="52602" cy="52602"/>
          </a:xfrm>
          <a:prstGeom prst="ellipse">
            <a:avLst/>
          </a:prstGeom>
          <a:solidFill>
            <a:srgbClr val="F4D9DC"/>
          </a:solidFill>
          <a:ln/>
        </p:spPr>
        <p:txBody>
          <a:bodyPr/>
          <a:p/>
        </p:txBody>
      </p:sp>
      <p:sp>
        <p:nvSpPr>
          <p:cNvPr id="65" name="Shape 63"/>
          <p:cNvSpPr/>
          <p:nvPr/>
        </p:nvSpPr>
        <p:spPr>
          <a:xfrm>
            <a:off x="11258822" y="921466"/>
            <a:ext cx="51270" cy="51270"/>
          </a:xfrm>
          <a:prstGeom prst="ellipse">
            <a:avLst/>
          </a:prstGeom>
          <a:solidFill>
            <a:srgbClr val="F4D9DC"/>
          </a:solidFill>
          <a:ln/>
        </p:spPr>
        <p:txBody>
          <a:bodyPr/>
          <a:p/>
        </p:txBody>
      </p:sp>
      <p:sp>
        <p:nvSpPr>
          <p:cNvPr id="66" name="Shape 64"/>
          <p:cNvSpPr/>
          <p:nvPr/>
        </p:nvSpPr>
        <p:spPr>
          <a:xfrm>
            <a:off x="11335350" y="921504"/>
            <a:ext cx="51270" cy="51270"/>
          </a:xfrm>
          <a:prstGeom prst="ellipse">
            <a:avLst/>
          </a:prstGeom>
          <a:solidFill>
            <a:srgbClr val="F4D9DC"/>
          </a:solidFill>
          <a:ln/>
        </p:spPr>
        <p:txBody>
          <a:bodyPr/>
          <a:p/>
        </p:txBody>
      </p:sp>
      <p:sp>
        <p:nvSpPr>
          <p:cNvPr id="67" name="Shape 65"/>
          <p:cNvSpPr/>
          <p:nvPr/>
        </p:nvSpPr>
        <p:spPr>
          <a:xfrm>
            <a:off x="11127388" y="931368"/>
            <a:ext cx="35294" cy="35294"/>
          </a:xfrm>
          <a:prstGeom prst="ellipse">
            <a:avLst/>
          </a:prstGeom>
          <a:solidFill>
            <a:srgbClr val="F4D9DC"/>
          </a:solidFill>
          <a:ln/>
        </p:spPr>
        <p:txBody>
          <a:bodyPr/>
          <a:p/>
        </p:txBody>
      </p:sp>
      <p:sp>
        <p:nvSpPr>
          <p:cNvPr id="68" name="Shape 66"/>
          <p:cNvSpPr/>
          <p:nvPr/>
        </p:nvSpPr>
        <p:spPr>
          <a:xfrm>
            <a:off x="11481979" y="931035"/>
            <a:ext cx="35960" cy="35960"/>
          </a:xfrm>
          <a:prstGeom prst="ellipse">
            <a:avLst/>
          </a:prstGeom>
          <a:solidFill>
            <a:srgbClr val="F4D9DC"/>
          </a:solidFill>
          <a:ln/>
        </p:spPr>
        <p:txBody>
          <a:bodyPr/>
          <a:p/>
        </p:txBody>
      </p:sp>
      <p:sp>
        <p:nvSpPr>
          <p:cNvPr id="69" name="Shape 67"/>
          <p:cNvSpPr/>
          <p:nvPr/>
        </p:nvSpPr>
        <p:spPr>
          <a:xfrm>
            <a:off x="11211987" y="974695"/>
            <a:ext cx="34961" cy="34961"/>
          </a:xfrm>
          <a:prstGeom prst="ellipse">
            <a:avLst/>
          </a:prstGeom>
          <a:solidFill>
            <a:srgbClr val="F4D9DC"/>
          </a:solidFill>
          <a:ln/>
        </p:spPr>
        <p:txBody>
          <a:bodyPr/>
          <a:p/>
        </p:txBody>
      </p:sp>
      <p:sp>
        <p:nvSpPr>
          <p:cNvPr id="70" name="Shape 68"/>
          <p:cNvSpPr/>
          <p:nvPr/>
        </p:nvSpPr>
        <p:spPr>
          <a:xfrm>
            <a:off x="11398461" y="974695"/>
            <a:ext cx="34961" cy="34961"/>
          </a:xfrm>
          <a:prstGeom prst="ellipse">
            <a:avLst/>
          </a:prstGeom>
          <a:solidFill>
            <a:srgbClr val="F4D9DC"/>
          </a:solidFill>
          <a:ln/>
        </p:spPr>
        <p:txBody>
          <a:bodyPr/>
          <a:p/>
        </p:txBody>
      </p:sp>
      <p:sp>
        <p:nvSpPr>
          <p:cNvPr id="71" name="Shape 69"/>
          <p:cNvSpPr/>
          <p:nvPr/>
        </p:nvSpPr>
        <p:spPr>
          <a:xfrm>
            <a:off x="11304837" y="988501"/>
            <a:ext cx="35627" cy="35627"/>
          </a:xfrm>
          <a:prstGeom prst="ellipse">
            <a:avLst/>
          </a:prstGeom>
          <a:solidFill>
            <a:srgbClr val="F4D9DC"/>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Ruim na afloop je Codespace op</a:t>
            </a:r>
            <a:endParaRPr lang="en-US" sz="3400" dirty="0"/>
          </a:p>
        </p:txBody>
      </p:sp>
      <p:sp>
        <p:nvSpPr>
          <p:cNvPr id="73" name="Shape 71"/>
          <p:cNvSpPr/>
          <p:nvPr/>
        </p:nvSpPr>
        <p:spPr>
          <a:xfrm>
            <a:off x="548640" y="1371600"/>
            <a:ext cx="3515258" cy="3592830"/>
          </a:xfrm>
          <a:prstGeom prst="roundRect">
            <a:avLst>
              <a:gd name="adj" fmla="val 1895"/>
            </a:avLst>
          </a:prstGeom>
          <a:solidFill>
            <a:srgbClr val="F4D74B"/>
          </a:solidFill>
          <a:ln/>
        </p:spPr>
        <p:txBody>
          <a:bodyPr/>
          <a:p/>
        </p:txBody>
      </p:sp>
      <p:sp>
        <p:nvSpPr>
          <p:cNvPr id="74" name="Shape 72"/>
          <p:cNvSpPr/>
          <p:nvPr/>
        </p:nvSpPr>
        <p:spPr>
          <a:xfrm>
            <a:off x="822960" y="1719072"/>
            <a:ext cx="2966618" cy="402336"/>
          </a:xfrm>
          <a:prstGeom prst="roundRect">
            <a:avLst>
              <a:gd name="adj" fmla="val 113636"/>
            </a:avLst>
          </a:prstGeom>
          <a:solidFill>
            <a:srgbClr val="3D68EC"/>
          </a:solidFill>
          <a:ln/>
        </p:spPr>
        <p:txBody>
          <a:bodyPr/>
          <a:p/>
        </p:txBody>
      </p:sp>
      <p:sp>
        <p:nvSpPr>
          <p:cNvPr id="75" name="Text 73"/>
          <p:cNvSpPr/>
          <p:nvPr/>
        </p:nvSpPr>
        <p:spPr>
          <a:xfrm>
            <a:off x="914400"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Stap 1</a:t>
            </a:r>
            <a:endParaRPr lang="en-US" sz="1200" dirty="0"/>
          </a:p>
        </p:txBody>
      </p:sp>
      <p:sp>
        <p:nvSpPr>
          <p:cNvPr id="76" name="Text 74"/>
          <p:cNvSpPr/>
          <p:nvPr/>
        </p:nvSpPr>
        <p:spPr>
          <a:xfrm>
            <a:off x="822960"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Open</a:t>
            </a:r>
            <a:endParaRPr lang="en-US" sz="2200" dirty="0"/>
          </a:p>
        </p:txBody>
      </p:sp>
      <p:sp>
        <p:nvSpPr>
          <p:cNvPr id="77" name="Text 75"/>
          <p:cNvSpPr/>
          <p:nvPr/>
        </p:nvSpPr>
        <p:spPr>
          <a:xfrm>
            <a:off x="822960"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Ga naar github.com/codespaces en log in.</a:t>
            </a:r>
            <a:endParaRPr lang="en-US" sz="1500" dirty="0"/>
          </a:p>
        </p:txBody>
      </p:sp>
      <p:sp>
        <p:nvSpPr>
          <p:cNvPr id="78" name="Text 76"/>
          <p:cNvSpPr/>
          <p:nvPr/>
        </p:nvSpPr>
        <p:spPr>
          <a:xfrm>
            <a:off x="822960"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ADRES</a:t>
            </a:r>
            <a:endParaRPr lang="en-US" sz="1100" dirty="0"/>
          </a:p>
        </p:txBody>
      </p:sp>
      <p:sp>
        <p:nvSpPr>
          <p:cNvPr id="79" name="Text 77"/>
          <p:cNvSpPr/>
          <p:nvPr/>
        </p:nvSpPr>
        <p:spPr>
          <a:xfrm>
            <a:off x="822960"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github.com/codespaces</a:t>
            </a:r>
            <a:endParaRPr lang="en-US" sz="1500" dirty="0"/>
          </a:p>
        </p:txBody>
      </p:sp>
      <p:sp>
        <p:nvSpPr>
          <p:cNvPr id="80" name="Shape 78"/>
          <p:cNvSpPr/>
          <p:nvPr/>
        </p:nvSpPr>
        <p:spPr>
          <a:xfrm>
            <a:off x="4338218" y="1371600"/>
            <a:ext cx="3515258" cy="3592830"/>
          </a:xfrm>
          <a:prstGeom prst="roundRect">
            <a:avLst>
              <a:gd name="adj" fmla="val 1895"/>
            </a:avLst>
          </a:prstGeom>
          <a:solidFill>
            <a:srgbClr val="F4D9DC"/>
          </a:solidFill>
          <a:ln/>
        </p:spPr>
        <p:txBody>
          <a:bodyPr/>
          <a:p/>
        </p:txBody>
      </p:sp>
      <p:sp>
        <p:nvSpPr>
          <p:cNvPr id="81" name="Shape 79"/>
          <p:cNvSpPr/>
          <p:nvPr/>
        </p:nvSpPr>
        <p:spPr>
          <a:xfrm>
            <a:off x="4612538" y="1719072"/>
            <a:ext cx="2966618" cy="402336"/>
          </a:xfrm>
          <a:prstGeom prst="roundRect">
            <a:avLst>
              <a:gd name="adj" fmla="val 113636"/>
            </a:avLst>
          </a:prstGeom>
          <a:solidFill>
            <a:srgbClr val="3D68EC"/>
          </a:solidFill>
          <a:ln/>
        </p:spPr>
        <p:txBody>
          <a:bodyPr/>
          <a:p/>
        </p:txBody>
      </p:sp>
      <p:sp>
        <p:nvSpPr>
          <p:cNvPr id="82" name="Text 80"/>
          <p:cNvSpPr/>
          <p:nvPr/>
        </p:nvSpPr>
        <p:spPr>
          <a:xfrm>
            <a:off x="4703978"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Stap 2</a:t>
            </a:r>
            <a:endParaRPr lang="en-US" sz="1200" dirty="0"/>
          </a:p>
        </p:txBody>
      </p:sp>
      <p:sp>
        <p:nvSpPr>
          <p:cNvPr id="83" name="Text 81"/>
          <p:cNvSpPr/>
          <p:nvPr/>
        </p:nvSpPr>
        <p:spPr>
          <a:xfrm>
            <a:off x="4612538"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Kies</a:t>
            </a:r>
            <a:endParaRPr lang="en-US" sz="2200" dirty="0"/>
          </a:p>
        </p:txBody>
      </p:sp>
      <p:sp>
        <p:nvSpPr>
          <p:cNvPr id="84" name="Text 82"/>
          <p:cNvSpPr/>
          <p:nvPr/>
        </p:nvSpPr>
        <p:spPr>
          <a:xfrm>
            <a:off x="4612538"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Klik op de drie puntjes naast je Codespace.</a:t>
            </a:r>
            <a:endParaRPr lang="en-US" sz="1500" dirty="0"/>
          </a:p>
        </p:txBody>
      </p:sp>
      <p:sp>
        <p:nvSpPr>
          <p:cNvPr id="85" name="Text 83"/>
          <p:cNvSpPr/>
          <p:nvPr/>
        </p:nvSpPr>
        <p:spPr>
          <a:xfrm>
            <a:off x="4612538"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MENU</a:t>
            </a:r>
            <a:endParaRPr lang="en-US" sz="1100" dirty="0"/>
          </a:p>
        </p:txBody>
      </p:sp>
      <p:sp>
        <p:nvSpPr>
          <p:cNvPr id="86" name="Text 84"/>
          <p:cNvSpPr/>
          <p:nvPr/>
        </p:nvSpPr>
        <p:spPr>
          <a:xfrm>
            <a:off x="4612538"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Drie puntjes rechts</a:t>
            </a:r>
            <a:endParaRPr lang="en-US" sz="1500" dirty="0"/>
          </a:p>
        </p:txBody>
      </p:sp>
      <p:sp>
        <p:nvSpPr>
          <p:cNvPr id="87" name="Shape 85"/>
          <p:cNvSpPr/>
          <p:nvPr/>
        </p:nvSpPr>
        <p:spPr>
          <a:xfrm>
            <a:off x="8127797" y="1371600"/>
            <a:ext cx="3515258" cy="3592830"/>
          </a:xfrm>
          <a:prstGeom prst="roundRect">
            <a:avLst>
              <a:gd name="adj" fmla="val 1895"/>
            </a:avLst>
          </a:prstGeom>
          <a:solidFill>
            <a:srgbClr val="F4D74B"/>
          </a:solidFill>
          <a:ln/>
        </p:spPr>
        <p:txBody>
          <a:bodyPr/>
          <a:p/>
        </p:txBody>
      </p:sp>
      <p:sp>
        <p:nvSpPr>
          <p:cNvPr id="88" name="Shape 86"/>
          <p:cNvSpPr/>
          <p:nvPr/>
        </p:nvSpPr>
        <p:spPr>
          <a:xfrm>
            <a:off x="8402117" y="1719072"/>
            <a:ext cx="2966618" cy="402336"/>
          </a:xfrm>
          <a:prstGeom prst="roundRect">
            <a:avLst>
              <a:gd name="adj" fmla="val 113636"/>
            </a:avLst>
          </a:prstGeom>
          <a:solidFill>
            <a:srgbClr val="3D68EC"/>
          </a:solidFill>
          <a:ln/>
        </p:spPr>
        <p:txBody>
          <a:bodyPr/>
          <a:p/>
        </p:txBody>
      </p:sp>
      <p:sp>
        <p:nvSpPr>
          <p:cNvPr id="89" name="Text 87"/>
          <p:cNvSpPr/>
          <p:nvPr/>
        </p:nvSpPr>
        <p:spPr>
          <a:xfrm>
            <a:off x="8493557"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Stap 3</a:t>
            </a:r>
            <a:endParaRPr lang="en-US" sz="1200" dirty="0"/>
          </a:p>
        </p:txBody>
      </p:sp>
      <p:sp>
        <p:nvSpPr>
          <p:cNvPr id="90" name="Text 88"/>
          <p:cNvSpPr/>
          <p:nvPr/>
        </p:nvSpPr>
        <p:spPr>
          <a:xfrm>
            <a:off x="8402117"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Verwijder</a:t>
            </a:r>
            <a:endParaRPr lang="en-US" sz="2200" dirty="0"/>
          </a:p>
        </p:txBody>
      </p:sp>
      <p:sp>
        <p:nvSpPr>
          <p:cNvPr id="91" name="Text 89"/>
          <p:cNvSpPr/>
          <p:nvPr/>
        </p:nvSpPr>
        <p:spPr>
          <a:xfrm>
            <a:off x="8402117"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Bevestig het verwijderen. Stoppen alleen is niet genoeg.</a:t>
            </a:r>
            <a:endParaRPr lang="en-US" sz="1500" dirty="0"/>
          </a:p>
        </p:txBody>
      </p:sp>
      <p:sp>
        <p:nvSpPr>
          <p:cNvPr id="92" name="Text 90"/>
          <p:cNvSpPr/>
          <p:nvPr/>
        </p:nvSpPr>
        <p:spPr>
          <a:xfrm>
            <a:off x="8402117"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KNOP</a:t>
            </a:r>
            <a:endParaRPr lang="en-US" sz="1100" dirty="0"/>
          </a:p>
        </p:txBody>
      </p:sp>
      <p:sp>
        <p:nvSpPr>
          <p:cNvPr id="93" name="Text 91"/>
          <p:cNvSpPr/>
          <p:nvPr/>
        </p:nvSpPr>
        <p:spPr>
          <a:xfrm>
            <a:off x="8402117"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Delete</a:t>
            </a:r>
            <a:endParaRPr lang="en-US" sz="1500" dirty="0"/>
          </a:p>
        </p:txBody>
      </p:sp>
      <p:sp>
        <p:nvSpPr>
          <p:cNvPr id="94" name="Text 92"/>
          <p:cNvSpPr/>
          <p:nvPr/>
        </p:nvSpPr>
        <p:spPr>
          <a:xfrm>
            <a:off x="548640" y="5147310"/>
            <a:ext cx="11094415" cy="4572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Elke Codespace telt mee voor het gratis quotum van je eigen GitHub-account. Ruim hem op, zodat je eigen limiet niet vol raakt.</a:t>
            </a:r>
            <a:endParaRPr lang="en-US" sz="15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1600200"/>
            <a:ext cx="11094415" cy="320040"/>
          </a:xfrm>
          <a:prstGeom prst="rect">
            <a:avLst/>
          </a:prstGeom>
          <a:noFill/>
          <a:ln/>
        </p:spPr>
        <p:txBody>
          <a:bodyPr wrap="square" lIns="0" tIns="0" rIns="0" bIns="0" rtlCol="0" anchor="t"/>
          <a:lstStyle/>
          <a:p>
            <a:pPr algn="ctr" indent="0" marL="0">
              <a:lnSpc>
                <a:spcPct val="105000"/>
              </a:lnSpc>
              <a:buNone/>
            </a:pPr>
            <a:r>
              <a:rPr lang="en-US" sz="1300" spc="300" kern="0" dirty="0">
                <a:solidFill>
                  <a:srgbClr val="DD784B"/>
                </a:solidFill>
                <a:latin typeface="General Sans Semibold" pitchFamily="34" charset="0"/>
                <a:ea typeface="General Sans Semibold" pitchFamily="34" charset="-122"/>
                <a:cs typeface="General Sans Semibold" pitchFamily="34" charset="-120"/>
              </a:rPr>
              <a:t>TOT SLOT</a:t>
            </a:r>
            <a:endParaRPr lang="en-US" sz="1300" dirty="0"/>
          </a:p>
        </p:txBody>
      </p:sp>
      <p:sp>
        <p:nvSpPr>
          <p:cNvPr id="3" name="Text 1"/>
          <p:cNvSpPr/>
          <p:nvPr/>
        </p:nvSpPr>
        <p:spPr>
          <a:xfrm>
            <a:off x="548640" y="1965960"/>
            <a:ext cx="11094415" cy="868680"/>
          </a:xfrm>
          <a:prstGeom prst="rect">
            <a:avLst/>
          </a:prstGeom>
          <a:noFill/>
          <a:ln/>
        </p:spPr>
        <p:txBody>
          <a:bodyPr wrap="square" lIns="0" tIns="0" rIns="0" bIns="0" rtlCol="0" anchor="t"/>
          <a:lstStyle/>
          <a:p>
            <a:pPr algn="ctr" indent="0" marL="0">
              <a:lnSpc>
                <a:spcPct val="105000"/>
              </a:lnSpc>
              <a:buNone/>
            </a:pPr>
            <a:r>
              <a:rPr lang="en-US" sz="4400" dirty="0">
                <a:solidFill>
                  <a:srgbClr val="3D68EC"/>
                </a:solidFill>
                <a:latin typeface="General Sans Semibold" pitchFamily="34" charset="0"/>
                <a:ea typeface="General Sans Semibold" pitchFamily="34" charset="-122"/>
                <a:cs typeface="General Sans Semibold" pitchFamily="34" charset="-120"/>
              </a:rPr>
              <a:t>Blijf in contact</a:t>
            </a:r>
            <a:endParaRPr lang="en-US" sz="4400" dirty="0"/>
          </a:p>
        </p:txBody>
      </p:sp>
      <p:sp>
        <p:nvSpPr>
          <p:cNvPr id="4" name="Text 2"/>
          <p:cNvSpPr/>
          <p:nvPr/>
        </p:nvSpPr>
        <p:spPr>
          <a:xfrm>
            <a:off x="2286000" y="2880360"/>
            <a:ext cx="7619695" cy="457200"/>
          </a:xfrm>
          <a:prstGeom prst="rect">
            <a:avLst/>
          </a:prstGeom>
          <a:noFill/>
          <a:ln/>
        </p:spPr>
        <p:txBody>
          <a:bodyPr wrap="square" lIns="0" tIns="0" rIns="0" bIns="0" rtlCol="0" anchor="t"/>
          <a:lstStyle/>
          <a:p>
            <a:pPr algn="ctr"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Vragen, feedback of zin om mee te bouwen? We horen graag van je.</a:t>
            </a:r>
            <a:endParaRPr lang="en-US" sz="1600" dirty="0"/>
          </a:p>
        </p:txBody>
      </p:sp>
      <p:sp>
        <p:nvSpPr>
          <p:cNvPr id="5" name="Shape 3"/>
          <p:cNvSpPr/>
          <p:nvPr/>
        </p:nvSpPr>
        <p:spPr>
          <a:xfrm>
            <a:off x="1020928" y="3657600"/>
            <a:ext cx="3200400" cy="1234440"/>
          </a:xfrm>
          <a:prstGeom prst="roundRect">
            <a:avLst>
              <a:gd name="adj" fmla="val 10974"/>
            </a:avLst>
          </a:prstGeom>
          <a:solidFill>
            <a:srgbClr val="FFFFFF"/>
          </a:solidFill>
          <a:ln/>
        </p:spPr>
        <p:txBody>
          <a:bodyPr/>
          <a:p/>
        </p:txBody>
      </p:sp>
      <p:sp>
        <p:nvSpPr>
          <p:cNvPr id="6" name="Shape 4"/>
          <p:cNvSpPr/>
          <p:nvPr/>
        </p:nvSpPr>
        <p:spPr>
          <a:xfrm>
            <a:off x="1889608" y="3858768"/>
            <a:ext cx="1463040" cy="365760"/>
          </a:xfrm>
          <a:prstGeom prst="roundRect">
            <a:avLst>
              <a:gd name="adj" fmla="val 125000"/>
            </a:avLst>
          </a:prstGeom>
          <a:solidFill>
            <a:srgbClr val="3D68EC"/>
          </a:solidFill>
          <a:ln/>
        </p:spPr>
        <p:txBody>
          <a:bodyPr/>
          <a:p/>
        </p:txBody>
      </p:sp>
      <p:sp>
        <p:nvSpPr>
          <p:cNvPr id="7" name="Text 5"/>
          <p:cNvSpPr/>
          <p:nvPr/>
        </p:nvSpPr>
        <p:spPr>
          <a:xfrm>
            <a:off x="198104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GitHub</a:t>
            </a:r>
            <a:endParaRPr lang="en-US" sz="1200" dirty="0"/>
          </a:p>
        </p:txBody>
      </p:sp>
      <p:sp>
        <p:nvSpPr>
          <p:cNvPr id="8" name="Text 6">
            <a:hlinkClick r:id="rId2" tooltip=""/>
          </p:cNvPr>
          <p:cNvSpPr/>
          <p:nvPr/>
        </p:nvSpPr>
        <p:spPr>
          <a:xfrm>
            <a:off x="115808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github.com/cedanl</a:t>
            </a:r>
            <a:endParaRPr lang="en-US" sz="1400" dirty="0"/>
          </a:p>
        </p:txBody>
      </p:sp>
      <p:sp>
        <p:nvSpPr>
          <p:cNvPr id="9" name="Shape 7"/>
          <p:cNvSpPr/>
          <p:nvPr/>
        </p:nvSpPr>
        <p:spPr>
          <a:xfrm>
            <a:off x="4495648" y="3657600"/>
            <a:ext cx="3200400" cy="1234440"/>
          </a:xfrm>
          <a:prstGeom prst="roundRect">
            <a:avLst>
              <a:gd name="adj" fmla="val 10974"/>
            </a:avLst>
          </a:prstGeom>
          <a:solidFill>
            <a:srgbClr val="FFFFFF"/>
          </a:solidFill>
          <a:ln/>
        </p:spPr>
        <p:txBody>
          <a:bodyPr/>
          <a:p/>
        </p:txBody>
      </p:sp>
      <p:sp>
        <p:nvSpPr>
          <p:cNvPr id="10" name="Shape 8"/>
          <p:cNvSpPr/>
          <p:nvPr/>
        </p:nvSpPr>
        <p:spPr>
          <a:xfrm>
            <a:off x="5364328" y="3858768"/>
            <a:ext cx="1463040" cy="365760"/>
          </a:xfrm>
          <a:prstGeom prst="roundRect">
            <a:avLst>
              <a:gd name="adj" fmla="val 125000"/>
            </a:avLst>
          </a:prstGeom>
          <a:solidFill>
            <a:srgbClr val="00AF81"/>
          </a:solidFill>
          <a:ln/>
        </p:spPr>
        <p:txBody>
          <a:bodyPr/>
          <a:p/>
        </p:txBody>
      </p:sp>
      <p:sp>
        <p:nvSpPr>
          <p:cNvPr id="11" name="Text 9"/>
          <p:cNvSpPr/>
          <p:nvPr/>
        </p:nvSpPr>
        <p:spPr>
          <a:xfrm>
            <a:off x="545576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Community</a:t>
            </a:r>
            <a:endParaRPr lang="en-US" sz="1200" dirty="0"/>
          </a:p>
        </p:txBody>
      </p:sp>
      <p:sp>
        <p:nvSpPr>
          <p:cNvPr id="12" name="Text 10">
            <a:hlinkClick r:id="rId3" tooltip=""/>
          </p:cNvPr>
          <p:cNvSpPr/>
          <p:nvPr/>
        </p:nvSpPr>
        <p:spPr>
          <a:xfrm>
            <a:off x="463280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community.npuls.nl/groups/data-ai</a:t>
            </a:r>
            <a:endParaRPr lang="en-US" sz="1400" dirty="0"/>
          </a:p>
        </p:txBody>
      </p:sp>
      <p:sp>
        <p:nvSpPr>
          <p:cNvPr id="13" name="Shape 11"/>
          <p:cNvSpPr/>
          <p:nvPr/>
        </p:nvSpPr>
        <p:spPr>
          <a:xfrm>
            <a:off x="7970368" y="3657600"/>
            <a:ext cx="3200400" cy="1234440"/>
          </a:xfrm>
          <a:prstGeom prst="roundRect">
            <a:avLst>
              <a:gd name="adj" fmla="val 10974"/>
            </a:avLst>
          </a:prstGeom>
          <a:solidFill>
            <a:srgbClr val="FFFFFF"/>
          </a:solidFill>
          <a:ln/>
        </p:spPr>
        <p:txBody>
          <a:bodyPr/>
          <a:p/>
        </p:txBody>
      </p:sp>
      <p:sp>
        <p:nvSpPr>
          <p:cNvPr id="14" name="Shape 12"/>
          <p:cNvSpPr/>
          <p:nvPr/>
        </p:nvSpPr>
        <p:spPr>
          <a:xfrm>
            <a:off x="8839048" y="3858768"/>
            <a:ext cx="1463040" cy="365760"/>
          </a:xfrm>
          <a:prstGeom prst="roundRect">
            <a:avLst>
              <a:gd name="adj" fmla="val 125000"/>
            </a:avLst>
          </a:prstGeom>
          <a:solidFill>
            <a:srgbClr val="DD784B"/>
          </a:solidFill>
          <a:ln/>
        </p:spPr>
        <p:txBody>
          <a:bodyPr/>
          <a:p/>
        </p:txBody>
      </p:sp>
      <p:sp>
        <p:nvSpPr>
          <p:cNvPr id="15" name="Text 13"/>
          <p:cNvSpPr/>
          <p:nvPr/>
        </p:nvSpPr>
        <p:spPr>
          <a:xfrm>
            <a:off x="893048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Email</a:t>
            </a:r>
            <a:endParaRPr lang="en-US" sz="1200" dirty="0"/>
          </a:p>
        </p:txBody>
      </p:sp>
      <p:sp>
        <p:nvSpPr>
          <p:cNvPr id="16" name="Text 14">
            <a:hlinkClick r:id="rId4" tooltip=""/>
          </p:cNvPr>
          <p:cNvSpPr/>
          <p:nvPr/>
        </p:nvSpPr>
        <p:spPr>
          <a:xfrm>
            <a:off x="810752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4" invalidUrl="" action="" tgtFrame="" tooltip="" history="1" highlightClick="0" endSnd="0">
                  <a:extLst>
                    <a:ext uri="{A12FA001-AC4F-418D-AE19-62706E023703}">
                      <ahyp:hlinkClr xmlns:ahyp="http://schemas.microsoft.com/office/drawing/2018/hyperlinkcolor" val="tx"/>
                    </a:ext>
                  </a:extLst>
                </a:hlinkClick>
              </a:rPr>
              <a:t>ceda@surf.nl</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neral Sans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neral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Npuls · CEDA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data science in het onderwijs: jij stuurt, de agent bouwt</dc:title>
  <dc:subject>PptxGenJS Presentation</dc:subject>
  <dc:creator>CEDA</dc:creator>
  <cp:lastModifiedBy>CEDA</cp:lastModifiedBy>
  <cp:revision>1</cp:revision>
  <dcterms:created xsi:type="dcterms:W3CDTF">2026-10-08T11:06:42Z</dcterms:created>
  <dcterms:modified xsi:type="dcterms:W3CDTF">2026-10-08T11:06:42Z</dcterms:modified>
</cp:coreProperties>
</file>