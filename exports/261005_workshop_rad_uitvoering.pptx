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86" r:id="rId6"/>
    <p:sldId id="287" r:id="rId7"/>
    <p:sldId id="288" r:id="rId8"/>
    <p:sldId id="289" r:id="rId9"/>
    <p:sldId id="260" r:id="rId10"/>
    <p:sldId id="261" r:id="rId11"/>
    <p:sldId id="262" r:id="rId12"/>
    <p:sldId id="263" r:id="rId13"/>
    <p:sldId id="264" r:id="rId14"/>
    <p:sldId id="265" r:id="rId15"/>
    <p:sldId id="292" r:id="rId16"/>
    <p:sldId id="266" r:id="rId17"/>
    <p:sldId id="267" r:id="rId18"/>
    <p:sldId id="268" r:id="rId19"/>
    <p:sldId id="269" r:id="rId20"/>
    <p:sldId id="270" r:id="rId21"/>
    <p:sldId id="271" r:id="rId22"/>
    <p:sldId id="272" r:id="rId23"/>
    <p:sldId id="273" r:id="rId24"/>
    <p:sldId id="293" r:id="rId25"/>
    <p:sldId id="274" r:id="rId26"/>
    <p:sldId id="275" r:id="rId27"/>
    <p:sldId id="276" r:id="rId28"/>
    <p:sldId id="277" r:id="rId29"/>
    <p:sldId id="291" r:id="rId30"/>
    <p:sldId id="294" r:id="rId31"/>
    <p:sldId id="278" r:id="rId32"/>
    <p:sldId id="279" r:id="rId33"/>
    <p:sldId id="295" r:id="rId34"/>
    <p:sldId id="283" r:id="rId36"/>
    <p:sldId id="284" r:id="rId37"/>
    <p:sldId id="290" r:id="rId38"/>
    <p:sldId id="28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3629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evaluatie en afsluiting: iedereen draait /review-reflect, daarna een kort rondje. Bij elk spiegelmoment kijken we in de skill, niet in individuele dashboards.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Waarom synthetisch: bouwen en testen gebeurt gescheiden van de echte data. De agent mag naar het taalmodel zolang er geen echte personen in zitten. Dezelfde code draait later op de echte data bij de instelling, daar komt de agent niet. Benoem expliciet: werken met eigen data valt buiten deze workshop; dat doe je in je eigen instelling, volgens de eigen regels voor privacy en AVG. Zo werkt CEDA ook; de skills en de werkwijze staan open op github.com/cedanl.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1CHO-metadata en CROHO-codes. Het is fictief, dus de agent mag erin. Dezelfde code draait later op echte data.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Elk tweetal kiest één van de drie vragen; alle drie kunnen met dezelfde demodata. A: eerstejaarsuitval = eerstejaars die binnen een jaar stoppen, per sector. B gebruikt de hoogste vooropleiding (mbo en havo). C gebruikt het diplomajaar; daar zijn de laatste cohorten nog niet waarneembaar, net als bij uitval. Wie niet kan kiezen, neemt A. De deelnemers laten de agent de cijfers uitrekenen; zij bepalen wat ze ermee doen. Bij de spiegelmomenten laten we A zien, omdat de data daar het sterkst op aansluit; de skills werken voor alle drie. Let op: opleidingsvorm heeft maar één waarde (voltijd). Wie dat zelf ontdekt, ziet waarom verkennen loont. Noem het niet vooraf.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Noem de drie skills bij naam: /verkennen_data in ronde 1, /schets_dashboard en /bouwen_dashboard in ronde 2. De deelnemers prompten zelf in de rondes: de leider laat de skills draaien bij de spiegelmomenten en legt dan uit wat erin staat en wat de skill afdwingt. Elke skill stelt hooguit drie vragen, één voor één, en doet liever een voorstel dan een vragenronde. Skills starten alleen als je ze zelf typt (/naam): tijdens gewoon chatten met de agent springen ze niet vanzelf aan, dus in de rondes werken de deelnemers echt met hun eigen prompts.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Iedereen logt in op github.com met het eigen account; de Codespace komt in dat account te staan. Een GitHub-account is vooraf gevraagd. Wie er geen heeft, maakt er nu een aan (gratis, een e-mailadres is genoeg) of kijkt mee bij een buur. Wacht tot iedereen is ingelogd voor je naar stap 2 gaat.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tot twee minuten (het image is groter geworden: Chromium en de dashboardpakketten staan er nu in, zodat het bouwen later sneller gaat), vul die tijd met uitleg over wat een Codespace is: dezelfde omgeving voor iedereen, in de browser, niets te installeren.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Wie de key als Codespace-secret (ANTHROPIC_FOUNDRY_API_KEY) in het eigen GitHub-account heeft staan, krijgt geen vraag: de terminal meldt dan dat de key is overgenomen. Is de key kwijt of fout geplakt: opnieuw instellen met het commando dair-onboard in de terminal.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schetsen, maar naar de skill. Vraag eerst twee tweetallen om één ding te noemen dat ze in ronde 1 tegenkwamen (één zin per tweetal). Loop daarna met de volgende twee dia's door de skill. Draai /verkennen_data live en leg uit terwijl hij loopt; doe vooraf een droge run, want de skill doet nu meer (kwaliteit en verdelingen) en de eerdere tijdmeting geldt niet meer. Zet daarnaast desgewenst één gewone prompt op hetzelfde scherm.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/verkennen_data/SKILL.md. Open het bestand even op het scherm: eerst drie vragen (de data, jouw vraag, één voorstel voor kernmaat en drempels), dan de stappen. De skill schrijft begrip.json en draait verken.py, dat het profiel als HTML maakt. Vraag: welke van deze stappen heb jij in ronde 1 overgeslagen of anders gedaan?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zijn de checks die in de skill zijn verweven. Laat de deelnemers zelf aanwijzen welke ze in ronde 1 zelf hebben gedaan. Het laatste cohort heeft nog geen volgend jaar in de data, dus uitval lijkt daar 100%: de skill sluit het uit. In de demodata heeft de meerderheid van de cellen opleiding per cohort minder dan 30 studenten, terwijl elke opleiding over alle cohorten samen genoeg heeft. De drempels 30 en 5 zijn voorbeeldwaarden en niet getoetst door een privacy officer; de skill vraagt de gebruiker welke drempels gelden.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bestand zien dat de skill heeft gemaakt: een menu links, tegels met de kerncijfers, daaronder de keuzes en aannames in één tabel met de status. Vraag: welke keuzes zie je hier die jullie zelf niet hebben gemaakt? Dit is demodata; het profiel beschrijft het bestand, niet de werkelijkheid. Openen: rechtsklik, Show Preview; de pagina opent in een nieuw browsertabblad. Vraagt GitHub om door te gaan, klik dan op Continue.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Vraag twee tweetallen om één keuze te noemen die ze maakten (bijvoorbeeld de titel of de drempel). Draai /schets_dashboard en daarna /bouwen_dashboard live, leg uit terwijl ze lopen en doe vooraf een droge run voor de tijd. Laat vooral zien hoe snel het gaat en wat de skill er standaard bij doet: de checks zitten erin, jij hoeft er niet aan te denken.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Dit is de opbouw van /schets_dashboard/SKILL.md. De skill begint zonder vragenronde met een voorstel waar de gebruiker op reageert, en stelt daarna hooguit drie vragen. Let op: het is een schets zonder code en zonder conclusie; elke view is een vraag of hypothese, geen bevinding. Per view tekent de skill een schetsplaatje van het grafiektype met neutrale vormen: gelijke staven en vlakke lijnen, zodat niemand er al een uitkomst in leest.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de schets zien: bovenaan de vraag in de eigen woorden van de gebruiker, dan de keuzes met status (bevestigd of aanname), daarna de views. Nog niets gebouwd en niets berekend: de schets is een voorstel dat de gebruiker beoordeelt.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/bouwen_dashboard/SKILL.md. Let op het verschil met ronde 1: hier staan de responsible-checks niet in een aparte stap maar in de bouwinstructie zelf. De skill bouwt alle views uit de schets in één keer: sturen doe je bij de schets. Daarna bekijkt de skill de hele pagina met screenshots en rekent de uitkomst onafhankelijk na op de data. Het dashboard laadt zelf geen data: het eerste scherm is een upload. In de workshop staat het bestand daar al klaar en klik je op Doorgaan (een schijn-upload), zodat dezelfde code later op echte data draait zonder AI. Aan het eind bewaart de skill de tests, doet een waarden-check en een snelle stijlcheck, en test opnieuw. check-style en simplify-ceda draait de skill niet zelf: ze zijn optioneel en kosten veel tijd, de gebruiker typt ze zelf. Er wordt alleen iets opgeslagen in GitHub als de gebruiker "bewaar" zegt.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dashboard zien dat uit de skill komt. Wijs aan: de vraag als titel, het label dat dit demodata is, n per groep, het filter en de knop om andere data te uploaden. Het eerste scherm is een uploadscherm: het dashboard laadt zelf geen data. In de workshop staat het bestand al klaar; deelnemers klikken alleen op Doorgaan, ze hoeven niets te downloaden of te uploaden. De Npuls-huisstijl is standaard, met het officiële logo in de hero. De skill legt ook uit hoe je het opent: in de Codespace via poort 8501 (Open in Browser). Eigen data gebruik je in je eigen instelling, niet in deze workshop.</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hele evaluatie: iedereen draait alleen /review-reflect in de eigen Codespace. Laat iedereen /review-reflect typen; er opent een vragenlijst die ze invullen (ongeveer zes minuten). De antwoorden zijn anoniem en gaan naar de begeleiders. Vraag om concreet gedrag, niet om een onderwerp als "AI"; één of twee zinnen is genoeg. Het workshop-token geeft de begeleider vooraf; deel het niet op de slide. Loopt de tijd uit, kort dan het rondje op de volgende slide in, niet de review.</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hyperlink" Target="https://github.com/cedanl/dair-agentic-cod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 Id="rId4" Type="http://schemas.openxmlformats.org/officeDocument/2006/relationships/hyperlink" Target="https://github.com/cedanl" TargetMode="External"/><Relationship Id="rId5" Type="http://schemas.openxmlformats.org/officeDocument/2006/relationships/hyperlink" Target="https://community.npuls.nl/groups/data-ai" TargetMode="External"/><Relationship Id="rId6" Type="http://schemas.openxmlformats.org/officeDocument/2006/relationships/hyperlink" Target="mailto:ceda@surf.nl"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3"/>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lIns="0" tIns="0" rIns="0" bIns="0" anchor="b">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lIns="0" tIns="0" rIns="0" bIns="0" anchor="t">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lIns="0" tIns="0" rIns="0" bIns="0" anchor="t">
            <a:spAutoFit/>
          </a:bodyPr>
          <a:lstStyle/>
          <a:p>
            <a:pPr algn="l"/>
            <a:r>
              <a:rPr sz="1600">
                <a:solidFill>
                  <a:srgbClr val="000000"/>
                </a:solidFill>
                <a:latin typeface="General Sans"/>
              </a:rPr>
              <a:t>CEDA · DAIR-bijeenkomst · 120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marL="0" indent="0" algn="l">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lstStyle/>
          <a:p>
            <a:endParaRPr/>
          </a:p>
        </p:txBody>
      </p:sp>
      <p:sp>
        <p:nvSpPr>
          <p:cNvPr id="6" name="Text 4"/>
          <p:cNvSpPr/>
          <p:nvPr/>
        </p:nvSpPr>
        <p:spPr>
          <a:xfrm>
            <a:off x="1051560" y="420624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lstStyle/>
          <a:p>
            <a:endParaRPr/>
          </a:p>
        </p:txBody>
      </p:sp>
      <p:sp>
        <p:nvSpPr>
          <p:cNvPr id="8" name="Text 6"/>
          <p:cNvSpPr/>
          <p:nvPr/>
        </p:nvSpPr>
        <p:spPr>
          <a:xfrm>
            <a:off x="1051560" y="470916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lstStyle/>
          <a:p>
            <a:endParaR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532847"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532847" cy="914400"/>
          </a:xfrm>
          <a:prstGeom prst="rect">
            <a:avLst/>
          </a:prstGeom>
          <a:solidFill>
            <a:srgbClr val="F4D74B"/>
          </a:solidFill>
          <a:ln/>
        </p:spPr>
        <p:txBody>
          <a:bodyPr/>
          <a:lstStyle/>
          <a:p>
            <a:endParaRPr/>
          </a:p>
        </p:txBody>
      </p:sp>
      <p:sp>
        <p:nvSpPr>
          <p:cNvPr id="75" name="Text 73"/>
          <p:cNvSpPr/>
          <p:nvPr/>
        </p:nvSpPr>
        <p:spPr>
          <a:xfrm>
            <a:off x="548640" y="2103120"/>
            <a:ext cx="1532847"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17 min</a:t>
            </a:r>
            <a:endParaRPr lang="en-US" sz="1800" dirty="0"/>
          </a:p>
        </p:txBody>
      </p:sp>
      <p:sp>
        <p:nvSpPr>
          <p:cNvPr id="76" name="Shape 74"/>
          <p:cNvSpPr/>
          <p:nvPr/>
        </p:nvSpPr>
        <p:spPr>
          <a:xfrm>
            <a:off x="548640" y="3017520"/>
            <a:ext cx="1532847" cy="45720"/>
          </a:xfrm>
          <a:prstGeom prst="rect">
            <a:avLst/>
          </a:prstGeom>
          <a:solidFill>
            <a:srgbClr val="F4D74B"/>
          </a:solidFill>
          <a:ln/>
        </p:spPr>
        <p:txBody>
          <a:bodyPr/>
          <a:lstStyle/>
          <a:p>
            <a:endParaRPr/>
          </a:p>
        </p:txBody>
      </p:sp>
      <p:sp>
        <p:nvSpPr>
          <p:cNvPr id="77" name="Text 75"/>
          <p:cNvSpPr/>
          <p:nvPr/>
        </p:nvSpPr>
        <p:spPr>
          <a:xfrm>
            <a:off x="566928" y="3291840"/>
            <a:ext cx="1441407"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441407"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127207" y="1719072"/>
            <a:ext cx="1172177"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0:17</a:t>
            </a:r>
            <a:endParaRPr lang="en-US" sz="1400" dirty="0"/>
          </a:p>
        </p:txBody>
      </p:sp>
      <p:sp>
        <p:nvSpPr>
          <p:cNvPr id="80" name="Shape 78"/>
          <p:cNvSpPr/>
          <p:nvPr/>
        </p:nvSpPr>
        <p:spPr>
          <a:xfrm>
            <a:off x="2127207" y="2103120"/>
            <a:ext cx="1172177" cy="914400"/>
          </a:xfrm>
          <a:prstGeom prst="rect">
            <a:avLst/>
          </a:prstGeom>
          <a:solidFill>
            <a:srgbClr val="F4D74B"/>
          </a:solidFill>
          <a:ln/>
        </p:spPr>
        <p:txBody>
          <a:bodyPr/>
          <a:lstStyle/>
          <a:p>
            <a:endParaRPr/>
          </a:p>
        </p:txBody>
      </p:sp>
      <p:sp>
        <p:nvSpPr>
          <p:cNvPr id="81" name="Text 79"/>
          <p:cNvSpPr/>
          <p:nvPr/>
        </p:nvSpPr>
        <p:spPr>
          <a:xfrm>
            <a:off x="2127207" y="2103120"/>
            <a:ext cx="1172177"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13 min</a:t>
            </a:r>
            <a:endParaRPr lang="en-US" sz="1800" dirty="0"/>
          </a:p>
        </p:txBody>
      </p:sp>
      <p:sp>
        <p:nvSpPr>
          <p:cNvPr id="82" name="Shape 80"/>
          <p:cNvSpPr/>
          <p:nvPr/>
        </p:nvSpPr>
        <p:spPr>
          <a:xfrm>
            <a:off x="2127207" y="3017520"/>
            <a:ext cx="1172177" cy="45720"/>
          </a:xfrm>
          <a:prstGeom prst="rect">
            <a:avLst/>
          </a:prstGeom>
          <a:solidFill>
            <a:srgbClr val="F4D74B"/>
          </a:solidFill>
          <a:ln/>
        </p:spPr>
        <p:txBody>
          <a:bodyPr/>
          <a:lstStyle/>
          <a:p>
            <a:endParaRPr/>
          </a:p>
        </p:txBody>
      </p:sp>
      <p:sp>
        <p:nvSpPr>
          <p:cNvPr id="83" name="Text 81"/>
          <p:cNvSpPr/>
          <p:nvPr/>
        </p:nvSpPr>
        <p:spPr>
          <a:xfrm>
            <a:off x="2145495" y="3291840"/>
            <a:ext cx="1080737"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devcontainer</a:t>
            </a:r>
            <a:endParaRPr lang="en-US" sz="1100" dirty="0"/>
          </a:p>
        </p:txBody>
      </p:sp>
      <p:sp>
        <p:nvSpPr>
          <p:cNvPr id="84" name="Text 82"/>
          <p:cNvSpPr/>
          <p:nvPr/>
        </p:nvSpPr>
        <p:spPr>
          <a:xfrm>
            <a:off x="2145495" y="4160520"/>
            <a:ext cx="1080737"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eerste prompt</a:t>
            </a:r>
            <a:endParaRPr lang="en-US" sz="1200" dirty="0"/>
          </a:p>
        </p:txBody>
      </p:sp>
      <p:sp>
        <p:nvSpPr>
          <p:cNvPr id="85" name="Text 83"/>
          <p:cNvSpPr/>
          <p:nvPr/>
        </p:nvSpPr>
        <p:spPr>
          <a:xfrm>
            <a:off x="3345104" y="1719072"/>
            <a:ext cx="1983684"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0:30</a:t>
            </a:r>
            <a:endParaRPr lang="en-US" sz="1400" dirty="0"/>
          </a:p>
        </p:txBody>
      </p:sp>
      <p:sp>
        <p:nvSpPr>
          <p:cNvPr id="86" name="Shape 84"/>
          <p:cNvSpPr/>
          <p:nvPr/>
        </p:nvSpPr>
        <p:spPr>
          <a:xfrm>
            <a:off x="3345104" y="2103120"/>
            <a:ext cx="1983684" cy="914400"/>
          </a:xfrm>
          <a:prstGeom prst="rect">
            <a:avLst/>
          </a:prstGeom>
          <a:solidFill>
            <a:srgbClr val="3D68EC"/>
          </a:solidFill>
          <a:ln/>
        </p:spPr>
        <p:txBody>
          <a:bodyPr/>
          <a:lstStyle/>
          <a:p>
            <a:endParaRPr/>
          </a:p>
        </p:txBody>
      </p:sp>
      <p:sp>
        <p:nvSpPr>
          <p:cNvPr id="87" name="Text 85"/>
          <p:cNvSpPr/>
          <p:nvPr/>
        </p:nvSpPr>
        <p:spPr>
          <a:xfrm>
            <a:off x="3345104" y="2103120"/>
            <a:ext cx="1983684"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88" name="Shape 86"/>
          <p:cNvSpPr/>
          <p:nvPr/>
        </p:nvSpPr>
        <p:spPr>
          <a:xfrm>
            <a:off x="3345104" y="3017520"/>
            <a:ext cx="1983684" cy="45720"/>
          </a:xfrm>
          <a:prstGeom prst="rect">
            <a:avLst/>
          </a:prstGeom>
          <a:solidFill>
            <a:srgbClr val="3D68EC"/>
          </a:solidFill>
          <a:ln/>
        </p:spPr>
        <p:txBody>
          <a:bodyPr/>
          <a:lstStyle/>
          <a:p>
            <a:endParaRPr/>
          </a:p>
        </p:txBody>
      </p:sp>
      <p:sp>
        <p:nvSpPr>
          <p:cNvPr id="89" name="Text 87"/>
          <p:cNvSpPr/>
          <p:nvPr/>
        </p:nvSpPr>
        <p:spPr>
          <a:xfrm>
            <a:off x="3363392" y="3291840"/>
            <a:ext cx="1892244"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63392" y="4160520"/>
            <a:ext cx="1892244"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a:t>
            </a:r>
            <a:endParaRPr lang="en-US" sz="1200" dirty="0"/>
          </a:p>
        </p:txBody>
      </p:sp>
      <p:sp>
        <p:nvSpPr>
          <p:cNvPr id="91" name="Text 89"/>
          <p:cNvSpPr/>
          <p:nvPr/>
        </p:nvSpPr>
        <p:spPr>
          <a:xfrm>
            <a:off x="5374508" y="1719072"/>
            <a:ext cx="1352512"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0:52</a:t>
            </a:r>
            <a:endParaRPr lang="en-US" sz="1400" dirty="0"/>
          </a:p>
        </p:txBody>
      </p:sp>
      <p:sp>
        <p:nvSpPr>
          <p:cNvPr id="92" name="Shape 90"/>
          <p:cNvSpPr/>
          <p:nvPr/>
        </p:nvSpPr>
        <p:spPr>
          <a:xfrm>
            <a:off x="5374508" y="2103120"/>
            <a:ext cx="1352512" cy="914400"/>
          </a:xfrm>
          <a:prstGeom prst="rect">
            <a:avLst/>
          </a:prstGeom>
          <a:solidFill>
            <a:srgbClr val="DD784B"/>
          </a:solidFill>
          <a:ln/>
        </p:spPr>
        <p:txBody>
          <a:bodyPr/>
          <a:lstStyle/>
          <a:p>
            <a:endParaRPr/>
          </a:p>
        </p:txBody>
      </p:sp>
      <p:sp>
        <p:nvSpPr>
          <p:cNvPr id="93" name="Text 91"/>
          <p:cNvSpPr/>
          <p:nvPr/>
        </p:nvSpPr>
        <p:spPr>
          <a:xfrm>
            <a:off x="5374508" y="2103120"/>
            <a:ext cx="1352512"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94" name="Shape 92"/>
          <p:cNvSpPr/>
          <p:nvPr/>
        </p:nvSpPr>
        <p:spPr>
          <a:xfrm>
            <a:off x="5374508" y="3017520"/>
            <a:ext cx="1352512" cy="45720"/>
          </a:xfrm>
          <a:prstGeom prst="rect">
            <a:avLst/>
          </a:prstGeom>
          <a:solidFill>
            <a:srgbClr val="DD784B"/>
          </a:solidFill>
          <a:ln/>
        </p:spPr>
        <p:txBody>
          <a:bodyPr/>
          <a:lstStyle/>
          <a:p>
            <a:endParaRPr/>
          </a:p>
        </p:txBody>
      </p:sp>
      <p:sp>
        <p:nvSpPr>
          <p:cNvPr id="95" name="Text 93"/>
          <p:cNvSpPr/>
          <p:nvPr/>
        </p:nvSpPr>
        <p:spPr>
          <a:xfrm>
            <a:off x="5392796" y="3291840"/>
            <a:ext cx="1261072"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6" name="Text 94"/>
          <p:cNvSpPr/>
          <p:nvPr/>
        </p:nvSpPr>
        <p:spPr>
          <a:xfrm>
            <a:off x="5392796" y="4160520"/>
            <a:ext cx="1261072"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97" name="Shape 95"/>
          <p:cNvSpPr/>
          <p:nvPr/>
        </p:nvSpPr>
        <p:spPr>
          <a:xfrm>
            <a:off x="5392796" y="5029200"/>
            <a:ext cx="1315936" cy="310896"/>
          </a:xfrm>
          <a:prstGeom prst="roundRect">
            <a:avLst>
              <a:gd name="adj" fmla="val 147059"/>
            </a:avLst>
          </a:prstGeom>
          <a:solidFill>
            <a:srgbClr val="FFFFFF"/>
          </a:solidFill>
          <a:ln/>
        </p:spPr>
        <p:txBody>
          <a:bodyPr/>
          <a:lstStyle/>
          <a:p>
            <a:endParaRPr/>
          </a:p>
        </p:txBody>
      </p:sp>
      <p:sp>
        <p:nvSpPr>
          <p:cNvPr id="98" name="Text 96"/>
          <p:cNvSpPr/>
          <p:nvPr/>
        </p:nvSpPr>
        <p:spPr>
          <a:xfrm>
            <a:off x="5392796" y="5029200"/>
            <a:ext cx="1315936" cy="310896"/>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9" name="Text 97"/>
          <p:cNvSpPr/>
          <p:nvPr/>
        </p:nvSpPr>
        <p:spPr>
          <a:xfrm>
            <a:off x="6772740" y="1719072"/>
            <a:ext cx="1983684"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1:07</a:t>
            </a:r>
            <a:endParaRPr lang="en-US" sz="1400" dirty="0"/>
          </a:p>
        </p:txBody>
      </p:sp>
      <p:sp>
        <p:nvSpPr>
          <p:cNvPr id="100" name="Shape 98"/>
          <p:cNvSpPr/>
          <p:nvPr/>
        </p:nvSpPr>
        <p:spPr>
          <a:xfrm>
            <a:off x="6772740" y="2103120"/>
            <a:ext cx="1983684" cy="914400"/>
          </a:xfrm>
          <a:prstGeom prst="rect">
            <a:avLst/>
          </a:prstGeom>
          <a:solidFill>
            <a:srgbClr val="3D68EC"/>
          </a:solidFill>
          <a:ln/>
        </p:spPr>
        <p:txBody>
          <a:bodyPr/>
          <a:lstStyle/>
          <a:p>
            <a:endParaRPr/>
          </a:p>
        </p:txBody>
      </p:sp>
      <p:sp>
        <p:nvSpPr>
          <p:cNvPr id="101" name="Text 99"/>
          <p:cNvSpPr/>
          <p:nvPr/>
        </p:nvSpPr>
        <p:spPr>
          <a:xfrm>
            <a:off x="6772740" y="2103120"/>
            <a:ext cx="1983684"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102" name="Shape 100"/>
          <p:cNvSpPr/>
          <p:nvPr/>
        </p:nvSpPr>
        <p:spPr>
          <a:xfrm>
            <a:off x="6772740" y="3017520"/>
            <a:ext cx="1983684" cy="45720"/>
          </a:xfrm>
          <a:prstGeom prst="rect">
            <a:avLst/>
          </a:prstGeom>
          <a:solidFill>
            <a:srgbClr val="3D68EC"/>
          </a:solidFill>
          <a:ln/>
        </p:spPr>
        <p:txBody>
          <a:bodyPr/>
          <a:lstStyle/>
          <a:p>
            <a:endParaRPr/>
          </a:p>
        </p:txBody>
      </p:sp>
      <p:sp>
        <p:nvSpPr>
          <p:cNvPr id="103" name="Text 101"/>
          <p:cNvSpPr/>
          <p:nvPr/>
        </p:nvSpPr>
        <p:spPr>
          <a:xfrm>
            <a:off x="6791028" y="3291840"/>
            <a:ext cx="1892244"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91028" y="4160520"/>
            <a:ext cx="1892244"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 andere rol</a:t>
            </a:r>
            <a:endParaRPr lang="en-US" sz="1200" dirty="0"/>
          </a:p>
        </p:txBody>
      </p:sp>
      <p:sp>
        <p:nvSpPr>
          <p:cNvPr id="105" name="Text 103"/>
          <p:cNvSpPr/>
          <p:nvPr/>
        </p:nvSpPr>
        <p:spPr>
          <a:xfrm>
            <a:off x="8802144" y="1719072"/>
            <a:ext cx="1352512"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1:29</a:t>
            </a:r>
            <a:endParaRPr lang="en-US" sz="1400" dirty="0"/>
          </a:p>
        </p:txBody>
      </p:sp>
      <p:sp>
        <p:nvSpPr>
          <p:cNvPr id="106" name="Shape 104"/>
          <p:cNvSpPr/>
          <p:nvPr/>
        </p:nvSpPr>
        <p:spPr>
          <a:xfrm>
            <a:off x="8802144" y="2103120"/>
            <a:ext cx="1352512" cy="914400"/>
          </a:xfrm>
          <a:prstGeom prst="rect">
            <a:avLst/>
          </a:prstGeom>
          <a:solidFill>
            <a:srgbClr val="DD784B"/>
          </a:solidFill>
          <a:ln/>
        </p:spPr>
        <p:txBody>
          <a:bodyPr/>
          <a:lstStyle/>
          <a:p>
            <a:endParaRPr/>
          </a:p>
        </p:txBody>
      </p:sp>
      <p:sp>
        <p:nvSpPr>
          <p:cNvPr id="107" name="Text 105"/>
          <p:cNvSpPr/>
          <p:nvPr/>
        </p:nvSpPr>
        <p:spPr>
          <a:xfrm>
            <a:off x="8802144" y="2103120"/>
            <a:ext cx="1352512"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108" name="Shape 106"/>
          <p:cNvSpPr/>
          <p:nvPr/>
        </p:nvSpPr>
        <p:spPr>
          <a:xfrm>
            <a:off x="8802144" y="3017520"/>
            <a:ext cx="1352512" cy="45720"/>
          </a:xfrm>
          <a:prstGeom prst="rect">
            <a:avLst/>
          </a:prstGeom>
          <a:solidFill>
            <a:srgbClr val="DD784B"/>
          </a:solidFill>
          <a:ln/>
        </p:spPr>
        <p:txBody>
          <a:bodyPr/>
          <a:lstStyle/>
          <a:p>
            <a:endParaRPr/>
          </a:p>
        </p:txBody>
      </p:sp>
      <p:sp>
        <p:nvSpPr>
          <p:cNvPr id="109" name="Text 107"/>
          <p:cNvSpPr/>
          <p:nvPr/>
        </p:nvSpPr>
        <p:spPr>
          <a:xfrm>
            <a:off x="8820432" y="3291840"/>
            <a:ext cx="1261072"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0" name="Text 108"/>
          <p:cNvSpPr/>
          <p:nvPr/>
        </p:nvSpPr>
        <p:spPr>
          <a:xfrm>
            <a:off x="8820432" y="4160520"/>
            <a:ext cx="1261072"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111" name="Shape 109"/>
          <p:cNvSpPr/>
          <p:nvPr/>
        </p:nvSpPr>
        <p:spPr>
          <a:xfrm>
            <a:off x="8820432" y="4999200"/>
            <a:ext cx="1315936" cy="480000"/>
          </a:xfrm>
          <a:prstGeom prst="roundRect">
            <a:avLst>
              <a:gd name="adj" fmla="val 147059"/>
            </a:avLst>
          </a:prstGeom>
          <a:solidFill>
            <a:srgbClr val="FFFFFF"/>
          </a:solidFill>
          <a:ln/>
        </p:spPr>
        <p:txBody>
          <a:bodyPr/>
          <a:lstStyle/>
          <a:p>
            <a:endParaRPr/>
          </a:p>
        </p:txBody>
      </p:sp>
      <p:sp>
        <p:nvSpPr>
          <p:cNvPr id="112" name="Text 110"/>
          <p:cNvSpPr/>
          <p:nvPr/>
        </p:nvSpPr>
        <p:spPr>
          <a:xfrm>
            <a:off x="8820432" y="5029200"/>
            <a:ext cx="1315936" cy="440000"/>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/schets_dashboard</a:t>
            </a:r>
            <a:endParaRPr lang="en-US" sz="900" dirty="0"/>
          </a:p>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/bouwen_dashboard</a:t>
            </a:r>
            <a:endParaRPr lang="en-US" sz="900" dirty="0"/>
          </a:p>
        </p:txBody>
      </p:sp>
      <p:sp>
        <p:nvSpPr>
          <p:cNvPr id="113" name="Text 111"/>
          <p:cNvSpPr/>
          <p:nvPr/>
        </p:nvSpPr>
        <p:spPr>
          <a:xfrm>
            <a:off x="10200376" y="1719072"/>
            <a:ext cx="1442679"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1:44</a:t>
            </a:r>
            <a:endParaRPr lang="en-US" sz="1400" dirty="0"/>
          </a:p>
        </p:txBody>
      </p:sp>
      <p:sp>
        <p:nvSpPr>
          <p:cNvPr id="114" name="Shape 112"/>
          <p:cNvSpPr/>
          <p:nvPr/>
        </p:nvSpPr>
        <p:spPr>
          <a:xfrm>
            <a:off x="10200376" y="2103120"/>
            <a:ext cx="1442679" cy="914400"/>
          </a:xfrm>
          <a:prstGeom prst="rect">
            <a:avLst/>
          </a:prstGeom>
          <a:solidFill>
            <a:srgbClr val="00AF81"/>
          </a:solidFill>
          <a:ln/>
        </p:spPr>
        <p:txBody>
          <a:bodyPr/>
          <a:lstStyle/>
          <a:p>
            <a:endParaRPr/>
          </a:p>
        </p:txBody>
      </p:sp>
      <p:sp>
        <p:nvSpPr>
          <p:cNvPr id="115" name="Text 113"/>
          <p:cNvSpPr/>
          <p:nvPr/>
        </p:nvSpPr>
        <p:spPr>
          <a:xfrm>
            <a:off x="10200376" y="2103120"/>
            <a:ext cx="1442679"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16 min</a:t>
            </a:r>
            <a:endParaRPr lang="en-US" sz="1800" dirty="0"/>
          </a:p>
        </p:txBody>
      </p:sp>
      <p:sp>
        <p:nvSpPr>
          <p:cNvPr id="116" name="Shape 114"/>
          <p:cNvSpPr/>
          <p:nvPr/>
        </p:nvSpPr>
        <p:spPr>
          <a:xfrm>
            <a:off x="10200376" y="3017520"/>
            <a:ext cx="1442679" cy="45720"/>
          </a:xfrm>
          <a:prstGeom prst="rect">
            <a:avLst/>
          </a:prstGeom>
          <a:solidFill>
            <a:srgbClr val="00AF81"/>
          </a:solidFill>
          <a:ln/>
        </p:spPr>
        <p:txBody>
          <a:bodyPr/>
          <a:lstStyle/>
          <a:p>
            <a:endParaRPr/>
          </a:p>
        </p:txBody>
      </p:sp>
      <p:sp>
        <p:nvSpPr>
          <p:cNvPr id="117" name="Text 115"/>
          <p:cNvSpPr/>
          <p:nvPr/>
        </p:nvSpPr>
        <p:spPr>
          <a:xfrm>
            <a:off x="10218664" y="3291840"/>
            <a:ext cx="1351239"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 en afsluiting</a:t>
            </a:r>
            <a:endParaRPr lang="en-US" sz="1100" dirty="0"/>
          </a:p>
        </p:txBody>
      </p:sp>
      <p:sp>
        <p:nvSpPr>
          <p:cNvPr id="118" name="Text 116"/>
          <p:cNvSpPr/>
          <p:nvPr/>
        </p:nvSpPr>
        <p:spPr>
          <a:xfrm>
            <a:off x="10218664" y="4160520"/>
            <a:ext cx="1351239"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/review-reflect en een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marL="0" indent="0" algn="r">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2:00</a:t>
            </a:r>
            <a:endParaRPr lang="en-US" sz="1400" dirty="0"/>
          </a:p>
        </p:txBody>
      </p:sp>
      <p:sp>
        <p:nvSpPr>
          <p:cNvPr id="120" name="Shape 118"/>
          <p:cNvSpPr/>
          <p:nvPr/>
        </p:nvSpPr>
        <p:spPr>
          <a:xfrm>
            <a:off x="548640" y="6025896"/>
            <a:ext cx="201168" cy="201168"/>
          </a:xfrm>
          <a:prstGeom prst="rect">
            <a:avLst/>
          </a:prstGeom>
          <a:solidFill>
            <a:srgbClr val="F4D74B"/>
          </a:solidFill>
          <a:ln/>
        </p:spPr>
        <p:txBody>
          <a:bodyPr/>
          <a:lstStyle/>
          <a:p>
            <a:endParaRPr/>
          </a:p>
        </p:txBody>
      </p:sp>
      <p:sp>
        <p:nvSpPr>
          <p:cNvPr id="121" name="Text 119"/>
          <p:cNvSpPr/>
          <p:nvPr/>
        </p:nvSpPr>
        <p:spPr>
          <a:xfrm>
            <a:off x="8412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txBody>
          <a:bodyPr/>
          <a:lstStyle/>
          <a:p>
            <a:endParaRPr/>
          </a:p>
        </p:txBody>
      </p:sp>
      <p:sp>
        <p:nvSpPr>
          <p:cNvPr id="123" name="Text 121"/>
          <p:cNvSpPr/>
          <p:nvPr/>
        </p:nvSpPr>
        <p:spPr>
          <a:xfrm>
            <a:off x="2194560"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in tweetallen</a:t>
            </a:r>
            <a:endParaRPr lang="en-US" sz="1200" dirty="0"/>
          </a:p>
        </p:txBody>
      </p:sp>
      <p:sp>
        <p:nvSpPr>
          <p:cNvPr id="124" name="Shape 122"/>
          <p:cNvSpPr/>
          <p:nvPr/>
        </p:nvSpPr>
        <p:spPr>
          <a:xfrm>
            <a:off x="4663440" y="6025896"/>
            <a:ext cx="201168" cy="201168"/>
          </a:xfrm>
          <a:prstGeom prst="rect">
            <a:avLst/>
          </a:prstGeom>
          <a:solidFill>
            <a:srgbClr val="DD784B"/>
          </a:solidFill>
          <a:ln/>
        </p:spPr>
        <p:txBody>
          <a:bodyPr/>
          <a:lstStyle/>
          <a:p>
            <a:endParaRPr/>
          </a:p>
        </p:txBody>
      </p:sp>
      <p:sp>
        <p:nvSpPr>
          <p:cNvPr id="125" name="Text 123"/>
          <p:cNvSpPr/>
          <p:nvPr/>
        </p:nvSpPr>
        <p:spPr>
          <a:xfrm>
            <a:off x="49560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txBody>
          <a:bodyPr/>
          <a:lstStyle/>
          <a:p>
            <a:endParaRPr/>
          </a:p>
        </p:txBody>
      </p:sp>
      <p:sp>
        <p:nvSpPr>
          <p:cNvPr id="127" name="Text 125"/>
          <p:cNvSpPr/>
          <p:nvPr/>
        </p:nvSpPr>
        <p:spPr>
          <a:xfrm>
            <a:off x="70134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laat AI een alinea herschrijven of een notitie samenvatten.</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AI schrijft een conceptnotitie, de medewerker bepaalt de lijn.</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"Advies over uitval." AI onderzoekt en schrijft.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Eerst synthetisch, dan echte data</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Synthetische data</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Zelfde kolommen en codes, geen echte personen.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data/demodata_1cho.csv</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Bouwen met de agent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Mag naar het taalmodel, geen AVG-toets nodig.</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Productie</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Echte instellingsdata</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hier. De agent komt hier niet.</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Bij de instelling zelf</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Eigen data gebruiken valt buiten deze workshop. Dat kun je in je eigen instelling doen.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r>
              <a:rPr lang="en-US" sz="1900" dirty="0">
                <a:solidFill>
                  <a:srgbClr val="000000"/>
                </a:solidFill>
                <a:latin typeface="General Sans" pitchFamily="34" charset="0"/>
                <a:ea typeface="General Sans" pitchFamily="34" charset="-122"/>
                <a:cs typeface="General Sans" pitchFamily="34" charset="-120"/>
              </a:rPr>
              <a:t> gecontroleerd tegen de 1CHO-metadata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casus: drie vragen, één dataset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Uitval</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Vooropleiding</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Mbo of havo?</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Vallen eerstejaars met een mbo-diploma vaker uit dan havisten, en verschilt dat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C</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Studiesucces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Wie haalt het diploma?</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Hoeveel studenten halen hun bachelor binnen vijf jaar, per sector of vestiging?</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General Sans" pitchFamily="34" charset="0"/>
                <a:ea typeface="General Sans" pitchFamily="34" charset="-122"/>
                <a:cs typeface="General Sans" pitchFamily="34" charset="-120"/>
              </a:rPr>
              <a:t>Alle drie in data/demodata_1cho.csv: fictieve studenten, 2012-2023. Elke vraag levert één dashboard met de conclusie als titel. Wij laten vraag A zien.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twee spiegelmomenten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Kolommen, kwaliteit, verdelingen, definities en privacy.</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uitvoer/data-profiel.html</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txBody>
          <a:bodyPr/>
          <a:lstStyle/>
          <a:p>
            <a:endParaRPr/>
          </a:p>
        </p:txBody>
      </p:sp>
      <p:sp>
        <p:nvSpPr>
          <p:cNvPr id="84" name="Shape 82"/>
          <p:cNvSpPr/>
          <p:nvPr/>
        </p:nvSpPr>
        <p:spPr>
          <a:xfrm>
            <a:off x="6507328" y="1645920"/>
            <a:ext cx="548640" cy="548640"/>
          </a:xfrm>
          <a:prstGeom prst="ellipse">
            <a:avLst/>
          </a:prstGeom>
          <a:solidFill>
            <a:srgbClr val="F4D9DC"/>
          </a:solidFill>
          <a:ln/>
        </p:spPr>
        <p:txBody>
          <a:bodyPr/>
          <a:lstStyle/>
          <a:p>
            <a:endParaRPr/>
          </a:p>
        </p:txBody>
      </p:sp>
      <p:sp>
        <p:nvSpPr>
          <p:cNvPr id="85" name="Text 83"/>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txBody>
          <a:bodyPr/>
          <a:lstStyle/>
          <a:p>
            <a:endParaRPr/>
          </a:p>
        </p:txBody>
      </p:sp>
      <p:sp>
        <p:nvSpPr>
          <p:cNvPr id="87" name="Text 85"/>
          <p:cNvSpPr/>
          <p:nvPr/>
        </p:nvSpPr>
        <p:spPr>
          <a:xfrm>
            <a:off x="7284568"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Schetsen en bouwen</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/schets_dashboard en /bouwen_dashboard: views schetsen, dan het dashboard bouwen.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uitvoer/schets.html en een dashboard</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Een skill start alleen als je hem zelf typt, nooit vanzelf. Jullie prompten zelf; wij draaien de skills bij de spiegelmomenten.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txBody>
          <a:bodyPr/>
          <a:lstStyle/>
          <a:p>
            <a:endParaRPr/>
          </a:p>
        </p:txBody>
      </p:sp>
      <p:sp>
        <p:nvSpPr>
          <p:cNvPr id="74" name="Text 72"/>
          <p:cNvSpPr/>
          <p:nvPr/>
        </p:nvSpPr>
        <p:spPr>
          <a:xfrm>
            <a:off x="822960" y="147218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txBody>
          <a:bodyPr/>
          <a:lstStyle/>
          <a:p>
            <a:endParaRPr/>
          </a:p>
        </p:txBody>
      </p:sp>
      <p:sp>
        <p:nvSpPr>
          <p:cNvPr id="77" name="Text 75"/>
          <p:cNvSpPr/>
          <p:nvPr/>
        </p:nvSpPr>
        <p:spPr>
          <a:xfrm>
            <a:off x="9951415" y="168706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txBody>
          <a:bodyPr/>
          <a:lstStyle/>
          <a:p>
            <a:endParaRPr/>
          </a:p>
        </p:txBody>
      </p:sp>
      <p:sp>
        <p:nvSpPr>
          <p:cNvPr id="79" name="Text 77"/>
          <p:cNvSpPr/>
          <p:nvPr/>
        </p:nvSpPr>
        <p:spPr>
          <a:xfrm>
            <a:off x="822960" y="243230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txBody>
          <a:bodyPr/>
          <a:lstStyle/>
          <a:p>
            <a:endParaRPr/>
          </a:p>
        </p:txBody>
      </p:sp>
      <p:sp>
        <p:nvSpPr>
          <p:cNvPr id="82" name="Text 80"/>
          <p:cNvSpPr/>
          <p:nvPr/>
        </p:nvSpPr>
        <p:spPr>
          <a:xfrm>
            <a:off x="9951415" y="264718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txBody>
          <a:bodyPr/>
          <a:lstStyle/>
          <a:p>
            <a:endParaRPr/>
          </a:p>
        </p:txBody>
      </p:sp>
      <p:sp>
        <p:nvSpPr>
          <p:cNvPr id="84" name="Text 82"/>
          <p:cNvSpPr/>
          <p:nvPr/>
        </p:nvSpPr>
        <p:spPr>
          <a:xfrm>
            <a:off x="822960" y="339242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txBody>
          <a:bodyPr/>
          <a:lstStyle/>
          <a:p>
            <a:endParaRPr/>
          </a:p>
        </p:txBody>
      </p:sp>
      <p:sp>
        <p:nvSpPr>
          <p:cNvPr id="87" name="Text 85"/>
          <p:cNvSpPr/>
          <p:nvPr/>
        </p:nvSpPr>
        <p:spPr>
          <a:xfrm>
            <a:off x="9951415" y="360730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txBody>
          <a:bodyPr/>
          <a:lstStyle/>
          <a:p>
            <a:endParaRPr/>
          </a:p>
        </p:txBody>
      </p:sp>
      <p:sp>
        <p:nvSpPr>
          <p:cNvPr id="89" name="Text 87"/>
          <p:cNvSpPr/>
          <p:nvPr/>
        </p:nvSpPr>
        <p:spPr>
          <a:xfrm>
            <a:off x="822960" y="435254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txBody>
          <a:bodyPr/>
          <a:lstStyle/>
          <a:p>
            <a:endParaRPr/>
          </a:p>
        </p:txBody>
      </p:sp>
      <p:sp>
        <p:nvSpPr>
          <p:cNvPr id="92" name="Text 90"/>
          <p:cNvSpPr/>
          <p:nvPr/>
        </p:nvSpPr>
        <p:spPr>
          <a:xfrm>
            <a:off x="9951415" y="456742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marL="0" indent="0" algn="l">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1: log in op GitHub</a:t>
            </a:r>
            <a:endParaRPr lang="en-US" sz="3100" dirty="0"/>
          </a:p>
        </p:txBody>
      </p:sp>
      <p:pic>
        <p:nvPicPr>
          <p:cNvPr id="73" name="Image 0" descr="Rechtsboven op github.com: de knoppen Sign in en Sign up"/>
          <p:cNvPicPr>
            <a:picLocks noChangeAspect="1"/>
          </p:cNvPicPr>
          <p:nvPr/>
        </p:nvPicPr>
        <p:blipFill>
          <a:blip r:embed="rId3"/>
          <a:stretch>
            <a:fillRect/>
          </a:stretch>
        </p:blipFill>
        <p:spPr>
          <a:xfrm>
            <a:off x="851870" y="1900000"/>
            <a:ext cx="6464595" cy="1369980"/>
          </a:xfrm>
          <a:prstGeom prst="rect">
            <a:avLst/>
          </a:prstGeom>
        </p:spPr>
      </p:pic>
      <p:sp>
        <p:nvSpPr>
          <p:cNvPr id="74" name="Text 71"/>
          <p:cNvSpPr/>
          <p:nvPr/>
        </p:nvSpPr>
        <p:spPr>
          <a:xfrm>
            <a:off x="548640" y="351998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Klik rechtsboven op </a:t>
            </a:r>
            <a:r>
              <a:rPr lang="en-US" sz="1800" dirty="0">
                <a:solidFill>
                  <a:srgbClr val="00AF81"/>
                </a:solidFill>
                <a:latin typeface="General Sans Semibold" pitchFamily="34" charset="0"/>
                <a:ea typeface="General Sans Semibold" pitchFamily="34" charset="-122"/>
                <a:cs typeface="General Sans Semibold" pitchFamily="34" charset="-120"/>
              </a:rPr>
              <a:t>Sign in</a:t>
            </a:r>
            <a:r>
              <a:rPr lang="en-US" sz="1800" dirty="0">
                <a:solidFill>
                  <a:srgbClr val="000000"/>
                </a:solidFill>
                <a:latin typeface="General Sans" pitchFamily="34" charset="0"/>
                <a:ea typeface="General Sans" pitchFamily="34" charset="-122"/>
                <a:cs typeface="General Sans" pitchFamily="34" charset="-120"/>
              </a:rPr>
              <a:t> en log in met je eigen GitHub-account. Heb je er nog geen? Maak er dan gratis een aan met </a:t>
            </a:r>
            <a:r>
              <a:rPr lang="en-US" sz="1800" dirty="0">
                <a:solidFill>
                  <a:srgbClr val="00AF81"/>
                </a:solidFill>
                <a:latin typeface="General Sans Semibold" pitchFamily="34" charset="0"/>
                <a:ea typeface="General Sans Semibold" pitchFamily="34" charset="-122"/>
                <a:cs typeface="General Sans Semibold" pitchFamily="34" charset="-120"/>
              </a:rPr>
              <a:t>Sign up</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0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8103795" y="1463040"/>
            <a:ext cx="3464025" cy="4480560"/>
          </a:xfrm>
          <a:prstGeom prst="rect">
            <a:avLst/>
          </a:prstGeom>
          <a:noFill/>
          <a:ln/>
        </p:spPr>
        <p:txBody>
          <a:bodyPr wrap="square" lIns="0" tIns="0" rIns="0" bIns="0" rtlCol="0" anchor="t"/>
          <a:lstStyle/>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0000"/>
              </a:lnSpc>
              <a:spcAft>
                <a:spcPts val="800"/>
              </a:spcAft>
              <a:buNone/>
            </a:pPr>
            <a:r>
              <a:rPr lang="en-US" dirty="0">
                <a:solidFill>
                  <a:srgbClr val="000000"/>
                </a:solidFill>
                <a:latin typeface="General Sans" pitchFamily="34" charset="0"/>
                <a:ea typeface="General Sans" pitchFamily="34" charset="-122"/>
                <a:cs typeface="General Sans" pitchFamily="34" charset="-120"/>
                <a:hlinkClick r:id="rId4"/>
              </a:rPr>
              <a:t>https://github.com/cedanl/dair-agentic-coding</a:t>
            </a:r>
            <a:r>
              <a:rPr lang="en-US" dirty="0">
                <a:solidFill>
                  <a:srgbClr val="000000"/>
                </a:solidFill>
                <a:latin typeface="General Sans" pitchFamily="34" charset="0"/>
                <a:ea typeface="General Sans" pitchFamily="34" charset="-122"/>
                <a:cs typeface="General Sans" pitchFamily="34" charset="-120"/>
              </a:rPr>
              <a:t> </a:t>
            </a:r>
          </a:p>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endParaRPr lang="en-US"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r>
              <a:rPr lang="en-US" sz="1800" dirty="0">
                <a:solidFill>
                  <a:srgbClr val="00AF81"/>
                </a:solidFill>
                <a:latin typeface="General Sans Semibold" pitchFamily="34" charset="0"/>
                <a:ea typeface="General Sans Semibold" pitchFamily="34" charset="-122"/>
                <a:cs typeface="General Sans Semibold" pitchFamily="34" charset="-120"/>
              </a:rPr>
              <a:t>Code</a:t>
            </a:r>
            <a:r>
              <a:rPr lang="en-US" sz="1800" dirty="0">
                <a:solidFill>
                  <a:srgbClr val="000000"/>
                </a:solidFill>
                <a:latin typeface="General Sans" pitchFamily="34" charset="0"/>
                <a:ea typeface="General Sans" pitchFamily="34" charset="-122"/>
                <a:cs typeface="General Sans" pitchFamily="34" charset="-120"/>
              </a:rPr>
              <a:t>, tab </a:t>
            </a:r>
            <a:r>
              <a:rPr lang="en-US" sz="1800" dirty="0">
                <a:solidFill>
                  <a:srgbClr val="00AF81"/>
                </a:solidFill>
                <a:latin typeface="General Sans Semibold" pitchFamily="34" charset="0"/>
                <a:ea typeface="General Sans Semibold" pitchFamily="34" charset="-122"/>
                <a:cs typeface="General Sans Semibold" pitchFamily="34" charset="-120"/>
              </a:rPr>
              <a:t>Codespaces</a:t>
            </a:r>
            <a:r>
              <a:rPr lang="en-US" sz="1800" dirty="0">
                <a:solidFill>
                  <a:srgbClr val="000000"/>
                </a:solidFill>
                <a:latin typeface="General Sans" pitchFamily="34" charset="0"/>
                <a:ea typeface="General Sans" pitchFamily="34" charset="-122"/>
                <a:cs typeface="General Sans" pitchFamily="34" charset="-120"/>
              </a:rPr>
              <a:t>, dan </a:t>
            </a: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r>
              <a:rPr lang="en-US" sz="1800" dirty="0">
                <a:solidFill>
                  <a:srgbClr val="000000"/>
                </a:solidFill>
                <a:latin typeface="General Sans" pitchFamily="34" charset="0"/>
                <a:ea typeface="General Sans" pitchFamily="34" charset="-122"/>
                <a:cs typeface="General Sans" pitchFamily="34" charset="-120"/>
              </a:rPr>
              <a:t>. Wachten duurt een tot twee minuten.</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Vraagt de terminal om de workshop-key? Die krijg je van de begeleider. Plak hem en druk op Enter. Je ziet niets verschijnen, dat is normaal.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wat één rij is.</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Leg vast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bedoel je precies?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definitie van je kernmaat, wat één rij is en de drempels voor kleine groepen.</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 "Vertel in gewone taal wat er in data/demodata_1cho.csv zit." Oplevering: begrip van de data, je definities en een eerste privacy-check.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/verkennen_data, en wat deed jij anders?</a:t>
            </a:r>
            <a:endParaRPr lang="en-US" sz="2200" dirty="0"/>
          </a:p>
        </p:txBody>
      </p:sp>
      <p:pic>
        <p:nvPicPr>
          <p:cNvPr id="76" name="Image 0" descr="exports\261005_workshop_rad_uitvoering\img\Boek puzzelstu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de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Per kolom in gewone taal wat het kan betekenen, als aanname.</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Kolomoverzicht</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Sleutel, dubbele rijen, ontbrekende waarden en verdelingen.</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Datakwaliteit</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kernmaat letterlijk vastgelegd, met wat nog niet waarneembaar is.</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Privacy</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Ideeën bij jouw vraag en drempels voor kleine groepen.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Ideeën en privacy</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Na drie korte vragen. In: data/demodata_1cho.csv en je vraag. Uit: uitvoer/data-profiel.html.</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lstStyle/>
          <a:p>
            <a:endParaR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lstStyle/>
          <a:p>
            <a:endParaR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Het laatste cohort lijkt helemaal uit te vallen.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txBody>
          <a:bodyPr/>
          <a:lstStyle/>
          <a:p>
            <a:endParaR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lstStyle/>
          <a:p>
            <a:endParaR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txBody>
          <a:bodyPr/>
          <a:lstStyle/>
          <a:p>
            <a:endParaR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lstStyle/>
          <a:p>
            <a:endParaR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30 studenten worden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txBody>
          <a:bodyPr/>
          <a:lstStyle/>
          <a:p>
            <a:endParaR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lstStyle/>
          <a:p>
            <a:endParaR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100" dirty="0"/>
          </a:p>
        </p:txBody>
      </p:sp>
      <p:pic>
        <p:nvPicPr>
          <p:cNvPr id="73" name="Image 0" descr="Schermafbeelding van data-profiel.html: menu links, tegels met kerncijfers en een tabel met keuzes en aanname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uitvoer/data-profiel.html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r>
              <a:rPr lang="en-US" sz="1800" dirty="0">
                <a:solidFill>
                  <a:srgbClr val="00AF81"/>
                </a:solidFill>
                <a:latin typeface="General Sans Semibold" pitchFamily="34" charset="0"/>
                <a:ea typeface="General Sans Semibold" pitchFamily="34" charset="-122"/>
                <a:cs typeface="General Sans Semibold" pitchFamily="34" charset="-120"/>
              </a:rPr>
              <a:t>verkennen_data</a:t>
            </a:r>
            <a:r>
              <a:rPr lang="en-US" sz="1800" dirty="0">
                <a:solidFill>
                  <a:srgbClr val="000000"/>
                </a:solidFill>
                <a:latin typeface="General Sans" pitchFamily="34" charset="0"/>
                <a:ea typeface="General Sans" pitchFamily="34" charset="-122"/>
                <a:cs typeface="General Sans" pitchFamily="34" charset="-120"/>
              </a:rPr>
              <a:t>: een menu, tegels met de kerncijfers en een tabel met je </a:t>
            </a: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r>
              <a:rPr lang="en-US" sz="1800" dirty="0">
                <a:solidFill>
                  <a:srgbClr val="000000"/>
                </a:solidFill>
                <a:latin typeface="General Sans" pitchFamily="34" charset="0"/>
                <a:ea typeface="General Sans" pitchFamily="34" charset="-122"/>
                <a:cs typeface="General Sans" pitchFamily="34" charset="-120"/>
              </a:rPr>
              <a:t>. Open het met rechtsklik en </a:t>
            </a:r>
            <a:r>
              <a:rPr lang="en-US" sz="1800" dirty="0">
                <a:solidFill>
                  <a:srgbClr val="00AF81"/>
                </a:solidFill>
                <a:latin typeface="General Sans Semibold" pitchFamily="34" charset="0"/>
                <a:ea typeface="General Sans Semibold" pitchFamily="34" charset="-122"/>
                <a:cs typeface="General Sans Semibold" pitchFamily="34" charset="-120"/>
              </a:rPr>
              <a:t>Show Preview</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Shape 70"/>
          <p:cNvSpPr/>
          <p:nvPr/>
        </p:nvSpPr>
        <p:spPr>
          <a:xfrm>
            <a:off x="548640" y="1280160"/>
            <a:ext cx="1005840" cy="1005840"/>
          </a:xfrm>
          <a:prstGeom prst="ellipse">
            <a:avLst/>
          </a:prstGeom>
          <a:solidFill>
            <a:srgbClr val="F4D74B"/>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txBody>
          <a:bodyPr/>
          <a:lstStyle/>
          <a:p>
            <a:endParaRPr/>
          </a:p>
        </p:txBody>
      </p:sp>
      <p:sp>
        <p:nvSpPr>
          <p:cNvPr id="81" name="Shape 79"/>
          <p:cNvSpPr/>
          <p:nvPr/>
        </p:nvSpPr>
        <p:spPr>
          <a:xfrm>
            <a:off x="3665144" y="1645920"/>
            <a:ext cx="548640" cy="548640"/>
          </a:xfrm>
          <a:prstGeom prst="ellipse">
            <a:avLst/>
          </a:prstGeom>
          <a:solidFill>
            <a:srgbClr val="F4D9DC"/>
          </a:solidFill>
          <a:ln/>
        </p:spPr>
        <p:txBody>
          <a:bodyPr/>
          <a:lstStyle/>
          <a:p>
            <a:endParaR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txBody>
          <a:bodyPr/>
          <a:lstStyle/>
          <a:p>
            <a:endParaR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txBody>
          <a:bodyPr/>
          <a:lstStyle/>
          <a:p>
            <a:endParaRPr/>
          </a:p>
        </p:txBody>
      </p:sp>
      <p:sp>
        <p:nvSpPr>
          <p:cNvPr id="88" name="Shape 86"/>
          <p:cNvSpPr/>
          <p:nvPr/>
        </p:nvSpPr>
        <p:spPr>
          <a:xfrm>
            <a:off x="6507328" y="1645920"/>
            <a:ext cx="548640" cy="548640"/>
          </a:xfrm>
          <a:prstGeom prst="ellipse">
            <a:avLst/>
          </a:prstGeom>
          <a:solidFill>
            <a:srgbClr val="F4D9DC"/>
          </a:solidFill>
          <a:ln/>
        </p:spPr>
        <p:txBody>
          <a:bodyPr/>
          <a:lstStyle/>
          <a:p>
            <a:endParaR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txBody>
          <a:bodyPr/>
          <a:lstStyle/>
          <a:p>
            <a:endParaR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txBody>
          <a:bodyPr/>
          <a:lstStyle/>
          <a:p>
            <a:endParaRPr/>
          </a:p>
        </p:txBody>
      </p:sp>
      <p:sp>
        <p:nvSpPr>
          <p:cNvPr id="95" name="Shape 93"/>
          <p:cNvSpPr/>
          <p:nvPr/>
        </p:nvSpPr>
        <p:spPr>
          <a:xfrm>
            <a:off x="9349511" y="1645920"/>
            <a:ext cx="548640" cy="548640"/>
          </a:xfrm>
          <a:prstGeom prst="ellipse">
            <a:avLst/>
          </a:prstGeom>
          <a:solidFill>
            <a:srgbClr val="3D68EC"/>
          </a:solidFill>
          <a:ln/>
        </p:spPr>
        <p:txBody>
          <a:bodyPr/>
          <a:lstStyle/>
          <a:p>
            <a:endParaR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lstStyle/>
          <a:p>
            <a:endParaR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txBody>
          <a:bodyPr/>
          <a:lstStyle/>
          <a:p>
            <a:endParaR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lstStyle/>
          <a:p>
            <a:endParaR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txBody>
          <a:bodyPr/>
          <a:lstStyle/>
          <a:p>
            <a:endParaR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lstStyle/>
          <a:p>
            <a:endParaR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txBody>
          <a:bodyPr/>
          <a:lstStyle/>
          <a:p>
            <a:endParaR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lstStyle/>
          <a:p>
            <a:endParaR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txBody>
          <a:bodyPr/>
          <a:lstStyle/>
          <a:p>
            <a:endParaR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lstStyle/>
          <a:p>
            <a:endParaR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/schets_dashboard en /bouwen_dashboard, en wat miste je dashboard?</a:t>
            </a:r>
            <a:endParaRPr lang="en-US" sz="2200" dirty="0"/>
          </a:p>
        </p:txBody>
      </p:sp>
      <p:pic>
        <p:nvPicPr>
          <p:cNvPr id="76" name="Image 0" descr="exports\261005_workshop_rad_uitvoering\img\Puzzelstuk 3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/schets_dashboard: van voorstel naar views</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Voorstel</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Eerst een voorstel</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Twee of drie views met grafiektype en volgorde, in één bericht.</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Aannames</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Per view</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Vraag en maat</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Vraag, maat, uitsplitsing en grafiektype, met een schetsplaatje.</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Views</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Valt weg</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Privacy en tijd</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en perioden die nog niet waarneembaar zijn.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Eerlijk</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Eindigt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het niet kan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Geen oorzaak, alleen verband, en niets over de werkelijkheid op demodata.</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schets.html</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uitvoer/data-profiel.html en je vraag. Uit: uitvoer/schets.html, zonder code.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100" dirty="0"/>
          </a:p>
        </p:txBody>
      </p:sp>
      <p:pic>
        <p:nvPicPr>
          <p:cNvPr id="73" name="Image 0" descr="Schermafbeelding van schets.html: de vraag, keuzes van de gebruiker en view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uitvoer/schets.html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schets_dashboard: je vraag, je keuzes en per view de maat, de uitsplitsing en een schetsplaatje. Zonder data en zonder conclusie.</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uitvoer/data-profiel.html en uitvoer/schets.html.</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 views in één keer, met de checks erin en een uploadscherm eerst.</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Pagina en cijfers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Bekijkt de hele pagina en rekent de uitkomst na op de data.</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Nagekeken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Rondt af</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Testen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Tests bewaren, waarden-check, snelle stijlcheck en opnieuw testen.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Getest</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profiel en schets. Uit: een werkend, verantwoord dashboard. Bewaren alleen als je "bewaar" zegt; code nakijken met /check-style of /simplify-ceda is optioneel.</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extLst>
                    <a:ext uri="{9D8B030D-6E8A-4147-A177-3AD203B41FA5}">
                      <a16:colId xmlns:a16="http://schemas.microsoft.com/office/drawing/2014/main" val="20000"/>
                    </a:ext>
                  </a:extLst>
                </a:gridCol>
                <a:gridCol w="8320811">
                  <a:extLst>
                    <a:ext uri="{9D8B030D-6E8A-4147-A177-3AD203B41FA5}">
                      <a16:colId xmlns:a16="http://schemas.microsoft.com/office/drawing/2014/main" val="20001"/>
                    </a:ext>
                  </a:extLst>
                </a:gridCol>
              </a:tblGrid>
              <a:tr h="0">
                <a:tc>
                  <a:txBody>
                    <a:bodyPr/>
                    <a:lstStyle/>
                    <a:p>
                      <a:pPr marL="0" indent="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marL="0" indent="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100" dirty="0"/>
          </a:p>
        </p:txBody>
      </p:sp>
      <p:pic>
        <p:nvPicPr>
          <p:cNvPr id="73" name="Image 0" descr="Schermafbeelding van het gebouwde dashboard: uitval in het eerste jaar per sector als staafdiagram, met filter en demodata-label"/>
          <p:cNvPicPr>
            <a:picLocks noChangeAspect="1"/>
          </p:cNvPicPr>
          <p:nvPr/>
        </p:nvPicPr>
        <p:blipFill>
          <a:blip r:embed="rId3"/>
          <a:stretch>
            <a:fillRect/>
          </a:stretch>
        </p:blipFill>
        <p:spPr>
          <a:xfrm>
            <a:off x="640000" y="1371600"/>
            <a:ext cx="5430508" cy="4450000"/>
          </a:xfrm>
          <a:prstGeom prst="rect">
            <a:avLst/>
          </a:prstGeom>
        </p:spPr>
      </p:pic>
      <p:sp>
        <p:nvSpPr>
          <p:cNvPr id="74" name="Text 71"/>
          <p:cNvSpPr/>
          <p:nvPr/>
        </p:nvSpPr>
        <p:spPr>
          <a:xfrm>
            <a:off x="640000" y="5971600"/>
            <a:ext cx="5430508"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Streamlit in Npuls-huisstijl, code in dashboard/</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bouwt </a:t>
            </a:r>
            <a:r>
              <a:rPr lang="en-US" sz="1800" dirty="0">
                <a:solidFill>
                  <a:srgbClr val="00AF81"/>
                </a:solidFill>
                <a:latin typeface="General Sans Semibold" pitchFamily="34" charset="0"/>
                <a:ea typeface="General Sans Semibold" pitchFamily="34" charset="-122"/>
                <a:cs typeface="General Sans Semibold" pitchFamily="34" charset="-120"/>
              </a:rPr>
              <a:t>bouwen_dashboard</a:t>
            </a:r>
            <a:r>
              <a:rPr lang="en-US" sz="1800" dirty="0">
                <a:solidFill>
                  <a:srgbClr val="000000"/>
                </a:solidFill>
                <a:latin typeface="General Sans" pitchFamily="34" charset="0"/>
                <a:ea typeface="General Sans" pitchFamily="34" charset="-122"/>
                <a:cs typeface="General Sans" pitchFamily="34" charset="-120"/>
              </a:rPr>
              <a:t>: eerst een uploadscherm met het bestand al klaar, dan een filter, grafieken met </a:t>
            </a:r>
            <a:r>
              <a:rPr lang="en-US" sz="1800" dirty="0">
                <a:solidFill>
                  <a:srgbClr val="00AF81"/>
                </a:solidFill>
                <a:latin typeface="General Sans Semibold" pitchFamily="34" charset="0"/>
                <a:ea typeface="General Sans Semibold" pitchFamily="34" charset="-122"/>
                <a:cs typeface="General Sans Semibold" pitchFamily="34" charset="-120"/>
              </a:rPr>
              <a:t>n per groep</a:t>
            </a:r>
            <a:r>
              <a:rPr lang="en-US" sz="1800" dirty="0">
                <a:solidFill>
                  <a:srgbClr val="000000"/>
                </a:solidFill>
                <a:latin typeface="General Sans" pitchFamily="34" charset="0"/>
                <a:ea typeface="General Sans" pitchFamily="34" charset="-122"/>
                <a:cs typeface="General Sans" pitchFamily="34" charset="-120"/>
              </a:rPr>
              <a:t> en een label dat het </a:t>
            </a:r>
            <a:r>
              <a:rPr lang="en-US" sz="1800" dirty="0">
                <a:solidFill>
                  <a:srgbClr val="00AF81"/>
                </a:solidFill>
                <a:latin typeface="General Sans Semibold" pitchFamily="34" charset="0"/>
                <a:ea typeface="General Sans Semibold" pitchFamily="34" charset="-122"/>
                <a:cs typeface="General Sans Semibold" pitchFamily="34" charset="-120"/>
              </a:rPr>
              <a:t>demodata</a:t>
            </a: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/review-reflect: er opent een vragenlijst. Vul in wat je nog wilt zien en leren. Anoniem, en je kunt een vraag overslaan.</a:t>
            </a:r>
            <a:endParaRPr lang="en-US" sz="2200" dirty="0"/>
          </a:p>
        </p:txBody>
      </p:sp>
      <p:pic>
        <p:nvPicPr>
          <p:cNvPr id="74" name="Image 0" descr="exports\261005_workshop_rad_uitvoering\img\Lamp.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a:effectLst/>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marL="0" indent="0" algn="l">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lstStyle/>
          <a:p>
            <a:endParaR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lstStyle/>
          <a:p>
            <a:endParaR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buiten deze workshop. De drie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lstStyle/>
          <a:p>
            <a:endParaR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lstStyle/>
          <a:p>
            <a:endParaR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icPr>
            <a:picLocks noChangeAspect="1"/>
          </p:cNvPicPr>
          <p:nvPr/>
        </p:nvPicPr>
        <p:blipFill>
          <a:blip r:embed="rId3"/>
          <a:stretch>
            <a:fillRect/>
          </a:stretch>
        </p:blipFill>
        <p:spPr>
          <a:xfrm>
            <a:off x="10454335" y="5120640"/>
            <a:ext cx="1188720" cy="118872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Open</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Ga naar github.com/codespaces en log in.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ADRES</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github.com/codespaces</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Kies</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Klik op de drie puntjes naast je Codespace.</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MENU</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Drie puntjes rechts</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Verwijder</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Bevestig het verwijderen. Stoppen alleen is niet genoeg.</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KNOP</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Delete</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Elke Codespace telt mee voor het gratis quotum van je eigen GitHub-account. Ruim hem op, zodat je eigen limiet niet vol raakt.</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marL="0" indent="0" algn="ctr">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marL="0" indent="0" algn="ctr">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marL="0" indent="0" algn="ctr">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lstStyle/>
          <a:p>
            <a:endParaR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lstStyle/>
          <a:p>
            <a:endParaR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4"/>
          </p:cNvPr>
          <p:cNvSpPr/>
          <p:nvPr/>
        </p:nvSpPr>
        <p:spPr>
          <a:xfrm>
            <a:off x="115808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4">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lstStyle/>
          <a:p>
            <a:endParaR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lstStyle/>
          <a:p>
            <a:endParaR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5"/>
          </p:cNvPr>
          <p:cNvSpPr/>
          <p:nvPr/>
        </p:nvSpPr>
        <p:spPr>
          <a:xfrm>
            <a:off x="463280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5">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lstStyle/>
          <a:p>
            <a:endParaR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lstStyle/>
          <a:p>
            <a:endParaR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6"/>
          </p:cNvPr>
          <p:cNvSpPr/>
          <p:nvPr/>
        </p:nvSpPr>
        <p:spPr>
          <a:xfrm>
            <a:off x="810752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6">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4598</Words>
  <Application>Microsoft Office PowerPoint</Application>
  <PresentationFormat>Widescreen</PresentationFormat>
  <Paragraphs>459</Paragraphs>
  <Slides>38</Slides>
  <Notes>38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Cooper Lt BT</vt:lpstr>
      <vt:lpstr>General Sans</vt:lpstr>
      <vt:lpstr>General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Aslam Tanjung</cp:lastModifiedBy>
  <cp:revision>2</cp:revision>
  <dcterms:created xsi:type="dcterms:W3CDTF">2026-10-08T11:06:42Z</dcterms:created>
  <dcterms:modified xsi:type="dcterms:W3CDTF">2026-10-13T10:24:39Z</dcterms:modified>
</cp:coreProperties>
</file>