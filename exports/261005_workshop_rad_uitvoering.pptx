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Uitval binnen 1 jaar</c:v>
                </c:pt>
              </c:strCache>
            </c:strRef>
          </c:tx>
          <c:spPr>
            <a:solidFill>
              <a:srgbClr val="3D68EC"/>
            </a:solidFill>
            <a:effectLst/>
          </c:spPr>
          <c:invertIfNegative val="0"/>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cat>
            <c:multiLvlStrRef>
              <c:f>Sheet1!$A$2:$A$5</c:f>
              <c:multiLvlStrCache>
                <c:ptCount val="4"/>
                <c:lvl>
                  <c:pt idx="0">
                    <c:v>Techniek</c:v>
                  </c:pt>
                  <c:pt idx="1">
                    <c:v>Economie</c:v>
                  </c:pt>
                  <c:pt idx="2">
                    <c:v>Gezondheidszorg</c:v>
                  </c:pt>
                  <c:pt idx="3">
                    <c:v>Totaal</c:v>
                  </c:pt>
                </c:lvl>
              </c:multiLvlStrCache>
            </c:multiLvlStrRef>
          </c:cat>
          <c:val>
            <c:numRef>
              <c:f>Sheet1!$B$2:$B$5</c:f>
              <c:numCache>
                <c:formatCode>General</c:formatCode>
                <c:ptCount val="4"/>
                <c:pt idx="0">
                  <c:v>21.9</c:v>
                </c:pt>
                <c:pt idx="1">
                  <c:v>13.1</c:v>
                </c:pt>
                <c:pt idx="2">
                  <c:v>10.2</c:v>
                </c:pt>
                <c:pt idx="3">
                  <c:v>16.7</c:v>
                </c:pt>
              </c:numCache>
            </c:numRef>
          </c:val>
        </c:ser>
        <c:dLbls>
          <c:numFmt formatCode="0.0&quot;%&quot;" sourceLinked="0"/>
          <c:txPr>
            <a:bodyPr/>
            <a:lstStyle/>
            <a:p>
              <a:pPr>
                <a:defRPr b="0" i="0" strike="noStrike" sz="1200" u="none">
                  <a:solidFill>
                    <a:srgbClr val="000000"/>
                  </a:solidFill>
                  <a:latin typeface="General Sans Semibold"/>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General Sans"/>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DDDDDD"/>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General Sans"/>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Welkom. Zeg in een zin wat vandaag gebeurt: in tweetallen werken met een AI-agent aan één casus, en een dashboard opleveren dat de vraag beantwoordt. Schrijf de eindtijd op een bord: 15:00 bijvoorbeeld.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CEDA-introslide: wie CEDA is. Kort toelichten, daarna door naar de inhoud.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Loop het schema in dertig seconden door. Benadruk de spiegelmomenten: daar leer je het meest, omdat je ziet wat de groep naast je deed. Aan het eind één blok voor evaluatie en afsluiting: we vragen wat jullie ervan vonden en of er een vervolg moet komen. Bij elk spiegelmoment kijken we in de skill, niet in individuele dashboards.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Spelregels: iedereen werkt via de agent, niemand hoeft te kunnen programmeren, wel kritisch kijken. Doel aan het eind: een kwalitatief antwoord op de casusvraag, onderbouwd met je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Wat is demodata: gegenereerd naar het patroon van een echt bestand. Zeg hardop: er zit één echt verschil in en één dat alleen toeval is, we vertellen niet welke. Dat is de oefening. Validatie tegen de werkelijkheid doen we niet; dat vraagt echte data buiten de devcontainer.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Uitleg voor jezelf: een casus is het probleem waar alle tweetallen aan werken. Eerstejaarsuitval = eerstejaars die binnen een jaar stoppen. De vraag is wie dat zijn en of het per sector verschilt. De deelnemers laten de agent de cijfers uitrekenen; zij bepalen wat ze ermee doen. Casus A gekozen omdat de data daar het sterkst op aansluit. Let op: opleidingsvorm heeft maar één waarde (voltijd). Wie dat zelf ontdekt, ziet waarom verkennen loont. Noem het niet vooraf.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Verdeel de tweetallen nu. Niemand hoeft code te lezen: de prompter typt, de checker beoordeelt of het antwoord van de agent logisch is. Bij vragen van deelnemers: stel zelf een wedervraag (wat zou je de agent kunnen vragen?). Check dat per tweetal één laptop met de devcontainer werkt. Wat ze aan het eind in handen hebben: een eigen aanpak, gespiegeld aan de tweetallen om hen heen.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Vergelijk met een collega. De agent is de collega die het werk doet. Een prompt is een mondelinge opdracht aan die collega: snel, maar elke keer anders. Een skill is een werkinstructie die je die collega geeft: dezelfde stappen en dezelfde controles, elke keer. Laat een echte SKILL.md zien, maximaal een minuut. Vuistregel: elke prompt die je drie keer typt, is een skill in wording. Zelf doen jullie de rondes met prompts; de skills laten wij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Noem de twee skills bij naam: /verkennen_data en /bouwen_dashboard. De deelnemers gebruiken ze niet zelf in de rondes: de leider laat ze draaien bij de spiegelmomenten en legt dan uit wat erin staat en wat de skill afdwingt.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Een GitHub-account is vooraf gevraagd; wie er geen heeft, maakt er nu een aan (gratis) of kijkt mee bij een buur. De Codespace is de devcontainer: Claude Code, Python en de data staan klaar. De volgende drie slides laten de stappen in beeld zien; loop ze live mee op het scherm. Lukt het starten niet binnen een paar minuten, dan is dat een signaal over de omgeving en niet over de deelnemer. Houd hier genoeg tijd voor.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knop op het scherm zien. Alle deelnemers doen dit tegelijk; het laden kost een minuut, vul die tijd met uitleg over wat een Codespace is: dezelfde omgeving voor iedereen, in de browser, niets te installeren.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key deel je mondeling of op papier uit, niet op de slide. Is de key kwijt of fout geplakt: opnieuw instellen met het commando dair-onboard in de terminal.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 de eerste instructie live voor en laat zien dat de agent de code zichtbaar maakt. De skills laten we straks zien bij de spiegelmomenten.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de timer van 22 minuten. Loop rond; beantwoord vragen met een wedervraag. Let op: wie het laatste cohort meetelt (vertekend percentage), zit in de valkuil. Dat bespreken we bij het spiegelmoment.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bestuurder-navigator-ronde. Aan het eind van ronde 1 moeten ze kunnen zeggen hoeveel studenten en cohorten er zijn, welke cohorten niet waarneembaar zijn en waar kleine groepen zitten.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kijken niet naar individuele schetsen, maar naar de skill. Vraag eerst twee tweetallen om één ding te noemen dat ze in ronde 1 tegenkwamen (één zin per tweetal). Loop daarna met de volgende twee dia's door de skill. Draai /verkennen_data live: dat duurt 1 tot 2 minuut (gemeten 58 tot 71 s, reken op een marge) en je legt uit terwijl hij loopt. Zet daarnaast desgewenst één gewone prompt op hetzelfde scherm.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/verkennen_data/SKILL.md. Open het bestand even op het scherm: bovenaan staat wanneer de agent de skill pakt, daaronder de stappen. Vraag: welke van deze vier stappen heb jij in ronde 1 overgeslagen of anders gedaan?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checks die in de skill zijn verweven. Laat de deelnemers zelf aanwijzen welke ze in ronde 1 zelf hebben gedaan. De cijfers komen uit de antwoordsleutel (workshop-rad/data/verwachte_uitkomsten.txt). De drempel 30 en 5 is een keuze van staat1cho en niet getoetst door een privacy officer.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Wissel nu van rol. Timer 22 minuten. Loop rond met de responsible-checks in je hoofd: drempel, waarneembaarheid, framing, toegankelijkheid.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zijn de vier minimumeisen. Meer hoeft niet; liever een werkend en uitlegbaar dashboard dan een volle tabbladenwand.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agent bouwt snel. Jij bepaalt wat je mag concluderen. Na ronde 2 zie je wat jullie zelf misten.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Ook nu geen individuele dashboards bekijken. Vraag twee tweetallen om één keuze te noemen die ze maakten (bijvoorbeeld de titel of de drempel). Draai /bouwen_dashboard live: dat duurt 2 tot 3 minuut (gemeten 124 tot 167 s). Loop daarna door de skill met de volgende dia's en sluit af met de onthulling van de uitkomst. Contrast: een gewone prompt telt de eerstejaars anders (2.449 in plaats van 2.809) en verbergt kleine groepen niet; zie docs/tijdmeting.md.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Dit is de opbouw van /bouwen_dashboard/SKILL.md. Let op het verschil met ronde 1: hier staan de responsible-checks niet in een aparte stap maar in de bouwinstructie zelf.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Vraag per rij: heb jij dit in je dashboard zelf gedaan? De skill doet het elke keer zonder dat je eraan hoeft te denken. Dat is het verschil tussen een prompt en een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onthulling: dit is wat een correcte analyse oplevert. Vraag of de skill dit ook vond. Wie in ronde 2 "vrouwen vallen vaker uit" had, ziet hier ruis. Gebruik dit als leermoment zonder beschuldiging. Antwoordsleutel: workshop-rad/data/verwachte_uitkomsten.txt.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Evaluatie en afsluiting zijn één blok van 16 minuten. Vraag eerst toestemming: de antwoorden zijn anoniem en gebruiken we om te bepalen of er een vervolg komt. Terugblik via de peiling (QR-code) of een kort rondje. Houd de tijd: loopt het uit, kort dan de afsluiting in, niet de peiling.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Laat de peiling lopen, twee minuten. Als de peiling-tool nog niet gekozen is, tel handopsteking en noteer de aantallen. Voeg de QR-code hier toe zodra de tool bekend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vraag, vier minuten. Alleen voor wie bij de vorige vraag niet "nee" koos. Vraag om concreet gedrag, niet om een onderwerp als "AI". Eén of twee zinnen is genoeg.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Rondje door de groep, één zin per persoon of op een kaartje (circa 6 minuten). Sluit af met de contactslide. Verwijs voor echte data naar het CEDA-pakket eencijferho.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Vaste afsluitslide: laat deze staan tijdens de vragen, zodat iedereen de links ziet.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github.com/cedanl" TargetMode="External"/><Relationship Id="rId3" Type="http://schemas.openxmlformats.org/officeDocument/2006/relationships/hyperlink" Target="https://community.npuls.nl/groups/data-ai" TargetMode="External"/><Relationship Id="rId4" Type="http://schemas.openxmlformats.org/officeDocument/2006/relationships/hyperlink" Target="mailto:ceda@surf.nl" TargetMode="External"/><Relationship Id="rId1" Type="http://schemas.openxmlformats.org/officeDocument/2006/relationships/image" Target="../media/Slide-30-image-1.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Npuls">    </p:cNvPr>
          <p:cNvPicPr>
            <a:picLocks noChangeAspect="1"/>
          </p:cNvPicPr>
          <p:nvPr/>
        </p:nvPicPr>
        <p:blipFill>
          <a:blip r:embed="rId2"/>
          <a:stretch>
            <a:fillRect/>
          </a:stretch>
        </p:blipFill>
        <p:spPr>
          <a:xfrm>
            <a:off x="548640" y="457200"/>
            <a:ext cx="2011680" cy="724596"/>
          </a:xfrm>
          <a:prstGeom prst="rect">
            <a:avLst/>
          </a:prstGeom>
        </p:spPr>
      </p:pic>
      <p:sp>
        <p:nvSpPr>
          <p:cNvPr id="3" name="Shape 0"/>
          <p:cNvSpPr/>
          <p:nvPr/>
        </p:nvSpPr>
        <p:spPr>
          <a:xfrm>
            <a:off x="3063240" y="621792"/>
            <a:ext cx="3072384" cy="402336"/>
          </a:xfrm>
          <a:prstGeom prst="roundRect">
            <a:avLst>
              <a:gd name="adj" fmla="val 113636"/>
            </a:avLst>
          </a:prstGeom>
          <a:solidFill>
            <a:srgbClr val="F4D74B"/>
          </a:solidFill>
          <a:ln/>
        </p:spPr>
      </p:sp>
      <p:sp>
        <p:nvSpPr>
          <p:cNvPr id="4" name="Text 1"/>
          <p:cNvSpPr/>
          <p:nvPr/>
        </p:nvSpPr>
        <p:spPr>
          <a:xfrm>
            <a:off x="3154680" y="621792"/>
            <a:ext cx="2889504" cy="402336"/>
          </a:xfrm>
          <a:prstGeom prst="rect">
            <a:avLst/>
          </a:prstGeom>
          <a:noFill/>
          <a:ln/>
        </p:spPr>
        <p:txBody>
          <a:bodyPr wrap="square" lIns="0" tIns="0" rIns="0" bIns="0" rtlCol="0" anchor="ctr"/>
          <a:lstStyle/>
          <a:p>
            <a:pPr algn="ctr" indent="0" marL="0">
              <a:lnSpc>
                <a:spcPct val="105000"/>
              </a:lnSpc>
              <a:buNone/>
            </a:pPr>
            <a:r>
              <a:rPr lang="en-US" sz="1300" dirty="0">
                <a:solidFill>
                  <a:srgbClr val="3D68EC"/>
                </a:solidFill>
                <a:latin typeface="General Sans Semibold" pitchFamily="34" charset="0"/>
                <a:ea typeface="General Sans Semibold" pitchFamily="34" charset="-122"/>
                <a:cs typeface="General Sans Semibold" pitchFamily="34" charset="-120"/>
              </a:rPr>
              <a:t>CEDA · DAIR-bijeenkomst</a:t>
            </a:r>
            <a:endParaRPr lang="en-US" sz="1300" dirty="0"/>
          </a:p>
        </p:txBody>
      </p:sp>
      <p:sp>
        <p:nvSpPr>
          <p:cNvPr id="5" name="Text 2"/>
          <p:cNvSpPr/>
          <p:nvPr/>
        </p:nvSpPr>
        <p:spPr>
          <a:xfrm>
            <a:off x="548640" y="1691640"/>
            <a:ext cx="6766560" cy="1828800"/>
          </a:xfrm>
          <a:prstGeom prst="rect">
            <a:avLst/>
          </a:prstGeom>
          <a:noFill/>
          <a:ln/>
        </p:spPr>
        <p:txBody>
          <a:bodyPr wrap="square" lIns="0" tIns="0" rIns="0" bIns="0" rtlCol="0" anchor="b"/>
          <a:lstStyle/>
          <a:p>
            <a:pPr algn="l" indent="0" marL="0">
              <a:lnSpc>
                <a:spcPct val="105000"/>
              </a:lnSpc>
              <a:buNone/>
            </a:pPr>
            <a:r>
              <a:rPr lang="en-US" sz="4600" dirty="0">
                <a:solidFill>
                  <a:srgbClr val="F4D9DC"/>
                </a:solidFill>
                <a:latin typeface="General Sans Semibold" pitchFamily="34" charset="0"/>
                <a:ea typeface="General Sans Semibold" pitchFamily="34" charset="-122"/>
                <a:cs typeface="General Sans Semibold" pitchFamily="34" charset="-120"/>
              </a:rPr>
              <a:t>Jij stuurt, de agent bouwt</a:t>
            </a:r>
            <a:endParaRPr lang="en-US" sz="4600" dirty="0"/>
          </a:p>
        </p:txBody>
      </p:sp>
      <p:sp>
        <p:nvSpPr>
          <p:cNvPr id="6" name="Text 3"/>
          <p:cNvSpPr/>
          <p:nvPr/>
        </p:nvSpPr>
        <p:spPr>
          <a:xfrm>
            <a:off x="548640" y="3657600"/>
            <a:ext cx="6766560" cy="54864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Agentic data science in het onderwijs</a:t>
            </a:r>
            <a:endParaRPr lang="en-US" sz="2200" dirty="0"/>
          </a:p>
        </p:txBody>
      </p:sp>
      <p:sp>
        <p:nvSpPr>
          <p:cNvPr id="7" name="Text 4"/>
          <p:cNvSpPr/>
          <p:nvPr/>
        </p:nvSpPr>
        <p:spPr>
          <a:xfrm>
            <a:off x="548640" y="4297680"/>
            <a:ext cx="6766560" cy="411480"/>
          </a:xfrm>
          <a:prstGeom prst="rect">
            <a:avLst/>
          </a:prstGeom>
          <a:noFill/>
          <a:ln/>
        </p:spPr>
        <p:txBody>
          <a:bodyPr wrap="square" lIns="0" tIns="0" rIns="0" bIns="0" rtlCol="0" anchor="t"/>
          <a:lstStyle/>
          <a:p>
            <a:pPr algn="l" indent="0" marL="0">
              <a:lnSpc>
                <a:spcPct val="105000"/>
              </a:lnSpc>
              <a:buNone/>
            </a:pPr>
            <a:r>
              <a:rPr lang="en-US" sz="1600" dirty="0">
                <a:solidFill>
                  <a:srgbClr val="F4D9DC"/>
                </a:solidFill>
                <a:latin typeface="General Sans" pitchFamily="34" charset="0"/>
                <a:ea typeface="General Sans" pitchFamily="34" charset="-122"/>
                <a:cs typeface="General Sans" pitchFamily="34" charset="-120"/>
              </a:rPr>
              <a:t>120 minuten · één casus · één dashboard</a:t>
            </a:r>
            <a:endParaRPr lang="en-US" sz="1600" dirty="0"/>
          </a:p>
        </p:txBody>
      </p:sp>
      <p:sp>
        <p:nvSpPr>
          <p:cNvPr id="8" name="Shape 5"/>
          <p:cNvSpPr/>
          <p:nvPr/>
        </p:nvSpPr>
        <p:spPr>
          <a:xfrm>
            <a:off x="8595360" y="2103120"/>
            <a:ext cx="0" cy="640080"/>
          </a:xfrm>
          <a:prstGeom prst="line">
            <a:avLst/>
          </a:prstGeom>
          <a:noFill/>
          <a:ln w="19050">
            <a:solidFill>
              <a:srgbClr val="F4D9DC"/>
            </a:solidFill>
            <a:prstDash val="dash"/>
          </a:ln>
        </p:spPr>
      </p:sp>
      <p:sp>
        <p:nvSpPr>
          <p:cNvPr id="9" name="Shape 6"/>
          <p:cNvSpPr/>
          <p:nvPr/>
        </p:nvSpPr>
        <p:spPr>
          <a:xfrm>
            <a:off x="8138160" y="1188720"/>
            <a:ext cx="914400" cy="914400"/>
          </a:xfrm>
          <a:prstGeom prst="ellipse">
            <a:avLst/>
          </a:prstGeom>
          <a:solidFill>
            <a:srgbClr val="F4D74B"/>
          </a:solidFill>
          <a:ln/>
        </p:spPr>
      </p:sp>
      <p:sp>
        <p:nvSpPr>
          <p:cNvPr id="10" name="Text 7"/>
          <p:cNvSpPr/>
          <p:nvPr/>
        </p:nvSpPr>
        <p:spPr>
          <a:xfrm>
            <a:off x="8138160" y="118872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1</a:t>
            </a:r>
            <a:endParaRPr lang="en-US" sz="2800" dirty="0"/>
          </a:p>
        </p:txBody>
      </p:sp>
      <p:sp>
        <p:nvSpPr>
          <p:cNvPr id="11" name="Text 8"/>
          <p:cNvSpPr/>
          <p:nvPr/>
        </p:nvSpPr>
        <p:spPr>
          <a:xfrm>
            <a:off x="9326880" y="118872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Data verkennen</a:t>
            </a:r>
            <a:endParaRPr lang="en-US" sz="2000" dirty="0"/>
          </a:p>
        </p:txBody>
      </p:sp>
      <p:sp>
        <p:nvSpPr>
          <p:cNvPr id="12" name="Shape 9"/>
          <p:cNvSpPr/>
          <p:nvPr/>
        </p:nvSpPr>
        <p:spPr>
          <a:xfrm>
            <a:off x="8595360" y="3657600"/>
            <a:ext cx="0" cy="640080"/>
          </a:xfrm>
          <a:prstGeom prst="line">
            <a:avLst/>
          </a:prstGeom>
          <a:noFill/>
          <a:ln w="19050">
            <a:solidFill>
              <a:srgbClr val="F4D9DC"/>
            </a:solidFill>
            <a:prstDash val="dash"/>
          </a:ln>
        </p:spPr>
      </p:sp>
      <p:sp>
        <p:nvSpPr>
          <p:cNvPr id="13" name="Shape 10"/>
          <p:cNvSpPr/>
          <p:nvPr/>
        </p:nvSpPr>
        <p:spPr>
          <a:xfrm>
            <a:off x="8138160" y="2743200"/>
            <a:ext cx="914400" cy="914400"/>
          </a:xfrm>
          <a:prstGeom prst="ellipse">
            <a:avLst/>
          </a:prstGeom>
          <a:solidFill>
            <a:srgbClr val="F4D9DC"/>
          </a:solidFill>
          <a:ln/>
        </p:spPr>
      </p:sp>
      <p:sp>
        <p:nvSpPr>
          <p:cNvPr id="14" name="Text 11"/>
          <p:cNvSpPr/>
          <p:nvPr/>
        </p:nvSpPr>
        <p:spPr>
          <a:xfrm>
            <a:off x="8138160" y="274320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2</a:t>
            </a:r>
            <a:endParaRPr lang="en-US" sz="2800" dirty="0"/>
          </a:p>
        </p:txBody>
      </p:sp>
      <p:sp>
        <p:nvSpPr>
          <p:cNvPr id="15" name="Text 12"/>
          <p:cNvSpPr/>
          <p:nvPr/>
        </p:nvSpPr>
        <p:spPr>
          <a:xfrm>
            <a:off x="9326880" y="274320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Dashboard bouwen</a:t>
            </a:r>
            <a:endParaRPr lang="en-US" sz="2000" dirty="0"/>
          </a:p>
        </p:txBody>
      </p:sp>
      <p:sp>
        <p:nvSpPr>
          <p:cNvPr id="16" name="Shape 13"/>
          <p:cNvSpPr/>
          <p:nvPr/>
        </p:nvSpPr>
        <p:spPr>
          <a:xfrm>
            <a:off x="8138160" y="4297680"/>
            <a:ext cx="914400" cy="914400"/>
          </a:xfrm>
          <a:prstGeom prst="ellipse">
            <a:avLst/>
          </a:prstGeom>
          <a:solidFill>
            <a:srgbClr val="F4D74B"/>
          </a:solidFill>
          <a:ln/>
        </p:spPr>
      </p:sp>
      <p:sp>
        <p:nvSpPr>
          <p:cNvPr id="17" name="Text 14"/>
          <p:cNvSpPr/>
          <p:nvPr/>
        </p:nvSpPr>
        <p:spPr>
          <a:xfrm>
            <a:off x="8138160" y="4297680"/>
            <a:ext cx="914400" cy="914400"/>
          </a:xfrm>
          <a:prstGeom prst="rect">
            <a:avLst/>
          </a:prstGeom>
          <a:noFill/>
          <a:ln/>
        </p:spPr>
        <p:txBody>
          <a:bodyPr wrap="square" lIns="0" tIns="0" rIns="0" bIns="0" rtlCol="0" anchor="ctr"/>
          <a:lstStyle/>
          <a:p>
            <a:pPr algn="ctr" indent="0" marL="0">
              <a:lnSpc>
                <a:spcPct val="105000"/>
              </a:lnSpc>
              <a:buNone/>
            </a:pPr>
            <a:r>
              <a:rPr lang="en-US" sz="2800" dirty="0">
                <a:solidFill>
                  <a:srgbClr val="3D68EC"/>
                </a:solidFill>
                <a:latin typeface="General Sans Semibold" pitchFamily="34" charset="0"/>
                <a:ea typeface="General Sans Semibold" pitchFamily="34" charset="-122"/>
                <a:cs typeface="General Sans Semibold" pitchFamily="34" charset="-120"/>
              </a:rPr>
              <a:t>3</a:t>
            </a:r>
            <a:endParaRPr lang="en-US" sz="2800" dirty="0"/>
          </a:p>
        </p:txBody>
      </p:sp>
      <p:sp>
        <p:nvSpPr>
          <p:cNvPr id="18" name="Text 15"/>
          <p:cNvSpPr/>
          <p:nvPr/>
        </p:nvSpPr>
        <p:spPr>
          <a:xfrm>
            <a:off x="9326880" y="4297680"/>
            <a:ext cx="2331720" cy="914400"/>
          </a:xfrm>
          <a:prstGeom prst="rect">
            <a:avLst/>
          </a:prstGeom>
          <a:noFill/>
          <a:ln/>
        </p:spPr>
        <p:txBody>
          <a:bodyPr wrap="square" lIns="0" tIns="0" rIns="0" bIns="0" rtlCol="0" anchor="ctr"/>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Evaluatie en afsluiting</a:t>
            </a:r>
            <a:endParaRPr lang="en-US" sz="2000" dirty="0"/>
          </a:p>
        </p:txBody>
      </p:sp>
      <p:sp>
        <p:nvSpPr>
          <p:cNvPr id="19" name="Shape 16"/>
          <p:cNvSpPr/>
          <p:nvPr/>
        </p:nvSpPr>
        <p:spPr>
          <a:xfrm>
            <a:off x="548640" y="525780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74B"/>
            </a:solidFill>
            <a:prstDash val="solid"/>
          </a:ln>
        </p:spPr>
      </p:sp>
      <p:sp>
        <p:nvSpPr>
          <p:cNvPr id="20" name="Shape 17"/>
          <p:cNvSpPr/>
          <p:nvPr/>
        </p:nvSpPr>
        <p:spPr>
          <a:xfrm>
            <a:off x="548640" y="5669280"/>
            <a:ext cx="4023360" cy="960120"/>
          </a:xfrm>
          <a:custGeom>
            <a:avLst/>
            <a:gdLst/>
            <a:ahLst/>
            <a:cxnLst/>
            <a:rect l="l" t="t" r="r" b="b"/>
            <a:pathLst>
              <a:path w="4023360" h="960120">
                <a:moveTo>
                  <a:pt x="0" y="822960"/>
                </a:moveTo>
                <a:cubicBezTo>
                  <a:pt x="603504" y="-137160"/>
                  <a:pt x="1207008" y="137160"/>
                  <a:pt x="2011680" y="617220"/>
                </a:cubicBezTo>
                <a:cubicBezTo>
                  <a:pt x="2816352" y="1097280"/>
                  <a:pt x="3419856" y="685800"/>
                  <a:pt x="4023360" y="18288"/>
                </a:cubicBezTo>
              </a:path>
            </a:pathLst>
          </a:custGeom>
          <a:ln w="114300">
            <a:solidFill>
              <a:srgbClr val="F4D9DC"/>
            </a:solidFill>
            <a:prstDash val="solid"/>
          </a:ln>
        </p:spPr>
      </p:sp>
      <p:sp>
        <p:nvSpPr>
          <p:cNvPr id="21" name="Text 18"/>
          <p:cNvSpPr/>
          <p:nvPr/>
        </p:nvSpPr>
        <p:spPr>
          <a:xfrm>
            <a:off x="548640" y="1325880"/>
            <a:ext cx="3657600" cy="365760"/>
          </a:xfrm>
          <a:prstGeom prst="rect">
            <a:avLst/>
          </a:prstGeom>
          <a:noFill/>
          <a:ln/>
        </p:spPr>
        <p:txBody>
          <a:bodyPr wrap="square" lIns="0" tIns="0" rIns="0" bIns="0" rtlCol="0" anchor="t"/>
          <a:lstStyle/>
          <a:p>
            <a:pPr algn="l" indent="0" marL="0">
              <a:lnSpc>
                <a:spcPct val="105000"/>
              </a:lnSpc>
              <a:buNone/>
            </a:pPr>
            <a:r>
              <a:rPr lang="en-US" sz="1400" dirty="0">
                <a:solidFill>
                  <a:srgbClr val="F4D74B"/>
                </a:solidFill>
                <a:latin typeface="General Sans Semibold" pitchFamily="34" charset="0"/>
                <a:ea typeface="General Sans Semibold" pitchFamily="34" charset="-122"/>
                <a:cs typeface="General Sans Semibold" pitchFamily="34" charset="-120"/>
              </a:rPr>
              <a:t>Moving Education.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731520" y="1600200"/>
            <a:ext cx="5090008" cy="320040"/>
          </a:xfrm>
          <a:prstGeom prst="rect">
            <a:avLst/>
          </a:prstGeom>
          <a:noFill/>
          <a:ln/>
        </p:spPr>
        <p:txBody>
          <a:bodyPr wrap="square" lIns="0" tIns="0" rIns="0" bIns="0" rtlCol="0" anchor="t"/>
          <a:lstStyle/>
          <a:p>
            <a:pPr algn="l"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WIE IS CEDA</a:t>
            </a:r>
            <a:endParaRPr lang="en-US" sz="1300" dirty="0"/>
          </a:p>
        </p:txBody>
      </p:sp>
      <p:sp>
        <p:nvSpPr>
          <p:cNvPr id="3" name="Text 1"/>
          <p:cNvSpPr/>
          <p:nvPr/>
        </p:nvSpPr>
        <p:spPr>
          <a:xfrm>
            <a:off x="731520" y="1965960"/>
            <a:ext cx="5090008" cy="1188720"/>
          </a:xfrm>
          <a:prstGeom prst="rect">
            <a:avLst/>
          </a:prstGeom>
          <a:noFill/>
          <a:ln/>
        </p:spPr>
        <p:txBody>
          <a:bodyPr wrap="square" lIns="0" tIns="0" rIns="0" bIns="0" rtlCol="0" anchor="t"/>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Centre of Educational Data Analytics</a:t>
            </a:r>
            <a:endParaRPr lang="en-US" sz="3200" dirty="0"/>
          </a:p>
        </p:txBody>
      </p:sp>
      <p:sp>
        <p:nvSpPr>
          <p:cNvPr id="4" name="Text 2"/>
          <p:cNvSpPr/>
          <p:nvPr/>
        </p:nvSpPr>
        <p:spPr>
          <a:xfrm>
            <a:off x="731520" y="3200400"/>
            <a:ext cx="5090008"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Cooper Lt BT" pitchFamily="34" charset="0"/>
                <a:ea typeface="Cooper Lt BT" pitchFamily="34" charset="-122"/>
                <a:cs typeface="Cooper Lt BT" pitchFamily="34" charset="-120"/>
              </a:rPr>
              <a:t>Eén team binnen Npuls. Van ruwe data tot AI-toepassing, open source.</a:t>
            </a:r>
            <a:endParaRPr lang="en-US" sz="1800" dirty="0"/>
          </a:p>
        </p:txBody>
      </p:sp>
      <p:sp>
        <p:nvSpPr>
          <p:cNvPr id="5" name="Shape 3"/>
          <p:cNvSpPr/>
          <p:nvPr/>
        </p:nvSpPr>
        <p:spPr>
          <a:xfrm>
            <a:off x="731520" y="4315968"/>
            <a:ext cx="155448" cy="155448"/>
          </a:xfrm>
          <a:prstGeom prst="ellipse">
            <a:avLst/>
          </a:prstGeom>
          <a:solidFill>
            <a:srgbClr val="3D68EC"/>
          </a:solidFill>
          <a:ln/>
        </p:spPr>
      </p:sp>
      <p:sp>
        <p:nvSpPr>
          <p:cNvPr id="6" name="Text 4"/>
          <p:cNvSpPr/>
          <p:nvPr/>
        </p:nvSpPr>
        <p:spPr>
          <a:xfrm>
            <a:off x="1051560" y="420624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Data, analytics en generatieve AI in één keten</a:t>
            </a:r>
            <a:endParaRPr lang="en-US" sz="1600" dirty="0"/>
          </a:p>
        </p:txBody>
      </p:sp>
      <p:sp>
        <p:nvSpPr>
          <p:cNvPr id="7" name="Shape 5"/>
          <p:cNvSpPr/>
          <p:nvPr/>
        </p:nvSpPr>
        <p:spPr>
          <a:xfrm>
            <a:off x="731520" y="4818888"/>
            <a:ext cx="155448" cy="155448"/>
          </a:xfrm>
          <a:prstGeom prst="ellipse">
            <a:avLst/>
          </a:prstGeom>
          <a:solidFill>
            <a:srgbClr val="DD784B"/>
          </a:solidFill>
          <a:ln/>
        </p:spPr>
      </p:sp>
      <p:sp>
        <p:nvSpPr>
          <p:cNvPr id="8" name="Text 6"/>
          <p:cNvSpPr/>
          <p:nvPr/>
        </p:nvSpPr>
        <p:spPr>
          <a:xfrm>
            <a:off x="1051560" y="470916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Altijd in co-creatie met mbo, hbo en wo</a:t>
            </a:r>
            <a:endParaRPr lang="en-US" sz="1600" dirty="0"/>
          </a:p>
        </p:txBody>
      </p:sp>
      <p:sp>
        <p:nvSpPr>
          <p:cNvPr id="9" name="Shape 7"/>
          <p:cNvSpPr/>
          <p:nvPr/>
        </p:nvSpPr>
        <p:spPr>
          <a:xfrm>
            <a:off x="731520" y="5321808"/>
            <a:ext cx="155448" cy="155448"/>
          </a:xfrm>
          <a:prstGeom prst="ellipse">
            <a:avLst/>
          </a:prstGeom>
          <a:solidFill>
            <a:srgbClr val="00AF81"/>
          </a:solidFill>
          <a:ln/>
        </p:spPr>
      </p:sp>
      <p:sp>
        <p:nvSpPr>
          <p:cNvPr id="10" name="Text 8"/>
          <p:cNvSpPr/>
          <p:nvPr/>
        </p:nvSpPr>
        <p:spPr>
          <a:xfrm>
            <a:off x="1051560" y="5212080"/>
            <a:ext cx="4769968" cy="50292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Open source, voor elke instelling</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loopt de middag</a:t>
            </a:r>
            <a:endParaRPr lang="en-US" sz="3400" dirty="0"/>
          </a:p>
        </p:txBody>
      </p:sp>
      <p:sp>
        <p:nvSpPr>
          <p:cNvPr id="73" name="Text 71"/>
          <p:cNvSpPr/>
          <p:nvPr/>
        </p:nvSpPr>
        <p:spPr>
          <a:xfrm>
            <a:off x="548640" y="1719072"/>
            <a:ext cx="153284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0:00</a:t>
            </a:r>
            <a:endParaRPr lang="en-US" sz="1400" dirty="0"/>
          </a:p>
        </p:txBody>
      </p:sp>
      <p:sp>
        <p:nvSpPr>
          <p:cNvPr id="74" name="Shape 72"/>
          <p:cNvSpPr/>
          <p:nvPr/>
        </p:nvSpPr>
        <p:spPr>
          <a:xfrm>
            <a:off x="548640" y="2103120"/>
            <a:ext cx="1532847" cy="914400"/>
          </a:xfrm>
          <a:prstGeom prst="rect">
            <a:avLst/>
          </a:prstGeom>
          <a:solidFill>
            <a:srgbClr val="F4D74B"/>
          </a:solidFill>
          <a:ln/>
        </p:spPr>
      </p:sp>
      <p:sp>
        <p:nvSpPr>
          <p:cNvPr id="75" name="Text 73"/>
          <p:cNvSpPr/>
          <p:nvPr/>
        </p:nvSpPr>
        <p:spPr>
          <a:xfrm>
            <a:off x="548640" y="2103120"/>
            <a:ext cx="153284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17 min</a:t>
            </a:r>
            <a:endParaRPr lang="en-US" sz="1800" dirty="0"/>
          </a:p>
        </p:txBody>
      </p:sp>
      <p:sp>
        <p:nvSpPr>
          <p:cNvPr id="76" name="Shape 74"/>
          <p:cNvSpPr/>
          <p:nvPr/>
        </p:nvSpPr>
        <p:spPr>
          <a:xfrm>
            <a:off x="548640" y="3017520"/>
            <a:ext cx="1532847" cy="45720"/>
          </a:xfrm>
          <a:prstGeom prst="rect">
            <a:avLst/>
          </a:prstGeom>
          <a:solidFill>
            <a:srgbClr val="F4D74B"/>
          </a:solidFill>
          <a:ln/>
        </p:spPr>
      </p:sp>
      <p:sp>
        <p:nvSpPr>
          <p:cNvPr id="77" name="Text 75"/>
          <p:cNvSpPr/>
          <p:nvPr/>
        </p:nvSpPr>
        <p:spPr>
          <a:xfrm>
            <a:off x="566928" y="3291840"/>
            <a:ext cx="144140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Intro, data en casus</a:t>
            </a:r>
            <a:endParaRPr lang="en-US" sz="1100" dirty="0"/>
          </a:p>
        </p:txBody>
      </p:sp>
      <p:sp>
        <p:nvSpPr>
          <p:cNvPr id="78" name="Text 76"/>
          <p:cNvSpPr/>
          <p:nvPr/>
        </p:nvSpPr>
        <p:spPr>
          <a:xfrm>
            <a:off x="566928" y="4160520"/>
            <a:ext cx="144140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CEDA, demodata en de opdracht</a:t>
            </a:r>
            <a:endParaRPr lang="en-US" sz="1200" dirty="0"/>
          </a:p>
        </p:txBody>
      </p:sp>
      <p:sp>
        <p:nvSpPr>
          <p:cNvPr id="79" name="Text 77"/>
          <p:cNvSpPr/>
          <p:nvPr/>
        </p:nvSpPr>
        <p:spPr>
          <a:xfrm>
            <a:off x="2127207" y="1719072"/>
            <a:ext cx="1172177"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0:17</a:t>
            </a:r>
            <a:endParaRPr lang="en-US" sz="1400" dirty="0"/>
          </a:p>
        </p:txBody>
      </p:sp>
      <p:sp>
        <p:nvSpPr>
          <p:cNvPr id="80" name="Shape 78"/>
          <p:cNvSpPr/>
          <p:nvPr/>
        </p:nvSpPr>
        <p:spPr>
          <a:xfrm>
            <a:off x="2127207" y="2103120"/>
            <a:ext cx="1172177" cy="914400"/>
          </a:xfrm>
          <a:prstGeom prst="rect">
            <a:avLst/>
          </a:prstGeom>
          <a:solidFill>
            <a:srgbClr val="F4D74B"/>
          </a:solidFill>
          <a:ln/>
        </p:spPr>
      </p:sp>
      <p:sp>
        <p:nvSpPr>
          <p:cNvPr id="81" name="Text 79"/>
          <p:cNvSpPr/>
          <p:nvPr/>
        </p:nvSpPr>
        <p:spPr>
          <a:xfrm>
            <a:off x="2127207" y="2103120"/>
            <a:ext cx="1172177" cy="914400"/>
          </a:xfrm>
          <a:prstGeom prst="rect">
            <a:avLst/>
          </a:prstGeom>
          <a:noFill/>
          <a:ln/>
        </p:spPr>
        <p:txBody>
          <a:bodyPr wrap="square" lIns="0" tIns="0" rIns="0" bIns="0" rtlCol="0" anchor="ctr"/>
          <a:lstStyle/>
          <a:p>
            <a:pPr algn="ctr"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13 min</a:t>
            </a:r>
            <a:endParaRPr lang="en-US" sz="1800" dirty="0"/>
          </a:p>
        </p:txBody>
      </p:sp>
      <p:sp>
        <p:nvSpPr>
          <p:cNvPr id="82" name="Shape 80"/>
          <p:cNvSpPr/>
          <p:nvPr/>
        </p:nvSpPr>
        <p:spPr>
          <a:xfrm>
            <a:off x="2127207" y="3017520"/>
            <a:ext cx="1172177" cy="45720"/>
          </a:xfrm>
          <a:prstGeom prst="rect">
            <a:avLst/>
          </a:prstGeom>
          <a:solidFill>
            <a:srgbClr val="F4D74B"/>
          </a:solidFill>
          <a:ln/>
        </p:spPr>
      </p:sp>
      <p:sp>
        <p:nvSpPr>
          <p:cNvPr id="83" name="Text 81"/>
          <p:cNvSpPr/>
          <p:nvPr/>
        </p:nvSpPr>
        <p:spPr>
          <a:xfrm>
            <a:off x="2145495" y="3291840"/>
            <a:ext cx="1080737"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Skills en devcontainer</a:t>
            </a:r>
            <a:endParaRPr lang="en-US" sz="1100" dirty="0"/>
          </a:p>
        </p:txBody>
      </p:sp>
      <p:sp>
        <p:nvSpPr>
          <p:cNvPr id="84" name="Text 82"/>
          <p:cNvSpPr/>
          <p:nvPr/>
        </p:nvSpPr>
        <p:spPr>
          <a:xfrm>
            <a:off x="2145495" y="4160520"/>
            <a:ext cx="1080737"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Wat is een skill, eerste prompt</a:t>
            </a:r>
            <a:endParaRPr lang="en-US" sz="1200" dirty="0"/>
          </a:p>
        </p:txBody>
      </p:sp>
      <p:sp>
        <p:nvSpPr>
          <p:cNvPr id="85" name="Text 83"/>
          <p:cNvSpPr/>
          <p:nvPr/>
        </p:nvSpPr>
        <p:spPr>
          <a:xfrm>
            <a:off x="3345104"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0:30</a:t>
            </a:r>
            <a:endParaRPr lang="en-US" sz="1400" dirty="0"/>
          </a:p>
        </p:txBody>
      </p:sp>
      <p:sp>
        <p:nvSpPr>
          <p:cNvPr id="86" name="Shape 84"/>
          <p:cNvSpPr/>
          <p:nvPr/>
        </p:nvSpPr>
        <p:spPr>
          <a:xfrm>
            <a:off x="3345104" y="2103120"/>
            <a:ext cx="1983684" cy="914400"/>
          </a:xfrm>
          <a:prstGeom prst="rect">
            <a:avLst/>
          </a:prstGeom>
          <a:solidFill>
            <a:srgbClr val="3D68EC"/>
          </a:solidFill>
          <a:ln/>
        </p:spPr>
      </p:sp>
      <p:sp>
        <p:nvSpPr>
          <p:cNvPr id="87" name="Text 85"/>
          <p:cNvSpPr/>
          <p:nvPr/>
        </p:nvSpPr>
        <p:spPr>
          <a:xfrm>
            <a:off x="3345104"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88" name="Shape 86"/>
          <p:cNvSpPr/>
          <p:nvPr/>
        </p:nvSpPr>
        <p:spPr>
          <a:xfrm>
            <a:off x="3345104" y="3017520"/>
            <a:ext cx="1983684" cy="45720"/>
          </a:xfrm>
          <a:prstGeom prst="rect">
            <a:avLst/>
          </a:prstGeom>
          <a:solidFill>
            <a:srgbClr val="3D68EC"/>
          </a:solidFill>
          <a:ln/>
        </p:spPr>
      </p:sp>
      <p:sp>
        <p:nvSpPr>
          <p:cNvPr id="89" name="Text 87"/>
          <p:cNvSpPr/>
          <p:nvPr/>
        </p:nvSpPr>
        <p:spPr>
          <a:xfrm>
            <a:off x="3363392"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1: data verkennen</a:t>
            </a:r>
            <a:endParaRPr lang="en-US" sz="1100" dirty="0"/>
          </a:p>
        </p:txBody>
      </p:sp>
      <p:sp>
        <p:nvSpPr>
          <p:cNvPr id="90" name="Text 88"/>
          <p:cNvSpPr/>
          <p:nvPr/>
        </p:nvSpPr>
        <p:spPr>
          <a:xfrm>
            <a:off x="3363392"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a:t>
            </a:r>
            <a:endParaRPr lang="en-US" sz="1200" dirty="0"/>
          </a:p>
        </p:txBody>
      </p:sp>
      <p:sp>
        <p:nvSpPr>
          <p:cNvPr id="91" name="Text 89"/>
          <p:cNvSpPr/>
          <p:nvPr/>
        </p:nvSpPr>
        <p:spPr>
          <a:xfrm>
            <a:off x="5374508"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0:52</a:t>
            </a:r>
            <a:endParaRPr lang="en-US" sz="1400" dirty="0"/>
          </a:p>
        </p:txBody>
      </p:sp>
      <p:sp>
        <p:nvSpPr>
          <p:cNvPr id="92" name="Shape 90"/>
          <p:cNvSpPr/>
          <p:nvPr/>
        </p:nvSpPr>
        <p:spPr>
          <a:xfrm>
            <a:off x="5374508" y="2103120"/>
            <a:ext cx="1352512" cy="914400"/>
          </a:xfrm>
          <a:prstGeom prst="rect">
            <a:avLst/>
          </a:prstGeom>
          <a:solidFill>
            <a:srgbClr val="DD784B"/>
          </a:solidFill>
          <a:ln/>
        </p:spPr>
      </p:sp>
      <p:sp>
        <p:nvSpPr>
          <p:cNvPr id="93" name="Text 91"/>
          <p:cNvSpPr/>
          <p:nvPr/>
        </p:nvSpPr>
        <p:spPr>
          <a:xfrm>
            <a:off x="5374508"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94" name="Shape 92"/>
          <p:cNvSpPr/>
          <p:nvPr/>
        </p:nvSpPr>
        <p:spPr>
          <a:xfrm>
            <a:off x="5374508" y="3017520"/>
            <a:ext cx="1352512" cy="45720"/>
          </a:xfrm>
          <a:prstGeom prst="rect">
            <a:avLst/>
          </a:prstGeom>
          <a:solidFill>
            <a:srgbClr val="DD784B"/>
          </a:solidFill>
          <a:ln/>
        </p:spPr>
      </p:sp>
      <p:sp>
        <p:nvSpPr>
          <p:cNvPr id="95" name="Text 93"/>
          <p:cNvSpPr/>
          <p:nvPr/>
        </p:nvSpPr>
        <p:spPr>
          <a:xfrm>
            <a:off x="5392796"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1</a:t>
            </a:r>
            <a:endParaRPr lang="en-US" sz="1100" dirty="0"/>
          </a:p>
        </p:txBody>
      </p:sp>
      <p:sp>
        <p:nvSpPr>
          <p:cNvPr id="96" name="Text 94"/>
          <p:cNvSpPr/>
          <p:nvPr/>
        </p:nvSpPr>
        <p:spPr>
          <a:xfrm>
            <a:off x="5392796"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kijk wat erin zit</a:t>
            </a:r>
            <a:endParaRPr lang="en-US" sz="1200" dirty="0"/>
          </a:p>
        </p:txBody>
      </p:sp>
      <p:sp>
        <p:nvSpPr>
          <p:cNvPr id="97" name="Shape 95"/>
          <p:cNvSpPr/>
          <p:nvPr/>
        </p:nvSpPr>
        <p:spPr>
          <a:xfrm>
            <a:off x="5392796" y="5029200"/>
            <a:ext cx="1315936" cy="310896"/>
          </a:xfrm>
          <a:prstGeom prst="roundRect">
            <a:avLst>
              <a:gd name="adj" fmla="val 147059"/>
            </a:avLst>
          </a:prstGeom>
          <a:solidFill>
            <a:srgbClr val="FFFFFF"/>
          </a:solidFill>
          <a:ln/>
        </p:spPr>
      </p:sp>
      <p:sp>
        <p:nvSpPr>
          <p:cNvPr id="98" name="Text 96"/>
          <p:cNvSpPr/>
          <p:nvPr/>
        </p:nvSpPr>
        <p:spPr>
          <a:xfrm>
            <a:off x="5392796" y="5029200"/>
            <a:ext cx="1315936"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/verkennen_data</a:t>
            </a:r>
            <a:endParaRPr lang="en-US" sz="900" dirty="0"/>
          </a:p>
        </p:txBody>
      </p:sp>
      <p:sp>
        <p:nvSpPr>
          <p:cNvPr id="99" name="Text 97"/>
          <p:cNvSpPr/>
          <p:nvPr/>
        </p:nvSpPr>
        <p:spPr>
          <a:xfrm>
            <a:off x="6772740" y="1719072"/>
            <a:ext cx="1983684"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1:07</a:t>
            </a:r>
            <a:endParaRPr lang="en-US" sz="1400" dirty="0"/>
          </a:p>
        </p:txBody>
      </p:sp>
      <p:sp>
        <p:nvSpPr>
          <p:cNvPr id="100" name="Shape 98"/>
          <p:cNvSpPr/>
          <p:nvPr/>
        </p:nvSpPr>
        <p:spPr>
          <a:xfrm>
            <a:off x="6772740" y="2103120"/>
            <a:ext cx="1983684" cy="914400"/>
          </a:xfrm>
          <a:prstGeom prst="rect">
            <a:avLst/>
          </a:prstGeom>
          <a:solidFill>
            <a:srgbClr val="3D68EC"/>
          </a:solidFill>
          <a:ln/>
        </p:spPr>
      </p:sp>
      <p:sp>
        <p:nvSpPr>
          <p:cNvPr id="101" name="Text 99"/>
          <p:cNvSpPr/>
          <p:nvPr/>
        </p:nvSpPr>
        <p:spPr>
          <a:xfrm>
            <a:off x="6772740" y="2103120"/>
            <a:ext cx="1983684" cy="914400"/>
          </a:xfrm>
          <a:prstGeom prst="rect">
            <a:avLst/>
          </a:prstGeom>
          <a:noFill/>
          <a:ln/>
        </p:spPr>
        <p:txBody>
          <a:bodyPr wrap="square" lIns="0" tIns="0" rIns="0" bIns="0" rtlCol="0" anchor="ctr"/>
          <a:lstStyle/>
          <a:p>
            <a:pPr algn="ctr" indent="0" marL="0">
              <a:lnSpc>
                <a:spcPct val="105000"/>
              </a:lnSpc>
              <a:buNone/>
            </a:pPr>
            <a:r>
              <a:rPr lang="en-US" sz="1800" dirty="0">
                <a:solidFill>
                  <a:srgbClr val="F4D9DC"/>
                </a:solidFill>
                <a:latin typeface="General Sans Semibold" pitchFamily="34" charset="0"/>
                <a:ea typeface="General Sans Semibold" pitchFamily="34" charset="-122"/>
                <a:cs typeface="General Sans Semibold" pitchFamily="34" charset="-120"/>
              </a:rPr>
              <a:t>22 min</a:t>
            </a:r>
            <a:endParaRPr lang="en-US" sz="1800" dirty="0"/>
          </a:p>
        </p:txBody>
      </p:sp>
      <p:sp>
        <p:nvSpPr>
          <p:cNvPr id="102" name="Shape 100"/>
          <p:cNvSpPr/>
          <p:nvPr/>
        </p:nvSpPr>
        <p:spPr>
          <a:xfrm>
            <a:off x="6772740" y="3017520"/>
            <a:ext cx="1983684" cy="45720"/>
          </a:xfrm>
          <a:prstGeom prst="rect">
            <a:avLst/>
          </a:prstGeom>
          <a:solidFill>
            <a:srgbClr val="3D68EC"/>
          </a:solidFill>
          <a:ln/>
        </p:spPr>
      </p:sp>
      <p:sp>
        <p:nvSpPr>
          <p:cNvPr id="103" name="Text 101"/>
          <p:cNvSpPr/>
          <p:nvPr/>
        </p:nvSpPr>
        <p:spPr>
          <a:xfrm>
            <a:off x="6791028" y="3291840"/>
            <a:ext cx="1892244"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Ronde 2: dashboard bouwen</a:t>
            </a:r>
            <a:endParaRPr lang="en-US" sz="1100" dirty="0"/>
          </a:p>
        </p:txBody>
      </p:sp>
      <p:sp>
        <p:nvSpPr>
          <p:cNvPr id="104" name="Text 102"/>
          <p:cNvSpPr/>
          <p:nvPr/>
        </p:nvSpPr>
        <p:spPr>
          <a:xfrm>
            <a:off x="6791028" y="4160520"/>
            <a:ext cx="1892244"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Jullie prompten zelf, andere rol</a:t>
            </a:r>
            <a:endParaRPr lang="en-US" sz="1200" dirty="0"/>
          </a:p>
        </p:txBody>
      </p:sp>
      <p:sp>
        <p:nvSpPr>
          <p:cNvPr id="105" name="Text 103"/>
          <p:cNvSpPr/>
          <p:nvPr/>
        </p:nvSpPr>
        <p:spPr>
          <a:xfrm>
            <a:off x="8802144" y="1719072"/>
            <a:ext cx="1352512"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1:29</a:t>
            </a:r>
            <a:endParaRPr lang="en-US" sz="1400" dirty="0"/>
          </a:p>
        </p:txBody>
      </p:sp>
      <p:sp>
        <p:nvSpPr>
          <p:cNvPr id="106" name="Shape 104"/>
          <p:cNvSpPr/>
          <p:nvPr/>
        </p:nvSpPr>
        <p:spPr>
          <a:xfrm>
            <a:off x="8802144" y="2103120"/>
            <a:ext cx="1352512" cy="914400"/>
          </a:xfrm>
          <a:prstGeom prst="rect">
            <a:avLst/>
          </a:prstGeom>
          <a:solidFill>
            <a:srgbClr val="DD784B"/>
          </a:solidFill>
          <a:ln/>
        </p:spPr>
      </p:sp>
      <p:sp>
        <p:nvSpPr>
          <p:cNvPr id="107" name="Text 105"/>
          <p:cNvSpPr/>
          <p:nvPr/>
        </p:nvSpPr>
        <p:spPr>
          <a:xfrm>
            <a:off x="8802144" y="2103120"/>
            <a:ext cx="1352512"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15 min</a:t>
            </a:r>
            <a:endParaRPr lang="en-US" sz="1800" dirty="0"/>
          </a:p>
        </p:txBody>
      </p:sp>
      <p:sp>
        <p:nvSpPr>
          <p:cNvPr id="108" name="Shape 106"/>
          <p:cNvSpPr/>
          <p:nvPr/>
        </p:nvSpPr>
        <p:spPr>
          <a:xfrm>
            <a:off x="8802144" y="3017520"/>
            <a:ext cx="1352512" cy="45720"/>
          </a:xfrm>
          <a:prstGeom prst="rect">
            <a:avLst/>
          </a:prstGeom>
          <a:solidFill>
            <a:srgbClr val="DD784B"/>
          </a:solidFill>
          <a:ln/>
        </p:spPr>
      </p:sp>
      <p:sp>
        <p:nvSpPr>
          <p:cNvPr id="109" name="Text 107"/>
          <p:cNvSpPr/>
          <p:nvPr/>
        </p:nvSpPr>
        <p:spPr>
          <a:xfrm>
            <a:off x="8820432" y="3291840"/>
            <a:ext cx="1261072"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100" dirty="0"/>
          </a:p>
        </p:txBody>
      </p:sp>
      <p:sp>
        <p:nvSpPr>
          <p:cNvPr id="110" name="Text 108"/>
          <p:cNvSpPr/>
          <p:nvPr/>
        </p:nvSpPr>
        <p:spPr>
          <a:xfrm>
            <a:off x="8820432" y="4160520"/>
            <a:ext cx="1261072"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Skill live, daarna de onthulling</a:t>
            </a:r>
            <a:endParaRPr lang="en-US" sz="1200" dirty="0"/>
          </a:p>
        </p:txBody>
      </p:sp>
      <p:sp>
        <p:nvSpPr>
          <p:cNvPr id="111" name="Shape 109"/>
          <p:cNvSpPr/>
          <p:nvPr/>
        </p:nvSpPr>
        <p:spPr>
          <a:xfrm>
            <a:off x="8820432" y="5029200"/>
            <a:ext cx="1315936" cy="310896"/>
          </a:xfrm>
          <a:prstGeom prst="roundRect">
            <a:avLst>
              <a:gd name="adj" fmla="val 147059"/>
            </a:avLst>
          </a:prstGeom>
          <a:solidFill>
            <a:srgbClr val="FFFFFF"/>
          </a:solidFill>
          <a:ln/>
        </p:spPr>
      </p:sp>
      <p:sp>
        <p:nvSpPr>
          <p:cNvPr id="112" name="Text 110"/>
          <p:cNvSpPr/>
          <p:nvPr/>
        </p:nvSpPr>
        <p:spPr>
          <a:xfrm>
            <a:off x="8820432" y="5029200"/>
            <a:ext cx="1315936" cy="310896"/>
          </a:xfrm>
          <a:prstGeom prst="rect">
            <a:avLst/>
          </a:prstGeom>
          <a:noFill/>
          <a:ln/>
        </p:spPr>
        <p:txBody>
          <a:bodyPr wrap="square" lIns="0" tIns="0" rIns="0" bIns="0" rtlCol="0" anchor="ctr"/>
          <a:lstStyle/>
          <a:p>
            <a:pPr algn="ctr" indent="0" marL="0">
              <a:lnSpc>
                <a:spcPct val="105000"/>
              </a:lnSpc>
              <a:buNone/>
            </a:pPr>
            <a:r>
              <a:rPr lang="en-US" sz="900" dirty="0">
                <a:solidFill>
                  <a:srgbClr val="3D68EC"/>
                </a:solidFill>
                <a:latin typeface="General Sans Semibold" pitchFamily="34" charset="0"/>
                <a:ea typeface="General Sans Semibold" pitchFamily="34" charset="-122"/>
                <a:cs typeface="General Sans Semibold" pitchFamily="34" charset="-120"/>
              </a:rPr>
              <a:t>/bouwen_dashboard</a:t>
            </a:r>
            <a:endParaRPr lang="en-US" sz="900" dirty="0"/>
          </a:p>
        </p:txBody>
      </p:sp>
      <p:sp>
        <p:nvSpPr>
          <p:cNvPr id="113" name="Text 111"/>
          <p:cNvSpPr/>
          <p:nvPr/>
        </p:nvSpPr>
        <p:spPr>
          <a:xfrm>
            <a:off x="10200376" y="1719072"/>
            <a:ext cx="1442679" cy="274320"/>
          </a:xfrm>
          <a:prstGeom prst="rect">
            <a:avLst/>
          </a:prstGeom>
          <a:noFill/>
          <a:ln/>
        </p:spPr>
        <p:txBody>
          <a:bodyPr wrap="square" lIns="0" tIns="0" rIns="0" bIns="0" rtlCol="0" anchor="t"/>
          <a:lstStyle/>
          <a:p>
            <a:pPr algn="l"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1:44</a:t>
            </a:r>
            <a:endParaRPr lang="en-US" sz="1400" dirty="0"/>
          </a:p>
        </p:txBody>
      </p:sp>
      <p:sp>
        <p:nvSpPr>
          <p:cNvPr id="114" name="Shape 112"/>
          <p:cNvSpPr/>
          <p:nvPr/>
        </p:nvSpPr>
        <p:spPr>
          <a:xfrm>
            <a:off x="10200376" y="2103120"/>
            <a:ext cx="1442679" cy="914400"/>
          </a:xfrm>
          <a:prstGeom prst="rect">
            <a:avLst/>
          </a:prstGeom>
          <a:solidFill>
            <a:srgbClr val="00AF81"/>
          </a:solidFill>
          <a:ln/>
        </p:spPr>
      </p:sp>
      <p:sp>
        <p:nvSpPr>
          <p:cNvPr id="115" name="Text 113"/>
          <p:cNvSpPr/>
          <p:nvPr/>
        </p:nvSpPr>
        <p:spPr>
          <a:xfrm>
            <a:off x="10200376" y="2103120"/>
            <a:ext cx="1442679" cy="914400"/>
          </a:xfrm>
          <a:prstGeom prst="rect">
            <a:avLst/>
          </a:prstGeom>
          <a:noFill/>
          <a:ln/>
        </p:spPr>
        <p:txBody>
          <a:bodyPr wrap="square" lIns="0" tIns="0" rIns="0" bIns="0" rtlCol="0" anchor="ctr"/>
          <a:lstStyle/>
          <a:p>
            <a:pPr algn="ctr"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16 min</a:t>
            </a:r>
            <a:endParaRPr lang="en-US" sz="1800" dirty="0"/>
          </a:p>
        </p:txBody>
      </p:sp>
      <p:sp>
        <p:nvSpPr>
          <p:cNvPr id="116" name="Shape 114"/>
          <p:cNvSpPr/>
          <p:nvPr/>
        </p:nvSpPr>
        <p:spPr>
          <a:xfrm>
            <a:off x="10200376" y="3017520"/>
            <a:ext cx="1442679" cy="45720"/>
          </a:xfrm>
          <a:prstGeom prst="rect">
            <a:avLst/>
          </a:prstGeom>
          <a:solidFill>
            <a:srgbClr val="00AF81"/>
          </a:solidFill>
          <a:ln/>
        </p:spPr>
      </p:sp>
      <p:sp>
        <p:nvSpPr>
          <p:cNvPr id="117" name="Text 115"/>
          <p:cNvSpPr/>
          <p:nvPr/>
        </p:nvSpPr>
        <p:spPr>
          <a:xfrm>
            <a:off x="10218664" y="3291840"/>
            <a:ext cx="1351239" cy="731520"/>
          </a:xfrm>
          <a:prstGeom prst="rect">
            <a:avLst/>
          </a:prstGeom>
          <a:noFill/>
          <a:ln/>
        </p:spPr>
        <p:txBody>
          <a:bodyPr wrap="square" lIns="0" tIns="0" rIns="0" bIns="0" rtlCol="0" anchor="t"/>
          <a:lstStyle/>
          <a:p>
            <a:pPr algn="l"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Evaluatie en afsluiting</a:t>
            </a:r>
            <a:endParaRPr lang="en-US" sz="1100" dirty="0"/>
          </a:p>
        </p:txBody>
      </p:sp>
      <p:sp>
        <p:nvSpPr>
          <p:cNvPr id="118" name="Text 116"/>
          <p:cNvSpPr/>
          <p:nvPr/>
        </p:nvSpPr>
        <p:spPr>
          <a:xfrm>
            <a:off x="10218664" y="4160520"/>
            <a:ext cx="1351239" cy="822960"/>
          </a:xfrm>
          <a:prstGeom prst="rect">
            <a:avLst/>
          </a:prstGeom>
          <a:noFill/>
          <a:ln/>
        </p:spPr>
        <p:txBody>
          <a:bodyPr wrap="square" lIns="0" tIns="0" rIns="0" bIns="0" rtlCol="0" anchor="t"/>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Terugblik, peiling, rondje</a:t>
            </a:r>
            <a:endParaRPr lang="en-US" sz="1200" dirty="0"/>
          </a:p>
        </p:txBody>
      </p:sp>
      <p:sp>
        <p:nvSpPr>
          <p:cNvPr id="119" name="Text 117"/>
          <p:cNvSpPr/>
          <p:nvPr/>
        </p:nvSpPr>
        <p:spPr>
          <a:xfrm>
            <a:off x="10728655" y="1719072"/>
            <a:ext cx="914400" cy="274320"/>
          </a:xfrm>
          <a:prstGeom prst="rect">
            <a:avLst/>
          </a:prstGeom>
          <a:noFill/>
          <a:ln/>
        </p:spPr>
        <p:txBody>
          <a:bodyPr wrap="square" lIns="0" tIns="0" rIns="0" bIns="0" rtlCol="0" anchor="t"/>
          <a:lstStyle/>
          <a:p>
            <a:pPr algn="r" indent="0" marL="0">
              <a:lnSpc>
                <a:spcPct val="105000"/>
              </a:lnSpc>
              <a:buNone/>
            </a:pPr>
            <a:r>
              <a:rPr lang="en-US" sz="1400" dirty="0">
                <a:solidFill>
                  <a:srgbClr val="3D68EC"/>
                </a:solidFill>
                <a:latin typeface="General Sans Semibold" pitchFamily="34" charset="0"/>
                <a:ea typeface="General Sans Semibold" pitchFamily="34" charset="-122"/>
                <a:cs typeface="General Sans Semibold" pitchFamily="34" charset="-120"/>
              </a:rPr>
              <a:t>2:00</a:t>
            </a:r>
            <a:endParaRPr lang="en-US" sz="1400" dirty="0"/>
          </a:p>
        </p:txBody>
      </p:sp>
      <p:sp>
        <p:nvSpPr>
          <p:cNvPr id="120" name="Shape 118"/>
          <p:cNvSpPr/>
          <p:nvPr/>
        </p:nvSpPr>
        <p:spPr>
          <a:xfrm>
            <a:off x="548640" y="6025896"/>
            <a:ext cx="201168" cy="201168"/>
          </a:xfrm>
          <a:prstGeom prst="rect">
            <a:avLst/>
          </a:prstGeom>
          <a:solidFill>
            <a:srgbClr val="F4D74B"/>
          </a:solidFill>
          <a:ln/>
        </p:spPr>
      </p:sp>
      <p:sp>
        <p:nvSpPr>
          <p:cNvPr id="121" name="Text 119"/>
          <p:cNvSpPr/>
          <p:nvPr/>
        </p:nvSpPr>
        <p:spPr>
          <a:xfrm>
            <a:off x="8412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Uitleg</a:t>
            </a:r>
            <a:endParaRPr lang="en-US" sz="1200" dirty="0"/>
          </a:p>
        </p:txBody>
      </p:sp>
      <p:sp>
        <p:nvSpPr>
          <p:cNvPr id="122" name="Shape 120"/>
          <p:cNvSpPr/>
          <p:nvPr/>
        </p:nvSpPr>
        <p:spPr>
          <a:xfrm>
            <a:off x="1901952" y="6025896"/>
            <a:ext cx="201168" cy="201168"/>
          </a:xfrm>
          <a:prstGeom prst="rect">
            <a:avLst/>
          </a:prstGeom>
          <a:solidFill>
            <a:srgbClr val="3D68EC"/>
          </a:solidFill>
          <a:ln/>
        </p:spPr>
      </p:sp>
      <p:sp>
        <p:nvSpPr>
          <p:cNvPr id="123" name="Text 121"/>
          <p:cNvSpPr/>
          <p:nvPr/>
        </p:nvSpPr>
        <p:spPr>
          <a:xfrm>
            <a:off x="2194560"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Werken in tweetallen</a:t>
            </a:r>
            <a:endParaRPr lang="en-US" sz="1200" dirty="0"/>
          </a:p>
        </p:txBody>
      </p:sp>
      <p:sp>
        <p:nvSpPr>
          <p:cNvPr id="124" name="Shape 122"/>
          <p:cNvSpPr/>
          <p:nvPr/>
        </p:nvSpPr>
        <p:spPr>
          <a:xfrm>
            <a:off x="4663440" y="6025896"/>
            <a:ext cx="201168" cy="201168"/>
          </a:xfrm>
          <a:prstGeom prst="rect">
            <a:avLst/>
          </a:prstGeom>
          <a:solidFill>
            <a:srgbClr val="DD784B"/>
          </a:solidFill>
          <a:ln/>
        </p:spPr>
      </p:sp>
      <p:sp>
        <p:nvSpPr>
          <p:cNvPr id="125" name="Text 123"/>
          <p:cNvSpPr/>
          <p:nvPr/>
        </p:nvSpPr>
        <p:spPr>
          <a:xfrm>
            <a:off x="49560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Spiegelmoment</a:t>
            </a:r>
            <a:endParaRPr lang="en-US" sz="1200" dirty="0"/>
          </a:p>
        </p:txBody>
      </p:sp>
      <p:sp>
        <p:nvSpPr>
          <p:cNvPr id="126" name="Shape 124"/>
          <p:cNvSpPr/>
          <p:nvPr/>
        </p:nvSpPr>
        <p:spPr>
          <a:xfrm>
            <a:off x="6720840" y="6025896"/>
            <a:ext cx="201168" cy="201168"/>
          </a:xfrm>
          <a:prstGeom prst="rect">
            <a:avLst/>
          </a:prstGeom>
          <a:solidFill>
            <a:srgbClr val="00AF81"/>
          </a:solidFill>
          <a:ln/>
        </p:spPr>
      </p:sp>
      <p:sp>
        <p:nvSpPr>
          <p:cNvPr id="127" name="Text 125"/>
          <p:cNvSpPr/>
          <p:nvPr/>
        </p:nvSpPr>
        <p:spPr>
          <a:xfrm>
            <a:off x="7013448" y="5989320"/>
            <a:ext cx="2377440" cy="274320"/>
          </a:xfrm>
          <a:prstGeom prst="rect">
            <a:avLst/>
          </a:prstGeom>
          <a:noFill/>
          <a:ln/>
        </p:spPr>
        <p:txBody>
          <a:bodyPr wrap="square" lIns="0" tIns="0" rIns="0" bIns="0" rtlCol="0" anchor="ctr"/>
          <a:lstStyle/>
          <a:p>
            <a:pPr algn="l" indent="0" marL="0">
              <a:lnSpc>
                <a:spcPct val="105000"/>
              </a:lnSpc>
              <a:buNone/>
            </a:pPr>
            <a:r>
              <a:rPr lang="en-US" sz="1200" dirty="0">
                <a:solidFill>
                  <a:srgbClr val="000000"/>
                </a:solidFill>
                <a:latin typeface="General Sans" pitchFamily="34" charset="0"/>
                <a:ea typeface="General Sans" pitchFamily="34" charset="-122"/>
                <a:cs typeface="General Sans" pitchFamily="34" charset="-120"/>
              </a:rPr>
              <a:t>Evaluatie en afsluiting</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Jij stuurt, de agent programmeert</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Er is geen goed of fout dashboard, alleen keuzes die je kunt uitleggen.</a:t>
            </a:r>
            <a:endParaRPr lang="en-US" sz="2200" dirty="0"/>
          </a:p>
        </p:txBody>
      </p:sp>
      <p:pic>
        <p:nvPicPr>
          <p:cNvPr id="74" name="Image 0" descr="exports\261005_workshop_rad_uitvoering\img\kunstmatigeintelligentie.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Het is demodata, het patroon is ingebouwd</a:t>
            </a:r>
            <a:endParaRPr lang="en-US" sz="32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Fictief:</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zelfde kolommen en codes als 1CHO, maar geen echte personen</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Mag de agent in: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geen AVG-toets of verwerkersovereenkomst nodig</a:t>
            </a:r>
            <a:endParaRPr lang="en-US" sz="19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Bewust gemaakt: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er zit een echt verschil én een nep-verschil in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DD784B"/>
                </a:solidFill>
                <a:latin typeface="General Sans Semibold" pitchFamily="34" charset="0"/>
                <a:ea typeface="General Sans Semibold" pitchFamily="34" charset="-122"/>
                <a:cs typeface="General Sans Semibold" pitchFamily="34" charset="-120"/>
              </a:rPr>
              <a:t>Alleen oefenen:</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de kansen zijn onze keuze, geen werkelijkheid</a:t>
            </a:r>
            <a:endParaRPr lang="en-US" sz="1900" dirty="0"/>
          </a:p>
        </p:txBody>
      </p:sp>
      <p:pic>
        <p:nvPicPr>
          <p:cNvPr id="81" name="Image 0" descr="exports\261005_workshop_rad_uitvoering\img\Slot.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Onze casus: eerstejaarsuitval</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De vraag</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F4D9DC"/>
                </a:solidFill>
                <a:latin typeface="General Sans Semibold" pitchFamily="34" charset="0"/>
                <a:ea typeface="General Sans Semibold" pitchFamily="34" charset="-122"/>
                <a:cs typeface="General Sans Semibold" pitchFamily="34" charset="-120"/>
              </a:rPr>
              <a:t>Wie stopt na jaar 1?</a:t>
            </a:r>
            <a:endParaRPr lang="en-US" sz="23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Welke eerstejaars stoppen binnen een jaar, en verschilt dat per sector en opleidingsvorm?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Met de agent</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Uitval laten uitrekenen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Jullie laten de agent per jaar uitrekenen hoeveel eerstejaars stoppen, en dat vergelijken per sector.</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Wat je oplevert</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000000"/>
                </a:solidFill>
                <a:latin typeface="General Sans Semibold" pitchFamily="34" charset="0"/>
                <a:ea typeface="General Sans Semibold" pitchFamily="34" charset="-122"/>
                <a:cs typeface="General Sans Semibold" pitchFamily="34" charset="-120"/>
              </a:rPr>
              <a:t>Eén dashboard</a:t>
            </a:r>
            <a:endParaRPr lang="en-US" sz="24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dashboard dat de vraag beantwoordt, met de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Data: 3070 fictieve studenten, cohorten 2012-2023, één bestand: data/demodata_1cho.csv.</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Werk in tweetallen, wissel per ronde</a:t>
            </a:r>
            <a:endParaRPr lang="en-US" sz="3400" dirty="0"/>
          </a:p>
        </p:txBody>
      </p:sp>
      <p:sp>
        <p:nvSpPr>
          <p:cNvPr id="73" name="Shape 71"/>
          <p:cNvSpPr/>
          <p:nvPr/>
        </p:nvSpPr>
        <p:spPr>
          <a:xfrm>
            <a:off x="548640" y="1572768"/>
            <a:ext cx="201168" cy="201168"/>
          </a:xfrm>
          <a:prstGeom prst="ellipse">
            <a:avLst/>
          </a:prstGeom>
          <a:solidFill>
            <a:srgbClr val="3D68EC"/>
          </a:solidFill>
          <a:ln/>
        </p:spPr>
      </p:sp>
      <p:sp>
        <p:nvSpPr>
          <p:cNvPr id="74" name="Text 72"/>
          <p:cNvSpPr/>
          <p:nvPr/>
        </p:nvSpPr>
        <p:spPr>
          <a:xfrm>
            <a:off x="960120" y="14630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Prompter:</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typt de opdrachten aan de agent</a:t>
            </a:r>
            <a:endParaRPr lang="en-US" sz="1900" dirty="0"/>
          </a:p>
        </p:txBody>
      </p:sp>
      <p:sp>
        <p:nvSpPr>
          <p:cNvPr id="75" name="Shape 73"/>
          <p:cNvSpPr/>
          <p:nvPr/>
        </p:nvSpPr>
        <p:spPr>
          <a:xfrm>
            <a:off x="548640" y="2487168"/>
            <a:ext cx="201168" cy="201168"/>
          </a:xfrm>
          <a:prstGeom prst="ellipse">
            <a:avLst/>
          </a:prstGeom>
          <a:solidFill>
            <a:srgbClr val="DD784B"/>
          </a:solidFill>
          <a:ln/>
        </p:spPr>
      </p:sp>
      <p:sp>
        <p:nvSpPr>
          <p:cNvPr id="76" name="Text 74"/>
          <p:cNvSpPr/>
          <p:nvPr/>
        </p:nvSpPr>
        <p:spPr>
          <a:xfrm>
            <a:off x="960120" y="2377440"/>
            <a:ext cx="5897880" cy="804672"/>
          </a:xfrm>
          <a:prstGeom prst="rect">
            <a:avLst/>
          </a:prstGeom>
          <a:noFill/>
          <a:ln/>
        </p:spPr>
        <p:txBody>
          <a:bodyPr wrap="square" lIns="0" tIns="0" rIns="0" bIns="0" rtlCol="0" anchor="t"/>
          <a:lstStyle/>
          <a:p>
            <a:pPr algn="l" indent="0" marL="0">
              <a:lnSpc>
                <a:spcPct val="105000"/>
              </a:lnSpc>
              <a:buNone/>
            </a:pPr>
            <a:r>
              <a:rPr lang="en-US" sz="1700" dirty="0">
                <a:solidFill>
                  <a:srgbClr val="3D68EC"/>
                </a:solidFill>
                <a:latin typeface="General Sans Semibold" pitchFamily="34" charset="0"/>
                <a:ea typeface="General Sans Semibold" pitchFamily="34" charset="-122"/>
                <a:cs typeface="General Sans Semibold" pitchFamily="34" charset="-120"/>
              </a:rPr>
              <a:t>Checker:</a:t>
            </a:r>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 leest wat de agent teruggeeft en vraagt: klopt dit, en kunnen we dit zo laten zien?</a:t>
            </a:r>
            <a:endParaRPr lang="en-US" sz="1700" dirty="0"/>
          </a:p>
        </p:txBody>
      </p:sp>
      <p:sp>
        <p:nvSpPr>
          <p:cNvPr id="77" name="Shape 75"/>
          <p:cNvSpPr/>
          <p:nvPr/>
        </p:nvSpPr>
        <p:spPr>
          <a:xfrm>
            <a:off x="548640" y="3401568"/>
            <a:ext cx="201168" cy="201168"/>
          </a:xfrm>
          <a:prstGeom prst="ellipse">
            <a:avLst/>
          </a:prstGeom>
          <a:solidFill>
            <a:srgbClr val="00AF81"/>
          </a:solidFill>
          <a:ln/>
        </p:spPr>
      </p:sp>
      <p:sp>
        <p:nvSpPr>
          <p:cNvPr id="78" name="Text 76"/>
          <p:cNvSpPr/>
          <p:nvPr/>
        </p:nvSpPr>
        <p:spPr>
          <a:xfrm>
            <a:off x="960120" y="32918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Wissel</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na ronde 1, zodat beiden beide rollen doen</a:t>
            </a:r>
            <a:endParaRPr lang="en-US" sz="1900" dirty="0"/>
          </a:p>
        </p:txBody>
      </p:sp>
      <p:sp>
        <p:nvSpPr>
          <p:cNvPr id="79" name="Shape 77"/>
          <p:cNvSpPr/>
          <p:nvPr/>
        </p:nvSpPr>
        <p:spPr>
          <a:xfrm>
            <a:off x="548640" y="4315968"/>
            <a:ext cx="201168" cy="201168"/>
          </a:xfrm>
          <a:prstGeom prst="ellipse">
            <a:avLst/>
          </a:prstGeom>
          <a:solidFill>
            <a:srgbClr val="F4D74B"/>
          </a:solidFill>
          <a:ln/>
        </p:spPr>
      </p:sp>
      <p:sp>
        <p:nvSpPr>
          <p:cNvPr id="80" name="Text 78"/>
          <p:cNvSpPr/>
          <p:nvPr/>
        </p:nvSpPr>
        <p:spPr>
          <a:xfrm>
            <a:off x="960120" y="4206240"/>
            <a:ext cx="5897880" cy="804672"/>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Loop je vast?</a:t>
            </a:r>
            <a:pPr algn="l" indent="0" marL="0">
              <a:lnSpc>
                <a:spcPct val="105000"/>
              </a:lnSpc>
              <a:buNone/>
            </a:pPr>
            <a:r>
              <a:rPr lang="en-US" sz="1900" dirty="0">
                <a:solidFill>
                  <a:srgbClr val="000000"/>
                </a:solidFill>
                <a:latin typeface="General Sans" pitchFamily="34" charset="0"/>
                <a:ea typeface="General Sans" pitchFamily="34" charset="-122"/>
                <a:cs typeface="General Sans" pitchFamily="34" charset="-120"/>
              </a:rPr>
              <a:t> Vraag de agent: leg uit wat je net deed</a:t>
            </a:r>
            <a:endParaRPr lang="en-US" sz="1900" dirty="0"/>
          </a:p>
        </p:txBody>
      </p:sp>
      <p:pic>
        <p:nvPicPr>
          <p:cNvPr id="81" name="Image 0" descr="exports\261005_workshop_rad_uitvoering\img\gesprek.png">    </p:cNvPr>
          <p:cNvPicPr>
            <a:picLocks noChangeAspect="1"/>
          </p:cNvPicPr>
          <p:nvPr/>
        </p:nvPicPr>
        <p:blipFill>
          <a:blip r:embed="rId1"/>
          <a:stretch>
            <a:fillRect/>
          </a:stretch>
        </p:blipFill>
        <p:spPr>
          <a:xfrm>
            <a:off x="7498080" y="1417320"/>
            <a:ext cx="4206240" cy="420624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Agent, prompt en skill</a:t>
            </a:r>
            <a:endParaRPr lang="en-US" sz="3400" dirty="0"/>
          </a:p>
        </p:txBody>
      </p:sp>
      <p:sp>
        <p:nvSpPr>
          <p:cNvPr id="73" name="Shape 71"/>
          <p:cNvSpPr/>
          <p:nvPr/>
        </p:nvSpPr>
        <p:spPr>
          <a:xfrm>
            <a:off x="548640" y="1371600"/>
            <a:ext cx="3515258" cy="3592830"/>
          </a:xfrm>
          <a:prstGeom prst="roundRect">
            <a:avLst>
              <a:gd name="adj" fmla="val 1895"/>
            </a:avLst>
          </a:prstGeom>
          <a:solidFill>
            <a:srgbClr val="F4D74B"/>
          </a:solidFill>
          <a:ln/>
        </p:spPr>
      </p:sp>
      <p:sp>
        <p:nvSpPr>
          <p:cNvPr id="74" name="Shape 72"/>
          <p:cNvSpPr/>
          <p:nvPr/>
        </p:nvSpPr>
        <p:spPr>
          <a:xfrm>
            <a:off x="822960" y="1719072"/>
            <a:ext cx="2966618" cy="402336"/>
          </a:xfrm>
          <a:prstGeom prst="roundRect">
            <a:avLst>
              <a:gd name="adj" fmla="val 113636"/>
            </a:avLst>
          </a:prstGeom>
          <a:solidFill>
            <a:srgbClr val="3D68EC"/>
          </a:solidFill>
          <a:ln/>
        </p:spPr>
      </p:sp>
      <p:sp>
        <p:nvSpPr>
          <p:cNvPr id="75" name="Text 73"/>
          <p:cNvSpPr/>
          <p:nvPr/>
        </p:nvSpPr>
        <p:spPr>
          <a:xfrm>
            <a:off x="914400"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De uitvoerder</a:t>
            </a:r>
            <a:endParaRPr lang="en-US" sz="1200" dirty="0"/>
          </a:p>
        </p:txBody>
      </p:sp>
      <p:sp>
        <p:nvSpPr>
          <p:cNvPr id="76" name="Text 74"/>
          <p:cNvSpPr/>
          <p:nvPr/>
        </p:nvSpPr>
        <p:spPr>
          <a:xfrm>
            <a:off x="822960"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Agent</a:t>
            </a:r>
            <a:endParaRPr lang="en-US" sz="2200" dirty="0"/>
          </a:p>
        </p:txBody>
      </p:sp>
      <p:sp>
        <p:nvSpPr>
          <p:cNvPr id="77" name="Text 75"/>
          <p:cNvSpPr/>
          <p:nvPr/>
        </p:nvSpPr>
        <p:spPr>
          <a:xfrm>
            <a:off x="822960"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AI die het werk doet: leest, schrijft en draait de code.</a:t>
            </a:r>
            <a:endParaRPr lang="en-US" sz="1500" dirty="0"/>
          </a:p>
        </p:txBody>
      </p:sp>
      <p:sp>
        <p:nvSpPr>
          <p:cNvPr id="78" name="Text 76"/>
          <p:cNvSpPr/>
          <p:nvPr/>
        </p:nvSpPr>
        <p:spPr>
          <a:xfrm>
            <a:off x="822960"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79" name="Text 77"/>
          <p:cNvSpPr/>
          <p:nvPr/>
        </p:nvSpPr>
        <p:spPr>
          <a:xfrm>
            <a:off x="822960"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Claude Code in VS Code</a:t>
            </a:r>
            <a:endParaRPr lang="en-US" sz="1500" dirty="0"/>
          </a:p>
        </p:txBody>
      </p:sp>
      <p:sp>
        <p:nvSpPr>
          <p:cNvPr id="80" name="Shape 78"/>
          <p:cNvSpPr/>
          <p:nvPr/>
        </p:nvSpPr>
        <p:spPr>
          <a:xfrm>
            <a:off x="4338218" y="1371600"/>
            <a:ext cx="3515258" cy="3592830"/>
          </a:xfrm>
          <a:prstGeom prst="roundRect">
            <a:avLst>
              <a:gd name="adj" fmla="val 1895"/>
            </a:avLst>
          </a:prstGeom>
          <a:solidFill>
            <a:srgbClr val="F4D9DC"/>
          </a:solidFill>
          <a:ln/>
        </p:spPr>
      </p:sp>
      <p:sp>
        <p:nvSpPr>
          <p:cNvPr id="81" name="Shape 79"/>
          <p:cNvSpPr/>
          <p:nvPr/>
        </p:nvSpPr>
        <p:spPr>
          <a:xfrm>
            <a:off x="4612538" y="1719072"/>
            <a:ext cx="2966618" cy="402336"/>
          </a:xfrm>
          <a:prstGeom prst="roundRect">
            <a:avLst>
              <a:gd name="adj" fmla="val 113636"/>
            </a:avLst>
          </a:prstGeom>
          <a:solidFill>
            <a:srgbClr val="3D68EC"/>
          </a:solidFill>
          <a:ln/>
        </p:spPr>
      </p:sp>
      <p:sp>
        <p:nvSpPr>
          <p:cNvPr id="82" name="Text 80"/>
          <p:cNvSpPr/>
          <p:nvPr/>
        </p:nvSpPr>
        <p:spPr>
          <a:xfrm>
            <a:off x="4703978"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Een losse opdracht</a:t>
            </a:r>
            <a:endParaRPr lang="en-US" sz="1200" dirty="0"/>
          </a:p>
        </p:txBody>
      </p:sp>
      <p:sp>
        <p:nvSpPr>
          <p:cNvPr id="83" name="Text 81"/>
          <p:cNvSpPr/>
          <p:nvPr/>
        </p:nvSpPr>
        <p:spPr>
          <a:xfrm>
            <a:off x="4612538"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Prompt</a:t>
            </a:r>
            <a:endParaRPr lang="en-US" sz="2200" dirty="0"/>
          </a:p>
        </p:txBody>
      </p:sp>
      <p:sp>
        <p:nvSpPr>
          <p:cNvPr id="84" name="Text 82"/>
          <p:cNvSpPr/>
          <p:nvPr/>
        </p:nvSpPr>
        <p:spPr>
          <a:xfrm>
            <a:off x="4612538"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jij zelf typt. Elke keer anders.</a:t>
            </a:r>
            <a:endParaRPr lang="en-US" sz="1500" dirty="0"/>
          </a:p>
        </p:txBody>
      </p:sp>
      <p:sp>
        <p:nvSpPr>
          <p:cNvPr id="85" name="Text 83"/>
          <p:cNvSpPr/>
          <p:nvPr/>
        </p:nvSpPr>
        <p:spPr>
          <a:xfrm>
            <a:off x="4612538"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86" name="Text 84"/>
          <p:cNvSpPr/>
          <p:nvPr/>
        </p:nvSpPr>
        <p:spPr>
          <a:xfrm>
            <a:off x="4612538"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"Laat zien wie er uitvalt"</a:t>
            </a:r>
            <a:endParaRPr lang="en-US" sz="1500" dirty="0"/>
          </a:p>
        </p:txBody>
      </p:sp>
      <p:sp>
        <p:nvSpPr>
          <p:cNvPr id="87" name="Shape 85"/>
          <p:cNvSpPr/>
          <p:nvPr/>
        </p:nvSpPr>
        <p:spPr>
          <a:xfrm>
            <a:off x="8127797" y="1371600"/>
            <a:ext cx="3515258" cy="3592830"/>
          </a:xfrm>
          <a:prstGeom prst="roundRect">
            <a:avLst>
              <a:gd name="adj" fmla="val 1895"/>
            </a:avLst>
          </a:prstGeom>
          <a:solidFill>
            <a:srgbClr val="F4D74B"/>
          </a:solidFill>
          <a:ln/>
        </p:spPr>
      </p:sp>
      <p:sp>
        <p:nvSpPr>
          <p:cNvPr id="88" name="Shape 86"/>
          <p:cNvSpPr/>
          <p:nvPr/>
        </p:nvSpPr>
        <p:spPr>
          <a:xfrm>
            <a:off x="8402117" y="1719072"/>
            <a:ext cx="2966618" cy="402336"/>
          </a:xfrm>
          <a:prstGeom prst="roundRect">
            <a:avLst>
              <a:gd name="adj" fmla="val 113636"/>
            </a:avLst>
          </a:prstGeom>
          <a:solidFill>
            <a:srgbClr val="3D68EC"/>
          </a:solidFill>
          <a:ln/>
        </p:spPr>
      </p:sp>
      <p:sp>
        <p:nvSpPr>
          <p:cNvPr id="89" name="Text 87"/>
          <p:cNvSpPr/>
          <p:nvPr/>
        </p:nvSpPr>
        <p:spPr>
          <a:xfrm>
            <a:off x="8493557" y="1719072"/>
            <a:ext cx="27837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Een vast stappenplan</a:t>
            </a:r>
            <a:endParaRPr lang="en-US" sz="1200" dirty="0"/>
          </a:p>
        </p:txBody>
      </p:sp>
      <p:sp>
        <p:nvSpPr>
          <p:cNvPr id="90" name="Text 88"/>
          <p:cNvSpPr/>
          <p:nvPr/>
        </p:nvSpPr>
        <p:spPr>
          <a:xfrm>
            <a:off x="8402117" y="2423160"/>
            <a:ext cx="2966618" cy="338328"/>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Skill</a:t>
            </a:r>
            <a:endParaRPr lang="en-US" sz="2200" dirty="0"/>
          </a:p>
        </p:txBody>
      </p:sp>
      <p:sp>
        <p:nvSpPr>
          <p:cNvPr id="91" name="Text 89"/>
          <p:cNvSpPr/>
          <p:nvPr/>
        </p:nvSpPr>
        <p:spPr>
          <a:xfrm>
            <a:off x="8402117" y="3035808"/>
            <a:ext cx="2966618"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tekstbestand met stappen en checks. Elke keer dezelfde werkwijze.</a:t>
            </a:r>
            <a:endParaRPr lang="en-US" sz="1500" dirty="0"/>
          </a:p>
        </p:txBody>
      </p:sp>
      <p:sp>
        <p:nvSpPr>
          <p:cNvPr id="92" name="Text 90"/>
          <p:cNvSpPr/>
          <p:nvPr/>
        </p:nvSpPr>
        <p:spPr>
          <a:xfrm>
            <a:off x="8402117" y="3938778"/>
            <a:ext cx="296661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VOORBEELD</a:t>
            </a:r>
            <a:endParaRPr lang="en-US" sz="1100" dirty="0"/>
          </a:p>
        </p:txBody>
      </p:sp>
      <p:sp>
        <p:nvSpPr>
          <p:cNvPr id="93" name="Text 91"/>
          <p:cNvSpPr/>
          <p:nvPr/>
        </p:nvSpPr>
        <p:spPr>
          <a:xfrm>
            <a:off x="8402117" y="4286250"/>
            <a:ext cx="296661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Eerst profiel, dan definities</a:t>
            </a:r>
            <a:endParaRPr lang="en-US" sz="1500" dirty="0"/>
          </a:p>
        </p:txBody>
      </p:sp>
      <p:sp>
        <p:nvSpPr>
          <p:cNvPr id="94" name="Text 92"/>
          <p:cNvSpPr/>
          <p:nvPr/>
        </p:nvSpPr>
        <p:spPr>
          <a:xfrm>
            <a:off x="548640" y="5147310"/>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In de rondes prompten jullie zelf. Bij de spiegelmomenten laten wij zien hoe een skill hetzelfde doet.</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Twee skills die wij laten zien</a:t>
            </a:r>
            <a:endParaRPr lang="en-US" sz="3400" dirty="0"/>
          </a:p>
        </p:txBody>
      </p:sp>
      <p:sp>
        <p:nvSpPr>
          <p:cNvPr id="73" name="Shape 71"/>
          <p:cNvSpPr/>
          <p:nvPr/>
        </p:nvSpPr>
        <p:spPr>
          <a:xfrm>
            <a:off x="548640" y="1371600"/>
            <a:ext cx="5410048" cy="3490722"/>
          </a:xfrm>
          <a:prstGeom prst="roundRect">
            <a:avLst>
              <a:gd name="adj" fmla="val 1921"/>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4175608" cy="402336"/>
          </a:xfrm>
          <a:prstGeom prst="roundRect">
            <a:avLst>
              <a:gd name="adj" fmla="val 113636"/>
            </a:avLst>
          </a:prstGeom>
          <a:solidFill>
            <a:srgbClr val="F4D74B"/>
          </a:solidFill>
          <a:ln/>
        </p:spPr>
      </p:sp>
      <p:sp>
        <p:nvSpPr>
          <p:cNvPr id="77" name="Text 75"/>
          <p:cNvSpPr/>
          <p:nvPr/>
        </p:nvSpPr>
        <p:spPr>
          <a:xfrm>
            <a:off x="1600200"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Spiegelmoment 1</a:t>
            </a:r>
            <a:endParaRPr lang="en-US" sz="1200" dirty="0"/>
          </a:p>
        </p:txBody>
      </p:sp>
      <p:sp>
        <p:nvSpPr>
          <p:cNvPr id="78" name="Text 76"/>
          <p:cNvSpPr/>
          <p:nvPr/>
        </p:nvSpPr>
        <p:spPr>
          <a:xfrm>
            <a:off x="822960"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F4D9DC"/>
                </a:solidFill>
                <a:latin typeface="General Sans Semibold" pitchFamily="34" charset="0"/>
                <a:ea typeface="General Sans Semibold" pitchFamily="34" charset="-122"/>
                <a:cs typeface="General Sans Semibold" pitchFamily="34" charset="-120"/>
              </a:rPr>
              <a:t>/verkennen_data</a:t>
            </a:r>
            <a:endParaRPr lang="en-US" sz="2200" dirty="0"/>
          </a:p>
        </p:txBody>
      </p:sp>
      <p:sp>
        <p:nvSpPr>
          <p:cNvPr id="79" name="Text 77"/>
          <p:cNvSpPr/>
          <p:nvPr/>
        </p:nvSpPr>
        <p:spPr>
          <a:xfrm>
            <a:off x="822960"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DOET</a:t>
            </a:r>
            <a:endParaRPr lang="en-US" sz="1100" dirty="0"/>
          </a:p>
        </p:txBody>
      </p:sp>
      <p:sp>
        <p:nvSpPr>
          <p:cNvPr id="80" name="Text 78"/>
          <p:cNvSpPr/>
          <p:nvPr/>
        </p:nvSpPr>
        <p:spPr>
          <a:xfrm>
            <a:off x="822960"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 verkennen, kleine groepen signaleren, schetsen.</a:t>
            </a:r>
            <a:endParaRPr lang="en-US" sz="1500" dirty="0"/>
          </a:p>
        </p:txBody>
      </p:sp>
      <p:sp>
        <p:nvSpPr>
          <p:cNvPr id="81" name="Text 79"/>
          <p:cNvSpPr/>
          <p:nvPr/>
        </p:nvSpPr>
        <p:spPr>
          <a:xfrm>
            <a:off x="822960"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2" name="Text 80"/>
          <p:cNvSpPr/>
          <p:nvPr/>
        </p:nvSpPr>
        <p:spPr>
          <a:xfrm>
            <a:off x="822960"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data-profiel.md en schets.md</a:t>
            </a:r>
            <a:endParaRPr lang="en-US" sz="1500" dirty="0"/>
          </a:p>
        </p:txBody>
      </p:sp>
      <p:sp>
        <p:nvSpPr>
          <p:cNvPr id="83" name="Shape 81"/>
          <p:cNvSpPr/>
          <p:nvPr/>
        </p:nvSpPr>
        <p:spPr>
          <a:xfrm>
            <a:off x="6233008" y="1371600"/>
            <a:ext cx="5410048" cy="3490722"/>
          </a:xfrm>
          <a:prstGeom prst="roundRect">
            <a:avLst>
              <a:gd name="adj" fmla="val 1921"/>
            </a:avLst>
          </a:prstGeom>
          <a:solidFill>
            <a:srgbClr val="DD784B"/>
          </a:solidFill>
          <a:ln/>
        </p:spPr>
      </p:sp>
      <p:sp>
        <p:nvSpPr>
          <p:cNvPr id="84" name="Shape 82"/>
          <p:cNvSpPr/>
          <p:nvPr/>
        </p:nvSpPr>
        <p:spPr>
          <a:xfrm>
            <a:off x="6507328" y="1645920"/>
            <a:ext cx="548640" cy="548640"/>
          </a:xfrm>
          <a:prstGeom prst="ellipse">
            <a:avLst/>
          </a:prstGeom>
          <a:solidFill>
            <a:srgbClr val="F4D9DC"/>
          </a:solidFill>
          <a:ln/>
        </p:spPr>
      </p:sp>
      <p:sp>
        <p:nvSpPr>
          <p:cNvPr id="85" name="Text 83"/>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7193128" y="1719072"/>
            <a:ext cx="4175608" cy="402336"/>
          </a:xfrm>
          <a:prstGeom prst="roundRect">
            <a:avLst>
              <a:gd name="adj" fmla="val 113636"/>
            </a:avLst>
          </a:prstGeom>
          <a:solidFill>
            <a:srgbClr val="F4D9DC"/>
          </a:solidFill>
          <a:ln/>
        </p:spPr>
      </p:sp>
      <p:sp>
        <p:nvSpPr>
          <p:cNvPr id="87" name="Text 85"/>
          <p:cNvSpPr/>
          <p:nvPr/>
        </p:nvSpPr>
        <p:spPr>
          <a:xfrm>
            <a:off x="7284568" y="1719072"/>
            <a:ext cx="399272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Spiegelmoment 2</a:t>
            </a:r>
            <a:endParaRPr lang="en-US" sz="1200" dirty="0"/>
          </a:p>
        </p:txBody>
      </p:sp>
      <p:sp>
        <p:nvSpPr>
          <p:cNvPr id="88" name="Text 86"/>
          <p:cNvSpPr/>
          <p:nvPr/>
        </p:nvSpPr>
        <p:spPr>
          <a:xfrm>
            <a:off x="6507328" y="2423160"/>
            <a:ext cx="4861408" cy="338328"/>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General Sans Semibold" pitchFamily="34" charset="0"/>
                <a:ea typeface="General Sans Semibold" pitchFamily="34" charset="-122"/>
                <a:cs typeface="General Sans Semibold" pitchFamily="34" charset="-120"/>
              </a:rPr>
              <a:t>/bouwen_dashboard</a:t>
            </a:r>
            <a:endParaRPr lang="en-US" sz="2200" dirty="0"/>
          </a:p>
        </p:txBody>
      </p:sp>
      <p:sp>
        <p:nvSpPr>
          <p:cNvPr id="89" name="Text 87"/>
          <p:cNvSpPr/>
          <p:nvPr/>
        </p:nvSpPr>
        <p:spPr>
          <a:xfrm>
            <a:off x="6507328" y="3035808"/>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DOET</a:t>
            </a:r>
            <a:endParaRPr lang="en-US" sz="1100" dirty="0"/>
          </a:p>
        </p:txBody>
      </p:sp>
      <p:sp>
        <p:nvSpPr>
          <p:cNvPr id="90" name="Text 88"/>
          <p:cNvSpPr/>
          <p:nvPr/>
        </p:nvSpPr>
        <p:spPr>
          <a:xfrm>
            <a:off x="6507328" y="3383280"/>
            <a:ext cx="4861408" cy="54102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Dashboard bouwen, met de checks erin verweven.</a:t>
            </a:r>
            <a:endParaRPr lang="en-US" sz="1500" dirty="0"/>
          </a:p>
        </p:txBody>
      </p:sp>
      <p:sp>
        <p:nvSpPr>
          <p:cNvPr id="91" name="Text 89"/>
          <p:cNvSpPr/>
          <p:nvPr/>
        </p:nvSpPr>
        <p:spPr>
          <a:xfrm>
            <a:off x="6507328" y="4061460"/>
            <a:ext cx="4861408"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2" name="Text 90"/>
          <p:cNvSpPr/>
          <p:nvPr/>
        </p:nvSpPr>
        <p:spPr>
          <a:xfrm>
            <a:off x="6507328" y="4408932"/>
            <a:ext cx="4861408" cy="31623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app.py en berekeningen.py</a:t>
            </a:r>
            <a:endParaRPr lang="en-US" sz="1500" dirty="0"/>
          </a:p>
        </p:txBody>
      </p:sp>
      <p:sp>
        <p:nvSpPr>
          <p:cNvPr id="93" name="Text 91"/>
          <p:cNvSpPr/>
          <p:nvPr/>
        </p:nvSpPr>
        <p:spPr>
          <a:xfrm>
            <a:off x="548640" y="5045202"/>
            <a:ext cx="11094415" cy="457200"/>
          </a:xfrm>
          <a:prstGeom prst="rect">
            <a:avLst/>
          </a:prstGeom>
          <a:noFill/>
          <a:ln/>
        </p:spPr>
        <p:txBody>
          <a:bodyPr wrap="square" lIns="0" tIns="0" rIns="0" bIns="0" rtlCol="0" anchor="t"/>
          <a:lstStyle/>
          <a:p>
            <a:pPr algn="l"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Jullie prompten zelf in de rondes. Wij laten de skills live draaien bij de spiegelmomenten.</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start je met de agent</a:t>
            </a:r>
            <a:endParaRPr lang="en-US" sz="34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GitHub-account</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Gratis; log in op github.com</a:t>
            </a:r>
            <a:endParaRPr lang="en-US" sz="1400" dirty="0"/>
          </a:p>
        </p:txBody>
      </p:sp>
      <p:sp>
        <p:nvSpPr>
          <p:cNvPr id="76" name="Shape 74"/>
          <p:cNvSpPr/>
          <p:nvPr/>
        </p:nvSpPr>
        <p:spPr>
          <a:xfrm>
            <a:off x="9859975" y="1687068"/>
            <a:ext cx="1554480" cy="329184"/>
          </a:xfrm>
          <a:prstGeom prst="roundRect">
            <a:avLst>
              <a:gd name="adj" fmla="val 138889"/>
            </a:avLst>
          </a:prstGeom>
          <a:solidFill>
            <a:srgbClr val="00AF81"/>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1</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Codespace</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de workshop-repo en maak er een</a:t>
            </a:r>
            <a:endParaRPr lang="en-US" sz="1400" dirty="0"/>
          </a:p>
        </p:txBody>
      </p:sp>
      <p:sp>
        <p:nvSpPr>
          <p:cNvPr id="81" name="Shape 79"/>
          <p:cNvSpPr/>
          <p:nvPr/>
        </p:nvSpPr>
        <p:spPr>
          <a:xfrm>
            <a:off x="9859975" y="2647188"/>
            <a:ext cx="1554480" cy="329184"/>
          </a:xfrm>
          <a:prstGeom prst="roundRect">
            <a:avLst>
              <a:gd name="adj" fmla="val 138889"/>
            </a:avLst>
          </a:prstGeom>
          <a:solidFill>
            <a:srgbClr val="00AF81"/>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2</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Terminal en key</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Plak de workshop-key van de begeleider</a:t>
            </a:r>
            <a:endParaRPr lang="en-US" sz="1400" dirty="0"/>
          </a:p>
        </p:txBody>
      </p:sp>
      <p:sp>
        <p:nvSpPr>
          <p:cNvPr id="86" name="Shape 84"/>
          <p:cNvSpPr/>
          <p:nvPr/>
        </p:nvSpPr>
        <p:spPr>
          <a:xfrm>
            <a:off x="9859975" y="3607308"/>
            <a:ext cx="1554480" cy="329184"/>
          </a:xfrm>
          <a:prstGeom prst="roundRect">
            <a:avLst>
              <a:gd name="adj" fmla="val 138889"/>
            </a:avLst>
          </a:prstGeom>
          <a:solidFill>
            <a:srgbClr val="00AF81"/>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Stap 3</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Claude Code</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Open het Claude-paneel</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Stap 4</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Loop je vast? Roep iemand, dan zoeken we het samen uit.</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100" dirty="0">
                <a:solidFill>
                  <a:srgbClr val="3D68EC"/>
                </a:solidFill>
                <a:latin typeface="General Sans Semibold" pitchFamily="34" charset="0"/>
                <a:ea typeface="General Sans Semibold" pitchFamily="34" charset="-122"/>
                <a:cs typeface="General Sans Semibold" pitchFamily="34" charset="-120"/>
              </a:rPr>
              <a:t>Stap 2: open de repo en maak een Codespace</a:t>
            </a:r>
            <a:endParaRPr lang="en-US" sz="3100" dirty="0"/>
          </a:p>
        </p:txBody>
      </p:sp>
      <p:pic>
        <p:nvPicPr>
          <p:cNvPr id="73" name="Image 0" descr="GitHub-repo met de Code-knop en de Codespaces-tab geopend">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github.com/cedanl/dair-agentic-coding</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Groene knop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tab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Codespaces</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dan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Create codespace on main</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Wachten duurt ongeveer een minuut.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Stap 3: open een terminal en plak de key (alleen de eerste keer)</a:t>
            </a:r>
            <a:endParaRPr lang="en-US" sz="2500" dirty="0"/>
          </a:p>
        </p:txBody>
      </p:sp>
      <p:pic>
        <p:nvPicPr>
          <p:cNvPr id="73" name="Image 0" descr="VS Code met het menu Terminal en New Terminal">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Terminal → New Terminal</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De </a:t>
            </a:r>
            <a:pPr algn="l" indent="0" marL="0">
              <a:lnSpc>
                <a:spcPct val="105000"/>
              </a:lnSpc>
              <a:spcAft>
                <a:spcPts val="800"/>
              </a:spcAft>
              <a:buNone/>
            </a:pPr>
            <a:r>
              <a:rPr lang="en-US" sz="1800" dirty="0">
                <a:solidFill>
                  <a:srgbClr val="00AF81"/>
                </a:solidFill>
                <a:latin typeface="General Sans Semibold" pitchFamily="34" charset="0"/>
                <a:ea typeface="General Sans Semibold" pitchFamily="34" charset="-122"/>
                <a:cs typeface="General Sans Semibold" pitchFamily="34" charset="-120"/>
              </a:rPr>
              <a:t>workshop-key</a:t>
            </a:r>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 krijg je van de begeleider. Plak hem en druk op Enter. Je ziet niets verschijnen, dat is normaal.</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Stap 4: open het Claude-paneel</a:t>
            </a:r>
            <a:endParaRPr lang="en-US" sz="3400" dirty="0"/>
          </a:p>
        </p:txBody>
      </p:sp>
      <p:pic>
        <p:nvPicPr>
          <p:cNvPr id="73" name="Image 0" descr="VS Code met het oranje Claude-icoon rechtsboven in de editor">    </p:cNvPr>
          <p:cNvPicPr>
            <a:picLocks noChangeAspect="1"/>
          </p:cNvPicPr>
          <p:nvPr/>
        </p:nvPicPr>
        <p:blipFill>
          <a:blip r:embed="rId1"/>
          <a:stretch>
            <a:fillRect/>
          </a:stretch>
        </p:blipFill>
        <p:spPr>
          <a:xfrm>
            <a:off x="851870" y="1371600"/>
            <a:ext cx="6464595" cy="4343400"/>
          </a:xfrm>
          <a:prstGeom prst="rect">
            <a:avLst/>
          </a:prstGeom>
        </p:spPr>
      </p:pic>
      <p:sp>
        <p:nvSpPr>
          <p:cNvPr id="74" name="Text 71"/>
          <p:cNvSpPr/>
          <p:nvPr/>
        </p:nvSpPr>
        <p:spPr>
          <a:xfrm>
            <a:off x="548640" y="5852160"/>
            <a:ext cx="7071055" cy="365760"/>
          </a:xfrm>
          <a:prstGeom prst="rect">
            <a:avLst/>
          </a:prstGeom>
          <a:noFill/>
          <a:ln/>
        </p:spPr>
        <p:txBody>
          <a:bodyPr wrap="square" lIns="0" tIns="0" rIns="0" bIns="0" rtlCol="0" anchor="t"/>
          <a:lstStyle/>
          <a:p>
            <a:pPr algn="ctr" indent="0" marL="0">
              <a:lnSpc>
                <a:spcPct val="105000"/>
              </a:lnSpc>
              <a:buNone/>
            </a:pPr>
            <a:r>
              <a:rPr lang="en-US" sz="1300" dirty="0">
                <a:solidFill>
                  <a:srgbClr val="000000"/>
                </a:solidFill>
                <a:latin typeface="General Sans" pitchFamily="34" charset="0"/>
                <a:ea typeface="General Sans" pitchFamily="34" charset="-122"/>
                <a:cs typeface="General Sans" pitchFamily="34" charset="-120"/>
              </a:rPr>
              <a:t>Klik op het oranje Claude-icoon, je hoeft niets in de terminal te typen</a:t>
            </a:r>
            <a:endParaRPr lang="en-US" sz="1300" dirty="0"/>
          </a:p>
        </p:txBody>
      </p:sp>
      <p:sp>
        <p:nvSpPr>
          <p:cNvPr id="75" name="Text 72"/>
          <p:cNvSpPr/>
          <p:nvPr/>
        </p:nvSpPr>
        <p:spPr>
          <a:xfrm>
            <a:off x="7894015" y="1463040"/>
            <a:ext cx="3749040" cy="4480560"/>
          </a:xfrm>
          <a:prstGeom prst="rect">
            <a:avLst/>
          </a:prstGeom>
          <a:noFill/>
          <a:ln/>
        </p:spPr>
        <p:txBody>
          <a:bodyPr wrap="square" lIns="0" tIns="0" rIns="0" bIns="0" rtlCol="0" anchor="t"/>
          <a:lstStyle/>
          <a:p>
            <a:pPr algn="l" indent="0" marL="0">
              <a:lnSpc>
                <a:spcPct val="105000"/>
              </a:lnSpc>
              <a:spcAft>
                <a:spcPts val="800"/>
              </a:spcAft>
              <a:buNone/>
            </a:pPr>
            <a:r>
              <a:rPr lang="en-US" sz="1800" dirty="0">
                <a:solidFill>
                  <a:srgbClr val="000000"/>
                </a:solidFill>
                <a:latin typeface="General Sans" pitchFamily="34" charset="0"/>
                <a:ea typeface="General Sans" pitchFamily="34" charset="-122"/>
                <a:cs typeface="General Sans" pitchFamily="34" charset="-120"/>
              </a:rPr>
              <a:t>Probeer als eerste instructie: "Lees data/demodata_1cho.csv en vertel in gewone taal wat erin zit."</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1</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1: ken je data</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22 minuten. Verken data en codebook voor je iets bouwt.</a:t>
            </a:r>
            <a:endParaRPr lang="en-US" sz="2200" dirty="0"/>
          </a:p>
        </p:txBody>
      </p:sp>
      <p:pic>
        <p:nvPicPr>
          <p:cNvPr id="76" name="Image 0" descr="exports\261005_workshop_rad_uitvoering\img\data.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Ronde 1: wat je doet en oplevert</a:t>
            </a:r>
            <a:endParaRPr lang="en-US" sz="3400" dirty="0"/>
          </a:p>
        </p:txBody>
      </p:sp>
      <p:sp>
        <p:nvSpPr>
          <p:cNvPr id="73" name="Shape 71"/>
          <p:cNvSpPr/>
          <p:nvPr/>
        </p:nvSpPr>
        <p:spPr>
          <a:xfrm>
            <a:off x="548640" y="1371600"/>
            <a:ext cx="3515258" cy="3145536"/>
          </a:xfrm>
          <a:prstGeom prst="roundRect">
            <a:avLst>
              <a:gd name="adj" fmla="val 2366"/>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2280818" cy="402336"/>
          </a:xfrm>
          <a:prstGeom prst="roundRect">
            <a:avLst>
              <a:gd name="adj" fmla="val 113636"/>
            </a:avLst>
          </a:prstGeom>
          <a:solidFill>
            <a:srgbClr val="F4D74B"/>
          </a:solidFill>
          <a:ln/>
        </p:spPr>
      </p:sp>
      <p:sp>
        <p:nvSpPr>
          <p:cNvPr id="77" name="Text 75"/>
          <p:cNvSpPr/>
          <p:nvPr/>
        </p:nvSpPr>
        <p:spPr>
          <a:xfrm>
            <a:off x="1600200"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Verken</a:t>
            </a:r>
            <a:endParaRPr lang="en-US" sz="1200" dirty="0"/>
          </a:p>
        </p:txBody>
      </p:sp>
      <p:sp>
        <p:nvSpPr>
          <p:cNvPr id="78" name="Text 76"/>
          <p:cNvSpPr/>
          <p:nvPr/>
        </p:nvSpPr>
        <p:spPr>
          <a:xfrm>
            <a:off x="822960" y="2423160"/>
            <a:ext cx="2966618" cy="691896"/>
          </a:xfrm>
          <a:prstGeom prst="rect">
            <a:avLst/>
          </a:prstGeom>
          <a:noFill/>
          <a:ln/>
        </p:spPr>
        <p:txBody>
          <a:bodyPr wrap="square" lIns="0" tIns="0" rIns="0" bIns="0" rtlCol="0" anchor="t"/>
          <a:lstStyle/>
          <a:p>
            <a:pPr algn="l" indent="0" marL="0">
              <a:lnSpc>
                <a:spcPct val="105000"/>
              </a:lnSpc>
              <a:buNone/>
            </a:pPr>
            <a:r>
              <a:rPr lang="en-US" sz="2400" dirty="0">
                <a:solidFill>
                  <a:srgbClr val="F4D9DC"/>
                </a:solidFill>
                <a:latin typeface="General Sans Semibold" pitchFamily="34" charset="0"/>
                <a:ea typeface="General Sans Semibold" pitchFamily="34" charset="-122"/>
                <a:cs typeface="General Sans Semibold" pitchFamily="34" charset="-120"/>
              </a:rPr>
              <a:t>Wat zit erin?</a:t>
            </a:r>
            <a:endParaRPr lang="en-US" sz="2400" dirty="0"/>
          </a:p>
        </p:txBody>
      </p:sp>
      <p:sp>
        <p:nvSpPr>
          <p:cNvPr id="79" name="Text 77"/>
          <p:cNvSpPr/>
          <p:nvPr/>
        </p:nvSpPr>
        <p:spPr>
          <a:xfrm>
            <a:off x="822960"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de definitie van uitval en instroom.</a:t>
            </a:r>
            <a:endParaRPr lang="en-US" sz="1500" dirty="0"/>
          </a:p>
        </p:txBody>
      </p:sp>
      <p:sp>
        <p:nvSpPr>
          <p:cNvPr id="80" name="Shape 78"/>
          <p:cNvSpPr/>
          <p:nvPr/>
        </p:nvSpPr>
        <p:spPr>
          <a:xfrm>
            <a:off x="4338218" y="1371600"/>
            <a:ext cx="3515258" cy="3145536"/>
          </a:xfrm>
          <a:prstGeom prst="roundRect">
            <a:avLst>
              <a:gd name="adj" fmla="val 2366"/>
            </a:avLst>
          </a:prstGeom>
          <a:solidFill>
            <a:srgbClr val="DD784B"/>
          </a:solidFill>
          <a:ln/>
        </p:spPr>
      </p:sp>
      <p:sp>
        <p:nvSpPr>
          <p:cNvPr id="81" name="Shape 79"/>
          <p:cNvSpPr/>
          <p:nvPr/>
        </p:nvSpPr>
        <p:spPr>
          <a:xfrm>
            <a:off x="4612538" y="1645920"/>
            <a:ext cx="548640" cy="548640"/>
          </a:xfrm>
          <a:prstGeom prst="ellipse">
            <a:avLst/>
          </a:prstGeom>
          <a:solidFill>
            <a:srgbClr val="F4D9DC"/>
          </a:solidFill>
          <a:ln/>
        </p:spPr>
      </p:sp>
      <p:sp>
        <p:nvSpPr>
          <p:cNvPr id="82" name="Text 80"/>
          <p:cNvSpPr/>
          <p:nvPr/>
        </p:nvSpPr>
        <p:spPr>
          <a:xfrm>
            <a:off x="461253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5298338" y="1719072"/>
            <a:ext cx="2280818" cy="402336"/>
          </a:xfrm>
          <a:prstGeom prst="roundRect">
            <a:avLst>
              <a:gd name="adj" fmla="val 113636"/>
            </a:avLst>
          </a:prstGeom>
          <a:solidFill>
            <a:srgbClr val="F4D9DC"/>
          </a:solidFill>
          <a:ln/>
        </p:spPr>
      </p:sp>
      <p:sp>
        <p:nvSpPr>
          <p:cNvPr id="84" name="Text 82"/>
          <p:cNvSpPr/>
          <p:nvPr/>
        </p:nvSpPr>
        <p:spPr>
          <a:xfrm>
            <a:off x="5389778"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Controleer</a:t>
            </a:r>
            <a:endParaRPr lang="en-US" sz="1200" dirty="0"/>
          </a:p>
        </p:txBody>
      </p:sp>
      <p:sp>
        <p:nvSpPr>
          <p:cNvPr id="85" name="Text 83"/>
          <p:cNvSpPr/>
          <p:nvPr/>
        </p:nvSpPr>
        <p:spPr>
          <a:xfrm>
            <a:off x="4612538"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Wat mag je laten zien?</a:t>
            </a:r>
            <a:endParaRPr lang="en-US" sz="2300" dirty="0"/>
          </a:p>
        </p:txBody>
      </p:sp>
      <p:sp>
        <p:nvSpPr>
          <p:cNvPr id="86" name="Text 84"/>
          <p:cNvSpPr/>
          <p:nvPr/>
        </p:nvSpPr>
        <p:spPr>
          <a:xfrm>
            <a:off x="4612538"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Kleine groepen en cohorten die nog niet afgelopen zijn. Wat telt wel en niet mee?</a:t>
            </a:r>
            <a:endParaRPr lang="en-US" sz="1500" dirty="0"/>
          </a:p>
        </p:txBody>
      </p:sp>
      <p:sp>
        <p:nvSpPr>
          <p:cNvPr id="87" name="Shape 85"/>
          <p:cNvSpPr/>
          <p:nvPr/>
        </p:nvSpPr>
        <p:spPr>
          <a:xfrm>
            <a:off x="8127797" y="1371600"/>
            <a:ext cx="3515258" cy="3145536"/>
          </a:xfrm>
          <a:prstGeom prst="roundRect">
            <a:avLst>
              <a:gd name="adj" fmla="val 2366"/>
            </a:avLst>
          </a:prstGeom>
          <a:solidFill>
            <a:srgbClr val="00AF81"/>
          </a:solidFill>
          <a:ln/>
        </p:spPr>
      </p:sp>
      <p:sp>
        <p:nvSpPr>
          <p:cNvPr id="88" name="Shape 86"/>
          <p:cNvSpPr/>
          <p:nvPr/>
        </p:nvSpPr>
        <p:spPr>
          <a:xfrm>
            <a:off x="8402117" y="1645920"/>
            <a:ext cx="548640" cy="548640"/>
          </a:xfrm>
          <a:prstGeom prst="ellipse">
            <a:avLst/>
          </a:prstGeom>
          <a:solidFill>
            <a:srgbClr val="F4D9DC"/>
          </a:solidFill>
          <a:ln/>
        </p:spPr>
      </p:sp>
      <p:sp>
        <p:nvSpPr>
          <p:cNvPr id="89" name="Text 87"/>
          <p:cNvSpPr/>
          <p:nvPr/>
        </p:nvSpPr>
        <p:spPr>
          <a:xfrm>
            <a:off x="8402117"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9087917" y="1719072"/>
            <a:ext cx="2280818" cy="402336"/>
          </a:xfrm>
          <a:prstGeom prst="roundRect">
            <a:avLst>
              <a:gd name="adj" fmla="val 113636"/>
            </a:avLst>
          </a:prstGeom>
          <a:solidFill>
            <a:srgbClr val="F4D9DC"/>
          </a:solidFill>
          <a:ln/>
        </p:spPr>
      </p:sp>
      <p:sp>
        <p:nvSpPr>
          <p:cNvPr id="91" name="Text 89"/>
          <p:cNvSpPr/>
          <p:nvPr/>
        </p:nvSpPr>
        <p:spPr>
          <a:xfrm>
            <a:off x="9179357" y="1719072"/>
            <a:ext cx="2097938"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Schets</a:t>
            </a:r>
            <a:endParaRPr lang="en-US" sz="1200" dirty="0"/>
          </a:p>
        </p:txBody>
      </p:sp>
      <p:sp>
        <p:nvSpPr>
          <p:cNvPr id="92" name="Text 90"/>
          <p:cNvSpPr/>
          <p:nvPr/>
        </p:nvSpPr>
        <p:spPr>
          <a:xfrm>
            <a:off x="8402117" y="2423160"/>
            <a:ext cx="2966618" cy="691896"/>
          </a:xfrm>
          <a:prstGeom prst="rect">
            <a:avLst/>
          </a:prstGeom>
          <a:noFill/>
          <a:ln/>
        </p:spPr>
        <p:txBody>
          <a:bodyPr wrap="square" lIns="0" tIns="0" rIns="0" bIns="0" rtlCol="0" anchor="t"/>
          <a:lstStyle/>
          <a:p>
            <a:pPr algn="l" indent="0" marL="0">
              <a:lnSpc>
                <a:spcPct val="105000"/>
              </a:lnSpc>
              <a:buNone/>
            </a:pPr>
            <a:r>
              <a:rPr lang="en-US" sz="2300" dirty="0">
                <a:solidFill>
                  <a:srgbClr val="000000"/>
                </a:solidFill>
                <a:latin typeface="General Sans Semibold" pitchFamily="34" charset="0"/>
                <a:ea typeface="General Sans Semibold" pitchFamily="34" charset="-122"/>
                <a:cs typeface="General Sans Semibold" pitchFamily="34" charset="-120"/>
              </a:rPr>
              <a:t>Twee of drie views</a:t>
            </a:r>
            <a:endParaRPr lang="en-US" sz="2300" dirty="0"/>
          </a:p>
        </p:txBody>
      </p:sp>
      <p:sp>
        <p:nvSpPr>
          <p:cNvPr id="93" name="Text 91"/>
          <p:cNvSpPr/>
          <p:nvPr/>
        </p:nvSpPr>
        <p:spPr>
          <a:xfrm>
            <a:off x="8402117" y="3389376"/>
            <a:ext cx="2966618"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schets op papier of in tekst van wat je gaat bouwen, met een conclusie als titel.</a:t>
            </a:r>
            <a:endParaRPr lang="en-US" sz="1500" dirty="0"/>
          </a:p>
        </p:txBody>
      </p:sp>
      <p:sp>
        <p:nvSpPr>
          <p:cNvPr id="94" name="Text 92"/>
          <p:cNvSpPr/>
          <p:nvPr/>
        </p:nvSpPr>
        <p:spPr>
          <a:xfrm>
            <a:off x="548640" y="4700016"/>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"Vertel in gewone taal wat er in data/demodata_1cho.csv zit." </a:t>
            </a:r>
            <a:pPr algn="l" indent="0" marL="0">
              <a:lnSpc>
                <a:spcPct val="105000"/>
              </a:lnSpc>
              <a:buNone/>
            </a:pPr>
            <a:r>
              <a:rPr lang="en-US" sz="1500" dirty="0">
                <a:solidFill>
                  <a:srgbClr val="DD784B"/>
                </a:solidFill>
                <a:latin typeface="General Sans Semibold" pitchFamily="34" charset="0"/>
                <a:ea typeface="General Sans Semibold" pitchFamily="34" charset="-122"/>
                <a:cs typeface="General Sans Semibold" pitchFamily="34" charset="-120"/>
              </a:rPr>
              <a:t>Oplevering:</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begrip van de data, een schets en een eerste privacy-check.</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2</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1: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/verkennen_data, en wat deed jij anders?</a:t>
            </a:r>
            <a:endParaRPr lang="en-US" sz="2200" dirty="0"/>
          </a:p>
        </p:txBody>
      </p:sp>
      <p:pic>
        <p:nvPicPr>
          <p:cNvPr id="76" name="Image 0" descr="exports\261005_workshop_rad_uitvoering\img\Boek puzzelstuk.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/verkennen_data: vier stappen</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Stap 1</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Profileren</a:t>
            </a:r>
            <a:endParaRPr lang="en-US" sz="20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Rijen, studenten, jaren, ontbrekende waarden en instroom per jaar.</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Overzicht in gewone taal</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2</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Definities</a:t>
            </a:r>
            <a:endParaRPr lang="en-US" sz="20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Uitval, instroom en rendement volgens staat1cho, letterlijk vastgelegd.</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Afspraken</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Stap 3</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onder 30 tellen en uitleggen waarom ze verborgen blijven.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Privacy-check</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Stap 4</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Schetsen</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Twee of drie views met de conclusie als titel, plus wat het niet kan zeggen.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schets.md</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data/demodata_1cho.csv en de casusvraag.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data-profiel.md en schets.md.</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skill 1 voor je afvangt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76" name="Text 74"/>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Laatste cohort</a:t>
            </a:r>
            <a:endParaRPr lang="en-US" sz="1900" dirty="0"/>
          </a:p>
        </p:txBody>
      </p:sp>
      <p:sp>
        <p:nvSpPr>
          <p:cNvPr id="77" name="Text 75"/>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Cohort 2023 geeft 100% uitval. De skill sluit het uit.</a:t>
            </a:r>
            <a:endParaRPr lang="en-US" sz="1500" dirty="0"/>
          </a:p>
        </p:txBody>
      </p:sp>
      <p:sp>
        <p:nvSpPr>
          <p:cNvPr id="78" name="Shape 76"/>
          <p:cNvSpPr/>
          <p:nvPr/>
        </p:nvSpPr>
        <p:spPr>
          <a:xfrm>
            <a:off x="3390824" y="1371600"/>
            <a:ext cx="2567864" cy="302564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Valkuil</a:t>
            </a:r>
            <a:endParaRPr lang="en-US" sz="1200" dirty="0"/>
          </a:p>
        </p:txBody>
      </p:sp>
      <p:sp>
        <p:nvSpPr>
          <p:cNvPr id="81" name="Text 79"/>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waarde</a:t>
            </a:r>
            <a:endParaRPr lang="en-US" sz="2000" dirty="0"/>
          </a:p>
        </p:txBody>
      </p:sp>
      <p:sp>
        <p:nvSpPr>
          <p:cNvPr id="82" name="Text 80"/>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Opleidingsvorm is overal voltijd. De skill laat die weg.</a:t>
            </a:r>
            <a:endParaRPr lang="en-US" sz="1500" dirty="0"/>
          </a:p>
        </p:txBody>
      </p:sp>
      <p:sp>
        <p:nvSpPr>
          <p:cNvPr id="83" name="Shape 81"/>
          <p:cNvSpPr/>
          <p:nvPr/>
        </p:nvSpPr>
        <p:spPr>
          <a:xfrm>
            <a:off x="6233008" y="1371600"/>
            <a:ext cx="2567864" cy="302564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86" name="Text 84"/>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Kleine groepen</a:t>
            </a:r>
            <a:endParaRPr lang="en-US" sz="1900" dirty="0"/>
          </a:p>
        </p:txBody>
      </p:sp>
      <p:sp>
        <p:nvSpPr>
          <p:cNvPr id="87" name="Text 85"/>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28 van de 96 groepen hebben minder dan 30 studenten: niet getoond.</a:t>
            </a:r>
            <a:endParaRPr lang="en-US" sz="1500" dirty="0"/>
          </a:p>
        </p:txBody>
      </p:sp>
      <p:sp>
        <p:nvSpPr>
          <p:cNvPr id="88" name="Shape 86"/>
          <p:cNvSpPr/>
          <p:nvPr/>
        </p:nvSpPr>
        <p:spPr>
          <a:xfrm>
            <a:off x="9075191" y="1371600"/>
            <a:ext cx="2567864" cy="302564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Framing</a:t>
            </a:r>
            <a:endParaRPr lang="en-US" sz="1200" dirty="0"/>
          </a:p>
        </p:txBody>
      </p:sp>
      <p:sp>
        <p:nvSpPr>
          <p:cNvPr id="91" name="Text 89"/>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92" name="Text 90"/>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heet nooit effect. De skill noemt wat niet kan.</a:t>
            </a:r>
            <a:endParaRPr lang="en-US" sz="1500" dirty="0"/>
          </a:p>
        </p:txBody>
      </p:sp>
      <p:sp>
        <p:nvSpPr>
          <p:cNvPr id="93" name="Text 91"/>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700" dirty="0">
                <a:solidFill>
                  <a:srgbClr val="000000"/>
                </a:solidFill>
                <a:latin typeface="General Sans" pitchFamily="34" charset="0"/>
                <a:ea typeface="General Sans" pitchFamily="34" charset="-122"/>
                <a:cs typeface="General Sans" pitchFamily="34" charset="-120"/>
              </a:rPr>
              <a:t>Wat misten jullie zelf, en wat zagen jullie juist wel? Dat is de vraag voor dit moment.</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3D68EC"/>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F4D9DC"/>
          </a:solidFill>
          <a:ln/>
        </p:spPr>
      </p:sp>
      <p:sp>
        <p:nvSpPr>
          <p:cNvPr id="3" name="Shape 1"/>
          <p:cNvSpPr/>
          <p:nvPr/>
        </p:nvSpPr>
        <p:spPr>
          <a:xfrm>
            <a:off x="11212173" y="399224"/>
            <a:ext cx="34616" cy="34616"/>
          </a:xfrm>
          <a:prstGeom prst="ellipse">
            <a:avLst/>
          </a:prstGeom>
          <a:solidFill>
            <a:srgbClr val="F4D9DC"/>
          </a:solidFill>
          <a:ln/>
        </p:spPr>
      </p:sp>
      <p:sp>
        <p:nvSpPr>
          <p:cNvPr id="4" name="Shape 2"/>
          <p:cNvSpPr/>
          <p:nvPr/>
        </p:nvSpPr>
        <p:spPr>
          <a:xfrm>
            <a:off x="11398641" y="399224"/>
            <a:ext cx="34616" cy="34616"/>
          </a:xfrm>
          <a:prstGeom prst="ellipse">
            <a:avLst/>
          </a:prstGeom>
          <a:solidFill>
            <a:srgbClr val="F4D9DC"/>
          </a:solidFill>
          <a:ln/>
        </p:spPr>
      </p:sp>
      <p:sp>
        <p:nvSpPr>
          <p:cNvPr id="5" name="Shape 3"/>
          <p:cNvSpPr/>
          <p:nvPr/>
        </p:nvSpPr>
        <p:spPr>
          <a:xfrm>
            <a:off x="11258374" y="435357"/>
            <a:ext cx="51936" cy="51936"/>
          </a:xfrm>
          <a:prstGeom prst="ellipse">
            <a:avLst/>
          </a:prstGeom>
          <a:solidFill>
            <a:srgbClr val="F4D9DC"/>
          </a:solidFill>
          <a:ln/>
        </p:spPr>
      </p:sp>
      <p:sp>
        <p:nvSpPr>
          <p:cNvPr id="6" name="Shape 4"/>
          <p:cNvSpPr/>
          <p:nvPr/>
        </p:nvSpPr>
        <p:spPr>
          <a:xfrm>
            <a:off x="11335407" y="435306"/>
            <a:ext cx="51718" cy="51718"/>
          </a:xfrm>
          <a:prstGeom prst="ellipse">
            <a:avLst/>
          </a:prstGeom>
          <a:solidFill>
            <a:srgbClr val="F4D9DC"/>
          </a:solidFill>
          <a:ln/>
        </p:spPr>
      </p:sp>
      <p:sp>
        <p:nvSpPr>
          <p:cNvPr id="7" name="Shape 5"/>
          <p:cNvSpPr/>
          <p:nvPr/>
        </p:nvSpPr>
        <p:spPr>
          <a:xfrm>
            <a:off x="11127388" y="442398"/>
            <a:ext cx="35294" cy="35294"/>
          </a:xfrm>
          <a:prstGeom prst="ellipse">
            <a:avLst/>
          </a:prstGeom>
          <a:solidFill>
            <a:srgbClr val="F4D9DC"/>
          </a:solidFill>
          <a:ln/>
        </p:spPr>
      </p:sp>
      <p:sp>
        <p:nvSpPr>
          <p:cNvPr id="8" name="Shape 6"/>
          <p:cNvSpPr/>
          <p:nvPr/>
        </p:nvSpPr>
        <p:spPr>
          <a:xfrm>
            <a:off x="11482145" y="441649"/>
            <a:ext cx="35960" cy="35960"/>
          </a:xfrm>
          <a:prstGeom prst="ellipse">
            <a:avLst/>
          </a:prstGeom>
          <a:solidFill>
            <a:srgbClr val="F4D9DC"/>
          </a:solidFill>
          <a:ln/>
        </p:spPr>
      </p:sp>
      <p:sp>
        <p:nvSpPr>
          <p:cNvPr id="9" name="Shape 7"/>
          <p:cNvSpPr/>
          <p:nvPr/>
        </p:nvSpPr>
        <p:spPr>
          <a:xfrm>
            <a:off x="11185603" y="459328"/>
            <a:ext cx="52167" cy="52167"/>
          </a:xfrm>
          <a:prstGeom prst="ellipse">
            <a:avLst/>
          </a:prstGeom>
          <a:solidFill>
            <a:srgbClr val="F4D9DC"/>
          </a:solidFill>
          <a:ln/>
        </p:spPr>
      </p:sp>
      <p:sp>
        <p:nvSpPr>
          <p:cNvPr id="10" name="Shape 8"/>
          <p:cNvSpPr/>
          <p:nvPr/>
        </p:nvSpPr>
        <p:spPr>
          <a:xfrm>
            <a:off x="11408043" y="458713"/>
            <a:ext cx="52384" cy="52384"/>
          </a:xfrm>
          <a:prstGeom prst="ellipse">
            <a:avLst/>
          </a:prstGeom>
          <a:solidFill>
            <a:srgbClr val="F4D9DC"/>
          </a:solidFill>
          <a:ln/>
        </p:spPr>
      </p:sp>
      <p:sp>
        <p:nvSpPr>
          <p:cNvPr id="11" name="Shape 9"/>
          <p:cNvSpPr/>
          <p:nvPr/>
        </p:nvSpPr>
        <p:spPr>
          <a:xfrm>
            <a:off x="11241891" y="499749"/>
            <a:ext cx="36613" cy="36613"/>
          </a:xfrm>
          <a:prstGeom prst="ellipse">
            <a:avLst/>
          </a:prstGeom>
          <a:solidFill>
            <a:srgbClr val="F4D9DC"/>
          </a:solidFill>
          <a:ln/>
        </p:spPr>
      </p:sp>
      <p:sp>
        <p:nvSpPr>
          <p:cNvPr id="12" name="Shape 10"/>
          <p:cNvSpPr/>
          <p:nvPr/>
        </p:nvSpPr>
        <p:spPr>
          <a:xfrm>
            <a:off x="11294557" y="500146"/>
            <a:ext cx="57223" cy="57223"/>
          </a:xfrm>
          <a:prstGeom prst="ellipse">
            <a:avLst/>
          </a:prstGeom>
          <a:solidFill>
            <a:srgbClr val="F4D9DC"/>
          </a:solidFill>
          <a:ln/>
        </p:spPr>
      </p:sp>
      <p:sp>
        <p:nvSpPr>
          <p:cNvPr id="13" name="Shape 11"/>
          <p:cNvSpPr/>
          <p:nvPr/>
        </p:nvSpPr>
        <p:spPr>
          <a:xfrm>
            <a:off x="11364102" y="498770"/>
            <a:ext cx="35294" cy="35294"/>
          </a:xfrm>
          <a:prstGeom prst="ellipse">
            <a:avLst/>
          </a:prstGeom>
          <a:solidFill>
            <a:srgbClr val="F4D9DC"/>
          </a:solidFill>
          <a:ln/>
        </p:spPr>
      </p:sp>
      <p:sp>
        <p:nvSpPr>
          <p:cNvPr id="14" name="Shape 12"/>
          <p:cNvSpPr/>
          <p:nvPr/>
        </p:nvSpPr>
        <p:spPr>
          <a:xfrm>
            <a:off x="11123515" y="504524"/>
            <a:ext cx="51936" cy="51936"/>
          </a:xfrm>
          <a:prstGeom prst="ellipse">
            <a:avLst/>
          </a:prstGeom>
          <a:solidFill>
            <a:srgbClr val="F4D9DC"/>
          </a:solidFill>
          <a:ln/>
        </p:spPr>
      </p:sp>
      <p:sp>
        <p:nvSpPr>
          <p:cNvPr id="15" name="Shape 13"/>
          <p:cNvSpPr/>
          <p:nvPr/>
        </p:nvSpPr>
        <p:spPr>
          <a:xfrm>
            <a:off x="11470202" y="504300"/>
            <a:ext cx="52384" cy="52384"/>
          </a:xfrm>
          <a:prstGeom prst="ellipse">
            <a:avLst/>
          </a:prstGeom>
          <a:solidFill>
            <a:srgbClr val="F4D9DC"/>
          </a:solidFill>
          <a:ln/>
        </p:spPr>
      </p:sp>
      <p:sp>
        <p:nvSpPr>
          <p:cNvPr id="16" name="Shape 14"/>
          <p:cNvSpPr/>
          <p:nvPr/>
        </p:nvSpPr>
        <p:spPr>
          <a:xfrm>
            <a:off x="11060774" y="508825"/>
            <a:ext cx="35627" cy="35627"/>
          </a:xfrm>
          <a:prstGeom prst="ellipse">
            <a:avLst/>
          </a:prstGeom>
          <a:solidFill>
            <a:srgbClr val="F4D9DC"/>
          </a:solidFill>
          <a:ln/>
        </p:spPr>
      </p:sp>
      <p:sp>
        <p:nvSpPr>
          <p:cNvPr id="17" name="Shape 15"/>
          <p:cNvSpPr/>
          <p:nvPr/>
        </p:nvSpPr>
        <p:spPr>
          <a:xfrm>
            <a:off x="11548535" y="508038"/>
            <a:ext cx="36613" cy="36613"/>
          </a:xfrm>
          <a:prstGeom prst="ellipse">
            <a:avLst/>
          </a:prstGeom>
          <a:solidFill>
            <a:srgbClr val="F4D9DC"/>
          </a:solidFill>
          <a:ln/>
        </p:spPr>
      </p:sp>
      <p:sp>
        <p:nvSpPr>
          <p:cNvPr id="18" name="Shape 16"/>
          <p:cNvSpPr/>
          <p:nvPr/>
        </p:nvSpPr>
        <p:spPr>
          <a:xfrm>
            <a:off x="11191466" y="533379"/>
            <a:ext cx="57825" cy="57825"/>
          </a:xfrm>
          <a:prstGeom prst="ellipse">
            <a:avLst/>
          </a:prstGeom>
          <a:solidFill>
            <a:srgbClr val="F4D9DC"/>
          </a:solidFill>
          <a:ln/>
        </p:spPr>
      </p:sp>
      <p:sp>
        <p:nvSpPr>
          <p:cNvPr id="19" name="Shape 17"/>
          <p:cNvSpPr/>
          <p:nvPr/>
        </p:nvSpPr>
        <p:spPr>
          <a:xfrm>
            <a:off x="11396535" y="533494"/>
            <a:ext cx="57428" cy="57428"/>
          </a:xfrm>
          <a:prstGeom prst="ellipse">
            <a:avLst/>
          </a:prstGeom>
          <a:solidFill>
            <a:srgbClr val="F4D9DC"/>
          </a:solidFill>
          <a:ln/>
        </p:spPr>
      </p:sp>
      <p:sp>
        <p:nvSpPr>
          <p:cNvPr id="20" name="Shape 18"/>
          <p:cNvSpPr/>
          <p:nvPr/>
        </p:nvSpPr>
        <p:spPr>
          <a:xfrm>
            <a:off x="11079087" y="567226"/>
            <a:ext cx="51270" cy="51270"/>
          </a:xfrm>
          <a:prstGeom prst="ellipse">
            <a:avLst/>
          </a:prstGeom>
          <a:solidFill>
            <a:srgbClr val="F4D9DC"/>
          </a:solidFill>
          <a:ln/>
        </p:spPr>
      </p:sp>
      <p:sp>
        <p:nvSpPr>
          <p:cNvPr id="21" name="Shape 19"/>
          <p:cNvSpPr/>
          <p:nvPr/>
        </p:nvSpPr>
        <p:spPr>
          <a:xfrm>
            <a:off x="11339728" y="567053"/>
            <a:ext cx="34616" cy="34616"/>
          </a:xfrm>
          <a:prstGeom prst="ellipse">
            <a:avLst/>
          </a:prstGeom>
          <a:solidFill>
            <a:srgbClr val="F4D9DC"/>
          </a:solidFill>
          <a:ln/>
        </p:spPr>
      </p:sp>
      <p:sp>
        <p:nvSpPr>
          <p:cNvPr id="22" name="Shape 20"/>
          <p:cNvSpPr/>
          <p:nvPr/>
        </p:nvSpPr>
        <p:spPr>
          <a:xfrm>
            <a:off x="11515167" y="566234"/>
            <a:ext cx="52819" cy="52819"/>
          </a:xfrm>
          <a:prstGeom prst="ellipse">
            <a:avLst/>
          </a:prstGeom>
          <a:solidFill>
            <a:srgbClr val="F4D9DC"/>
          </a:solidFill>
          <a:ln/>
        </p:spPr>
      </p:sp>
      <p:sp>
        <p:nvSpPr>
          <p:cNvPr id="23" name="Shape 21"/>
          <p:cNvSpPr/>
          <p:nvPr/>
        </p:nvSpPr>
        <p:spPr>
          <a:xfrm>
            <a:off x="11262860" y="569742"/>
            <a:ext cx="34961" cy="34961"/>
          </a:xfrm>
          <a:prstGeom prst="ellipse">
            <a:avLst/>
          </a:prstGeom>
          <a:solidFill>
            <a:srgbClr val="F4D9DC"/>
          </a:solidFill>
          <a:ln/>
        </p:spPr>
      </p:sp>
      <p:sp>
        <p:nvSpPr>
          <p:cNvPr id="24" name="Shape 22"/>
          <p:cNvSpPr/>
          <p:nvPr/>
        </p:nvSpPr>
        <p:spPr>
          <a:xfrm>
            <a:off x="11462521" y="569818"/>
            <a:ext cx="35294" cy="35294"/>
          </a:xfrm>
          <a:prstGeom prst="ellipse">
            <a:avLst/>
          </a:prstGeom>
          <a:solidFill>
            <a:srgbClr val="F4D9DC"/>
          </a:solidFill>
          <a:ln/>
        </p:spPr>
      </p:sp>
      <p:sp>
        <p:nvSpPr>
          <p:cNvPr id="25" name="Shape 23"/>
          <p:cNvSpPr/>
          <p:nvPr/>
        </p:nvSpPr>
        <p:spPr>
          <a:xfrm>
            <a:off x="11145681" y="573441"/>
            <a:ext cx="34270" cy="34270"/>
          </a:xfrm>
          <a:prstGeom prst="ellipse">
            <a:avLst/>
          </a:prstGeom>
          <a:solidFill>
            <a:srgbClr val="F4D9DC"/>
          </a:solidFill>
          <a:ln/>
        </p:spPr>
      </p:sp>
      <p:sp>
        <p:nvSpPr>
          <p:cNvPr id="26" name="Shape 24"/>
          <p:cNvSpPr/>
          <p:nvPr/>
        </p:nvSpPr>
        <p:spPr>
          <a:xfrm>
            <a:off x="11592015" y="593213"/>
            <a:ext cx="35294" cy="35294"/>
          </a:xfrm>
          <a:prstGeom prst="ellipse">
            <a:avLst/>
          </a:prstGeom>
          <a:solidFill>
            <a:srgbClr val="F4D9DC"/>
          </a:solidFill>
          <a:ln/>
        </p:spPr>
      </p:sp>
      <p:sp>
        <p:nvSpPr>
          <p:cNvPr id="27" name="Shape 25"/>
          <p:cNvSpPr/>
          <p:nvPr/>
        </p:nvSpPr>
        <p:spPr>
          <a:xfrm>
            <a:off x="11019124" y="593444"/>
            <a:ext cx="34616" cy="34616"/>
          </a:xfrm>
          <a:prstGeom prst="ellipse">
            <a:avLst/>
          </a:prstGeom>
          <a:solidFill>
            <a:srgbClr val="F4D9DC"/>
          </a:solidFill>
          <a:ln/>
        </p:spPr>
      </p:sp>
      <p:sp>
        <p:nvSpPr>
          <p:cNvPr id="28" name="Shape 26"/>
          <p:cNvSpPr/>
          <p:nvPr/>
        </p:nvSpPr>
        <p:spPr>
          <a:xfrm>
            <a:off x="11403576" y="610214"/>
            <a:ext cx="34961" cy="34961"/>
          </a:xfrm>
          <a:prstGeom prst="ellipse">
            <a:avLst/>
          </a:prstGeom>
          <a:solidFill>
            <a:srgbClr val="F4D9DC"/>
          </a:solidFill>
          <a:ln/>
        </p:spPr>
      </p:sp>
      <p:sp>
        <p:nvSpPr>
          <p:cNvPr id="29" name="Shape 27"/>
          <p:cNvSpPr/>
          <p:nvPr/>
        </p:nvSpPr>
        <p:spPr>
          <a:xfrm>
            <a:off x="11201662" y="616570"/>
            <a:ext cx="35627" cy="35627"/>
          </a:xfrm>
          <a:prstGeom prst="ellipse">
            <a:avLst/>
          </a:prstGeom>
          <a:solidFill>
            <a:srgbClr val="F4D9DC"/>
          </a:solidFill>
          <a:ln/>
        </p:spPr>
      </p:sp>
      <p:sp>
        <p:nvSpPr>
          <p:cNvPr id="30" name="Shape 28"/>
          <p:cNvSpPr/>
          <p:nvPr/>
        </p:nvSpPr>
        <p:spPr>
          <a:xfrm>
            <a:off x="11127484" y="620705"/>
            <a:ext cx="58030" cy="58030"/>
          </a:xfrm>
          <a:prstGeom prst="ellipse">
            <a:avLst/>
          </a:prstGeom>
          <a:solidFill>
            <a:srgbClr val="F4D9DC"/>
          </a:solidFill>
          <a:ln/>
        </p:spPr>
      </p:sp>
      <p:sp>
        <p:nvSpPr>
          <p:cNvPr id="31" name="Shape 29"/>
          <p:cNvSpPr/>
          <p:nvPr/>
        </p:nvSpPr>
        <p:spPr>
          <a:xfrm>
            <a:off x="11460767" y="620852"/>
            <a:ext cx="57428" cy="57428"/>
          </a:xfrm>
          <a:prstGeom prst="ellipse">
            <a:avLst/>
          </a:prstGeom>
          <a:solidFill>
            <a:srgbClr val="F4D9DC"/>
          </a:solidFill>
          <a:ln/>
        </p:spPr>
      </p:sp>
      <p:sp>
        <p:nvSpPr>
          <p:cNvPr id="32" name="Shape 30"/>
          <p:cNvSpPr/>
          <p:nvPr/>
        </p:nvSpPr>
        <p:spPr>
          <a:xfrm>
            <a:off x="11055219" y="640144"/>
            <a:ext cx="51718" cy="51718"/>
          </a:xfrm>
          <a:prstGeom prst="ellipse">
            <a:avLst/>
          </a:prstGeom>
          <a:solidFill>
            <a:srgbClr val="F4D9DC"/>
          </a:solidFill>
          <a:ln/>
        </p:spPr>
      </p:sp>
      <p:sp>
        <p:nvSpPr>
          <p:cNvPr id="33" name="Shape 31"/>
          <p:cNvSpPr/>
          <p:nvPr/>
        </p:nvSpPr>
        <p:spPr>
          <a:xfrm>
            <a:off x="11539330" y="640266"/>
            <a:ext cx="51270" cy="51270"/>
          </a:xfrm>
          <a:prstGeom prst="ellipse">
            <a:avLst/>
          </a:prstGeom>
          <a:solidFill>
            <a:srgbClr val="F4D9DC"/>
          </a:solidFill>
          <a:ln/>
        </p:spPr>
      </p:sp>
      <p:sp>
        <p:nvSpPr>
          <p:cNvPr id="34" name="Shape 32"/>
          <p:cNvSpPr/>
          <p:nvPr/>
        </p:nvSpPr>
        <p:spPr>
          <a:xfrm>
            <a:off x="11429576" y="682274"/>
            <a:ext cx="35627" cy="35627"/>
          </a:xfrm>
          <a:prstGeom prst="ellipse">
            <a:avLst/>
          </a:prstGeom>
          <a:solidFill>
            <a:srgbClr val="F4D9DC"/>
          </a:solidFill>
          <a:ln/>
        </p:spPr>
      </p:sp>
      <p:sp>
        <p:nvSpPr>
          <p:cNvPr id="35" name="Shape 33"/>
          <p:cNvSpPr/>
          <p:nvPr/>
        </p:nvSpPr>
        <p:spPr>
          <a:xfrm>
            <a:off x="11004076" y="687222"/>
            <a:ext cx="34616" cy="34616"/>
          </a:xfrm>
          <a:prstGeom prst="ellipse">
            <a:avLst/>
          </a:prstGeom>
          <a:solidFill>
            <a:srgbClr val="F4D9DC"/>
          </a:solidFill>
          <a:ln/>
        </p:spPr>
      </p:sp>
      <p:sp>
        <p:nvSpPr>
          <p:cNvPr id="36" name="Shape 34"/>
          <p:cNvSpPr/>
          <p:nvPr/>
        </p:nvSpPr>
        <p:spPr>
          <a:xfrm>
            <a:off x="11502052" y="685321"/>
            <a:ext cx="34270" cy="34270"/>
          </a:xfrm>
          <a:prstGeom prst="ellipse">
            <a:avLst/>
          </a:prstGeom>
          <a:solidFill>
            <a:srgbClr val="F4D9DC"/>
          </a:solidFill>
          <a:ln/>
        </p:spPr>
      </p:sp>
      <p:sp>
        <p:nvSpPr>
          <p:cNvPr id="37" name="Shape 35"/>
          <p:cNvSpPr/>
          <p:nvPr/>
        </p:nvSpPr>
        <p:spPr>
          <a:xfrm>
            <a:off x="11606321" y="686422"/>
            <a:ext cx="35627" cy="35627"/>
          </a:xfrm>
          <a:prstGeom prst="ellipse">
            <a:avLst/>
          </a:prstGeom>
          <a:solidFill>
            <a:srgbClr val="F4D9DC"/>
          </a:solidFill>
          <a:ln/>
        </p:spPr>
      </p:sp>
      <p:sp>
        <p:nvSpPr>
          <p:cNvPr id="38" name="Shape 36"/>
          <p:cNvSpPr/>
          <p:nvPr/>
        </p:nvSpPr>
        <p:spPr>
          <a:xfrm>
            <a:off x="11108908" y="688957"/>
            <a:ext cx="35294" cy="35294"/>
          </a:xfrm>
          <a:prstGeom prst="ellipse">
            <a:avLst/>
          </a:prstGeom>
          <a:solidFill>
            <a:srgbClr val="F4D9DC"/>
          </a:solidFill>
          <a:ln/>
        </p:spPr>
      </p:sp>
      <p:sp>
        <p:nvSpPr>
          <p:cNvPr id="39" name="Shape 37"/>
          <p:cNvSpPr/>
          <p:nvPr/>
        </p:nvSpPr>
        <p:spPr>
          <a:xfrm>
            <a:off x="11179733" y="690371"/>
            <a:ext cx="36613" cy="36613"/>
          </a:xfrm>
          <a:prstGeom prst="ellipse">
            <a:avLst/>
          </a:prstGeom>
          <a:solidFill>
            <a:srgbClr val="F4D9DC"/>
          </a:solidFill>
          <a:ln/>
        </p:spPr>
      </p:sp>
      <p:sp>
        <p:nvSpPr>
          <p:cNvPr id="40" name="Shape 38"/>
          <p:cNvSpPr/>
          <p:nvPr/>
        </p:nvSpPr>
        <p:spPr>
          <a:xfrm>
            <a:off x="11054764" y="716576"/>
            <a:ext cx="51936" cy="51936"/>
          </a:xfrm>
          <a:prstGeom prst="ellipse">
            <a:avLst/>
          </a:prstGeom>
          <a:solidFill>
            <a:srgbClr val="F4D9DC"/>
          </a:solidFill>
          <a:ln/>
        </p:spPr>
      </p:sp>
      <p:sp>
        <p:nvSpPr>
          <p:cNvPr id="41" name="Shape 39"/>
          <p:cNvSpPr/>
          <p:nvPr/>
        </p:nvSpPr>
        <p:spPr>
          <a:xfrm>
            <a:off x="11539023" y="716851"/>
            <a:ext cx="51488" cy="51488"/>
          </a:xfrm>
          <a:prstGeom prst="ellipse">
            <a:avLst/>
          </a:prstGeom>
          <a:solidFill>
            <a:srgbClr val="F4D9DC"/>
          </a:solidFill>
          <a:ln/>
        </p:spPr>
      </p:sp>
      <p:sp>
        <p:nvSpPr>
          <p:cNvPr id="42" name="Shape 40"/>
          <p:cNvSpPr/>
          <p:nvPr/>
        </p:nvSpPr>
        <p:spPr>
          <a:xfrm>
            <a:off x="11127490" y="729288"/>
            <a:ext cx="58222" cy="58222"/>
          </a:xfrm>
          <a:prstGeom prst="ellipse">
            <a:avLst/>
          </a:prstGeom>
          <a:solidFill>
            <a:srgbClr val="F4D9DC"/>
          </a:solidFill>
          <a:ln/>
        </p:spPr>
      </p:sp>
      <p:sp>
        <p:nvSpPr>
          <p:cNvPr id="43" name="Shape 41"/>
          <p:cNvSpPr/>
          <p:nvPr/>
        </p:nvSpPr>
        <p:spPr>
          <a:xfrm>
            <a:off x="11460671" y="729781"/>
            <a:ext cx="57633" cy="57633"/>
          </a:xfrm>
          <a:prstGeom prst="ellipse">
            <a:avLst/>
          </a:prstGeom>
          <a:solidFill>
            <a:srgbClr val="F4D9DC"/>
          </a:solidFill>
          <a:ln/>
        </p:spPr>
      </p:sp>
      <p:sp>
        <p:nvSpPr>
          <p:cNvPr id="44" name="Shape 42"/>
          <p:cNvSpPr/>
          <p:nvPr/>
        </p:nvSpPr>
        <p:spPr>
          <a:xfrm>
            <a:off x="11407973" y="756415"/>
            <a:ext cx="35960" cy="35960"/>
          </a:xfrm>
          <a:prstGeom prst="ellipse">
            <a:avLst/>
          </a:prstGeom>
          <a:solidFill>
            <a:srgbClr val="F4D9DC"/>
          </a:solidFill>
          <a:ln/>
        </p:spPr>
      </p:sp>
      <p:sp>
        <p:nvSpPr>
          <p:cNvPr id="45" name="Shape 43"/>
          <p:cNvSpPr/>
          <p:nvPr/>
        </p:nvSpPr>
        <p:spPr>
          <a:xfrm>
            <a:off x="11207308" y="763884"/>
            <a:ext cx="34616" cy="34616"/>
          </a:xfrm>
          <a:prstGeom prst="ellipse">
            <a:avLst/>
          </a:prstGeom>
          <a:solidFill>
            <a:srgbClr val="F4D9DC"/>
          </a:solidFill>
          <a:ln/>
        </p:spPr>
      </p:sp>
      <p:sp>
        <p:nvSpPr>
          <p:cNvPr id="46" name="Shape 44"/>
          <p:cNvSpPr/>
          <p:nvPr/>
        </p:nvSpPr>
        <p:spPr>
          <a:xfrm>
            <a:off x="11018670" y="780462"/>
            <a:ext cx="34616" cy="34616"/>
          </a:xfrm>
          <a:prstGeom prst="ellipse">
            <a:avLst/>
          </a:prstGeom>
          <a:solidFill>
            <a:srgbClr val="F4D9DC"/>
          </a:solidFill>
          <a:ln/>
        </p:spPr>
      </p:sp>
      <p:sp>
        <p:nvSpPr>
          <p:cNvPr id="47" name="Shape 45"/>
          <p:cNvSpPr/>
          <p:nvPr/>
        </p:nvSpPr>
        <p:spPr>
          <a:xfrm>
            <a:off x="11591670" y="780123"/>
            <a:ext cx="35294" cy="35294"/>
          </a:xfrm>
          <a:prstGeom prst="ellipse">
            <a:avLst/>
          </a:prstGeom>
          <a:solidFill>
            <a:srgbClr val="F4D9DC"/>
          </a:solidFill>
          <a:ln/>
        </p:spPr>
      </p:sp>
      <p:sp>
        <p:nvSpPr>
          <p:cNvPr id="48" name="Shape 46"/>
          <p:cNvSpPr/>
          <p:nvPr/>
        </p:nvSpPr>
        <p:spPr>
          <a:xfrm>
            <a:off x="11079010" y="790179"/>
            <a:ext cx="51270" cy="51270"/>
          </a:xfrm>
          <a:prstGeom prst="ellipse">
            <a:avLst/>
          </a:prstGeom>
          <a:solidFill>
            <a:srgbClr val="F4D9DC"/>
          </a:solidFill>
          <a:ln/>
        </p:spPr>
      </p:sp>
      <p:sp>
        <p:nvSpPr>
          <p:cNvPr id="49" name="Shape 47"/>
          <p:cNvSpPr/>
          <p:nvPr/>
        </p:nvSpPr>
        <p:spPr>
          <a:xfrm>
            <a:off x="11515218" y="789692"/>
            <a:ext cx="52602" cy="52602"/>
          </a:xfrm>
          <a:prstGeom prst="ellipse">
            <a:avLst/>
          </a:prstGeom>
          <a:solidFill>
            <a:srgbClr val="F4D9DC"/>
          </a:solidFill>
          <a:ln/>
        </p:spPr>
      </p:sp>
      <p:sp>
        <p:nvSpPr>
          <p:cNvPr id="50" name="Shape 48"/>
          <p:cNvSpPr/>
          <p:nvPr/>
        </p:nvSpPr>
        <p:spPr>
          <a:xfrm>
            <a:off x="11147371" y="803460"/>
            <a:ext cx="35627" cy="35627"/>
          </a:xfrm>
          <a:prstGeom prst="ellipse">
            <a:avLst/>
          </a:prstGeom>
          <a:solidFill>
            <a:srgbClr val="F4D9DC"/>
          </a:solidFill>
          <a:ln/>
        </p:spPr>
      </p:sp>
      <p:sp>
        <p:nvSpPr>
          <p:cNvPr id="51" name="Shape 49"/>
          <p:cNvSpPr/>
          <p:nvPr/>
        </p:nvSpPr>
        <p:spPr>
          <a:xfrm>
            <a:off x="11347786" y="804293"/>
            <a:ext cx="35294" cy="35294"/>
          </a:xfrm>
          <a:prstGeom prst="ellipse">
            <a:avLst/>
          </a:prstGeom>
          <a:solidFill>
            <a:srgbClr val="F4D9DC"/>
          </a:solidFill>
          <a:ln/>
        </p:spPr>
      </p:sp>
      <p:sp>
        <p:nvSpPr>
          <p:cNvPr id="52" name="Shape 50"/>
          <p:cNvSpPr/>
          <p:nvPr/>
        </p:nvSpPr>
        <p:spPr>
          <a:xfrm>
            <a:off x="11465119" y="800919"/>
            <a:ext cx="34961" cy="34961"/>
          </a:xfrm>
          <a:prstGeom prst="ellipse">
            <a:avLst/>
          </a:prstGeom>
          <a:solidFill>
            <a:srgbClr val="F4D9DC"/>
          </a:solidFill>
          <a:ln/>
        </p:spPr>
      </p:sp>
      <p:sp>
        <p:nvSpPr>
          <p:cNvPr id="53" name="Shape 51"/>
          <p:cNvSpPr/>
          <p:nvPr/>
        </p:nvSpPr>
        <p:spPr>
          <a:xfrm>
            <a:off x="11270669" y="806590"/>
            <a:ext cx="35627" cy="35627"/>
          </a:xfrm>
          <a:prstGeom prst="ellipse">
            <a:avLst/>
          </a:prstGeom>
          <a:solidFill>
            <a:srgbClr val="F4D9DC"/>
          </a:solidFill>
          <a:ln/>
        </p:spPr>
      </p:sp>
      <p:sp>
        <p:nvSpPr>
          <p:cNvPr id="54" name="Shape 52"/>
          <p:cNvSpPr/>
          <p:nvPr/>
        </p:nvSpPr>
        <p:spPr>
          <a:xfrm>
            <a:off x="11191498" y="817766"/>
            <a:ext cx="57633" cy="57633"/>
          </a:xfrm>
          <a:prstGeom prst="ellipse">
            <a:avLst/>
          </a:prstGeom>
          <a:solidFill>
            <a:srgbClr val="F4D9DC"/>
          </a:solidFill>
          <a:ln/>
        </p:spPr>
      </p:sp>
      <p:sp>
        <p:nvSpPr>
          <p:cNvPr id="55" name="Shape 53"/>
          <p:cNvSpPr/>
          <p:nvPr/>
        </p:nvSpPr>
        <p:spPr>
          <a:xfrm>
            <a:off x="11396573" y="817888"/>
            <a:ext cx="57633" cy="57633"/>
          </a:xfrm>
          <a:prstGeom prst="ellipse">
            <a:avLst/>
          </a:prstGeom>
          <a:solidFill>
            <a:srgbClr val="F4D9DC"/>
          </a:solidFill>
          <a:ln/>
        </p:spPr>
      </p:sp>
      <p:sp>
        <p:nvSpPr>
          <p:cNvPr id="56" name="Shape 54"/>
          <p:cNvSpPr/>
          <p:nvPr/>
        </p:nvSpPr>
        <p:spPr>
          <a:xfrm>
            <a:off x="11123445" y="851985"/>
            <a:ext cx="52167" cy="52167"/>
          </a:xfrm>
          <a:prstGeom prst="ellipse">
            <a:avLst/>
          </a:prstGeom>
          <a:solidFill>
            <a:srgbClr val="F4D9DC"/>
          </a:solidFill>
          <a:ln/>
        </p:spPr>
      </p:sp>
      <p:sp>
        <p:nvSpPr>
          <p:cNvPr id="57" name="Shape 55"/>
          <p:cNvSpPr/>
          <p:nvPr/>
        </p:nvSpPr>
        <p:spPr>
          <a:xfrm>
            <a:off x="11294647" y="851390"/>
            <a:ext cx="57223" cy="57223"/>
          </a:xfrm>
          <a:prstGeom prst="ellipse">
            <a:avLst/>
          </a:prstGeom>
          <a:solidFill>
            <a:srgbClr val="F4D9DC"/>
          </a:solidFill>
          <a:ln/>
        </p:spPr>
      </p:sp>
      <p:sp>
        <p:nvSpPr>
          <p:cNvPr id="58" name="Shape 56"/>
          <p:cNvSpPr/>
          <p:nvPr/>
        </p:nvSpPr>
        <p:spPr>
          <a:xfrm>
            <a:off x="11470202" y="852382"/>
            <a:ext cx="52384" cy="52384"/>
          </a:xfrm>
          <a:prstGeom prst="ellipse">
            <a:avLst/>
          </a:prstGeom>
          <a:solidFill>
            <a:srgbClr val="F4D9DC"/>
          </a:solidFill>
          <a:ln/>
        </p:spPr>
      </p:sp>
      <p:sp>
        <p:nvSpPr>
          <p:cNvPr id="59" name="Shape 57"/>
          <p:cNvSpPr/>
          <p:nvPr/>
        </p:nvSpPr>
        <p:spPr>
          <a:xfrm>
            <a:off x="11060774" y="864607"/>
            <a:ext cx="35627" cy="35627"/>
          </a:xfrm>
          <a:prstGeom prst="ellipse">
            <a:avLst/>
          </a:prstGeom>
          <a:solidFill>
            <a:srgbClr val="F4D9DC"/>
          </a:solidFill>
          <a:ln/>
        </p:spPr>
      </p:sp>
      <p:sp>
        <p:nvSpPr>
          <p:cNvPr id="60" name="Shape 58"/>
          <p:cNvSpPr/>
          <p:nvPr/>
        </p:nvSpPr>
        <p:spPr>
          <a:xfrm>
            <a:off x="11548733" y="864185"/>
            <a:ext cx="35627" cy="35627"/>
          </a:xfrm>
          <a:prstGeom prst="ellipse">
            <a:avLst/>
          </a:prstGeom>
          <a:solidFill>
            <a:srgbClr val="F4D9DC"/>
          </a:solidFill>
          <a:ln/>
        </p:spPr>
      </p:sp>
      <p:sp>
        <p:nvSpPr>
          <p:cNvPr id="61" name="Shape 59"/>
          <p:cNvSpPr/>
          <p:nvPr/>
        </p:nvSpPr>
        <p:spPr>
          <a:xfrm>
            <a:off x="11246231" y="873908"/>
            <a:ext cx="35627" cy="35627"/>
          </a:xfrm>
          <a:prstGeom prst="ellipse">
            <a:avLst/>
          </a:prstGeom>
          <a:solidFill>
            <a:srgbClr val="F4D9DC"/>
          </a:solidFill>
          <a:ln/>
        </p:spPr>
      </p:sp>
      <p:sp>
        <p:nvSpPr>
          <p:cNvPr id="62" name="Shape 60"/>
          <p:cNvSpPr/>
          <p:nvPr/>
        </p:nvSpPr>
        <p:spPr>
          <a:xfrm>
            <a:off x="11367418" y="872896"/>
            <a:ext cx="35627" cy="35627"/>
          </a:xfrm>
          <a:prstGeom prst="ellipse">
            <a:avLst/>
          </a:prstGeom>
          <a:solidFill>
            <a:srgbClr val="F4D9DC"/>
          </a:solidFill>
          <a:ln/>
        </p:spPr>
      </p:sp>
      <p:sp>
        <p:nvSpPr>
          <p:cNvPr id="63" name="Shape 61"/>
          <p:cNvSpPr/>
          <p:nvPr/>
        </p:nvSpPr>
        <p:spPr>
          <a:xfrm>
            <a:off x="11185366" y="897322"/>
            <a:ext cx="51936" cy="51936"/>
          </a:xfrm>
          <a:prstGeom prst="ellipse">
            <a:avLst/>
          </a:prstGeom>
          <a:solidFill>
            <a:srgbClr val="F4D9DC"/>
          </a:solidFill>
          <a:ln/>
        </p:spPr>
      </p:sp>
      <p:sp>
        <p:nvSpPr>
          <p:cNvPr id="64" name="Shape 62"/>
          <p:cNvSpPr/>
          <p:nvPr/>
        </p:nvSpPr>
        <p:spPr>
          <a:xfrm>
            <a:off x="11407845" y="897655"/>
            <a:ext cx="52602" cy="52602"/>
          </a:xfrm>
          <a:prstGeom prst="ellipse">
            <a:avLst/>
          </a:prstGeom>
          <a:solidFill>
            <a:srgbClr val="F4D9DC"/>
          </a:solidFill>
          <a:ln/>
        </p:spPr>
      </p:sp>
      <p:sp>
        <p:nvSpPr>
          <p:cNvPr id="65" name="Shape 63"/>
          <p:cNvSpPr/>
          <p:nvPr/>
        </p:nvSpPr>
        <p:spPr>
          <a:xfrm>
            <a:off x="11258822" y="921466"/>
            <a:ext cx="51270" cy="51270"/>
          </a:xfrm>
          <a:prstGeom prst="ellipse">
            <a:avLst/>
          </a:prstGeom>
          <a:solidFill>
            <a:srgbClr val="F4D9DC"/>
          </a:solidFill>
          <a:ln/>
        </p:spPr>
      </p:sp>
      <p:sp>
        <p:nvSpPr>
          <p:cNvPr id="66" name="Shape 64"/>
          <p:cNvSpPr/>
          <p:nvPr/>
        </p:nvSpPr>
        <p:spPr>
          <a:xfrm>
            <a:off x="11335350" y="921504"/>
            <a:ext cx="51270" cy="51270"/>
          </a:xfrm>
          <a:prstGeom prst="ellipse">
            <a:avLst/>
          </a:prstGeom>
          <a:solidFill>
            <a:srgbClr val="F4D9DC"/>
          </a:solidFill>
          <a:ln/>
        </p:spPr>
      </p:sp>
      <p:sp>
        <p:nvSpPr>
          <p:cNvPr id="67" name="Shape 65"/>
          <p:cNvSpPr/>
          <p:nvPr/>
        </p:nvSpPr>
        <p:spPr>
          <a:xfrm>
            <a:off x="11127388" y="931368"/>
            <a:ext cx="35294" cy="35294"/>
          </a:xfrm>
          <a:prstGeom prst="ellipse">
            <a:avLst/>
          </a:prstGeom>
          <a:solidFill>
            <a:srgbClr val="F4D9DC"/>
          </a:solidFill>
          <a:ln/>
        </p:spPr>
      </p:sp>
      <p:sp>
        <p:nvSpPr>
          <p:cNvPr id="68" name="Shape 66"/>
          <p:cNvSpPr/>
          <p:nvPr/>
        </p:nvSpPr>
        <p:spPr>
          <a:xfrm>
            <a:off x="11481979" y="931035"/>
            <a:ext cx="35960" cy="35960"/>
          </a:xfrm>
          <a:prstGeom prst="ellipse">
            <a:avLst/>
          </a:prstGeom>
          <a:solidFill>
            <a:srgbClr val="F4D9DC"/>
          </a:solidFill>
          <a:ln/>
        </p:spPr>
      </p:sp>
      <p:sp>
        <p:nvSpPr>
          <p:cNvPr id="69" name="Shape 67"/>
          <p:cNvSpPr/>
          <p:nvPr/>
        </p:nvSpPr>
        <p:spPr>
          <a:xfrm>
            <a:off x="11211987" y="974695"/>
            <a:ext cx="34961" cy="34961"/>
          </a:xfrm>
          <a:prstGeom prst="ellipse">
            <a:avLst/>
          </a:prstGeom>
          <a:solidFill>
            <a:srgbClr val="F4D9DC"/>
          </a:solidFill>
          <a:ln/>
        </p:spPr>
      </p:sp>
      <p:sp>
        <p:nvSpPr>
          <p:cNvPr id="70" name="Shape 68"/>
          <p:cNvSpPr/>
          <p:nvPr/>
        </p:nvSpPr>
        <p:spPr>
          <a:xfrm>
            <a:off x="11398461" y="974695"/>
            <a:ext cx="34961" cy="34961"/>
          </a:xfrm>
          <a:prstGeom prst="ellipse">
            <a:avLst/>
          </a:prstGeom>
          <a:solidFill>
            <a:srgbClr val="F4D9DC"/>
          </a:solidFill>
          <a:ln/>
        </p:spPr>
      </p:sp>
      <p:sp>
        <p:nvSpPr>
          <p:cNvPr id="71" name="Shape 69"/>
          <p:cNvSpPr/>
          <p:nvPr/>
        </p:nvSpPr>
        <p:spPr>
          <a:xfrm>
            <a:off x="11304837" y="988501"/>
            <a:ext cx="35627" cy="35627"/>
          </a:xfrm>
          <a:prstGeom prst="ellipse">
            <a:avLst/>
          </a:prstGeom>
          <a:solidFill>
            <a:srgbClr val="F4D9DC"/>
          </a:solidFill>
          <a:ln/>
        </p:spPr>
      </p:sp>
      <p:sp>
        <p:nvSpPr>
          <p:cNvPr id="72" name="Shape 70"/>
          <p:cNvSpPr/>
          <p:nvPr/>
        </p:nvSpPr>
        <p:spPr>
          <a:xfrm>
            <a:off x="548640" y="1280160"/>
            <a:ext cx="1005840" cy="1005840"/>
          </a:xfrm>
          <a:prstGeom prst="ellipse">
            <a:avLst/>
          </a:prstGeom>
          <a:solidFill>
            <a:srgbClr val="F4D74B"/>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3</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F4D9DC"/>
                </a:solidFill>
                <a:latin typeface="General Sans Semibold" pitchFamily="34" charset="0"/>
                <a:ea typeface="General Sans Semibold" pitchFamily="34" charset="-122"/>
                <a:cs typeface="General Sans Semibold" pitchFamily="34" charset="-120"/>
              </a:rPr>
              <a:t>Ronde 2: bouw het dashboard</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F4D74B"/>
                </a:solidFill>
                <a:latin typeface="Cooper Lt BT" pitchFamily="34" charset="0"/>
                <a:ea typeface="Cooper Lt BT" pitchFamily="34" charset="-122"/>
                <a:cs typeface="Cooper Lt BT" pitchFamily="34" charset="-120"/>
              </a:rPr>
              <a:t>22 minuten. Wissel van rol en maak de conclusie zichtbaar.</a:t>
            </a:r>
            <a:endParaRPr lang="en-US" sz="2200" dirty="0"/>
          </a:p>
        </p:txBody>
      </p:sp>
      <p:pic>
        <p:nvPicPr>
          <p:cNvPr id="76" name="Image 0" descr="exports\261005_workshop_rad_uitvoering\img\Laptopman.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CCEEE6"/>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Wat je dashboard minimaal heeft</a:t>
            </a:r>
            <a:endParaRPr lang="en-US" sz="3400" dirty="0"/>
          </a:p>
        </p:txBody>
      </p:sp>
      <p:sp>
        <p:nvSpPr>
          <p:cNvPr id="73" name="Shape 71"/>
          <p:cNvSpPr/>
          <p:nvPr/>
        </p:nvSpPr>
        <p:spPr>
          <a:xfrm>
            <a:off x="548640" y="1371600"/>
            <a:ext cx="2567864" cy="3025648"/>
          </a:xfrm>
          <a:prstGeom prst="roundRect">
            <a:avLst>
              <a:gd name="adj" fmla="val 3550"/>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F4D74B"/>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Grafiek</a:t>
            </a:r>
            <a:endParaRPr lang="en-US" sz="1200" dirty="0"/>
          </a:p>
        </p:txBody>
      </p:sp>
      <p:sp>
        <p:nvSpPr>
          <p:cNvPr id="78" name="Text 76"/>
          <p:cNvSpPr/>
          <p:nvPr/>
        </p:nvSpPr>
        <p:spPr>
          <a:xfrm>
            <a:off x="822960"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Conclusie als titel</a:t>
            </a:r>
            <a:endParaRPr lang="en-US" sz="1900" dirty="0"/>
          </a:p>
        </p:txBody>
      </p:sp>
      <p:sp>
        <p:nvSpPr>
          <p:cNvPr id="79" name="Text 77"/>
          <p:cNvSpPr/>
          <p:nvPr/>
        </p:nvSpPr>
        <p:spPr>
          <a:xfrm>
            <a:off x="822960"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"Uitval is het hoogst in techniek" in plaats van "Uitval per sector".</a:t>
            </a:r>
            <a:endParaRPr lang="en-US" sz="1500" dirty="0"/>
          </a:p>
        </p:txBody>
      </p:sp>
      <p:sp>
        <p:nvSpPr>
          <p:cNvPr id="80" name="Shape 78"/>
          <p:cNvSpPr/>
          <p:nvPr/>
        </p:nvSpPr>
        <p:spPr>
          <a:xfrm>
            <a:off x="3390824" y="1371600"/>
            <a:ext cx="2567864" cy="3025648"/>
          </a:xfrm>
          <a:prstGeom prst="roundRect">
            <a:avLst>
              <a:gd name="adj" fmla="val 3550"/>
            </a:avLst>
          </a:prstGeom>
          <a:solidFill>
            <a:srgbClr val="DD784B"/>
          </a:solidFill>
          <a:ln/>
        </p:spPr>
      </p:sp>
      <p:sp>
        <p:nvSpPr>
          <p:cNvPr id="81" name="Shape 79"/>
          <p:cNvSpPr/>
          <p:nvPr/>
        </p:nvSpPr>
        <p:spPr>
          <a:xfrm>
            <a:off x="3665144" y="1645920"/>
            <a:ext cx="548640" cy="548640"/>
          </a:xfrm>
          <a:prstGeom prst="ellipse">
            <a:avLst/>
          </a:prstGeom>
          <a:solidFill>
            <a:srgbClr val="F4D9D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F4D9D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Vergelijking</a:t>
            </a:r>
            <a:endParaRPr lang="en-US" sz="1200" dirty="0"/>
          </a:p>
        </p:txBody>
      </p:sp>
      <p:sp>
        <p:nvSpPr>
          <p:cNvPr id="85" name="Text 83"/>
          <p:cNvSpPr/>
          <p:nvPr/>
        </p:nvSpPr>
        <p:spPr>
          <a:xfrm>
            <a:off x="3665144" y="2423160"/>
            <a:ext cx="201922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Eén nul-as</a:t>
            </a:r>
            <a:endParaRPr lang="en-US" sz="2000" dirty="0"/>
          </a:p>
        </p:txBody>
      </p:sp>
      <p:sp>
        <p:nvSpPr>
          <p:cNvPr id="86" name="Text 84"/>
          <p:cNvSpPr/>
          <p:nvPr/>
        </p:nvSpPr>
        <p:spPr>
          <a:xfrm>
            <a:off x="3665144"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Groepen of cohorten naast elkaar, vergelijkbaar en eerlijk.</a:t>
            </a:r>
            <a:endParaRPr lang="en-US" sz="1500" dirty="0"/>
          </a:p>
        </p:txBody>
      </p:sp>
      <p:sp>
        <p:nvSpPr>
          <p:cNvPr id="87" name="Shape 85"/>
          <p:cNvSpPr/>
          <p:nvPr/>
        </p:nvSpPr>
        <p:spPr>
          <a:xfrm>
            <a:off x="6233008" y="1371600"/>
            <a:ext cx="2567864" cy="3025648"/>
          </a:xfrm>
          <a:prstGeom prst="roundRect">
            <a:avLst>
              <a:gd name="adj" fmla="val 3550"/>
            </a:avLst>
          </a:prstGeom>
          <a:solidFill>
            <a:srgbClr val="00AF81"/>
          </a:solidFill>
          <a:ln/>
        </p:spPr>
      </p:sp>
      <p:sp>
        <p:nvSpPr>
          <p:cNvPr id="88" name="Shape 86"/>
          <p:cNvSpPr/>
          <p:nvPr/>
        </p:nvSpPr>
        <p:spPr>
          <a:xfrm>
            <a:off x="6507328" y="1645920"/>
            <a:ext cx="548640" cy="548640"/>
          </a:xfrm>
          <a:prstGeom prst="ellipse">
            <a:avLst/>
          </a:prstGeom>
          <a:solidFill>
            <a:srgbClr val="F4D9D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F4D9D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Filter</a:t>
            </a:r>
            <a:endParaRPr lang="en-US" sz="1200" dirty="0"/>
          </a:p>
        </p:txBody>
      </p:sp>
      <p:sp>
        <p:nvSpPr>
          <p:cNvPr id="92" name="Text 90"/>
          <p:cNvSpPr/>
          <p:nvPr/>
        </p:nvSpPr>
        <p:spPr>
          <a:xfrm>
            <a:off x="6507328"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Sector of cohort</a:t>
            </a:r>
            <a:endParaRPr lang="en-US" sz="1900" dirty="0"/>
          </a:p>
        </p:txBody>
      </p:sp>
      <p:sp>
        <p:nvSpPr>
          <p:cNvPr id="93" name="Text 91"/>
          <p:cNvSpPr/>
          <p:nvPr/>
        </p:nvSpPr>
        <p:spPr>
          <a:xfrm>
            <a:off x="6507328"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Ook na het filteren worden kleine groepen niet getoond.</a:t>
            </a:r>
            <a:endParaRPr lang="en-US" sz="1500" dirty="0"/>
          </a:p>
        </p:txBody>
      </p:sp>
      <p:sp>
        <p:nvSpPr>
          <p:cNvPr id="94" name="Shape 92"/>
          <p:cNvSpPr/>
          <p:nvPr/>
        </p:nvSpPr>
        <p:spPr>
          <a:xfrm>
            <a:off x="9075191" y="1371600"/>
            <a:ext cx="2567864" cy="3025648"/>
          </a:xfrm>
          <a:prstGeom prst="roundRect">
            <a:avLst>
              <a:gd name="adj" fmla="val 3550"/>
            </a:avLst>
          </a:prstGeom>
          <a:solidFill>
            <a:srgbClr val="F4D74B"/>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Uitleg</a:t>
            </a:r>
            <a:endParaRPr lang="en-US" sz="1200" dirty="0"/>
          </a:p>
        </p:txBody>
      </p:sp>
      <p:sp>
        <p:nvSpPr>
          <p:cNvPr id="99" name="Text 97"/>
          <p:cNvSpPr/>
          <p:nvPr/>
        </p:nvSpPr>
        <p:spPr>
          <a:xfrm>
            <a:off x="9349511" y="2423160"/>
            <a:ext cx="2019224" cy="572008"/>
          </a:xfrm>
          <a:prstGeom prst="rect">
            <a:avLst/>
          </a:prstGeom>
          <a:noFill/>
          <a:ln/>
        </p:spPr>
        <p:txBody>
          <a:bodyPr wrap="square" lIns="0" tIns="0" rIns="0" bIns="0" rtlCol="0" anchor="t"/>
          <a:lstStyle/>
          <a:p>
            <a:pPr algn="l" indent="0" marL="0">
              <a:lnSpc>
                <a:spcPct val="105000"/>
              </a:lnSpc>
              <a:buNone/>
            </a:pPr>
            <a:r>
              <a:rPr lang="en-US" sz="1900" dirty="0">
                <a:solidFill>
                  <a:srgbClr val="3D68EC"/>
                </a:solidFill>
                <a:latin typeface="General Sans Semibold" pitchFamily="34" charset="0"/>
                <a:ea typeface="General Sans Semibold" pitchFamily="34" charset="-122"/>
                <a:cs typeface="General Sans Semibold" pitchFamily="34" charset="-120"/>
              </a:rPr>
              <a:t>Zo lees je dit</a:t>
            </a:r>
            <a:endParaRPr lang="en-US" sz="1900" dirty="0"/>
          </a:p>
        </p:txBody>
      </p:sp>
      <p:sp>
        <p:nvSpPr>
          <p:cNvPr id="100" name="Text 98"/>
          <p:cNvSpPr/>
          <p:nvPr/>
        </p:nvSpPr>
        <p:spPr>
          <a:xfrm>
            <a:off x="9349511" y="3269488"/>
            <a:ext cx="2019224" cy="99060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Definities, bron en wat het dashboard niet kan zeggen.</a:t>
            </a:r>
            <a:endParaRPr lang="en-US" sz="1500" dirty="0"/>
          </a:p>
        </p:txBody>
      </p:sp>
      <p:sp>
        <p:nvSpPr>
          <p:cNvPr id="101" name="Text 99"/>
          <p:cNvSpPr/>
          <p:nvPr/>
        </p:nvSpPr>
        <p:spPr>
          <a:xfrm>
            <a:off x="548640" y="4580128"/>
            <a:ext cx="11094415" cy="457200"/>
          </a:xfrm>
          <a:prstGeom prst="rect">
            <a:avLst/>
          </a:prstGeom>
          <a:noFill/>
          <a:ln/>
        </p:spPr>
        <p:txBody>
          <a:bodyPr wrap="square" lIns="0" tIns="0" rIns="0" bIns="0" rtlCol="0" anchor="t"/>
          <a:lstStyle/>
          <a:p>
            <a:pPr algn="l" indent="0" marL="0">
              <a:lnSpc>
                <a:spcPct val="105000"/>
              </a:lnSpc>
              <a:buNone/>
            </a:pPr>
            <a:r>
              <a:rPr lang="en-US" sz="1500" dirty="0">
                <a:solidFill>
                  <a:srgbClr val="00AF81"/>
                </a:solidFill>
                <a:latin typeface="General Sans Semibold" pitchFamily="34" charset="0"/>
                <a:ea typeface="General Sans Semibold" pitchFamily="34" charset="-122"/>
                <a:cs typeface="General Sans Semibold" pitchFamily="34" charset="-120"/>
              </a:rPr>
              <a:t>Probeer:</a:t>
            </a:r>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 "Bouw een Streamlit-dashboard dat laat zien welke eerstejaars binnen een jaar stoppen, per sector." Het dashboard is het middel, de casusvraag het doel.</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EAEA"/>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Responsible zit in het bouwen</a:t>
            </a:r>
            <a:endParaRPr lang="en-US" sz="3400" dirty="0"/>
          </a:p>
        </p:txBody>
      </p:sp>
      <p:sp>
        <p:nvSpPr>
          <p:cNvPr id="73" name="Shape 71"/>
          <p:cNvSpPr/>
          <p:nvPr/>
        </p:nvSpPr>
        <p:spPr>
          <a:xfrm>
            <a:off x="548640" y="1371600"/>
            <a:ext cx="2567864" cy="3016758"/>
          </a:xfrm>
          <a:prstGeom prst="roundRect">
            <a:avLst>
              <a:gd name="adj" fmla="val 3550"/>
            </a:avLst>
          </a:prstGeom>
          <a:solidFill>
            <a:srgbClr val="3D68EC"/>
          </a:solidFill>
          <a:ln/>
        </p:spPr>
      </p:sp>
      <p:sp>
        <p:nvSpPr>
          <p:cNvPr id="74" name="Shape 72"/>
          <p:cNvSpPr/>
          <p:nvPr/>
        </p:nvSpPr>
        <p:spPr>
          <a:xfrm>
            <a:off x="822960" y="1719072"/>
            <a:ext cx="2019224" cy="402336"/>
          </a:xfrm>
          <a:prstGeom prst="roundRect">
            <a:avLst>
              <a:gd name="adj" fmla="val 113636"/>
            </a:avLst>
          </a:prstGeom>
          <a:solidFill>
            <a:srgbClr val="F4D74B"/>
          </a:solidFill>
          <a:ln/>
        </p:spPr>
      </p:sp>
      <p:sp>
        <p:nvSpPr>
          <p:cNvPr id="75" name="Text 73"/>
          <p:cNvSpPr/>
          <p:nvPr/>
        </p:nvSpPr>
        <p:spPr>
          <a:xfrm>
            <a:off x="914400"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Privacy</a:t>
            </a:r>
            <a:endParaRPr lang="en-US" sz="1200" dirty="0"/>
          </a:p>
        </p:txBody>
      </p:sp>
      <p:sp>
        <p:nvSpPr>
          <p:cNvPr id="76" name="Text 74"/>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Drempel</a:t>
            </a:r>
            <a:endParaRPr lang="en-US" sz="2000" dirty="0"/>
          </a:p>
        </p:txBody>
      </p:sp>
      <p:sp>
        <p:nvSpPr>
          <p:cNvPr id="77" name="Text 75"/>
          <p:cNvSpPr/>
          <p:nvPr/>
        </p:nvSpPr>
        <p:spPr>
          <a:xfrm>
            <a:off x="822960"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Geen groepen onder de 30 studenten, geen percentages onder 5.</a:t>
            </a:r>
            <a:endParaRPr lang="en-US" sz="1500" dirty="0"/>
          </a:p>
        </p:txBody>
      </p:sp>
      <p:sp>
        <p:nvSpPr>
          <p:cNvPr id="78" name="Shape 76"/>
          <p:cNvSpPr/>
          <p:nvPr/>
        </p:nvSpPr>
        <p:spPr>
          <a:xfrm>
            <a:off x="3390824" y="1371600"/>
            <a:ext cx="2567864" cy="3016758"/>
          </a:xfrm>
          <a:prstGeom prst="roundRect">
            <a:avLst>
              <a:gd name="adj" fmla="val 3550"/>
            </a:avLst>
          </a:prstGeom>
          <a:solidFill>
            <a:srgbClr val="DD784B"/>
          </a:solidFill>
          <a:ln/>
        </p:spPr>
      </p:sp>
      <p:sp>
        <p:nvSpPr>
          <p:cNvPr id="79" name="Shape 77"/>
          <p:cNvSpPr/>
          <p:nvPr/>
        </p:nvSpPr>
        <p:spPr>
          <a:xfrm>
            <a:off x="3665144" y="1719072"/>
            <a:ext cx="2019224" cy="402336"/>
          </a:xfrm>
          <a:prstGeom prst="roundRect">
            <a:avLst>
              <a:gd name="adj" fmla="val 113636"/>
            </a:avLst>
          </a:prstGeom>
          <a:solidFill>
            <a:srgbClr val="F4D9DC"/>
          </a:solidFill>
          <a:ln/>
        </p:spPr>
      </p:sp>
      <p:sp>
        <p:nvSpPr>
          <p:cNvPr id="80" name="Text 78"/>
          <p:cNvSpPr/>
          <p:nvPr/>
        </p:nvSpPr>
        <p:spPr>
          <a:xfrm>
            <a:off x="3756584"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Eerlijk</a:t>
            </a:r>
            <a:endParaRPr lang="en-US" sz="1200" dirty="0"/>
          </a:p>
        </p:txBody>
      </p:sp>
      <p:sp>
        <p:nvSpPr>
          <p:cNvPr id="81" name="Text 79"/>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Geen oorzaak</a:t>
            </a:r>
            <a:endParaRPr lang="en-US" sz="2000" dirty="0"/>
          </a:p>
        </p:txBody>
      </p:sp>
      <p:sp>
        <p:nvSpPr>
          <p:cNvPr id="82" name="Text 80"/>
          <p:cNvSpPr/>
          <p:nvPr/>
        </p:nvSpPr>
        <p:spPr>
          <a:xfrm>
            <a:off x="3665144"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 en groepen worden niet gestigmatiseerd.</a:t>
            </a:r>
            <a:endParaRPr lang="en-US" sz="1500" dirty="0"/>
          </a:p>
        </p:txBody>
      </p:sp>
      <p:sp>
        <p:nvSpPr>
          <p:cNvPr id="83" name="Shape 81"/>
          <p:cNvSpPr/>
          <p:nvPr/>
        </p:nvSpPr>
        <p:spPr>
          <a:xfrm>
            <a:off x="6233008" y="1371600"/>
            <a:ext cx="2567864" cy="3016758"/>
          </a:xfrm>
          <a:prstGeom prst="roundRect">
            <a:avLst>
              <a:gd name="adj" fmla="val 3550"/>
            </a:avLst>
          </a:prstGeom>
          <a:solidFill>
            <a:srgbClr val="00AF81"/>
          </a:solidFill>
          <a:ln/>
        </p:spPr>
      </p:sp>
      <p:sp>
        <p:nvSpPr>
          <p:cNvPr id="84" name="Shape 82"/>
          <p:cNvSpPr/>
          <p:nvPr/>
        </p:nvSpPr>
        <p:spPr>
          <a:xfrm>
            <a:off x="6507328" y="1719072"/>
            <a:ext cx="2019224" cy="402336"/>
          </a:xfrm>
          <a:prstGeom prst="roundRect">
            <a:avLst>
              <a:gd name="adj" fmla="val 113636"/>
            </a:avLst>
          </a:prstGeom>
          <a:solidFill>
            <a:srgbClr val="F4D9DC"/>
          </a:solidFill>
          <a:ln/>
        </p:spPr>
      </p:sp>
      <p:sp>
        <p:nvSpPr>
          <p:cNvPr id="85" name="Text 83"/>
          <p:cNvSpPr/>
          <p:nvPr/>
        </p:nvSpPr>
        <p:spPr>
          <a:xfrm>
            <a:off x="6598768"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Toegankelijk</a:t>
            </a:r>
            <a:endParaRPr lang="en-US" sz="1200" dirty="0"/>
          </a:p>
        </p:txBody>
      </p:sp>
      <p:sp>
        <p:nvSpPr>
          <p:cNvPr id="86" name="Text 84"/>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Leesbaar</a:t>
            </a:r>
            <a:endParaRPr lang="en-US" sz="2000" dirty="0"/>
          </a:p>
        </p:txBody>
      </p:sp>
      <p:sp>
        <p:nvSpPr>
          <p:cNvPr id="87" name="Text 85"/>
          <p:cNvSpPr/>
          <p:nvPr/>
        </p:nvSpPr>
        <p:spPr>
          <a:xfrm>
            <a:off x="6507328"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Kleurcontrast, alt-tekst en kleuren die ook zonder rood-groen werken.</a:t>
            </a:r>
            <a:endParaRPr lang="en-US" sz="1500" dirty="0"/>
          </a:p>
        </p:txBody>
      </p:sp>
      <p:sp>
        <p:nvSpPr>
          <p:cNvPr id="88" name="Shape 86"/>
          <p:cNvSpPr/>
          <p:nvPr/>
        </p:nvSpPr>
        <p:spPr>
          <a:xfrm>
            <a:off x="9075191" y="1371600"/>
            <a:ext cx="2567864" cy="3016758"/>
          </a:xfrm>
          <a:prstGeom prst="roundRect">
            <a:avLst>
              <a:gd name="adj" fmla="val 3550"/>
            </a:avLst>
          </a:prstGeom>
          <a:solidFill>
            <a:srgbClr val="F4D74B"/>
          </a:solidFill>
          <a:ln/>
        </p:spPr>
      </p:sp>
      <p:sp>
        <p:nvSpPr>
          <p:cNvPr id="89" name="Shape 87"/>
          <p:cNvSpPr/>
          <p:nvPr/>
        </p:nvSpPr>
        <p:spPr>
          <a:xfrm>
            <a:off x="9349511" y="1719072"/>
            <a:ext cx="2019224" cy="402336"/>
          </a:xfrm>
          <a:prstGeom prst="roundRect">
            <a:avLst>
              <a:gd name="adj" fmla="val 113636"/>
            </a:avLst>
          </a:prstGeom>
          <a:solidFill>
            <a:srgbClr val="3D68EC"/>
          </a:solidFill>
          <a:ln/>
        </p:spPr>
      </p:sp>
      <p:sp>
        <p:nvSpPr>
          <p:cNvPr id="90" name="Text 88"/>
          <p:cNvSpPr/>
          <p:nvPr/>
        </p:nvSpPr>
        <p:spPr>
          <a:xfrm>
            <a:off x="9440951" y="1719072"/>
            <a:ext cx="18363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Bron</a:t>
            </a:r>
            <a:endParaRPr lang="en-US" sz="1200" dirty="0"/>
          </a:p>
        </p:txBody>
      </p:sp>
      <p:sp>
        <p:nvSpPr>
          <p:cNvPr id="91" name="Text 89"/>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Uitleg</a:t>
            </a:r>
            <a:endParaRPr lang="en-US" sz="2000" dirty="0"/>
          </a:p>
        </p:txBody>
      </p:sp>
      <p:sp>
        <p:nvSpPr>
          <p:cNvPr id="92" name="Text 90"/>
          <p:cNvSpPr/>
          <p:nvPr/>
        </p:nvSpPr>
        <p:spPr>
          <a:xfrm>
            <a:off x="9349511" y="3035808"/>
            <a:ext cx="2019224" cy="121539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Bron, definities en peildatum bij elke grafiek.</a:t>
            </a:r>
            <a:endParaRPr lang="en-US" sz="1500" dirty="0"/>
          </a:p>
        </p:txBody>
      </p:sp>
      <p:sp>
        <p:nvSpPr>
          <p:cNvPr id="93" name="Text 91"/>
          <p:cNvSpPr/>
          <p:nvPr/>
        </p:nvSpPr>
        <p:spPr>
          <a:xfrm>
            <a:off x="548640" y="457123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Geen aparte stap achteraf: de skill past deze checks toe tijdens het bouwen.</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DD78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Shape 70"/>
          <p:cNvSpPr/>
          <p:nvPr/>
        </p:nvSpPr>
        <p:spPr>
          <a:xfrm>
            <a:off x="548640" y="1280160"/>
            <a:ext cx="1005840" cy="1005840"/>
          </a:xfrm>
          <a:prstGeom prst="ellipse">
            <a:avLst/>
          </a:prstGeom>
          <a:solidFill>
            <a:srgbClr val="F4D9DC"/>
          </a:solidFill>
          <a:ln/>
        </p:spPr>
      </p:sp>
      <p:sp>
        <p:nvSpPr>
          <p:cNvPr id="73" name="Text 71"/>
          <p:cNvSpPr/>
          <p:nvPr/>
        </p:nvSpPr>
        <p:spPr>
          <a:xfrm>
            <a:off x="548640" y="1280160"/>
            <a:ext cx="1005840" cy="1005840"/>
          </a:xfrm>
          <a:prstGeom prst="rect">
            <a:avLst/>
          </a:prstGeom>
          <a:noFill/>
          <a:ln/>
        </p:spPr>
        <p:txBody>
          <a:bodyPr wrap="square" lIns="0" tIns="0" rIns="0" bIns="0" rtlCol="0" anchor="ctr"/>
          <a:lstStyle/>
          <a:p>
            <a:pPr algn="ctr" indent="0" marL="0">
              <a:lnSpc>
                <a:spcPct val="105000"/>
              </a:lnSpc>
              <a:buNone/>
            </a:pPr>
            <a:r>
              <a:rPr lang="en-US" sz="3200" dirty="0">
                <a:solidFill>
                  <a:srgbClr val="3D68EC"/>
                </a:solidFill>
                <a:latin typeface="General Sans Semibold" pitchFamily="34" charset="0"/>
                <a:ea typeface="General Sans Semibold" pitchFamily="34" charset="-122"/>
                <a:cs typeface="General Sans Semibold" pitchFamily="34" charset="-120"/>
              </a:rPr>
              <a:t>4</a:t>
            </a:r>
            <a:endParaRPr lang="en-US" sz="3200" dirty="0"/>
          </a:p>
        </p:txBody>
      </p:sp>
      <p:sp>
        <p:nvSpPr>
          <p:cNvPr id="74" name="Text 72"/>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000000"/>
                </a:solidFill>
                <a:latin typeface="General Sans Semibold" pitchFamily="34" charset="0"/>
                <a:ea typeface="General Sans Semibold" pitchFamily="34" charset="-122"/>
                <a:cs typeface="General Sans Semibold" pitchFamily="34" charset="-120"/>
              </a:rPr>
              <a:t>Spiegelmoment 2: kijk in de skill</a:t>
            </a:r>
            <a:endParaRPr lang="en-US" sz="4800" dirty="0"/>
          </a:p>
        </p:txBody>
      </p:sp>
      <p:sp>
        <p:nvSpPr>
          <p:cNvPr id="75" name="Text 73"/>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Wat zit er in /bouwen_dashboard, en wat miste je dashboard?</a:t>
            </a:r>
            <a:endParaRPr lang="en-US" sz="2200" dirty="0"/>
          </a:p>
        </p:txBody>
      </p:sp>
      <p:pic>
        <p:nvPicPr>
          <p:cNvPr id="76" name="Image 0" descr="exports\261005_workshop_rad_uitvoering\img\Puzzelstuk 3D.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/bouwen_dashboard: wat de skill doet</a:t>
            </a:r>
            <a:endParaRPr lang="en-US" sz="3400" dirty="0"/>
          </a:p>
        </p:txBody>
      </p:sp>
      <p:sp>
        <p:nvSpPr>
          <p:cNvPr id="73" name="Shape 71"/>
          <p:cNvSpPr/>
          <p:nvPr/>
        </p:nvSpPr>
        <p:spPr>
          <a:xfrm>
            <a:off x="548640" y="1371600"/>
            <a:ext cx="2430704" cy="4160520"/>
          </a:xfrm>
          <a:prstGeom prst="roundRect">
            <a:avLst>
              <a:gd name="adj" fmla="val 3962"/>
            </a:avLst>
          </a:prstGeom>
          <a:solidFill>
            <a:srgbClr val="3D68EC"/>
          </a:solidFill>
          <a:ln/>
        </p:spPr>
      </p:sp>
      <p:sp>
        <p:nvSpPr>
          <p:cNvPr id="74" name="Shape 72"/>
          <p:cNvSpPr/>
          <p:nvPr/>
        </p:nvSpPr>
        <p:spPr>
          <a:xfrm>
            <a:off x="822960" y="1645920"/>
            <a:ext cx="548640" cy="548640"/>
          </a:xfrm>
          <a:prstGeom prst="ellipse">
            <a:avLst/>
          </a:prstGeom>
          <a:solidFill>
            <a:srgbClr val="F4D74B"/>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196264" cy="402336"/>
          </a:xfrm>
          <a:prstGeom prst="roundRect">
            <a:avLst>
              <a:gd name="adj" fmla="val 113636"/>
            </a:avLst>
          </a:prstGeom>
          <a:solidFill>
            <a:srgbClr val="F4D74B"/>
          </a:solidFill>
          <a:ln/>
        </p:spPr>
      </p:sp>
      <p:sp>
        <p:nvSpPr>
          <p:cNvPr id="77" name="Text 75"/>
          <p:cNvSpPr/>
          <p:nvPr/>
        </p:nvSpPr>
        <p:spPr>
          <a:xfrm>
            <a:off x="1600200"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3D68EC"/>
                </a:solidFill>
                <a:latin typeface="General Sans Semibold" pitchFamily="34" charset="0"/>
                <a:ea typeface="General Sans Semibold" pitchFamily="34" charset="-122"/>
                <a:cs typeface="General Sans Semibold" pitchFamily="34" charset="-120"/>
              </a:rPr>
              <a:t>Leest in</a:t>
            </a:r>
            <a:endParaRPr lang="en-US" sz="1200" dirty="0"/>
          </a:p>
        </p:txBody>
      </p:sp>
      <p:sp>
        <p:nvSpPr>
          <p:cNvPr id="78" name="Text 76"/>
          <p:cNvSpPr/>
          <p:nvPr/>
        </p:nvSpPr>
        <p:spPr>
          <a:xfrm>
            <a:off x="822960"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F4D9DC"/>
                </a:solidFill>
                <a:latin typeface="General Sans Semibold" pitchFamily="34" charset="0"/>
                <a:ea typeface="General Sans Semibold" pitchFamily="34" charset="-122"/>
                <a:cs typeface="General Sans Semibold" pitchFamily="34" charset="-120"/>
              </a:rPr>
              <a:t>Profiel en schets</a:t>
            </a:r>
            <a:endParaRPr lang="en-US" sz="1900" dirty="0"/>
          </a:p>
        </p:txBody>
      </p:sp>
      <p:sp>
        <p:nvSpPr>
          <p:cNvPr id="79" name="Text 77"/>
          <p:cNvSpPr/>
          <p:nvPr/>
        </p:nvSpPr>
        <p:spPr>
          <a:xfrm>
            <a:off x="822960"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pitchFamily="34" charset="0"/>
                <a:ea typeface="General Sans" pitchFamily="34" charset="-122"/>
                <a:cs typeface="General Sans" pitchFamily="34" charset="-120"/>
              </a:rPr>
              <a:t>data-profiel.md, schets.md en de data zelf.</a:t>
            </a:r>
            <a:endParaRPr lang="en-US" sz="1500" dirty="0"/>
          </a:p>
        </p:txBody>
      </p:sp>
      <p:sp>
        <p:nvSpPr>
          <p:cNvPr id="80" name="Text 78"/>
          <p:cNvSpPr/>
          <p:nvPr/>
        </p:nvSpPr>
        <p:spPr>
          <a:xfrm>
            <a:off x="822960"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81" name="Text 79"/>
          <p:cNvSpPr/>
          <p:nvPr/>
        </p:nvSpPr>
        <p:spPr>
          <a:xfrm>
            <a:off x="822960"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F4D9DC"/>
                </a:solidFill>
                <a:latin typeface="General Sans Semibold" pitchFamily="34" charset="0"/>
                <a:ea typeface="General Sans Semibold" pitchFamily="34" charset="-122"/>
                <a:cs typeface="General Sans Semibold" pitchFamily="34" charset="-120"/>
              </a:rPr>
              <a:t>Vaste invoer</a:t>
            </a:r>
            <a:endParaRPr lang="en-US" sz="1500" dirty="0"/>
          </a:p>
        </p:txBody>
      </p:sp>
      <p:sp>
        <p:nvSpPr>
          <p:cNvPr id="82" name="Shape 80"/>
          <p:cNvSpPr/>
          <p:nvPr/>
        </p:nvSpPr>
        <p:spPr>
          <a:xfrm>
            <a:off x="3089072" y="3177540"/>
            <a:ext cx="237744" cy="548640"/>
          </a:xfrm>
          <a:prstGeom prst="chevron">
            <a:avLst/>
          </a:prstGeom>
          <a:solidFill>
            <a:srgbClr val="3D68EC"/>
          </a:solidFill>
          <a:ln/>
        </p:spPr>
      </p:sp>
      <p:sp>
        <p:nvSpPr>
          <p:cNvPr id="83" name="Shape 81"/>
          <p:cNvSpPr/>
          <p:nvPr/>
        </p:nvSpPr>
        <p:spPr>
          <a:xfrm>
            <a:off x="3436544" y="1371600"/>
            <a:ext cx="2430704" cy="4160520"/>
          </a:xfrm>
          <a:prstGeom prst="roundRect">
            <a:avLst>
              <a:gd name="adj" fmla="val 3962"/>
            </a:avLst>
          </a:prstGeom>
          <a:solidFill>
            <a:srgbClr val="DD784B"/>
          </a:solidFill>
          <a:ln/>
        </p:spPr>
      </p:sp>
      <p:sp>
        <p:nvSpPr>
          <p:cNvPr id="84" name="Shape 82"/>
          <p:cNvSpPr/>
          <p:nvPr/>
        </p:nvSpPr>
        <p:spPr>
          <a:xfrm>
            <a:off x="3710864" y="1645920"/>
            <a:ext cx="548640" cy="548640"/>
          </a:xfrm>
          <a:prstGeom prst="ellipse">
            <a:avLst/>
          </a:prstGeom>
          <a:solidFill>
            <a:srgbClr val="F4D9DC"/>
          </a:solidFill>
          <a:ln/>
        </p:spPr>
      </p:sp>
      <p:sp>
        <p:nvSpPr>
          <p:cNvPr id="85" name="Text 83"/>
          <p:cNvSpPr/>
          <p:nvPr/>
        </p:nvSpPr>
        <p:spPr>
          <a:xfrm>
            <a:off x="371086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2</a:t>
            </a:r>
            <a:endParaRPr lang="en-US" sz="2000" dirty="0"/>
          </a:p>
        </p:txBody>
      </p:sp>
      <p:sp>
        <p:nvSpPr>
          <p:cNvPr id="86" name="Shape 84"/>
          <p:cNvSpPr/>
          <p:nvPr/>
        </p:nvSpPr>
        <p:spPr>
          <a:xfrm>
            <a:off x="4396664" y="1719072"/>
            <a:ext cx="1196264" cy="402336"/>
          </a:xfrm>
          <a:prstGeom prst="roundRect">
            <a:avLst>
              <a:gd name="adj" fmla="val 113636"/>
            </a:avLst>
          </a:prstGeom>
          <a:solidFill>
            <a:srgbClr val="F4D9DC"/>
          </a:solidFill>
          <a:ln/>
        </p:spPr>
      </p:sp>
      <p:sp>
        <p:nvSpPr>
          <p:cNvPr id="87" name="Text 85"/>
          <p:cNvSpPr/>
          <p:nvPr/>
        </p:nvSpPr>
        <p:spPr>
          <a:xfrm>
            <a:off x="4488104"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Bouwt</a:t>
            </a:r>
            <a:endParaRPr lang="en-US" sz="1200" dirty="0"/>
          </a:p>
        </p:txBody>
      </p:sp>
      <p:sp>
        <p:nvSpPr>
          <p:cNvPr id="88" name="Text 86"/>
          <p:cNvSpPr/>
          <p:nvPr/>
        </p:nvSpPr>
        <p:spPr>
          <a:xfrm>
            <a:off x="3710864" y="2423160"/>
            <a:ext cx="1882064" cy="572008"/>
          </a:xfrm>
          <a:prstGeom prst="rect">
            <a:avLst/>
          </a:prstGeom>
          <a:noFill/>
          <a:ln/>
        </p:spPr>
        <p:txBody>
          <a:bodyPr wrap="square" lIns="0" tIns="0" rIns="0" bIns="0" rtlCol="0" anchor="t"/>
          <a:lstStyle/>
          <a:p>
            <a:pPr algn="l" indent="0" marL="0">
              <a:lnSpc>
                <a:spcPct val="105000"/>
              </a:lnSpc>
              <a:buNone/>
            </a:pPr>
            <a:r>
              <a:rPr lang="en-US" sz="1900" dirty="0">
                <a:solidFill>
                  <a:srgbClr val="000000"/>
                </a:solidFill>
                <a:latin typeface="General Sans Semibold" pitchFamily="34" charset="0"/>
                <a:ea typeface="General Sans Semibold" pitchFamily="34" charset="-122"/>
                <a:cs typeface="General Sans Semibold" pitchFamily="34" charset="-120"/>
              </a:rPr>
              <a:t>Het dashboard</a:t>
            </a:r>
            <a:endParaRPr lang="en-US" sz="1900" dirty="0"/>
          </a:p>
        </p:txBody>
      </p:sp>
      <p:sp>
        <p:nvSpPr>
          <p:cNvPr id="89" name="Text 87"/>
          <p:cNvSpPr/>
          <p:nvPr/>
        </p:nvSpPr>
        <p:spPr>
          <a:xfrm>
            <a:off x="3710864"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app.py voor de weergave, berekeningen.py voor de rekenregels.</a:t>
            </a:r>
            <a:endParaRPr lang="en-US" sz="1500" dirty="0"/>
          </a:p>
        </p:txBody>
      </p:sp>
      <p:sp>
        <p:nvSpPr>
          <p:cNvPr id="90" name="Text 88"/>
          <p:cNvSpPr/>
          <p:nvPr/>
        </p:nvSpPr>
        <p:spPr>
          <a:xfrm>
            <a:off x="3710864"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91" name="Text 89"/>
          <p:cNvSpPr/>
          <p:nvPr/>
        </p:nvSpPr>
        <p:spPr>
          <a:xfrm>
            <a:off x="3710864"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Werkend dashboard</a:t>
            </a:r>
            <a:endParaRPr lang="en-US" sz="1500" dirty="0"/>
          </a:p>
        </p:txBody>
      </p:sp>
      <p:sp>
        <p:nvSpPr>
          <p:cNvPr id="92" name="Shape 90"/>
          <p:cNvSpPr/>
          <p:nvPr/>
        </p:nvSpPr>
        <p:spPr>
          <a:xfrm>
            <a:off x="5976976" y="3177540"/>
            <a:ext cx="237744" cy="548640"/>
          </a:xfrm>
          <a:prstGeom prst="chevron">
            <a:avLst/>
          </a:prstGeom>
          <a:solidFill>
            <a:srgbClr val="3D68EC"/>
          </a:solidFill>
          <a:ln/>
        </p:spPr>
      </p:sp>
      <p:sp>
        <p:nvSpPr>
          <p:cNvPr id="93" name="Shape 91"/>
          <p:cNvSpPr/>
          <p:nvPr/>
        </p:nvSpPr>
        <p:spPr>
          <a:xfrm>
            <a:off x="6324448" y="1371600"/>
            <a:ext cx="2430704" cy="4160520"/>
          </a:xfrm>
          <a:prstGeom prst="roundRect">
            <a:avLst>
              <a:gd name="adj" fmla="val 3962"/>
            </a:avLst>
          </a:prstGeom>
          <a:solidFill>
            <a:srgbClr val="00AF81"/>
          </a:solidFill>
          <a:ln/>
        </p:spPr>
      </p:sp>
      <p:sp>
        <p:nvSpPr>
          <p:cNvPr id="94" name="Shape 92"/>
          <p:cNvSpPr/>
          <p:nvPr/>
        </p:nvSpPr>
        <p:spPr>
          <a:xfrm>
            <a:off x="6598768" y="1645920"/>
            <a:ext cx="548640" cy="548640"/>
          </a:xfrm>
          <a:prstGeom prst="ellipse">
            <a:avLst/>
          </a:prstGeom>
          <a:solidFill>
            <a:srgbClr val="F4D9DC"/>
          </a:solidFill>
          <a:ln/>
        </p:spPr>
      </p:sp>
      <p:sp>
        <p:nvSpPr>
          <p:cNvPr id="95" name="Text 93"/>
          <p:cNvSpPr/>
          <p:nvPr/>
        </p:nvSpPr>
        <p:spPr>
          <a:xfrm>
            <a:off x="659876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3</a:t>
            </a:r>
            <a:endParaRPr lang="en-US" sz="2000" dirty="0"/>
          </a:p>
        </p:txBody>
      </p:sp>
      <p:sp>
        <p:nvSpPr>
          <p:cNvPr id="96" name="Shape 94"/>
          <p:cNvSpPr/>
          <p:nvPr/>
        </p:nvSpPr>
        <p:spPr>
          <a:xfrm>
            <a:off x="7284568" y="1719072"/>
            <a:ext cx="1196264" cy="402336"/>
          </a:xfrm>
          <a:prstGeom prst="roundRect">
            <a:avLst>
              <a:gd name="adj" fmla="val 113636"/>
            </a:avLst>
          </a:prstGeom>
          <a:solidFill>
            <a:srgbClr val="F4D9DC"/>
          </a:solidFill>
          <a:ln/>
        </p:spPr>
      </p:sp>
      <p:sp>
        <p:nvSpPr>
          <p:cNvPr id="97" name="Text 95"/>
          <p:cNvSpPr/>
          <p:nvPr/>
        </p:nvSpPr>
        <p:spPr>
          <a:xfrm>
            <a:off x="7376008"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Verweeft</a:t>
            </a:r>
            <a:endParaRPr lang="en-US" sz="1200" dirty="0"/>
          </a:p>
        </p:txBody>
      </p:sp>
      <p:sp>
        <p:nvSpPr>
          <p:cNvPr id="98" name="Text 96"/>
          <p:cNvSpPr/>
          <p:nvPr/>
        </p:nvSpPr>
        <p:spPr>
          <a:xfrm>
            <a:off x="6598768"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000000"/>
                </a:solidFill>
                <a:latin typeface="General Sans Semibold" pitchFamily="34" charset="0"/>
                <a:ea typeface="General Sans Semibold" pitchFamily="34" charset="-122"/>
                <a:cs typeface="General Sans Semibold" pitchFamily="34" charset="-120"/>
              </a:rPr>
              <a:t>De checks</a:t>
            </a:r>
            <a:endParaRPr lang="en-US" sz="2000" dirty="0"/>
          </a:p>
        </p:txBody>
      </p:sp>
      <p:sp>
        <p:nvSpPr>
          <p:cNvPr id="99" name="Text 97"/>
          <p:cNvSpPr/>
          <p:nvPr/>
        </p:nvSpPr>
        <p:spPr>
          <a:xfrm>
            <a:off x="6598768"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Drempel, framing, toegankelijkheid en bron.</a:t>
            </a:r>
            <a:endParaRPr lang="en-US" sz="1500" dirty="0"/>
          </a:p>
        </p:txBody>
      </p:sp>
      <p:sp>
        <p:nvSpPr>
          <p:cNvPr id="100" name="Text 98"/>
          <p:cNvSpPr/>
          <p:nvPr/>
        </p:nvSpPr>
        <p:spPr>
          <a:xfrm>
            <a:off x="6598768"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000000"/>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01" name="Text 99"/>
          <p:cNvSpPr/>
          <p:nvPr/>
        </p:nvSpPr>
        <p:spPr>
          <a:xfrm>
            <a:off x="6598768"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Verantwoord</a:t>
            </a:r>
            <a:endParaRPr lang="en-US" sz="1500" dirty="0"/>
          </a:p>
        </p:txBody>
      </p:sp>
      <p:sp>
        <p:nvSpPr>
          <p:cNvPr id="102" name="Shape 100"/>
          <p:cNvSpPr/>
          <p:nvPr/>
        </p:nvSpPr>
        <p:spPr>
          <a:xfrm>
            <a:off x="8864879" y="3177540"/>
            <a:ext cx="237744" cy="548640"/>
          </a:xfrm>
          <a:prstGeom prst="chevron">
            <a:avLst/>
          </a:prstGeom>
          <a:solidFill>
            <a:srgbClr val="3D68EC"/>
          </a:solidFill>
          <a:ln/>
        </p:spPr>
      </p:sp>
      <p:sp>
        <p:nvSpPr>
          <p:cNvPr id="103" name="Shape 101"/>
          <p:cNvSpPr/>
          <p:nvPr/>
        </p:nvSpPr>
        <p:spPr>
          <a:xfrm>
            <a:off x="9212351" y="1371600"/>
            <a:ext cx="2430704" cy="4160520"/>
          </a:xfrm>
          <a:prstGeom prst="roundRect">
            <a:avLst>
              <a:gd name="adj" fmla="val 3962"/>
            </a:avLst>
          </a:prstGeom>
          <a:solidFill>
            <a:srgbClr val="F4D74B"/>
          </a:solidFill>
          <a:ln/>
        </p:spPr>
      </p:sp>
      <p:sp>
        <p:nvSpPr>
          <p:cNvPr id="104" name="Shape 102"/>
          <p:cNvSpPr/>
          <p:nvPr/>
        </p:nvSpPr>
        <p:spPr>
          <a:xfrm>
            <a:off x="9486671" y="1645920"/>
            <a:ext cx="548640" cy="548640"/>
          </a:xfrm>
          <a:prstGeom prst="ellipse">
            <a:avLst/>
          </a:prstGeom>
          <a:solidFill>
            <a:srgbClr val="3D68EC"/>
          </a:solidFill>
          <a:ln/>
        </p:spPr>
      </p:sp>
      <p:sp>
        <p:nvSpPr>
          <p:cNvPr id="105" name="Text 103"/>
          <p:cNvSpPr/>
          <p:nvPr/>
        </p:nvSpPr>
        <p:spPr>
          <a:xfrm>
            <a:off x="948667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74B"/>
                </a:solidFill>
                <a:latin typeface="General Sans Semibold" pitchFamily="34" charset="0"/>
                <a:ea typeface="General Sans Semibold" pitchFamily="34" charset="-122"/>
                <a:cs typeface="General Sans Semibold" pitchFamily="34" charset="-120"/>
              </a:rPr>
              <a:t>4</a:t>
            </a:r>
            <a:endParaRPr lang="en-US" sz="2000" dirty="0"/>
          </a:p>
        </p:txBody>
      </p:sp>
      <p:sp>
        <p:nvSpPr>
          <p:cNvPr id="106" name="Shape 104"/>
          <p:cNvSpPr/>
          <p:nvPr/>
        </p:nvSpPr>
        <p:spPr>
          <a:xfrm>
            <a:off x="10172471" y="1719072"/>
            <a:ext cx="1196264" cy="402336"/>
          </a:xfrm>
          <a:prstGeom prst="roundRect">
            <a:avLst>
              <a:gd name="adj" fmla="val 113636"/>
            </a:avLst>
          </a:prstGeom>
          <a:solidFill>
            <a:srgbClr val="3D68EC"/>
          </a:solidFill>
          <a:ln/>
        </p:spPr>
      </p:sp>
      <p:sp>
        <p:nvSpPr>
          <p:cNvPr id="107" name="Text 105"/>
          <p:cNvSpPr/>
          <p:nvPr/>
        </p:nvSpPr>
        <p:spPr>
          <a:xfrm>
            <a:off x="10263911" y="1719072"/>
            <a:ext cx="101338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74B"/>
                </a:solidFill>
                <a:latin typeface="General Sans Semibold" pitchFamily="34" charset="0"/>
                <a:ea typeface="General Sans Semibold" pitchFamily="34" charset="-122"/>
                <a:cs typeface="General Sans Semibold" pitchFamily="34" charset="-120"/>
              </a:rPr>
              <a:t>Test</a:t>
            </a:r>
            <a:endParaRPr lang="en-US" sz="1200" dirty="0"/>
          </a:p>
        </p:txBody>
      </p:sp>
      <p:sp>
        <p:nvSpPr>
          <p:cNvPr id="108" name="Text 106"/>
          <p:cNvSpPr/>
          <p:nvPr/>
        </p:nvSpPr>
        <p:spPr>
          <a:xfrm>
            <a:off x="9486671" y="2423160"/>
            <a:ext cx="1882064" cy="57200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Headless</a:t>
            </a:r>
            <a:endParaRPr lang="en-US" sz="2000" dirty="0"/>
          </a:p>
        </p:txBody>
      </p:sp>
      <p:sp>
        <p:nvSpPr>
          <p:cNvPr id="109" name="Text 107"/>
          <p:cNvSpPr/>
          <p:nvPr/>
        </p:nvSpPr>
        <p:spPr>
          <a:xfrm>
            <a:off x="9486671" y="3269488"/>
            <a:ext cx="1882064" cy="1149662"/>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AppTest: geen fouten en een kleine groep geeft "te weinig studenten".</a:t>
            </a:r>
            <a:endParaRPr lang="en-US" sz="1500" dirty="0"/>
          </a:p>
        </p:txBody>
      </p:sp>
      <p:sp>
        <p:nvSpPr>
          <p:cNvPr id="110" name="Text 108"/>
          <p:cNvSpPr/>
          <p:nvPr/>
        </p:nvSpPr>
        <p:spPr>
          <a:xfrm>
            <a:off x="9486671" y="4556310"/>
            <a:ext cx="1882064"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3D68EC"/>
                </a:solidFill>
                <a:latin typeface="General Sans Semibold" pitchFamily="34" charset="0"/>
                <a:ea typeface="General Sans Semibold" pitchFamily="34" charset="-122"/>
                <a:cs typeface="General Sans Semibold" pitchFamily="34" charset="-120"/>
              </a:rPr>
              <a:t>LEVERT</a:t>
            </a:r>
            <a:endParaRPr lang="en-US" sz="1100" dirty="0"/>
          </a:p>
        </p:txBody>
      </p:sp>
      <p:sp>
        <p:nvSpPr>
          <p:cNvPr id="111" name="Text 109"/>
          <p:cNvSpPr/>
          <p:nvPr/>
        </p:nvSpPr>
        <p:spPr>
          <a:xfrm>
            <a:off x="9486671" y="4903782"/>
            <a:ext cx="1882064" cy="491178"/>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Semibold" pitchFamily="34" charset="0"/>
                <a:ea typeface="General Sans Semibold" pitchFamily="34" charset="-122"/>
                <a:cs typeface="General Sans Semibold" pitchFamily="34" charset="-120"/>
              </a:rPr>
              <a:t>Aantoonbaar</a:t>
            </a:r>
            <a:endParaRPr lang="en-US" sz="1500" dirty="0"/>
          </a:p>
        </p:txBody>
      </p:sp>
      <p:sp>
        <p:nvSpPr>
          <p:cNvPr id="112" name="Text 110"/>
          <p:cNvSpPr/>
          <p:nvPr/>
        </p:nvSpPr>
        <p:spPr>
          <a:xfrm>
            <a:off x="548640" y="5715000"/>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In:</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de twee bestanden uit ronde 1. </a:t>
            </a:r>
            <a:pPr algn="l" indent="0" marL="0">
              <a:lnSpc>
                <a:spcPct val="105000"/>
              </a:lnSpc>
              <a:buNone/>
            </a:pPr>
            <a:r>
              <a:rPr lang="en-US" sz="1800" dirty="0">
                <a:solidFill>
                  <a:srgbClr val="3D68EC"/>
                </a:solidFill>
                <a:latin typeface="General Sans Semibold" pitchFamily="34" charset="0"/>
                <a:ea typeface="General Sans Semibold" pitchFamily="34" charset="-122"/>
                <a:cs typeface="General Sans Semibold" pitchFamily="34" charset="-120"/>
              </a:rPr>
              <a:t>Uit:</a:t>
            </a:r>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 een werkend, verantwoord dashboard.</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Zo verweeft de skill de checks</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8320811"/>
              </a:tblGrid>
              <a:tr h="0">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Check</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c>
                  <a:txBody>
                    <a:bodyPr/>
                    <a:lstStyle/>
                    <a:p>
                      <a:pPr indent="0" marL="0">
                        <a:buNone/>
                      </a:pPr>
                      <a:r>
                        <a:rPr lang="en-US" sz="1400" dirty="0">
                          <a:solidFill>
                            <a:srgbClr val="F4D9DC"/>
                          </a:solidFill>
                          <a:latin typeface="General Sans Semibold" pitchFamily="34" charset="0"/>
                          <a:ea typeface="General Sans Semibold" pitchFamily="34" charset="-122"/>
                          <a:cs typeface="General Sans Semibold" pitchFamily="34" charset="-120"/>
                        </a:rPr>
                        <a:t>Wat de skill in het dashboard doet</a:t>
                      </a:r>
                      <a:endParaRPr lang="en-US" sz="1400" dirty="0">
                        <a:latin typeface="General Sans Semibold" charset="0"/>
                        <a:ea typeface="General Sans Semibold" charset="0"/>
                        <a:cs typeface="General Sans Semibold"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3D68EC"/>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Privacy</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Groepen onder 30 en percentages onder 5 niet tonen; de drempel is een parameter</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Waarneembaarheid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Cohorten waarvan de termijn nog niet af is uitsluiten en dat melden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Eerlijke framing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Conclusie als titel, geen oorzaak, geen stigmatiserende woorden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Toegankelijkheid</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Kleurenblind-veilig palet, contrast 4,5:1, tekstuele samenvatting per grafiek</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en uitleg</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c>
                  <a:txBody>
                    <a:bodyPr/>
                    <a:lstStyle/>
                    <a:p>
                      <a:pPr indent="0" marL="0">
                        <a:buNone/>
                      </a:pPr>
                      <a:r>
                        <a:rPr lang="en-US" sz="1400" dirty="0">
                          <a:solidFill>
                            <a:srgbClr val="000000"/>
                          </a:solidFill>
                          <a:latin typeface="General Sans" pitchFamily="34" charset="0"/>
                          <a:ea typeface="General Sans" pitchFamily="34" charset="-122"/>
                          <a:cs typeface="General Sans" pitchFamily="34" charset="-120"/>
                        </a:rPr>
                        <a:t>Bron, definities, peildatum, n per groep en wat het niet kan zeggen</a:t>
                      </a:r>
                      <a:endParaRPr lang="en-US" sz="1400" dirty="0">
                        <a:latin typeface="General Sans" charset="0"/>
                        <a:ea typeface="General Sans" charset="0"/>
                        <a:cs typeface="General Sans" charset="0"/>
                      </a:endParaRPr>
                    </a:p>
                  </a:txBody>
                  <a:tcPr marL="101600" marR="101600" marT="63500" marB="63500" anchor="ctr">
                    <a:lnL w="9525" cap="flat" cmpd="sng" algn="ctr">
                      <a:solidFill>
                        <a:srgbClr val="F4D9DC"/>
                      </a:solidFill>
                      <a:prstDash val="solid"/>
                      <a:round/>
                      <a:headEnd type="none" w="med" len="med"/>
                      <a:tailEnd type="none" w="med" len="med"/>
                    </a:lnL>
                    <a:lnR w="9525" cap="flat" cmpd="sng" algn="ctr">
                      <a:solidFill>
                        <a:srgbClr val="F4D9DC"/>
                      </a:solidFill>
                      <a:prstDash val="solid"/>
                      <a:round/>
                      <a:headEnd type="none" w="med" len="med"/>
                      <a:tailEnd type="none" w="med" len="med"/>
                    </a:lnR>
                    <a:lnT w="9525" cap="flat" cmpd="sng" algn="ctr">
                      <a:solidFill>
                        <a:srgbClr val="F4D9DC"/>
                      </a:solidFill>
                      <a:prstDash val="solid"/>
                      <a:round/>
                      <a:headEnd type="none" w="med" len="med"/>
                      <a:tailEnd type="none" w="med" len="med"/>
                    </a:lnT>
                    <a:lnB w="9525" cap="flat" cmpd="sng" algn="ctr">
                      <a:solidFill>
                        <a:srgbClr val="F4D9DC"/>
                      </a:solidFill>
                      <a:prstDash val="solid"/>
                      <a:round/>
                      <a:headEnd type="none" w="med" len="med"/>
                      <a:tailEnd type="none" w="med" len="med"/>
                    </a:lnB>
                    <a:solidFill>
                      <a:srgbClr val="FAEAEA"/>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5D4"/>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2500" dirty="0">
                <a:solidFill>
                  <a:srgbClr val="3D68EC"/>
                </a:solidFill>
                <a:latin typeface="General Sans Semibold" pitchFamily="34" charset="0"/>
                <a:ea typeface="General Sans Semibold" pitchFamily="34" charset="-122"/>
                <a:cs typeface="General Sans Semibold" pitchFamily="34" charset="-120"/>
              </a:rPr>
              <a:t>Techniek valt het vaakst uit, geslacht laat geen verschil zien</a:t>
            </a:r>
            <a:endParaRPr lang="en-US" sz="2500" dirty="0"/>
          </a:p>
        </p:txBody>
      </p:sp>
      <p:graphicFrame>
        <p:nvGraphicFramePr>
          <p:cNvPr id="73" name="Chart 0" descr=""/>
          <p:cNvGraphicFramePr/>
          <p:nvPr/>
        </p:nvGraphicFramePr>
        <p:xfrm>
          <a:off x="731520" y="1554480"/>
          <a:ext cx="6796735" cy="4206240"/>
        </p:xfrm>
        <a:graphic xmlns:a="http://schemas.openxmlformats.org/drawingml/2006/main">
          <a:graphicData uri="http://schemas.openxmlformats.org/drawingml/2006/chart">
            <c:chart xmlns:c="http://schemas.openxmlformats.org/drawingml/2006/chart" r:id="rId1"/>
          </a:graphicData>
        </a:graphic>
      </p:graphicFrame>
      <p:sp>
        <p:nvSpPr>
          <p:cNvPr id="74" name="Shape 71"/>
          <p:cNvSpPr/>
          <p:nvPr/>
        </p:nvSpPr>
        <p:spPr>
          <a:xfrm>
            <a:off x="7985455" y="1371600"/>
            <a:ext cx="3657600" cy="2895600"/>
          </a:xfrm>
          <a:prstGeom prst="roundRect">
            <a:avLst>
              <a:gd name="adj" fmla="val 2792"/>
            </a:avLst>
          </a:prstGeom>
          <a:solidFill>
            <a:srgbClr val="3D68EC"/>
          </a:solidFill>
          <a:ln/>
        </p:spPr>
      </p:sp>
      <p:sp>
        <p:nvSpPr>
          <p:cNvPr id="75" name="Text 72"/>
          <p:cNvSpPr/>
          <p:nvPr/>
        </p:nvSpPr>
        <p:spPr>
          <a:xfrm>
            <a:off x="8259775" y="1691640"/>
            <a:ext cx="3108960" cy="274320"/>
          </a:xfrm>
          <a:prstGeom prst="rect">
            <a:avLst/>
          </a:prstGeom>
          <a:noFill/>
          <a:ln/>
        </p:spPr>
        <p:txBody>
          <a:bodyPr wrap="square" lIns="0" tIns="0" rIns="0" bIns="0" rtlCol="0" anchor="t"/>
          <a:lstStyle/>
          <a:p>
            <a:pPr algn="l" indent="0" marL="0">
              <a:lnSpc>
                <a:spcPct val="105000"/>
              </a:lnSpc>
              <a:buNone/>
            </a:pPr>
            <a:r>
              <a:rPr lang="en-US" sz="1100" spc="300" kern="0" dirty="0">
                <a:solidFill>
                  <a:srgbClr val="F4D74B"/>
                </a:solidFill>
                <a:latin typeface="General Sans Semibold" pitchFamily="34" charset="0"/>
                <a:ea typeface="General Sans Semibold" pitchFamily="34" charset="-122"/>
                <a:cs typeface="General Sans Semibold" pitchFamily="34" charset="-120"/>
              </a:rPr>
              <a:t>WAT VALT OP</a:t>
            </a:r>
            <a:endParaRPr lang="en-US" sz="1100" dirty="0"/>
          </a:p>
        </p:txBody>
      </p:sp>
      <p:sp>
        <p:nvSpPr>
          <p:cNvPr id="76" name="Text 73"/>
          <p:cNvSpPr/>
          <p:nvPr/>
        </p:nvSpPr>
        <p:spPr>
          <a:xfrm>
            <a:off x="8259775" y="2103120"/>
            <a:ext cx="3108960" cy="1981200"/>
          </a:xfrm>
          <a:prstGeom prst="rect">
            <a:avLst/>
          </a:prstGeom>
          <a:noFill/>
          <a:ln/>
        </p:spPr>
        <p:txBody>
          <a:bodyPr wrap="square" lIns="0" tIns="0" rIns="0" bIns="0" rtlCol="0" anchor="t"/>
          <a:lstStyle/>
          <a:p>
            <a:pPr algn="l"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Het verschil tussen sectoren hebben wij ingebouwd. Man (16,1%) en vrouw (17,3%) verschillen niet echt: dat is toeval.</a:t>
            </a:r>
            <a:endParaRPr lang="en-US" sz="2000" dirty="0"/>
          </a:p>
        </p:txBody>
      </p:sp>
      <p:sp>
        <p:nvSpPr>
          <p:cNvPr id="77" name="Text 74"/>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Bron: demodata, cohorten 2012-2022 (2023 is nog niet waarneembaar)</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AF81"/>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F4D9DC"/>
                </a:solidFill>
                <a:latin typeface="General Sans Semibold" pitchFamily="34" charset="0"/>
                <a:ea typeface="General Sans Semibold" pitchFamily="34" charset="-122"/>
                <a:cs typeface="General Sans Semibold" pitchFamily="34" charset="-120"/>
              </a:rPr>
              <a:t>Evaluatie en afsluiting: 16 minuten</a:t>
            </a:r>
            <a:endParaRPr lang="en-US" sz="3400" dirty="0"/>
          </a:p>
        </p:txBody>
      </p:sp>
      <p:sp>
        <p:nvSpPr>
          <p:cNvPr id="73" name="Shape 71"/>
          <p:cNvSpPr/>
          <p:nvPr/>
        </p:nvSpPr>
        <p:spPr>
          <a:xfrm>
            <a:off x="548640" y="1371600"/>
            <a:ext cx="2567864" cy="2567178"/>
          </a:xfrm>
          <a:prstGeom prst="roundRect">
            <a:avLst>
              <a:gd name="adj" fmla="val 3552"/>
            </a:avLst>
          </a:prstGeom>
          <a:solidFill>
            <a:srgbClr val="F4D9DC"/>
          </a:solidFill>
          <a:ln/>
        </p:spPr>
      </p:sp>
      <p:sp>
        <p:nvSpPr>
          <p:cNvPr id="74" name="Shape 72"/>
          <p:cNvSpPr/>
          <p:nvPr/>
        </p:nvSpPr>
        <p:spPr>
          <a:xfrm>
            <a:off x="822960" y="1645920"/>
            <a:ext cx="548640" cy="548640"/>
          </a:xfrm>
          <a:prstGeom prst="ellipse">
            <a:avLst/>
          </a:prstGeom>
          <a:solidFill>
            <a:srgbClr val="3D68EC"/>
          </a:solidFill>
          <a:ln/>
        </p:spPr>
      </p:sp>
      <p:sp>
        <p:nvSpPr>
          <p:cNvPr id="75" name="Text 73"/>
          <p:cNvSpPr/>
          <p:nvPr/>
        </p:nvSpPr>
        <p:spPr>
          <a:xfrm>
            <a:off x="822960"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1</a:t>
            </a:r>
            <a:endParaRPr lang="en-US" sz="2000" dirty="0"/>
          </a:p>
        </p:txBody>
      </p:sp>
      <p:sp>
        <p:nvSpPr>
          <p:cNvPr id="76" name="Shape 74"/>
          <p:cNvSpPr/>
          <p:nvPr/>
        </p:nvSpPr>
        <p:spPr>
          <a:xfrm>
            <a:off x="1508760" y="1719072"/>
            <a:ext cx="1333424" cy="402336"/>
          </a:xfrm>
          <a:prstGeom prst="roundRect">
            <a:avLst>
              <a:gd name="adj" fmla="val 113636"/>
            </a:avLst>
          </a:prstGeom>
          <a:solidFill>
            <a:srgbClr val="3D68EC"/>
          </a:solidFill>
          <a:ln/>
        </p:spPr>
      </p:sp>
      <p:sp>
        <p:nvSpPr>
          <p:cNvPr id="77" name="Text 75"/>
          <p:cNvSpPr/>
          <p:nvPr/>
        </p:nvSpPr>
        <p:spPr>
          <a:xfrm>
            <a:off x="1600200"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78" name="Text 76"/>
          <p:cNvSpPr/>
          <p:nvPr/>
        </p:nvSpPr>
        <p:spPr>
          <a:xfrm>
            <a:off x="822960"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Terugblik</a:t>
            </a:r>
            <a:endParaRPr lang="en-US" sz="2000" dirty="0"/>
          </a:p>
        </p:txBody>
      </p:sp>
      <p:sp>
        <p:nvSpPr>
          <p:cNvPr id="79" name="Text 77"/>
          <p:cNvSpPr/>
          <p:nvPr/>
        </p:nvSpPr>
        <p:spPr>
          <a:xfrm>
            <a:off x="822960"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vond je ervan? Wat ging goed, wat zag je nu pas?</a:t>
            </a:r>
            <a:endParaRPr lang="en-US" sz="1500" dirty="0"/>
          </a:p>
        </p:txBody>
      </p:sp>
      <p:sp>
        <p:nvSpPr>
          <p:cNvPr id="80" name="Shape 78"/>
          <p:cNvSpPr/>
          <p:nvPr/>
        </p:nvSpPr>
        <p:spPr>
          <a:xfrm>
            <a:off x="3390824" y="1371600"/>
            <a:ext cx="2567864" cy="2567178"/>
          </a:xfrm>
          <a:prstGeom prst="roundRect">
            <a:avLst>
              <a:gd name="adj" fmla="val 3552"/>
            </a:avLst>
          </a:prstGeom>
          <a:solidFill>
            <a:srgbClr val="F4D9DC"/>
          </a:solidFill>
          <a:ln/>
        </p:spPr>
      </p:sp>
      <p:sp>
        <p:nvSpPr>
          <p:cNvPr id="81" name="Shape 79"/>
          <p:cNvSpPr/>
          <p:nvPr/>
        </p:nvSpPr>
        <p:spPr>
          <a:xfrm>
            <a:off x="3665144" y="1645920"/>
            <a:ext cx="548640" cy="548640"/>
          </a:xfrm>
          <a:prstGeom prst="ellipse">
            <a:avLst/>
          </a:prstGeom>
          <a:solidFill>
            <a:srgbClr val="3D68EC"/>
          </a:solidFill>
          <a:ln/>
        </p:spPr>
      </p:sp>
      <p:sp>
        <p:nvSpPr>
          <p:cNvPr id="82" name="Text 80"/>
          <p:cNvSpPr/>
          <p:nvPr/>
        </p:nvSpPr>
        <p:spPr>
          <a:xfrm>
            <a:off x="3665144"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2</a:t>
            </a:r>
            <a:endParaRPr lang="en-US" sz="2000" dirty="0"/>
          </a:p>
        </p:txBody>
      </p:sp>
      <p:sp>
        <p:nvSpPr>
          <p:cNvPr id="83" name="Shape 81"/>
          <p:cNvSpPr/>
          <p:nvPr/>
        </p:nvSpPr>
        <p:spPr>
          <a:xfrm>
            <a:off x="4350944" y="1719072"/>
            <a:ext cx="1333424" cy="402336"/>
          </a:xfrm>
          <a:prstGeom prst="roundRect">
            <a:avLst>
              <a:gd name="adj" fmla="val 113636"/>
            </a:avLst>
          </a:prstGeom>
          <a:solidFill>
            <a:srgbClr val="3D68EC"/>
          </a:solidFill>
          <a:ln/>
        </p:spPr>
      </p:sp>
      <p:sp>
        <p:nvSpPr>
          <p:cNvPr id="84" name="Text 82"/>
          <p:cNvSpPr/>
          <p:nvPr/>
        </p:nvSpPr>
        <p:spPr>
          <a:xfrm>
            <a:off x="4442384"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2 min</a:t>
            </a:r>
            <a:endParaRPr lang="en-US" sz="1200" dirty="0"/>
          </a:p>
        </p:txBody>
      </p:sp>
      <p:sp>
        <p:nvSpPr>
          <p:cNvPr id="85" name="Text 83"/>
          <p:cNvSpPr/>
          <p:nvPr/>
        </p:nvSpPr>
        <p:spPr>
          <a:xfrm>
            <a:off x="3665144"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Meerkeuze</a:t>
            </a:r>
            <a:endParaRPr lang="en-US" sz="2000" dirty="0"/>
          </a:p>
        </p:txBody>
      </p:sp>
      <p:sp>
        <p:nvSpPr>
          <p:cNvPr id="86" name="Text 84"/>
          <p:cNvSpPr/>
          <p:nvPr/>
        </p:nvSpPr>
        <p:spPr>
          <a:xfrm>
            <a:off x="3665144"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Zou je een vervolg willen, en hoe groot?</a:t>
            </a:r>
            <a:endParaRPr lang="en-US" sz="1500" dirty="0"/>
          </a:p>
        </p:txBody>
      </p:sp>
      <p:sp>
        <p:nvSpPr>
          <p:cNvPr id="87" name="Shape 85"/>
          <p:cNvSpPr/>
          <p:nvPr/>
        </p:nvSpPr>
        <p:spPr>
          <a:xfrm>
            <a:off x="6233008" y="1371600"/>
            <a:ext cx="2567864" cy="2567178"/>
          </a:xfrm>
          <a:prstGeom prst="roundRect">
            <a:avLst>
              <a:gd name="adj" fmla="val 3552"/>
            </a:avLst>
          </a:prstGeom>
          <a:solidFill>
            <a:srgbClr val="F4D9DC"/>
          </a:solidFill>
          <a:ln/>
        </p:spPr>
      </p:sp>
      <p:sp>
        <p:nvSpPr>
          <p:cNvPr id="88" name="Shape 86"/>
          <p:cNvSpPr/>
          <p:nvPr/>
        </p:nvSpPr>
        <p:spPr>
          <a:xfrm>
            <a:off x="6507328" y="1645920"/>
            <a:ext cx="548640" cy="548640"/>
          </a:xfrm>
          <a:prstGeom prst="ellipse">
            <a:avLst/>
          </a:prstGeom>
          <a:solidFill>
            <a:srgbClr val="3D68EC"/>
          </a:solidFill>
          <a:ln/>
        </p:spPr>
      </p:sp>
      <p:sp>
        <p:nvSpPr>
          <p:cNvPr id="89" name="Text 87"/>
          <p:cNvSpPr/>
          <p:nvPr/>
        </p:nvSpPr>
        <p:spPr>
          <a:xfrm>
            <a:off x="6507328"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3</a:t>
            </a:r>
            <a:endParaRPr lang="en-US" sz="2000" dirty="0"/>
          </a:p>
        </p:txBody>
      </p:sp>
      <p:sp>
        <p:nvSpPr>
          <p:cNvPr id="90" name="Shape 88"/>
          <p:cNvSpPr/>
          <p:nvPr/>
        </p:nvSpPr>
        <p:spPr>
          <a:xfrm>
            <a:off x="7193128" y="1719072"/>
            <a:ext cx="1333424" cy="402336"/>
          </a:xfrm>
          <a:prstGeom prst="roundRect">
            <a:avLst>
              <a:gd name="adj" fmla="val 113636"/>
            </a:avLst>
          </a:prstGeom>
          <a:solidFill>
            <a:srgbClr val="3D68EC"/>
          </a:solidFill>
          <a:ln/>
        </p:spPr>
      </p:sp>
      <p:sp>
        <p:nvSpPr>
          <p:cNvPr id="91" name="Text 89"/>
          <p:cNvSpPr/>
          <p:nvPr/>
        </p:nvSpPr>
        <p:spPr>
          <a:xfrm>
            <a:off x="7284568"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4 min</a:t>
            </a:r>
            <a:endParaRPr lang="en-US" sz="1200" dirty="0"/>
          </a:p>
        </p:txBody>
      </p:sp>
      <p:sp>
        <p:nvSpPr>
          <p:cNvPr id="92" name="Text 90"/>
          <p:cNvSpPr/>
          <p:nvPr/>
        </p:nvSpPr>
        <p:spPr>
          <a:xfrm>
            <a:off x="6507328"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Open vraag</a:t>
            </a:r>
            <a:endParaRPr lang="en-US" sz="2000" dirty="0"/>
          </a:p>
        </p:txBody>
      </p:sp>
      <p:sp>
        <p:nvSpPr>
          <p:cNvPr id="93" name="Text 91"/>
          <p:cNvSpPr/>
          <p:nvPr/>
        </p:nvSpPr>
        <p:spPr>
          <a:xfrm>
            <a:off x="6507328"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wil je precies leren in zo’n training?</a:t>
            </a:r>
            <a:endParaRPr lang="en-US" sz="1500" dirty="0"/>
          </a:p>
        </p:txBody>
      </p:sp>
      <p:sp>
        <p:nvSpPr>
          <p:cNvPr id="94" name="Shape 92"/>
          <p:cNvSpPr/>
          <p:nvPr/>
        </p:nvSpPr>
        <p:spPr>
          <a:xfrm>
            <a:off x="9075191" y="1371600"/>
            <a:ext cx="2567864" cy="2567178"/>
          </a:xfrm>
          <a:prstGeom prst="roundRect">
            <a:avLst>
              <a:gd name="adj" fmla="val 3552"/>
            </a:avLst>
          </a:prstGeom>
          <a:solidFill>
            <a:srgbClr val="F4D9DC"/>
          </a:solidFill>
          <a:ln/>
        </p:spPr>
      </p:sp>
      <p:sp>
        <p:nvSpPr>
          <p:cNvPr id="95" name="Shape 93"/>
          <p:cNvSpPr/>
          <p:nvPr/>
        </p:nvSpPr>
        <p:spPr>
          <a:xfrm>
            <a:off x="9349511" y="1645920"/>
            <a:ext cx="548640" cy="548640"/>
          </a:xfrm>
          <a:prstGeom prst="ellipse">
            <a:avLst/>
          </a:prstGeom>
          <a:solidFill>
            <a:srgbClr val="3D68EC"/>
          </a:solidFill>
          <a:ln/>
        </p:spPr>
      </p:sp>
      <p:sp>
        <p:nvSpPr>
          <p:cNvPr id="96" name="Text 94"/>
          <p:cNvSpPr/>
          <p:nvPr/>
        </p:nvSpPr>
        <p:spPr>
          <a:xfrm>
            <a:off x="9349511" y="1645920"/>
            <a:ext cx="548640" cy="548640"/>
          </a:xfrm>
          <a:prstGeom prst="rect">
            <a:avLst/>
          </a:prstGeom>
          <a:noFill/>
          <a:ln/>
        </p:spPr>
        <p:txBody>
          <a:bodyPr wrap="square" lIns="0" tIns="0" rIns="0" bIns="0" rtlCol="0" anchor="ctr"/>
          <a:lstStyle/>
          <a:p>
            <a:pPr algn="ctr" indent="0" marL="0">
              <a:lnSpc>
                <a:spcPct val="105000"/>
              </a:lnSpc>
              <a:buNone/>
            </a:pPr>
            <a:r>
              <a:rPr lang="en-US" sz="2000" dirty="0">
                <a:solidFill>
                  <a:srgbClr val="F4D9DC"/>
                </a:solidFill>
                <a:latin typeface="General Sans Semibold" pitchFamily="34" charset="0"/>
                <a:ea typeface="General Sans Semibold" pitchFamily="34" charset="-122"/>
                <a:cs typeface="General Sans Semibold" pitchFamily="34" charset="-120"/>
              </a:rPr>
              <a:t>4</a:t>
            </a:r>
            <a:endParaRPr lang="en-US" sz="2000" dirty="0"/>
          </a:p>
        </p:txBody>
      </p:sp>
      <p:sp>
        <p:nvSpPr>
          <p:cNvPr id="97" name="Shape 95"/>
          <p:cNvSpPr/>
          <p:nvPr/>
        </p:nvSpPr>
        <p:spPr>
          <a:xfrm>
            <a:off x="10035311" y="1719072"/>
            <a:ext cx="1333424" cy="402336"/>
          </a:xfrm>
          <a:prstGeom prst="roundRect">
            <a:avLst>
              <a:gd name="adj" fmla="val 113636"/>
            </a:avLst>
          </a:prstGeom>
          <a:solidFill>
            <a:srgbClr val="3D68EC"/>
          </a:solidFill>
          <a:ln/>
        </p:spPr>
      </p:sp>
      <p:sp>
        <p:nvSpPr>
          <p:cNvPr id="98" name="Text 96"/>
          <p:cNvSpPr/>
          <p:nvPr/>
        </p:nvSpPr>
        <p:spPr>
          <a:xfrm>
            <a:off x="10126751" y="1719072"/>
            <a:ext cx="1150544" cy="402336"/>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6 min</a:t>
            </a:r>
            <a:endParaRPr lang="en-US" sz="1200" dirty="0"/>
          </a:p>
        </p:txBody>
      </p:sp>
      <p:sp>
        <p:nvSpPr>
          <p:cNvPr id="99" name="Text 97"/>
          <p:cNvSpPr/>
          <p:nvPr/>
        </p:nvSpPr>
        <p:spPr>
          <a:xfrm>
            <a:off x="9349511" y="2423160"/>
            <a:ext cx="2019224" cy="338328"/>
          </a:xfrm>
          <a:prstGeom prst="rect">
            <a:avLst/>
          </a:prstGeom>
          <a:noFill/>
          <a:ln/>
        </p:spPr>
        <p:txBody>
          <a:bodyPr wrap="square" lIns="0" tIns="0" rIns="0" bIns="0" rtlCol="0" anchor="t"/>
          <a:lstStyle/>
          <a:p>
            <a:pPr algn="l" indent="0" marL="0">
              <a:lnSpc>
                <a:spcPct val="105000"/>
              </a:lnSpc>
              <a:buNone/>
            </a:pPr>
            <a:r>
              <a:rPr lang="en-US" sz="2000" dirty="0">
                <a:solidFill>
                  <a:srgbClr val="3D68EC"/>
                </a:solidFill>
                <a:latin typeface="General Sans Semibold" pitchFamily="34" charset="0"/>
                <a:ea typeface="General Sans Semibold" pitchFamily="34" charset="-122"/>
                <a:cs typeface="General Sans Semibold" pitchFamily="34" charset="-120"/>
              </a:rPr>
              <a:t>Afsluiting</a:t>
            </a:r>
            <a:endParaRPr lang="en-US" sz="2000" dirty="0"/>
          </a:p>
        </p:txBody>
      </p:sp>
      <p:sp>
        <p:nvSpPr>
          <p:cNvPr id="100" name="Text 98"/>
          <p:cNvSpPr/>
          <p:nvPr/>
        </p:nvSpPr>
        <p:spPr>
          <a:xfrm>
            <a:off x="9349511" y="3035808"/>
            <a:ext cx="2019224" cy="76581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Wat verloor en won je, en wat doe je morgen anders?</a:t>
            </a:r>
            <a:endParaRPr lang="en-US" sz="1500" dirty="0"/>
          </a:p>
        </p:txBody>
      </p:sp>
      <p:sp>
        <p:nvSpPr>
          <p:cNvPr id="101" name="Text 99"/>
          <p:cNvSpPr/>
          <p:nvPr/>
        </p:nvSpPr>
        <p:spPr>
          <a:xfrm>
            <a:off x="548640" y="4121658"/>
            <a:ext cx="11094415" cy="45720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pitchFamily="34" charset="0"/>
                <a:ea typeface="General Sans" pitchFamily="34" charset="-122"/>
                <a:cs typeface="General Sans" pitchFamily="34" charset="-120"/>
              </a:rPr>
              <a:t>Anoniem en vrijwillig. De antwoorden bepalen of en hoe CEDA een vervolg inricht.</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D6E2FD"/>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000" dirty="0">
                <a:solidFill>
                  <a:srgbClr val="3D68EC"/>
                </a:solidFill>
                <a:latin typeface="General Sans Semibold" pitchFamily="34" charset="0"/>
                <a:ea typeface="General Sans Semibold" pitchFamily="34" charset="-122"/>
                <a:cs typeface="General Sans Semibold" pitchFamily="34" charset="-120"/>
              </a:rPr>
              <a:t>Zou je een vervolg op deze workshop willen?</a:t>
            </a:r>
            <a:endParaRPr lang="en-US" sz="3000" dirty="0"/>
          </a:p>
        </p:txBody>
      </p:sp>
      <p:sp>
        <p:nvSpPr>
          <p:cNvPr id="73" name="Shape 71"/>
          <p:cNvSpPr/>
          <p:nvPr/>
        </p:nvSpPr>
        <p:spPr>
          <a:xfrm>
            <a:off x="548640" y="1417320"/>
            <a:ext cx="11094415" cy="868680"/>
          </a:xfrm>
          <a:prstGeom prst="roundRect">
            <a:avLst>
              <a:gd name="adj" fmla="val 15512"/>
            </a:avLst>
          </a:prstGeom>
          <a:solidFill>
            <a:srgbClr val="FFFFFF"/>
          </a:solidFill>
          <a:ln/>
        </p:spPr>
      </p:sp>
      <p:sp>
        <p:nvSpPr>
          <p:cNvPr id="74" name="Text 72"/>
          <p:cNvSpPr/>
          <p:nvPr/>
        </p:nvSpPr>
        <p:spPr>
          <a:xfrm>
            <a:off x="822960" y="147218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Nee, niet nodig</a:t>
            </a:r>
            <a:endParaRPr lang="en-US" sz="1600" dirty="0"/>
          </a:p>
        </p:txBody>
      </p:sp>
      <p:sp>
        <p:nvSpPr>
          <p:cNvPr id="75" name="Text 73"/>
          <p:cNvSpPr/>
          <p:nvPr/>
        </p:nvSpPr>
        <p:spPr>
          <a:xfrm>
            <a:off x="4754880" y="147218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Deze workshop was genoeg</a:t>
            </a:r>
            <a:endParaRPr lang="en-US" sz="1400" dirty="0"/>
          </a:p>
        </p:txBody>
      </p:sp>
      <p:sp>
        <p:nvSpPr>
          <p:cNvPr id="76" name="Shape 74"/>
          <p:cNvSpPr/>
          <p:nvPr/>
        </p:nvSpPr>
        <p:spPr>
          <a:xfrm>
            <a:off x="9859975" y="1687068"/>
            <a:ext cx="1554480" cy="329184"/>
          </a:xfrm>
          <a:prstGeom prst="roundRect">
            <a:avLst>
              <a:gd name="adj" fmla="val 138889"/>
            </a:avLst>
          </a:prstGeom>
          <a:solidFill>
            <a:srgbClr val="3D68EC"/>
          </a:solidFill>
          <a:ln/>
        </p:spPr>
      </p:sp>
      <p:sp>
        <p:nvSpPr>
          <p:cNvPr id="77" name="Text 75"/>
          <p:cNvSpPr/>
          <p:nvPr/>
        </p:nvSpPr>
        <p:spPr>
          <a:xfrm>
            <a:off x="9951415" y="168706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A</a:t>
            </a:r>
            <a:endParaRPr lang="en-US" sz="1100" dirty="0"/>
          </a:p>
        </p:txBody>
      </p:sp>
      <p:sp>
        <p:nvSpPr>
          <p:cNvPr id="78" name="Shape 76"/>
          <p:cNvSpPr/>
          <p:nvPr/>
        </p:nvSpPr>
        <p:spPr>
          <a:xfrm>
            <a:off x="548640" y="2377440"/>
            <a:ext cx="11094415" cy="868680"/>
          </a:xfrm>
          <a:prstGeom prst="roundRect">
            <a:avLst>
              <a:gd name="adj" fmla="val 15512"/>
            </a:avLst>
          </a:prstGeom>
          <a:solidFill>
            <a:srgbClr val="FFFFFF"/>
          </a:solidFill>
          <a:ln/>
        </p:spPr>
      </p:sp>
      <p:sp>
        <p:nvSpPr>
          <p:cNvPr id="79" name="Text 77"/>
          <p:cNvSpPr/>
          <p:nvPr/>
        </p:nvSpPr>
        <p:spPr>
          <a:xfrm>
            <a:off x="822960" y="243230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losse sessie van een paar uur</a:t>
            </a:r>
            <a:endParaRPr lang="en-US" sz="1600" dirty="0"/>
          </a:p>
        </p:txBody>
      </p:sp>
      <p:sp>
        <p:nvSpPr>
          <p:cNvPr id="80" name="Text 78"/>
          <p:cNvSpPr/>
          <p:nvPr/>
        </p:nvSpPr>
        <p:spPr>
          <a:xfrm>
            <a:off x="4754880" y="243230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vervolgworkshop, bijvoorbeeld met eigen data</a:t>
            </a:r>
            <a:endParaRPr lang="en-US" sz="1400" dirty="0"/>
          </a:p>
        </p:txBody>
      </p:sp>
      <p:sp>
        <p:nvSpPr>
          <p:cNvPr id="81" name="Shape 79"/>
          <p:cNvSpPr/>
          <p:nvPr/>
        </p:nvSpPr>
        <p:spPr>
          <a:xfrm>
            <a:off x="9859975" y="2647188"/>
            <a:ext cx="1554480" cy="329184"/>
          </a:xfrm>
          <a:prstGeom prst="roundRect">
            <a:avLst>
              <a:gd name="adj" fmla="val 138889"/>
            </a:avLst>
          </a:prstGeom>
          <a:solidFill>
            <a:srgbClr val="3D68EC"/>
          </a:solidFill>
          <a:ln/>
        </p:spPr>
      </p:sp>
      <p:sp>
        <p:nvSpPr>
          <p:cNvPr id="82" name="Text 80"/>
          <p:cNvSpPr/>
          <p:nvPr/>
        </p:nvSpPr>
        <p:spPr>
          <a:xfrm>
            <a:off x="9951415" y="264718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B</a:t>
            </a:r>
            <a:endParaRPr lang="en-US" sz="1100" dirty="0"/>
          </a:p>
        </p:txBody>
      </p:sp>
      <p:sp>
        <p:nvSpPr>
          <p:cNvPr id="83" name="Shape 81"/>
          <p:cNvSpPr/>
          <p:nvPr/>
        </p:nvSpPr>
        <p:spPr>
          <a:xfrm>
            <a:off x="548640" y="3337560"/>
            <a:ext cx="11094415" cy="868680"/>
          </a:xfrm>
          <a:prstGeom prst="roundRect">
            <a:avLst>
              <a:gd name="adj" fmla="val 15512"/>
            </a:avLst>
          </a:prstGeom>
          <a:solidFill>
            <a:srgbClr val="FFFFFF"/>
          </a:solidFill>
          <a:ln/>
        </p:spPr>
      </p:sp>
      <p:sp>
        <p:nvSpPr>
          <p:cNvPr id="84" name="Text 82"/>
          <p:cNvSpPr/>
          <p:nvPr/>
        </p:nvSpPr>
        <p:spPr>
          <a:xfrm>
            <a:off x="822960" y="339242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Een paar dagdelen over enkele weken</a:t>
            </a:r>
            <a:endParaRPr lang="en-US" sz="1600" dirty="0"/>
          </a:p>
        </p:txBody>
      </p:sp>
      <p:sp>
        <p:nvSpPr>
          <p:cNvPr id="85" name="Text 83"/>
          <p:cNvSpPr/>
          <p:nvPr/>
        </p:nvSpPr>
        <p:spPr>
          <a:xfrm>
            <a:off x="4754880" y="339242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Verdieping verspreid over meerdere dagen</a:t>
            </a:r>
            <a:endParaRPr lang="en-US" sz="1400" dirty="0"/>
          </a:p>
        </p:txBody>
      </p:sp>
      <p:sp>
        <p:nvSpPr>
          <p:cNvPr id="86" name="Shape 84"/>
          <p:cNvSpPr/>
          <p:nvPr/>
        </p:nvSpPr>
        <p:spPr>
          <a:xfrm>
            <a:off x="9859975" y="3607308"/>
            <a:ext cx="1554480" cy="329184"/>
          </a:xfrm>
          <a:prstGeom prst="roundRect">
            <a:avLst>
              <a:gd name="adj" fmla="val 138889"/>
            </a:avLst>
          </a:prstGeom>
          <a:solidFill>
            <a:srgbClr val="3D68EC"/>
          </a:solidFill>
          <a:ln/>
        </p:spPr>
      </p:sp>
      <p:sp>
        <p:nvSpPr>
          <p:cNvPr id="87" name="Text 85"/>
          <p:cNvSpPr/>
          <p:nvPr/>
        </p:nvSpPr>
        <p:spPr>
          <a:xfrm>
            <a:off x="9951415" y="360730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C</a:t>
            </a:r>
            <a:endParaRPr lang="en-US" sz="1100" dirty="0"/>
          </a:p>
        </p:txBody>
      </p:sp>
      <p:sp>
        <p:nvSpPr>
          <p:cNvPr id="88" name="Shape 86"/>
          <p:cNvSpPr/>
          <p:nvPr/>
        </p:nvSpPr>
        <p:spPr>
          <a:xfrm>
            <a:off x="548640" y="4297680"/>
            <a:ext cx="11094415" cy="868680"/>
          </a:xfrm>
          <a:prstGeom prst="roundRect">
            <a:avLst>
              <a:gd name="adj" fmla="val 15512"/>
            </a:avLst>
          </a:prstGeom>
          <a:solidFill>
            <a:srgbClr val="FFFFFF"/>
          </a:solidFill>
          <a:ln/>
        </p:spPr>
      </p:sp>
      <p:sp>
        <p:nvSpPr>
          <p:cNvPr id="89" name="Text 87"/>
          <p:cNvSpPr/>
          <p:nvPr/>
        </p:nvSpPr>
        <p:spPr>
          <a:xfrm>
            <a:off x="822960" y="4352544"/>
            <a:ext cx="3840480" cy="758952"/>
          </a:xfrm>
          <a:prstGeom prst="rect">
            <a:avLst/>
          </a:prstGeom>
          <a:noFill/>
          <a:ln/>
        </p:spPr>
        <p:txBody>
          <a:bodyPr wrap="square" lIns="0" tIns="0" rIns="0" bIns="0" rtlCol="0" anchor="ctr"/>
          <a:lstStyle/>
          <a:p>
            <a:pPr algn="l" indent="0" marL="0">
              <a:lnSpc>
                <a:spcPct val="105000"/>
              </a:lnSpc>
              <a:buNone/>
            </a:pPr>
            <a:r>
              <a:rPr lang="en-US" sz="1600" dirty="0">
                <a:solidFill>
                  <a:srgbClr val="000000"/>
                </a:solidFill>
                <a:latin typeface="General Sans Semibold" pitchFamily="34" charset="0"/>
                <a:ea typeface="General Sans Semibold" pitchFamily="34" charset="-122"/>
                <a:cs typeface="General Sans Semibold" pitchFamily="34" charset="-120"/>
              </a:rPr>
              <a:t>4 uur per week, één semester</a:t>
            </a:r>
            <a:endParaRPr lang="en-US" sz="1600" dirty="0"/>
          </a:p>
        </p:txBody>
      </p:sp>
      <p:sp>
        <p:nvSpPr>
          <p:cNvPr id="90" name="Text 88"/>
          <p:cNvSpPr/>
          <p:nvPr/>
        </p:nvSpPr>
        <p:spPr>
          <a:xfrm>
            <a:off x="4754880" y="4352544"/>
            <a:ext cx="4572000" cy="758952"/>
          </a:xfrm>
          <a:prstGeom prst="rect">
            <a:avLst/>
          </a:prstGeom>
          <a:noFill/>
          <a:ln/>
        </p:spPr>
        <p:txBody>
          <a:bodyPr wrap="square" lIns="0" tIns="0" rIns="0" bIns="0" rtlCol="0" anchor="ctr"/>
          <a:lstStyle/>
          <a:p>
            <a:pPr algn="l" indent="0" marL="0">
              <a:lnSpc>
                <a:spcPct val="105000"/>
              </a:lnSpc>
              <a:buNone/>
            </a:pPr>
            <a:r>
              <a:rPr lang="en-US" sz="1400" dirty="0">
                <a:solidFill>
                  <a:srgbClr val="000000"/>
                </a:solidFill>
                <a:latin typeface="General Sans" pitchFamily="34" charset="0"/>
                <a:ea typeface="General Sans" pitchFamily="34" charset="-122"/>
                <a:cs typeface="General Sans" pitchFamily="34" charset="-120"/>
              </a:rPr>
              <a:t>Een volledig trainingsprogramma</a:t>
            </a:r>
            <a:endParaRPr lang="en-US" sz="1400" dirty="0"/>
          </a:p>
        </p:txBody>
      </p:sp>
      <p:sp>
        <p:nvSpPr>
          <p:cNvPr id="91" name="Shape 89"/>
          <p:cNvSpPr/>
          <p:nvPr/>
        </p:nvSpPr>
        <p:spPr>
          <a:xfrm>
            <a:off x="9859975" y="4567428"/>
            <a:ext cx="1554480" cy="329184"/>
          </a:xfrm>
          <a:prstGeom prst="roundRect">
            <a:avLst>
              <a:gd name="adj" fmla="val 138889"/>
            </a:avLst>
          </a:prstGeom>
          <a:solidFill>
            <a:srgbClr val="3D68EC"/>
          </a:solidFill>
          <a:ln/>
        </p:spPr>
      </p:sp>
      <p:sp>
        <p:nvSpPr>
          <p:cNvPr id="92" name="Text 90"/>
          <p:cNvSpPr/>
          <p:nvPr/>
        </p:nvSpPr>
        <p:spPr>
          <a:xfrm>
            <a:off x="9951415" y="4567428"/>
            <a:ext cx="1371600" cy="329184"/>
          </a:xfrm>
          <a:prstGeom prst="rect">
            <a:avLst/>
          </a:prstGeom>
          <a:noFill/>
          <a:ln/>
        </p:spPr>
        <p:txBody>
          <a:bodyPr wrap="square" lIns="0" tIns="0" rIns="0" bIns="0" rtlCol="0" anchor="ctr"/>
          <a:lstStyle/>
          <a:p>
            <a:pPr algn="ctr" indent="0" marL="0">
              <a:lnSpc>
                <a:spcPct val="105000"/>
              </a:lnSpc>
              <a:buNone/>
            </a:pPr>
            <a:r>
              <a:rPr lang="en-US" sz="1100" dirty="0">
                <a:solidFill>
                  <a:srgbClr val="F4D9DC"/>
                </a:solidFill>
                <a:latin typeface="General Sans Semibold" pitchFamily="34" charset="0"/>
                <a:ea typeface="General Sans Semibold" pitchFamily="34" charset="-122"/>
                <a:cs typeface="General Sans Semibold" pitchFamily="34" charset="-120"/>
              </a:rPr>
              <a:t>D</a:t>
            </a:r>
            <a:endParaRPr lang="en-US" sz="1100" dirty="0"/>
          </a:p>
        </p:txBody>
      </p:sp>
      <p:sp>
        <p:nvSpPr>
          <p:cNvPr id="93" name="Text 91"/>
          <p:cNvSpPr/>
          <p:nvPr/>
        </p:nvSpPr>
        <p:spPr>
          <a:xfrm>
            <a:off x="548640" y="6291072"/>
            <a:ext cx="11094415" cy="274320"/>
          </a:xfrm>
          <a:prstGeom prst="rect">
            <a:avLst/>
          </a:prstGeom>
          <a:noFill/>
          <a:ln/>
        </p:spPr>
        <p:txBody>
          <a:bodyPr wrap="square" lIns="0" tIns="0" rIns="0" bIns="0" rtlCol="0" anchor="t"/>
          <a:lstStyle/>
          <a:p>
            <a:pPr algn="l" indent="0" marL="0">
              <a:lnSpc>
                <a:spcPct val="105000"/>
              </a:lnSpc>
              <a:buNone/>
            </a:pPr>
            <a:r>
              <a:rPr lang="en-US" sz="1100" dirty="0">
                <a:solidFill>
                  <a:srgbClr val="3D68EC"/>
                </a:solidFill>
                <a:latin typeface="General Sans" pitchFamily="34" charset="0"/>
                <a:ea typeface="General Sans" pitchFamily="34" charset="-122"/>
                <a:cs typeface="General Sans" pitchFamily="34" charset="-120"/>
              </a:rPr>
              <a:t>Kies wat het best past. Scan de QR-code of steek je hand op.</a:t>
            </a:r>
            <a:endParaRPr lang="en-US" sz="11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D74B"/>
        </a:solidFill>
      </p:bgPr>
    </p:bg>
    <p:spTree>
      <p:nvGrpSpPr>
        <p:cNvPr id="1" name=""/>
        <p:cNvGrpSpPr/>
        <p:nvPr/>
      </p:nvGrpSpPr>
      <p:grpSpPr>
        <a:xfrm>
          <a:off x="0" y="0"/>
          <a:ext cx="0" cy="0"/>
          <a:chOff x="0" y="0"/>
          <a:chExt cx="0" cy="0"/>
        </a:xfrm>
      </p:grpSpPr>
      <p:sp>
        <p:nvSpPr>
          <p:cNvPr id="2" name="Shape 0"/>
          <p:cNvSpPr/>
          <p:nvPr/>
        </p:nvSpPr>
        <p:spPr>
          <a:xfrm>
            <a:off x="11304952" y="384048"/>
            <a:ext cx="35960" cy="35960"/>
          </a:xfrm>
          <a:prstGeom prst="ellipse">
            <a:avLst/>
          </a:prstGeom>
          <a:solidFill>
            <a:srgbClr val="000000"/>
          </a:solidFill>
          <a:ln/>
        </p:spPr>
      </p:sp>
      <p:sp>
        <p:nvSpPr>
          <p:cNvPr id="3" name="Shape 1"/>
          <p:cNvSpPr/>
          <p:nvPr/>
        </p:nvSpPr>
        <p:spPr>
          <a:xfrm>
            <a:off x="11212173" y="399224"/>
            <a:ext cx="34616" cy="34616"/>
          </a:xfrm>
          <a:prstGeom prst="ellipse">
            <a:avLst/>
          </a:prstGeom>
          <a:solidFill>
            <a:srgbClr val="000000"/>
          </a:solidFill>
          <a:ln/>
        </p:spPr>
      </p:sp>
      <p:sp>
        <p:nvSpPr>
          <p:cNvPr id="4" name="Shape 2"/>
          <p:cNvSpPr/>
          <p:nvPr/>
        </p:nvSpPr>
        <p:spPr>
          <a:xfrm>
            <a:off x="11398641" y="399224"/>
            <a:ext cx="34616" cy="34616"/>
          </a:xfrm>
          <a:prstGeom prst="ellipse">
            <a:avLst/>
          </a:prstGeom>
          <a:solidFill>
            <a:srgbClr val="000000"/>
          </a:solidFill>
          <a:ln/>
        </p:spPr>
      </p:sp>
      <p:sp>
        <p:nvSpPr>
          <p:cNvPr id="5" name="Shape 3"/>
          <p:cNvSpPr/>
          <p:nvPr/>
        </p:nvSpPr>
        <p:spPr>
          <a:xfrm>
            <a:off x="11258374" y="435357"/>
            <a:ext cx="51936" cy="51936"/>
          </a:xfrm>
          <a:prstGeom prst="ellipse">
            <a:avLst/>
          </a:prstGeom>
          <a:solidFill>
            <a:srgbClr val="000000"/>
          </a:solidFill>
          <a:ln/>
        </p:spPr>
      </p:sp>
      <p:sp>
        <p:nvSpPr>
          <p:cNvPr id="6" name="Shape 4"/>
          <p:cNvSpPr/>
          <p:nvPr/>
        </p:nvSpPr>
        <p:spPr>
          <a:xfrm>
            <a:off x="11335407" y="435306"/>
            <a:ext cx="51718" cy="51718"/>
          </a:xfrm>
          <a:prstGeom prst="ellipse">
            <a:avLst/>
          </a:prstGeom>
          <a:solidFill>
            <a:srgbClr val="000000"/>
          </a:solidFill>
          <a:ln/>
        </p:spPr>
      </p:sp>
      <p:sp>
        <p:nvSpPr>
          <p:cNvPr id="7" name="Shape 5"/>
          <p:cNvSpPr/>
          <p:nvPr/>
        </p:nvSpPr>
        <p:spPr>
          <a:xfrm>
            <a:off x="11127388" y="442398"/>
            <a:ext cx="35294" cy="35294"/>
          </a:xfrm>
          <a:prstGeom prst="ellipse">
            <a:avLst/>
          </a:prstGeom>
          <a:solidFill>
            <a:srgbClr val="000000"/>
          </a:solidFill>
          <a:ln/>
        </p:spPr>
      </p:sp>
      <p:sp>
        <p:nvSpPr>
          <p:cNvPr id="8" name="Shape 6"/>
          <p:cNvSpPr/>
          <p:nvPr/>
        </p:nvSpPr>
        <p:spPr>
          <a:xfrm>
            <a:off x="11482145" y="441649"/>
            <a:ext cx="35960" cy="35960"/>
          </a:xfrm>
          <a:prstGeom prst="ellipse">
            <a:avLst/>
          </a:prstGeom>
          <a:solidFill>
            <a:srgbClr val="000000"/>
          </a:solidFill>
          <a:ln/>
        </p:spPr>
      </p:sp>
      <p:sp>
        <p:nvSpPr>
          <p:cNvPr id="9" name="Shape 7"/>
          <p:cNvSpPr/>
          <p:nvPr/>
        </p:nvSpPr>
        <p:spPr>
          <a:xfrm>
            <a:off x="11185603" y="459328"/>
            <a:ext cx="52167" cy="52167"/>
          </a:xfrm>
          <a:prstGeom prst="ellipse">
            <a:avLst/>
          </a:prstGeom>
          <a:solidFill>
            <a:srgbClr val="000000"/>
          </a:solidFill>
          <a:ln/>
        </p:spPr>
      </p:sp>
      <p:sp>
        <p:nvSpPr>
          <p:cNvPr id="10" name="Shape 8"/>
          <p:cNvSpPr/>
          <p:nvPr/>
        </p:nvSpPr>
        <p:spPr>
          <a:xfrm>
            <a:off x="11408043" y="458713"/>
            <a:ext cx="52384" cy="52384"/>
          </a:xfrm>
          <a:prstGeom prst="ellipse">
            <a:avLst/>
          </a:prstGeom>
          <a:solidFill>
            <a:srgbClr val="000000"/>
          </a:solidFill>
          <a:ln/>
        </p:spPr>
      </p:sp>
      <p:sp>
        <p:nvSpPr>
          <p:cNvPr id="11" name="Shape 9"/>
          <p:cNvSpPr/>
          <p:nvPr/>
        </p:nvSpPr>
        <p:spPr>
          <a:xfrm>
            <a:off x="11241891" y="499749"/>
            <a:ext cx="36613" cy="36613"/>
          </a:xfrm>
          <a:prstGeom prst="ellipse">
            <a:avLst/>
          </a:prstGeom>
          <a:solidFill>
            <a:srgbClr val="000000"/>
          </a:solidFill>
          <a:ln/>
        </p:spPr>
      </p:sp>
      <p:sp>
        <p:nvSpPr>
          <p:cNvPr id="12" name="Shape 10"/>
          <p:cNvSpPr/>
          <p:nvPr/>
        </p:nvSpPr>
        <p:spPr>
          <a:xfrm>
            <a:off x="11294557" y="500146"/>
            <a:ext cx="57223" cy="57223"/>
          </a:xfrm>
          <a:prstGeom prst="ellipse">
            <a:avLst/>
          </a:prstGeom>
          <a:solidFill>
            <a:srgbClr val="000000"/>
          </a:solidFill>
          <a:ln/>
        </p:spPr>
      </p:sp>
      <p:sp>
        <p:nvSpPr>
          <p:cNvPr id="13" name="Shape 11"/>
          <p:cNvSpPr/>
          <p:nvPr/>
        </p:nvSpPr>
        <p:spPr>
          <a:xfrm>
            <a:off x="11364102" y="498770"/>
            <a:ext cx="35294" cy="35294"/>
          </a:xfrm>
          <a:prstGeom prst="ellipse">
            <a:avLst/>
          </a:prstGeom>
          <a:solidFill>
            <a:srgbClr val="000000"/>
          </a:solidFill>
          <a:ln/>
        </p:spPr>
      </p:sp>
      <p:sp>
        <p:nvSpPr>
          <p:cNvPr id="14" name="Shape 12"/>
          <p:cNvSpPr/>
          <p:nvPr/>
        </p:nvSpPr>
        <p:spPr>
          <a:xfrm>
            <a:off x="11123515" y="504524"/>
            <a:ext cx="51936" cy="51936"/>
          </a:xfrm>
          <a:prstGeom prst="ellipse">
            <a:avLst/>
          </a:prstGeom>
          <a:solidFill>
            <a:srgbClr val="000000"/>
          </a:solidFill>
          <a:ln/>
        </p:spPr>
      </p:sp>
      <p:sp>
        <p:nvSpPr>
          <p:cNvPr id="15" name="Shape 13"/>
          <p:cNvSpPr/>
          <p:nvPr/>
        </p:nvSpPr>
        <p:spPr>
          <a:xfrm>
            <a:off x="11470202" y="504300"/>
            <a:ext cx="52384" cy="52384"/>
          </a:xfrm>
          <a:prstGeom prst="ellipse">
            <a:avLst/>
          </a:prstGeom>
          <a:solidFill>
            <a:srgbClr val="000000"/>
          </a:solidFill>
          <a:ln/>
        </p:spPr>
      </p:sp>
      <p:sp>
        <p:nvSpPr>
          <p:cNvPr id="16" name="Shape 14"/>
          <p:cNvSpPr/>
          <p:nvPr/>
        </p:nvSpPr>
        <p:spPr>
          <a:xfrm>
            <a:off x="11060774" y="508825"/>
            <a:ext cx="35627" cy="35627"/>
          </a:xfrm>
          <a:prstGeom prst="ellipse">
            <a:avLst/>
          </a:prstGeom>
          <a:solidFill>
            <a:srgbClr val="000000"/>
          </a:solidFill>
          <a:ln/>
        </p:spPr>
      </p:sp>
      <p:sp>
        <p:nvSpPr>
          <p:cNvPr id="17" name="Shape 15"/>
          <p:cNvSpPr/>
          <p:nvPr/>
        </p:nvSpPr>
        <p:spPr>
          <a:xfrm>
            <a:off x="11548535" y="508038"/>
            <a:ext cx="36613" cy="36613"/>
          </a:xfrm>
          <a:prstGeom prst="ellipse">
            <a:avLst/>
          </a:prstGeom>
          <a:solidFill>
            <a:srgbClr val="000000"/>
          </a:solidFill>
          <a:ln/>
        </p:spPr>
      </p:sp>
      <p:sp>
        <p:nvSpPr>
          <p:cNvPr id="18" name="Shape 16"/>
          <p:cNvSpPr/>
          <p:nvPr/>
        </p:nvSpPr>
        <p:spPr>
          <a:xfrm>
            <a:off x="11191466" y="533379"/>
            <a:ext cx="57825" cy="57825"/>
          </a:xfrm>
          <a:prstGeom prst="ellipse">
            <a:avLst/>
          </a:prstGeom>
          <a:solidFill>
            <a:srgbClr val="000000"/>
          </a:solidFill>
          <a:ln/>
        </p:spPr>
      </p:sp>
      <p:sp>
        <p:nvSpPr>
          <p:cNvPr id="19" name="Shape 17"/>
          <p:cNvSpPr/>
          <p:nvPr/>
        </p:nvSpPr>
        <p:spPr>
          <a:xfrm>
            <a:off x="11396535" y="533494"/>
            <a:ext cx="57428" cy="57428"/>
          </a:xfrm>
          <a:prstGeom prst="ellipse">
            <a:avLst/>
          </a:prstGeom>
          <a:solidFill>
            <a:srgbClr val="000000"/>
          </a:solidFill>
          <a:ln/>
        </p:spPr>
      </p:sp>
      <p:sp>
        <p:nvSpPr>
          <p:cNvPr id="20" name="Shape 18"/>
          <p:cNvSpPr/>
          <p:nvPr/>
        </p:nvSpPr>
        <p:spPr>
          <a:xfrm>
            <a:off x="11079087" y="567226"/>
            <a:ext cx="51270" cy="51270"/>
          </a:xfrm>
          <a:prstGeom prst="ellipse">
            <a:avLst/>
          </a:prstGeom>
          <a:solidFill>
            <a:srgbClr val="000000"/>
          </a:solidFill>
          <a:ln/>
        </p:spPr>
      </p:sp>
      <p:sp>
        <p:nvSpPr>
          <p:cNvPr id="21" name="Shape 19"/>
          <p:cNvSpPr/>
          <p:nvPr/>
        </p:nvSpPr>
        <p:spPr>
          <a:xfrm>
            <a:off x="11339728" y="567053"/>
            <a:ext cx="34616" cy="34616"/>
          </a:xfrm>
          <a:prstGeom prst="ellipse">
            <a:avLst/>
          </a:prstGeom>
          <a:solidFill>
            <a:srgbClr val="000000"/>
          </a:solidFill>
          <a:ln/>
        </p:spPr>
      </p:sp>
      <p:sp>
        <p:nvSpPr>
          <p:cNvPr id="22" name="Shape 20"/>
          <p:cNvSpPr/>
          <p:nvPr/>
        </p:nvSpPr>
        <p:spPr>
          <a:xfrm>
            <a:off x="11515167" y="566234"/>
            <a:ext cx="52819" cy="52819"/>
          </a:xfrm>
          <a:prstGeom prst="ellipse">
            <a:avLst/>
          </a:prstGeom>
          <a:solidFill>
            <a:srgbClr val="000000"/>
          </a:solidFill>
          <a:ln/>
        </p:spPr>
      </p:sp>
      <p:sp>
        <p:nvSpPr>
          <p:cNvPr id="23" name="Shape 21"/>
          <p:cNvSpPr/>
          <p:nvPr/>
        </p:nvSpPr>
        <p:spPr>
          <a:xfrm>
            <a:off x="11262860" y="569742"/>
            <a:ext cx="34961" cy="34961"/>
          </a:xfrm>
          <a:prstGeom prst="ellipse">
            <a:avLst/>
          </a:prstGeom>
          <a:solidFill>
            <a:srgbClr val="000000"/>
          </a:solidFill>
          <a:ln/>
        </p:spPr>
      </p:sp>
      <p:sp>
        <p:nvSpPr>
          <p:cNvPr id="24" name="Shape 22"/>
          <p:cNvSpPr/>
          <p:nvPr/>
        </p:nvSpPr>
        <p:spPr>
          <a:xfrm>
            <a:off x="11462521" y="569818"/>
            <a:ext cx="35294" cy="35294"/>
          </a:xfrm>
          <a:prstGeom prst="ellipse">
            <a:avLst/>
          </a:prstGeom>
          <a:solidFill>
            <a:srgbClr val="000000"/>
          </a:solidFill>
          <a:ln/>
        </p:spPr>
      </p:sp>
      <p:sp>
        <p:nvSpPr>
          <p:cNvPr id="25" name="Shape 23"/>
          <p:cNvSpPr/>
          <p:nvPr/>
        </p:nvSpPr>
        <p:spPr>
          <a:xfrm>
            <a:off x="11145681" y="573441"/>
            <a:ext cx="34270" cy="34270"/>
          </a:xfrm>
          <a:prstGeom prst="ellipse">
            <a:avLst/>
          </a:prstGeom>
          <a:solidFill>
            <a:srgbClr val="000000"/>
          </a:solidFill>
          <a:ln/>
        </p:spPr>
      </p:sp>
      <p:sp>
        <p:nvSpPr>
          <p:cNvPr id="26" name="Shape 24"/>
          <p:cNvSpPr/>
          <p:nvPr/>
        </p:nvSpPr>
        <p:spPr>
          <a:xfrm>
            <a:off x="11592015" y="593213"/>
            <a:ext cx="35294" cy="35294"/>
          </a:xfrm>
          <a:prstGeom prst="ellipse">
            <a:avLst/>
          </a:prstGeom>
          <a:solidFill>
            <a:srgbClr val="000000"/>
          </a:solidFill>
          <a:ln/>
        </p:spPr>
      </p:sp>
      <p:sp>
        <p:nvSpPr>
          <p:cNvPr id="27" name="Shape 25"/>
          <p:cNvSpPr/>
          <p:nvPr/>
        </p:nvSpPr>
        <p:spPr>
          <a:xfrm>
            <a:off x="11019124" y="593444"/>
            <a:ext cx="34616" cy="34616"/>
          </a:xfrm>
          <a:prstGeom prst="ellipse">
            <a:avLst/>
          </a:prstGeom>
          <a:solidFill>
            <a:srgbClr val="000000"/>
          </a:solidFill>
          <a:ln/>
        </p:spPr>
      </p:sp>
      <p:sp>
        <p:nvSpPr>
          <p:cNvPr id="28" name="Shape 26"/>
          <p:cNvSpPr/>
          <p:nvPr/>
        </p:nvSpPr>
        <p:spPr>
          <a:xfrm>
            <a:off x="11403576" y="610214"/>
            <a:ext cx="34961" cy="34961"/>
          </a:xfrm>
          <a:prstGeom prst="ellipse">
            <a:avLst/>
          </a:prstGeom>
          <a:solidFill>
            <a:srgbClr val="000000"/>
          </a:solidFill>
          <a:ln/>
        </p:spPr>
      </p:sp>
      <p:sp>
        <p:nvSpPr>
          <p:cNvPr id="29" name="Shape 27"/>
          <p:cNvSpPr/>
          <p:nvPr/>
        </p:nvSpPr>
        <p:spPr>
          <a:xfrm>
            <a:off x="11201662" y="616570"/>
            <a:ext cx="35627" cy="35627"/>
          </a:xfrm>
          <a:prstGeom prst="ellipse">
            <a:avLst/>
          </a:prstGeom>
          <a:solidFill>
            <a:srgbClr val="000000"/>
          </a:solidFill>
          <a:ln/>
        </p:spPr>
      </p:sp>
      <p:sp>
        <p:nvSpPr>
          <p:cNvPr id="30" name="Shape 28"/>
          <p:cNvSpPr/>
          <p:nvPr/>
        </p:nvSpPr>
        <p:spPr>
          <a:xfrm>
            <a:off x="11127484" y="620705"/>
            <a:ext cx="58030" cy="58030"/>
          </a:xfrm>
          <a:prstGeom prst="ellipse">
            <a:avLst/>
          </a:prstGeom>
          <a:solidFill>
            <a:srgbClr val="000000"/>
          </a:solidFill>
          <a:ln/>
        </p:spPr>
      </p:sp>
      <p:sp>
        <p:nvSpPr>
          <p:cNvPr id="31" name="Shape 29"/>
          <p:cNvSpPr/>
          <p:nvPr/>
        </p:nvSpPr>
        <p:spPr>
          <a:xfrm>
            <a:off x="11460767" y="620852"/>
            <a:ext cx="57428" cy="57428"/>
          </a:xfrm>
          <a:prstGeom prst="ellipse">
            <a:avLst/>
          </a:prstGeom>
          <a:solidFill>
            <a:srgbClr val="000000"/>
          </a:solidFill>
          <a:ln/>
        </p:spPr>
      </p:sp>
      <p:sp>
        <p:nvSpPr>
          <p:cNvPr id="32" name="Shape 30"/>
          <p:cNvSpPr/>
          <p:nvPr/>
        </p:nvSpPr>
        <p:spPr>
          <a:xfrm>
            <a:off x="11055219" y="640144"/>
            <a:ext cx="51718" cy="51718"/>
          </a:xfrm>
          <a:prstGeom prst="ellipse">
            <a:avLst/>
          </a:prstGeom>
          <a:solidFill>
            <a:srgbClr val="000000"/>
          </a:solidFill>
          <a:ln/>
        </p:spPr>
      </p:sp>
      <p:sp>
        <p:nvSpPr>
          <p:cNvPr id="33" name="Shape 31"/>
          <p:cNvSpPr/>
          <p:nvPr/>
        </p:nvSpPr>
        <p:spPr>
          <a:xfrm>
            <a:off x="11539330" y="640266"/>
            <a:ext cx="51270" cy="51270"/>
          </a:xfrm>
          <a:prstGeom prst="ellipse">
            <a:avLst/>
          </a:prstGeom>
          <a:solidFill>
            <a:srgbClr val="000000"/>
          </a:solidFill>
          <a:ln/>
        </p:spPr>
      </p:sp>
      <p:sp>
        <p:nvSpPr>
          <p:cNvPr id="34" name="Shape 32"/>
          <p:cNvSpPr/>
          <p:nvPr/>
        </p:nvSpPr>
        <p:spPr>
          <a:xfrm>
            <a:off x="11429576" y="682274"/>
            <a:ext cx="35627" cy="35627"/>
          </a:xfrm>
          <a:prstGeom prst="ellipse">
            <a:avLst/>
          </a:prstGeom>
          <a:solidFill>
            <a:srgbClr val="000000"/>
          </a:solidFill>
          <a:ln/>
        </p:spPr>
      </p:sp>
      <p:sp>
        <p:nvSpPr>
          <p:cNvPr id="35" name="Shape 33"/>
          <p:cNvSpPr/>
          <p:nvPr/>
        </p:nvSpPr>
        <p:spPr>
          <a:xfrm>
            <a:off x="11004076" y="687222"/>
            <a:ext cx="34616" cy="34616"/>
          </a:xfrm>
          <a:prstGeom prst="ellipse">
            <a:avLst/>
          </a:prstGeom>
          <a:solidFill>
            <a:srgbClr val="000000"/>
          </a:solidFill>
          <a:ln/>
        </p:spPr>
      </p:sp>
      <p:sp>
        <p:nvSpPr>
          <p:cNvPr id="36" name="Shape 34"/>
          <p:cNvSpPr/>
          <p:nvPr/>
        </p:nvSpPr>
        <p:spPr>
          <a:xfrm>
            <a:off x="11502052" y="685321"/>
            <a:ext cx="34270" cy="34270"/>
          </a:xfrm>
          <a:prstGeom prst="ellipse">
            <a:avLst/>
          </a:prstGeom>
          <a:solidFill>
            <a:srgbClr val="000000"/>
          </a:solidFill>
          <a:ln/>
        </p:spPr>
      </p:sp>
      <p:sp>
        <p:nvSpPr>
          <p:cNvPr id="37" name="Shape 35"/>
          <p:cNvSpPr/>
          <p:nvPr/>
        </p:nvSpPr>
        <p:spPr>
          <a:xfrm>
            <a:off x="11606321" y="686422"/>
            <a:ext cx="35627" cy="35627"/>
          </a:xfrm>
          <a:prstGeom prst="ellipse">
            <a:avLst/>
          </a:prstGeom>
          <a:solidFill>
            <a:srgbClr val="000000"/>
          </a:solidFill>
          <a:ln/>
        </p:spPr>
      </p:sp>
      <p:sp>
        <p:nvSpPr>
          <p:cNvPr id="38" name="Shape 36"/>
          <p:cNvSpPr/>
          <p:nvPr/>
        </p:nvSpPr>
        <p:spPr>
          <a:xfrm>
            <a:off x="11108908" y="688957"/>
            <a:ext cx="35294" cy="35294"/>
          </a:xfrm>
          <a:prstGeom prst="ellipse">
            <a:avLst/>
          </a:prstGeom>
          <a:solidFill>
            <a:srgbClr val="000000"/>
          </a:solidFill>
          <a:ln/>
        </p:spPr>
      </p:sp>
      <p:sp>
        <p:nvSpPr>
          <p:cNvPr id="39" name="Shape 37"/>
          <p:cNvSpPr/>
          <p:nvPr/>
        </p:nvSpPr>
        <p:spPr>
          <a:xfrm>
            <a:off x="11179733" y="690371"/>
            <a:ext cx="36613" cy="36613"/>
          </a:xfrm>
          <a:prstGeom prst="ellipse">
            <a:avLst/>
          </a:prstGeom>
          <a:solidFill>
            <a:srgbClr val="000000"/>
          </a:solidFill>
          <a:ln/>
        </p:spPr>
      </p:sp>
      <p:sp>
        <p:nvSpPr>
          <p:cNvPr id="40" name="Shape 38"/>
          <p:cNvSpPr/>
          <p:nvPr/>
        </p:nvSpPr>
        <p:spPr>
          <a:xfrm>
            <a:off x="11054764" y="716576"/>
            <a:ext cx="51936" cy="51936"/>
          </a:xfrm>
          <a:prstGeom prst="ellipse">
            <a:avLst/>
          </a:prstGeom>
          <a:solidFill>
            <a:srgbClr val="000000"/>
          </a:solidFill>
          <a:ln/>
        </p:spPr>
      </p:sp>
      <p:sp>
        <p:nvSpPr>
          <p:cNvPr id="41" name="Shape 39"/>
          <p:cNvSpPr/>
          <p:nvPr/>
        </p:nvSpPr>
        <p:spPr>
          <a:xfrm>
            <a:off x="11539023" y="716851"/>
            <a:ext cx="51488" cy="51488"/>
          </a:xfrm>
          <a:prstGeom prst="ellipse">
            <a:avLst/>
          </a:prstGeom>
          <a:solidFill>
            <a:srgbClr val="000000"/>
          </a:solidFill>
          <a:ln/>
        </p:spPr>
      </p:sp>
      <p:sp>
        <p:nvSpPr>
          <p:cNvPr id="42" name="Shape 40"/>
          <p:cNvSpPr/>
          <p:nvPr/>
        </p:nvSpPr>
        <p:spPr>
          <a:xfrm>
            <a:off x="11127490" y="729288"/>
            <a:ext cx="58222" cy="58222"/>
          </a:xfrm>
          <a:prstGeom prst="ellipse">
            <a:avLst/>
          </a:prstGeom>
          <a:solidFill>
            <a:srgbClr val="000000"/>
          </a:solidFill>
          <a:ln/>
        </p:spPr>
      </p:sp>
      <p:sp>
        <p:nvSpPr>
          <p:cNvPr id="43" name="Shape 41"/>
          <p:cNvSpPr/>
          <p:nvPr/>
        </p:nvSpPr>
        <p:spPr>
          <a:xfrm>
            <a:off x="11460671" y="729781"/>
            <a:ext cx="57633" cy="57633"/>
          </a:xfrm>
          <a:prstGeom prst="ellipse">
            <a:avLst/>
          </a:prstGeom>
          <a:solidFill>
            <a:srgbClr val="000000"/>
          </a:solidFill>
          <a:ln/>
        </p:spPr>
      </p:sp>
      <p:sp>
        <p:nvSpPr>
          <p:cNvPr id="44" name="Shape 42"/>
          <p:cNvSpPr/>
          <p:nvPr/>
        </p:nvSpPr>
        <p:spPr>
          <a:xfrm>
            <a:off x="11407973" y="756415"/>
            <a:ext cx="35960" cy="35960"/>
          </a:xfrm>
          <a:prstGeom prst="ellipse">
            <a:avLst/>
          </a:prstGeom>
          <a:solidFill>
            <a:srgbClr val="000000"/>
          </a:solidFill>
          <a:ln/>
        </p:spPr>
      </p:sp>
      <p:sp>
        <p:nvSpPr>
          <p:cNvPr id="45" name="Shape 43"/>
          <p:cNvSpPr/>
          <p:nvPr/>
        </p:nvSpPr>
        <p:spPr>
          <a:xfrm>
            <a:off x="11207308" y="763884"/>
            <a:ext cx="34616" cy="34616"/>
          </a:xfrm>
          <a:prstGeom prst="ellipse">
            <a:avLst/>
          </a:prstGeom>
          <a:solidFill>
            <a:srgbClr val="000000"/>
          </a:solidFill>
          <a:ln/>
        </p:spPr>
      </p:sp>
      <p:sp>
        <p:nvSpPr>
          <p:cNvPr id="46" name="Shape 44"/>
          <p:cNvSpPr/>
          <p:nvPr/>
        </p:nvSpPr>
        <p:spPr>
          <a:xfrm>
            <a:off x="11018670" y="780462"/>
            <a:ext cx="34616" cy="34616"/>
          </a:xfrm>
          <a:prstGeom prst="ellipse">
            <a:avLst/>
          </a:prstGeom>
          <a:solidFill>
            <a:srgbClr val="000000"/>
          </a:solidFill>
          <a:ln/>
        </p:spPr>
      </p:sp>
      <p:sp>
        <p:nvSpPr>
          <p:cNvPr id="47" name="Shape 45"/>
          <p:cNvSpPr/>
          <p:nvPr/>
        </p:nvSpPr>
        <p:spPr>
          <a:xfrm>
            <a:off x="11591670" y="780123"/>
            <a:ext cx="35294" cy="35294"/>
          </a:xfrm>
          <a:prstGeom prst="ellipse">
            <a:avLst/>
          </a:prstGeom>
          <a:solidFill>
            <a:srgbClr val="000000"/>
          </a:solidFill>
          <a:ln/>
        </p:spPr>
      </p:sp>
      <p:sp>
        <p:nvSpPr>
          <p:cNvPr id="48" name="Shape 46"/>
          <p:cNvSpPr/>
          <p:nvPr/>
        </p:nvSpPr>
        <p:spPr>
          <a:xfrm>
            <a:off x="11079010" y="790179"/>
            <a:ext cx="51270" cy="51270"/>
          </a:xfrm>
          <a:prstGeom prst="ellipse">
            <a:avLst/>
          </a:prstGeom>
          <a:solidFill>
            <a:srgbClr val="000000"/>
          </a:solidFill>
          <a:ln/>
        </p:spPr>
      </p:sp>
      <p:sp>
        <p:nvSpPr>
          <p:cNvPr id="49" name="Shape 47"/>
          <p:cNvSpPr/>
          <p:nvPr/>
        </p:nvSpPr>
        <p:spPr>
          <a:xfrm>
            <a:off x="11515218" y="789692"/>
            <a:ext cx="52602" cy="52602"/>
          </a:xfrm>
          <a:prstGeom prst="ellipse">
            <a:avLst/>
          </a:prstGeom>
          <a:solidFill>
            <a:srgbClr val="000000"/>
          </a:solidFill>
          <a:ln/>
        </p:spPr>
      </p:sp>
      <p:sp>
        <p:nvSpPr>
          <p:cNvPr id="50" name="Shape 48"/>
          <p:cNvSpPr/>
          <p:nvPr/>
        </p:nvSpPr>
        <p:spPr>
          <a:xfrm>
            <a:off x="11147371" y="803460"/>
            <a:ext cx="35627" cy="35627"/>
          </a:xfrm>
          <a:prstGeom prst="ellipse">
            <a:avLst/>
          </a:prstGeom>
          <a:solidFill>
            <a:srgbClr val="000000"/>
          </a:solidFill>
          <a:ln/>
        </p:spPr>
      </p:sp>
      <p:sp>
        <p:nvSpPr>
          <p:cNvPr id="51" name="Shape 49"/>
          <p:cNvSpPr/>
          <p:nvPr/>
        </p:nvSpPr>
        <p:spPr>
          <a:xfrm>
            <a:off x="11347786" y="804293"/>
            <a:ext cx="35294" cy="35294"/>
          </a:xfrm>
          <a:prstGeom prst="ellipse">
            <a:avLst/>
          </a:prstGeom>
          <a:solidFill>
            <a:srgbClr val="000000"/>
          </a:solidFill>
          <a:ln/>
        </p:spPr>
      </p:sp>
      <p:sp>
        <p:nvSpPr>
          <p:cNvPr id="52" name="Shape 50"/>
          <p:cNvSpPr/>
          <p:nvPr/>
        </p:nvSpPr>
        <p:spPr>
          <a:xfrm>
            <a:off x="11465119" y="800919"/>
            <a:ext cx="34961" cy="34961"/>
          </a:xfrm>
          <a:prstGeom prst="ellipse">
            <a:avLst/>
          </a:prstGeom>
          <a:solidFill>
            <a:srgbClr val="000000"/>
          </a:solidFill>
          <a:ln/>
        </p:spPr>
      </p:sp>
      <p:sp>
        <p:nvSpPr>
          <p:cNvPr id="53" name="Shape 51"/>
          <p:cNvSpPr/>
          <p:nvPr/>
        </p:nvSpPr>
        <p:spPr>
          <a:xfrm>
            <a:off x="11270669" y="806590"/>
            <a:ext cx="35627" cy="35627"/>
          </a:xfrm>
          <a:prstGeom prst="ellipse">
            <a:avLst/>
          </a:prstGeom>
          <a:solidFill>
            <a:srgbClr val="000000"/>
          </a:solidFill>
          <a:ln/>
        </p:spPr>
      </p:sp>
      <p:sp>
        <p:nvSpPr>
          <p:cNvPr id="54" name="Shape 52"/>
          <p:cNvSpPr/>
          <p:nvPr/>
        </p:nvSpPr>
        <p:spPr>
          <a:xfrm>
            <a:off x="11191498" y="817766"/>
            <a:ext cx="57633" cy="57633"/>
          </a:xfrm>
          <a:prstGeom prst="ellipse">
            <a:avLst/>
          </a:prstGeom>
          <a:solidFill>
            <a:srgbClr val="000000"/>
          </a:solidFill>
          <a:ln/>
        </p:spPr>
      </p:sp>
      <p:sp>
        <p:nvSpPr>
          <p:cNvPr id="55" name="Shape 53"/>
          <p:cNvSpPr/>
          <p:nvPr/>
        </p:nvSpPr>
        <p:spPr>
          <a:xfrm>
            <a:off x="11396573" y="817888"/>
            <a:ext cx="57633" cy="57633"/>
          </a:xfrm>
          <a:prstGeom prst="ellipse">
            <a:avLst/>
          </a:prstGeom>
          <a:solidFill>
            <a:srgbClr val="000000"/>
          </a:solidFill>
          <a:ln/>
        </p:spPr>
      </p:sp>
      <p:sp>
        <p:nvSpPr>
          <p:cNvPr id="56" name="Shape 54"/>
          <p:cNvSpPr/>
          <p:nvPr/>
        </p:nvSpPr>
        <p:spPr>
          <a:xfrm>
            <a:off x="11123445" y="851985"/>
            <a:ext cx="52167" cy="52167"/>
          </a:xfrm>
          <a:prstGeom prst="ellipse">
            <a:avLst/>
          </a:prstGeom>
          <a:solidFill>
            <a:srgbClr val="000000"/>
          </a:solidFill>
          <a:ln/>
        </p:spPr>
      </p:sp>
      <p:sp>
        <p:nvSpPr>
          <p:cNvPr id="57" name="Shape 55"/>
          <p:cNvSpPr/>
          <p:nvPr/>
        </p:nvSpPr>
        <p:spPr>
          <a:xfrm>
            <a:off x="11294647" y="851390"/>
            <a:ext cx="57223" cy="57223"/>
          </a:xfrm>
          <a:prstGeom prst="ellipse">
            <a:avLst/>
          </a:prstGeom>
          <a:solidFill>
            <a:srgbClr val="000000"/>
          </a:solidFill>
          <a:ln/>
        </p:spPr>
      </p:sp>
      <p:sp>
        <p:nvSpPr>
          <p:cNvPr id="58" name="Shape 56"/>
          <p:cNvSpPr/>
          <p:nvPr/>
        </p:nvSpPr>
        <p:spPr>
          <a:xfrm>
            <a:off x="11470202" y="852382"/>
            <a:ext cx="52384" cy="52384"/>
          </a:xfrm>
          <a:prstGeom prst="ellipse">
            <a:avLst/>
          </a:prstGeom>
          <a:solidFill>
            <a:srgbClr val="000000"/>
          </a:solidFill>
          <a:ln/>
        </p:spPr>
      </p:sp>
      <p:sp>
        <p:nvSpPr>
          <p:cNvPr id="59" name="Shape 57"/>
          <p:cNvSpPr/>
          <p:nvPr/>
        </p:nvSpPr>
        <p:spPr>
          <a:xfrm>
            <a:off x="11060774" y="864607"/>
            <a:ext cx="35627" cy="35627"/>
          </a:xfrm>
          <a:prstGeom prst="ellipse">
            <a:avLst/>
          </a:prstGeom>
          <a:solidFill>
            <a:srgbClr val="000000"/>
          </a:solidFill>
          <a:ln/>
        </p:spPr>
      </p:sp>
      <p:sp>
        <p:nvSpPr>
          <p:cNvPr id="60" name="Shape 58"/>
          <p:cNvSpPr/>
          <p:nvPr/>
        </p:nvSpPr>
        <p:spPr>
          <a:xfrm>
            <a:off x="11548733" y="864185"/>
            <a:ext cx="35627" cy="35627"/>
          </a:xfrm>
          <a:prstGeom prst="ellipse">
            <a:avLst/>
          </a:prstGeom>
          <a:solidFill>
            <a:srgbClr val="000000"/>
          </a:solidFill>
          <a:ln/>
        </p:spPr>
      </p:sp>
      <p:sp>
        <p:nvSpPr>
          <p:cNvPr id="61" name="Shape 59"/>
          <p:cNvSpPr/>
          <p:nvPr/>
        </p:nvSpPr>
        <p:spPr>
          <a:xfrm>
            <a:off x="11246231" y="873908"/>
            <a:ext cx="35627" cy="35627"/>
          </a:xfrm>
          <a:prstGeom prst="ellipse">
            <a:avLst/>
          </a:prstGeom>
          <a:solidFill>
            <a:srgbClr val="000000"/>
          </a:solidFill>
          <a:ln/>
        </p:spPr>
      </p:sp>
      <p:sp>
        <p:nvSpPr>
          <p:cNvPr id="62" name="Shape 60"/>
          <p:cNvSpPr/>
          <p:nvPr/>
        </p:nvSpPr>
        <p:spPr>
          <a:xfrm>
            <a:off x="11367418" y="872896"/>
            <a:ext cx="35627" cy="35627"/>
          </a:xfrm>
          <a:prstGeom prst="ellipse">
            <a:avLst/>
          </a:prstGeom>
          <a:solidFill>
            <a:srgbClr val="000000"/>
          </a:solidFill>
          <a:ln/>
        </p:spPr>
      </p:sp>
      <p:sp>
        <p:nvSpPr>
          <p:cNvPr id="63" name="Shape 61"/>
          <p:cNvSpPr/>
          <p:nvPr/>
        </p:nvSpPr>
        <p:spPr>
          <a:xfrm>
            <a:off x="11185366" y="897322"/>
            <a:ext cx="51936" cy="51936"/>
          </a:xfrm>
          <a:prstGeom prst="ellipse">
            <a:avLst/>
          </a:prstGeom>
          <a:solidFill>
            <a:srgbClr val="000000"/>
          </a:solidFill>
          <a:ln/>
        </p:spPr>
      </p:sp>
      <p:sp>
        <p:nvSpPr>
          <p:cNvPr id="64" name="Shape 62"/>
          <p:cNvSpPr/>
          <p:nvPr/>
        </p:nvSpPr>
        <p:spPr>
          <a:xfrm>
            <a:off x="11407845" y="897655"/>
            <a:ext cx="52602" cy="52602"/>
          </a:xfrm>
          <a:prstGeom prst="ellipse">
            <a:avLst/>
          </a:prstGeom>
          <a:solidFill>
            <a:srgbClr val="000000"/>
          </a:solidFill>
          <a:ln/>
        </p:spPr>
      </p:sp>
      <p:sp>
        <p:nvSpPr>
          <p:cNvPr id="65" name="Shape 63"/>
          <p:cNvSpPr/>
          <p:nvPr/>
        </p:nvSpPr>
        <p:spPr>
          <a:xfrm>
            <a:off x="11258822" y="921466"/>
            <a:ext cx="51270" cy="51270"/>
          </a:xfrm>
          <a:prstGeom prst="ellipse">
            <a:avLst/>
          </a:prstGeom>
          <a:solidFill>
            <a:srgbClr val="000000"/>
          </a:solidFill>
          <a:ln/>
        </p:spPr>
      </p:sp>
      <p:sp>
        <p:nvSpPr>
          <p:cNvPr id="66" name="Shape 64"/>
          <p:cNvSpPr/>
          <p:nvPr/>
        </p:nvSpPr>
        <p:spPr>
          <a:xfrm>
            <a:off x="11335350" y="921504"/>
            <a:ext cx="51270" cy="51270"/>
          </a:xfrm>
          <a:prstGeom prst="ellipse">
            <a:avLst/>
          </a:prstGeom>
          <a:solidFill>
            <a:srgbClr val="000000"/>
          </a:solidFill>
          <a:ln/>
        </p:spPr>
      </p:sp>
      <p:sp>
        <p:nvSpPr>
          <p:cNvPr id="67" name="Shape 65"/>
          <p:cNvSpPr/>
          <p:nvPr/>
        </p:nvSpPr>
        <p:spPr>
          <a:xfrm>
            <a:off x="11127388" y="931368"/>
            <a:ext cx="35294" cy="35294"/>
          </a:xfrm>
          <a:prstGeom prst="ellipse">
            <a:avLst/>
          </a:prstGeom>
          <a:solidFill>
            <a:srgbClr val="000000"/>
          </a:solidFill>
          <a:ln/>
        </p:spPr>
      </p:sp>
      <p:sp>
        <p:nvSpPr>
          <p:cNvPr id="68" name="Shape 66"/>
          <p:cNvSpPr/>
          <p:nvPr/>
        </p:nvSpPr>
        <p:spPr>
          <a:xfrm>
            <a:off x="11481979" y="931035"/>
            <a:ext cx="35960" cy="35960"/>
          </a:xfrm>
          <a:prstGeom prst="ellipse">
            <a:avLst/>
          </a:prstGeom>
          <a:solidFill>
            <a:srgbClr val="000000"/>
          </a:solidFill>
          <a:ln/>
        </p:spPr>
      </p:sp>
      <p:sp>
        <p:nvSpPr>
          <p:cNvPr id="69" name="Shape 67"/>
          <p:cNvSpPr/>
          <p:nvPr/>
        </p:nvSpPr>
        <p:spPr>
          <a:xfrm>
            <a:off x="11211987" y="974695"/>
            <a:ext cx="34961" cy="34961"/>
          </a:xfrm>
          <a:prstGeom prst="ellipse">
            <a:avLst/>
          </a:prstGeom>
          <a:solidFill>
            <a:srgbClr val="000000"/>
          </a:solidFill>
          <a:ln/>
        </p:spPr>
      </p:sp>
      <p:sp>
        <p:nvSpPr>
          <p:cNvPr id="70" name="Shape 68"/>
          <p:cNvSpPr/>
          <p:nvPr/>
        </p:nvSpPr>
        <p:spPr>
          <a:xfrm>
            <a:off x="11398461" y="974695"/>
            <a:ext cx="34961" cy="34961"/>
          </a:xfrm>
          <a:prstGeom prst="ellipse">
            <a:avLst/>
          </a:prstGeom>
          <a:solidFill>
            <a:srgbClr val="000000"/>
          </a:solidFill>
          <a:ln/>
        </p:spPr>
      </p:sp>
      <p:sp>
        <p:nvSpPr>
          <p:cNvPr id="71" name="Shape 69"/>
          <p:cNvSpPr/>
          <p:nvPr/>
        </p:nvSpPr>
        <p:spPr>
          <a:xfrm>
            <a:off x="11304837" y="988501"/>
            <a:ext cx="35627" cy="35627"/>
          </a:xfrm>
          <a:prstGeom prst="ellipse">
            <a:avLst/>
          </a:prstGeom>
          <a:solidFill>
            <a:srgbClr val="000000"/>
          </a:solidFill>
          <a:ln/>
        </p:spPr>
      </p:sp>
      <p:sp>
        <p:nvSpPr>
          <p:cNvPr id="72" name="Text 70"/>
          <p:cNvSpPr/>
          <p:nvPr/>
        </p:nvSpPr>
        <p:spPr>
          <a:xfrm>
            <a:off x="548640" y="2468880"/>
            <a:ext cx="7863840" cy="1828800"/>
          </a:xfrm>
          <a:prstGeom prst="rect">
            <a:avLst/>
          </a:prstGeom>
          <a:noFill/>
          <a:ln/>
        </p:spPr>
        <p:txBody>
          <a:bodyPr wrap="square" lIns="0" tIns="0" rIns="0" bIns="0" rtlCol="0" anchor="b"/>
          <a:lstStyle/>
          <a:p>
            <a:pPr algn="l" indent="0" marL="0">
              <a:lnSpc>
                <a:spcPct val="105000"/>
              </a:lnSpc>
              <a:buNone/>
            </a:pPr>
            <a:r>
              <a:rPr lang="en-US" sz="4800" dirty="0">
                <a:solidFill>
                  <a:srgbClr val="3D68EC"/>
                </a:solidFill>
                <a:latin typeface="General Sans Semibold" pitchFamily="34" charset="0"/>
                <a:ea typeface="General Sans Semibold" pitchFamily="34" charset="-122"/>
                <a:cs typeface="General Sans Semibold" pitchFamily="34" charset="-120"/>
              </a:rPr>
              <a:t>Wat wil je precies leren?</a:t>
            </a:r>
            <a:endParaRPr lang="en-US" sz="4800" dirty="0"/>
          </a:p>
        </p:txBody>
      </p:sp>
      <p:sp>
        <p:nvSpPr>
          <p:cNvPr id="73" name="Text 71"/>
          <p:cNvSpPr/>
          <p:nvPr/>
        </p:nvSpPr>
        <p:spPr>
          <a:xfrm>
            <a:off x="548640" y="4526280"/>
            <a:ext cx="7498080" cy="1280160"/>
          </a:xfrm>
          <a:prstGeom prst="rect">
            <a:avLst/>
          </a:prstGeom>
          <a:noFill/>
          <a:ln/>
        </p:spPr>
        <p:txBody>
          <a:bodyPr wrap="square" lIns="0" tIns="0" rIns="0" bIns="0" rtlCol="0" anchor="t"/>
          <a:lstStyle/>
          <a:p>
            <a:pPr algn="l" indent="0" marL="0">
              <a:lnSpc>
                <a:spcPct val="105000"/>
              </a:lnSpc>
              <a:buNone/>
            </a:pPr>
            <a:r>
              <a:rPr lang="en-US" sz="2200" dirty="0">
                <a:solidFill>
                  <a:srgbClr val="000000"/>
                </a:solidFill>
                <a:latin typeface="Cooper Lt BT" pitchFamily="34" charset="0"/>
                <a:ea typeface="Cooper Lt BT" pitchFamily="34" charset="-122"/>
                <a:cs typeface="Cooper Lt BT" pitchFamily="34" charset="-120"/>
              </a:rPr>
              <a:t>Kort en concreet. Bijvoorbeeld: een eigen skill schrijven voor onze data.</a:t>
            </a:r>
            <a:endParaRPr lang="en-US" sz="2200" dirty="0"/>
          </a:p>
        </p:txBody>
      </p:sp>
      <p:pic>
        <p:nvPicPr>
          <p:cNvPr id="74" name="Image 0" descr="exports\261005_workshop_rad_uitvoering\img\Lamp.png">    </p:cNvPr>
          <p:cNvPicPr>
            <a:picLocks noChangeAspect="1"/>
          </p:cNvPicPr>
          <p:nvPr/>
        </p:nvPicPr>
        <p:blipFill>
          <a:blip r:embed="rId1"/>
          <a:stretch>
            <a:fillRect/>
          </a:stretch>
        </p:blipFill>
        <p:spPr>
          <a:xfrm>
            <a:off x="8503920" y="1828800"/>
            <a:ext cx="3291840" cy="32918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4D9DC"/>
        </a:solidFill>
      </p:bgPr>
    </p:bg>
    <p:spTree>
      <p:nvGrpSpPr>
        <p:cNvPr id="1" name=""/>
        <p:cNvGrpSpPr/>
        <p:nvPr/>
      </p:nvGrpSpPr>
      <p:grpSpPr>
        <a:xfrm>
          <a:off x="0" y="0"/>
          <a:ext cx="0" cy="0"/>
          <a:chOff x="0" y="0"/>
          <a:chExt cx="0" cy="0"/>
        </a:xfrm>
      </p:grpSpPr>
      <p:sp>
        <p:nvSpPr>
          <p:cNvPr id="2" name="Text 0"/>
          <p:cNvSpPr/>
          <p:nvPr/>
        </p:nvSpPr>
        <p:spPr>
          <a:xfrm>
            <a:off x="548640" y="411480"/>
            <a:ext cx="10088575" cy="777240"/>
          </a:xfrm>
          <a:prstGeom prst="rect">
            <a:avLst/>
          </a:prstGeom>
          <a:noFill/>
          <a:ln/>
        </p:spPr>
        <p:txBody>
          <a:bodyPr wrap="square" lIns="0" tIns="0" rIns="0" bIns="0" rtlCol="0" anchor="ctr"/>
          <a:lstStyle/>
          <a:p>
            <a:pPr algn="l" indent="0" marL="0">
              <a:lnSpc>
                <a:spcPct val="105000"/>
              </a:lnSpc>
              <a:buNone/>
            </a:pPr>
            <a:r>
              <a:rPr lang="en-US" sz="3400" dirty="0">
                <a:solidFill>
                  <a:srgbClr val="3D68EC"/>
                </a:solidFill>
                <a:latin typeface="General Sans Semibold" pitchFamily="34" charset="0"/>
                <a:ea typeface="General Sans Semibold" pitchFamily="34" charset="-122"/>
                <a:cs typeface="General Sans Semibold" pitchFamily="34" charset="-120"/>
              </a:rPr>
              <a:t>Afsluiting</a:t>
            </a:r>
            <a:endParaRPr lang="en-US" sz="3400" dirty="0"/>
          </a:p>
        </p:txBody>
      </p:sp>
      <p:sp>
        <p:nvSpPr>
          <p:cNvPr id="3" name="Text 1"/>
          <p:cNvSpPr/>
          <p:nvPr/>
        </p:nvSpPr>
        <p:spPr>
          <a:xfrm>
            <a:off x="548640" y="1645920"/>
            <a:ext cx="5120640" cy="1290320"/>
          </a:xfrm>
          <a:prstGeom prst="rect">
            <a:avLst/>
          </a:prstGeom>
          <a:noFill/>
          <a:ln/>
        </p:spPr>
        <p:txBody>
          <a:bodyPr wrap="square" lIns="0" tIns="0" rIns="0" bIns="0" rtlCol="0" anchor="t"/>
          <a:lstStyle/>
          <a:p>
            <a:pPr algn="l" indent="0" marL="0">
              <a:lnSpc>
                <a:spcPct val="105000"/>
              </a:lnSpc>
              <a:buNone/>
            </a:pPr>
            <a:r>
              <a:rPr lang="en-US" sz="4000" dirty="0">
                <a:solidFill>
                  <a:srgbClr val="000000"/>
                </a:solidFill>
                <a:latin typeface="Cooper Lt BT" pitchFamily="34" charset="0"/>
                <a:ea typeface="Cooper Lt BT" pitchFamily="34" charset="-122"/>
                <a:cs typeface="Cooper Lt BT" pitchFamily="34" charset="-120"/>
              </a:rPr>
              <a:t>Wat verloor en won je?</a:t>
            </a:r>
            <a:endParaRPr lang="en-US" sz="4000" dirty="0"/>
          </a:p>
        </p:txBody>
      </p:sp>
      <p:sp>
        <p:nvSpPr>
          <p:cNvPr id="4" name="Text 2"/>
          <p:cNvSpPr/>
          <p:nvPr/>
        </p:nvSpPr>
        <p:spPr>
          <a:xfrm>
            <a:off x="548640" y="3256280"/>
            <a:ext cx="5120640" cy="822960"/>
          </a:xfrm>
          <a:prstGeom prst="rect">
            <a:avLst/>
          </a:prstGeom>
          <a:noFill/>
          <a:ln/>
        </p:spPr>
        <p:txBody>
          <a:bodyPr wrap="square" lIns="0" tIns="0" rIns="0" bIns="0" rtlCol="0" anchor="t"/>
          <a:lstStyle/>
          <a:p>
            <a:pPr algn="l" indent="0" marL="0">
              <a:lnSpc>
                <a:spcPct val="105000"/>
              </a:lnSpc>
              <a:buNone/>
            </a:pPr>
            <a:r>
              <a:rPr lang="en-US" sz="1800" dirty="0">
                <a:solidFill>
                  <a:srgbClr val="000000"/>
                </a:solidFill>
                <a:latin typeface="General Sans Semibold" pitchFamily="34" charset="0"/>
                <a:ea typeface="General Sans Semibold" pitchFamily="34" charset="-122"/>
                <a:cs typeface="General Sans Semibold" pitchFamily="34" charset="-120"/>
              </a:rPr>
              <a:t>En wat doe je morgen anders?</a:t>
            </a:r>
            <a:endParaRPr lang="en-US" sz="1800" dirty="0"/>
          </a:p>
        </p:txBody>
      </p:sp>
      <p:sp>
        <p:nvSpPr>
          <p:cNvPr id="5" name="Text 3"/>
          <p:cNvSpPr/>
          <p:nvPr/>
        </p:nvSpPr>
        <p:spPr>
          <a:xfrm>
            <a:off x="6400800" y="1600200"/>
            <a:ext cx="5242255" cy="457200"/>
          </a:xfrm>
          <a:prstGeom prst="rect">
            <a:avLst/>
          </a:prstGeom>
          <a:noFill/>
          <a:ln/>
        </p:spPr>
        <p:txBody>
          <a:bodyPr wrap="square" lIns="0" tIns="0" rIns="0" bIns="0" rtlCol="0" anchor="t"/>
          <a:lstStyle/>
          <a:p>
            <a:pPr algn="l" indent="0" marL="0">
              <a:lnSpc>
                <a:spcPct val="105000"/>
              </a:lnSpc>
              <a:buNone/>
            </a:pPr>
            <a:r>
              <a:rPr lang="en-US" sz="2200" dirty="0">
                <a:solidFill>
                  <a:srgbClr val="3D68EC"/>
                </a:solidFill>
                <a:latin typeface="General Sans Semibold" pitchFamily="34" charset="0"/>
                <a:ea typeface="General Sans Semibold" pitchFamily="34" charset="-122"/>
                <a:cs typeface="General Sans Semibold" pitchFamily="34" charset="-120"/>
              </a:rPr>
              <a:t>Voor onderweg</a:t>
            </a:r>
            <a:endParaRPr lang="en-US" sz="2200" dirty="0"/>
          </a:p>
        </p:txBody>
      </p:sp>
      <p:sp>
        <p:nvSpPr>
          <p:cNvPr id="6" name="Shape 4"/>
          <p:cNvSpPr/>
          <p:nvPr/>
        </p:nvSpPr>
        <p:spPr>
          <a:xfrm>
            <a:off x="6400800" y="2240280"/>
            <a:ext cx="5242255" cy="1371600"/>
          </a:xfrm>
          <a:prstGeom prst="roundRect">
            <a:avLst>
              <a:gd name="adj" fmla="val 11111"/>
            </a:avLst>
          </a:prstGeom>
          <a:solidFill>
            <a:srgbClr val="00AF81"/>
          </a:solidFill>
          <a:ln/>
        </p:spPr>
      </p:sp>
      <p:sp>
        <p:nvSpPr>
          <p:cNvPr id="7" name="Shape 5"/>
          <p:cNvSpPr/>
          <p:nvPr/>
        </p:nvSpPr>
        <p:spPr>
          <a:xfrm>
            <a:off x="6675120" y="2441448"/>
            <a:ext cx="1371600" cy="347472"/>
          </a:xfrm>
          <a:prstGeom prst="roundRect">
            <a:avLst>
              <a:gd name="adj" fmla="val 131579"/>
            </a:avLst>
          </a:prstGeom>
          <a:solidFill>
            <a:srgbClr val="F4D9DC"/>
          </a:solidFill>
          <a:ln/>
        </p:spPr>
      </p:sp>
      <p:sp>
        <p:nvSpPr>
          <p:cNvPr id="8" name="Text 6"/>
          <p:cNvSpPr/>
          <p:nvPr/>
        </p:nvSpPr>
        <p:spPr>
          <a:xfrm>
            <a:off x="6766560" y="244144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Meenemen</a:t>
            </a:r>
            <a:endParaRPr lang="en-US" sz="1100" dirty="0"/>
          </a:p>
        </p:txBody>
      </p:sp>
      <p:sp>
        <p:nvSpPr>
          <p:cNvPr id="9" name="Text 7"/>
          <p:cNvSpPr/>
          <p:nvPr/>
        </p:nvSpPr>
        <p:spPr>
          <a:xfrm>
            <a:off x="6675120" y="288036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De twee skills staan in de repo, je kunt ze zelf aanpassen.</a:t>
            </a:r>
            <a:endParaRPr lang="en-US" sz="1500" dirty="0"/>
          </a:p>
        </p:txBody>
      </p:sp>
      <p:sp>
        <p:nvSpPr>
          <p:cNvPr id="10" name="Shape 8"/>
          <p:cNvSpPr/>
          <p:nvPr/>
        </p:nvSpPr>
        <p:spPr>
          <a:xfrm>
            <a:off x="6400800" y="3749040"/>
            <a:ext cx="5242255" cy="1371600"/>
          </a:xfrm>
          <a:prstGeom prst="roundRect">
            <a:avLst>
              <a:gd name="adj" fmla="val 11111"/>
            </a:avLst>
          </a:prstGeom>
          <a:solidFill>
            <a:srgbClr val="00AF81"/>
          </a:solidFill>
          <a:ln/>
        </p:spPr>
      </p:sp>
      <p:sp>
        <p:nvSpPr>
          <p:cNvPr id="11" name="Shape 9"/>
          <p:cNvSpPr/>
          <p:nvPr/>
        </p:nvSpPr>
        <p:spPr>
          <a:xfrm>
            <a:off x="6675120" y="3950208"/>
            <a:ext cx="1371600" cy="347472"/>
          </a:xfrm>
          <a:prstGeom prst="roundRect">
            <a:avLst>
              <a:gd name="adj" fmla="val 131579"/>
            </a:avLst>
          </a:prstGeom>
          <a:solidFill>
            <a:srgbClr val="F4D9DC"/>
          </a:solidFill>
          <a:ln/>
        </p:spPr>
      </p:sp>
      <p:sp>
        <p:nvSpPr>
          <p:cNvPr id="12" name="Text 10"/>
          <p:cNvSpPr/>
          <p:nvPr/>
        </p:nvSpPr>
        <p:spPr>
          <a:xfrm>
            <a:off x="6766560" y="3950208"/>
            <a:ext cx="1188720" cy="347472"/>
          </a:xfrm>
          <a:prstGeom prst="rect">
            <a:avLst/>
          </a:prstGeom>
          <a:noFill/>
          <a:ln/>
        </p:spPr>
        <p:txBody>
          <a:bodyPr wrap="square" lIns="0" tIns="0" rIns="0" bIns="0" rtlCol="0" anchor="ctr"/>
          <a:lstStyle/>
          <a:p>
            <a:pPr algn="ctr" indent="0" marL="0">
              <a:lnSpc>
                <a:spcPct val="105000"/>
              </a:lnSpc>
              <a:buNone/>
            </a:pPr>
            <a:r>
              <a:rPr lang="en-US" sz="1100" dirty="0">
                <a:solidFill>
                  <a:srgbClr val="000000"/>
                </a:solidFill>
                <a:latin typeface="General Sans Semibold" pitchFamily="34" charset="0"/>
                <a:ea typeface="General Sans Semibold" pitchFamily="34" charset="-122"/>
                <a:cs typeface="General Sans Semibold" pitchFamily="34" charset="-120"/>
              </a:rPr>
              <a:t>Nog even</a:t>
            </a:r>
            <a:endParaRPr lang="en-US" sz="1100" dirty="0"/>
          </a:p>
        </p:txBody>
      </p:sp>
      <p:sp>
        <p:nvSpPr>
          <p:cNvPr id="13" name="Text 11"/>
          <p:cNvSpPr/>
          <p:nvPr/>
        </p:nvSpPr>
        <p:spPr>
          <a:xfrm>
            <a:off x="6675120" y="4389120"/>
            <a:ext cx="4693615" cy="594360"/>
          </a:xfrm>
          <a:prstGeom prst="rect">
            <a:avLst/>
          </a:prstGeom>
          <a:noFill/>
          <a:ln/>
        </p:spPr>
        <p:txBody>
          <a:bodyPr wrap="square" lIns="0" tIns="0" rIns="0" bIns="0" rtlCol="0" anchor="t"/>
          <a:lstStyle/>
          <a:p>
            <a:pPr algn="l" indent="0" marL="0">
              <a:lnSpc>
                <a:spcPct val="105000"/>
              </a:lnSpc>
              <a:buNone/>
            </a:pPr>
            <a:r>
              <a:rPr lang="en-US" sz="1500" dirty="0">
                <a:solidFill>
                  <a:srgbClr val="000000"/>
                </a:solidFill>
                <a:latin typeface="General Sans" pitchFamily="34" charset="0"/>
                <a:ea typeface="General Sans" pitchFamily="34" charset="-122"/>
                <a:cs typeface="General Sans" pitchFamily="34" charset="-120"/>
              </a:rPr>
              <a:t>Een verschil is nog geen oorzaak.</a:t>
            </a:r>
            <a:endParaRPr lang="en-US" sz="1500" dirty="0"/>
          </a:p>
        </p:txBody>
      </p:sp>
      <p:pic>
        <p:nvPicPr>
          <p:cNvPr id="14" name="Image 0" descr="Npuls">    </p:cNvPr>
          <p:cNvPicPr>
            <a:picLocks noChangeAspect="1"/>
          </p:cNvPicPr>
          <p:nvPr/>
        </p:nvPicPr>
        <p:blipFill>
          <a:blip r:embed="rId1"/>
          <a:stretch>
            <a:fillRect/>
          </a:stretch>
        </p:blipFill>
        <p:spPr>
          <a:xfrm>
            <a:off x="10454335" y="5120640"/>
            <a:ext cx="1188720" cy="1188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48640" y="1600200"/>
            <a:ext cx="11094415" cy="320040"/>
          </a:xfrm>
          <a:prstGeom prst="rect">
            <a:avLst/>
          </a:prstGeom>
          <a:noFill/>
          <a:ln/>
        </p:spPr>
        <p:txBody>
          <a:bodyPr wrap="square" lIns="0" tIns="0" rIns="0" bIns="0" rtlCol="0" anchor="t"/>
          <a:lstStyle/>
          <a:p>
            <a:pPr algn="ctr" indent="0" marL="0">
              <a:lnSpc>
                <a:spcPct val="105000"/>
              </a:lnSpc>
              <a:buNone/>
            </a:pPr>
            <a:r>
              <a:rPr lang="en-US" sz="1300" spc="300" kern="0" dirty="0">
                <a:solidFill>
                  <a:srgbClr val="DD784B"/>
                </a:solidFill>
                <a:latin typeface="General Sans Semibold" pitchFamily="34" charset="0"/>
                <a:ea typeface="General Sans Semibold" pitchFamily="34" charset="-122"/>
                <a:cs typeface="General Sans Semibold" pitchFamily="34" charset="-120"/>
              </a:rPr>
              <a:t>TOT SLOT</a:t>
            </a:r>
            <a:endParaRPr lang="en-US" sz="1300" dirty="0"/>
          </a:p>
        </p:txBody>
      </p:sp>
      <p:sp>
        <p:nvSpPr>
          <p:cNvPr id="3" name="Text 1"/>
          <p:cNvSpPr/>
          <p:nvPr/>
        </p:nvSpPr>
        <p:spPr>
          <a:xfrm>
            <a:off x="548640" y="1965960"/>
            <a:ext cx="11094415" cy="868680"/>
          </a:xfrm>
          <a:prstGeom prst="rect">
            <a:avLst/>
          </a:prstGeom>
          <a:noFill/>
          <a:ln/>
        </p:spPr>
        <p:txBody>
          <a:bodyPr wrap="square" lIns="0" tIns="0" rIns="0" bIns="0" rtlCol="0" anchor="t"/>
          <a:lstStyle/>
          <a:p>
            <a:pPr algn="ctr" indent="0" marL="0">
              <a:lnSpc>
                <a:spcPct val="105000"/>
              </a:lnSpc>
              <a:buNone/>
            </a:pPr>
            <a:r>
              <a:rPr lang="en-US" sz="4400" dirty="0">
                <a:solidFill>
                  <a:srgbClr val="3D68EC"/>
                </a:solidFill>
                <a:latin typeface="General Sans Semibold" pitchFamily="34" charset="0"/>
                <a:ea typeface="General Sans Semibold" pitchFamily="34" charset="-122"/>
                <a:cs typeface="General Sans Semibold" pitchFamily="34" charset="-120"/>
              </a:rPr>
              <a:t>Blijf in contact</a:t>
            </a:r>
            <a:endParaRPr lang="en-US" sz="4400" dirty="0"/>
          </a:p>
        </p:txBody>
      </p:sp>
      <p:sp>
        <p:nvSpPr>
          <p:cNvPr id="4" name="Text 2"/>
          <p:cNvSpPr/>
          <p:nvPr/>
        </p:nvSpPr>
        <p:spPr>
          <a:xfrm>
            <a:off x="2286000" y="2880360"/>
            <a:ext cx="7619695" cy="457200"/>
          </a:xfrm>
          <a:prstGeom prst="rect">
            <a:avLst/>
          </a:prstGeom>
          <a:noFill/>
          <a:ln/>
        </p:spPr>
        <p:txBody>
          <a:bodyPr wrap="square" lIns="0" tIns="0" rIns="0" bIns="0" rtlCol="0" anchor="t"/>
          <a:lstStyle/>
          <a:p>
            <a:pPr algn="ctr" indent="0" marL="0">
              <a:lnSpc>
                <a:spcPct val="105000"/>
              </a:lnSpc>
              <a:buNone/>
            </a:pPr>
            <a:r>
              <a:rPr lang="en-US" sz="1600" dirty="0">
                <a:solidFill>
                  <a:srgbClr val="000000"/>
                </a:solidFill>
                <a:latin typeface="General Sans" pitchFamily="34" charset="0"/>
                <a:ea typeface="General Sans" pitchFamily="34" charset="-122"/>
                <a:cs typeface="General Sans" pitchFamily="34" charset="-120"/>
              </a:rPr>
              <a:t>Vragen, feedback of zin om mee te bouwen? We horen graag van je.</a:t>
            </a:r>
            <a:endParaRPr lang="en-US" sz="1600" dirty="0"/>
          </a:p>
        </p:txBody>
      </p:sp>
      <p:sp>
        <p:nvSpPr>
          <p:cNvPr id="5" name="Shape 3"/>
          <p:cNvSpPr/>
          <p:nvPr/>
        </p:nvSpPr>
        <p:spPr>
          <a:xfrm>
            <a:off x="1020928" y="3657600"/>
            <a:ext cx="3200400" cy="1234440"/>
          </a:xfrm>
          <a:prstGeom prst="roundRect">
            <a:avLst>
              <a:gd name="adj" fmla="val 10974"/>
            </a:avLst>
          </a:prstGeom>
          <a:solidFill>
            <a:srgbClr val="FFFFFF"/>
          </a:solidFill>
          <a:ln/>
        </p:spPr>
      </p:sp>
      <p:sp>
        <p:nvSpPr>
          <p:cNvPr id="6" name="Shape 4"/>
          <p:cNvSpPr/>
          <p:nvPr/>
        </p:nvSpPr>
        <p:spPr>
          <a:xfrm>
            <a:off x="1889608" y="3858768"/>
            <a:ext cx="1463040" cy="365760"/>
          </a:xfrm>
          <a:prstGeom prst="roundRect">
            <a:avLst>
              <a:gd name="adj" fmla="val 125000"/>
            </a:avLst>
          </a:prstGeom>
          <a:solidFill>
            <a:srgbClr val="3D68EC"/>
          </a:solidFill>
          <a:ln/>
        </p:spPr>
      </p:sp>
      <p:sp>
        <p:nvSpPr>
          <p:cNvPr id="7" name="Text 5"/>
          <p:cNvSpPr/>
          <p:nvPr/>
        </p:nvSpPr>
        <p:spPr>
          <a:xfrm>
            <a:off x="198104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F4D9DC"/>
                </a:solidFill>
                <a:latin typeface="General Sans Semibold" pitchFamily="34" charset="0"/>
                <a:ea typeface="General Sans Semibold" pitchFamily="34" charset="-122"/>
                <a:cs typeface="General Sans Semibold" pitchFamily="34" charset="-120"/>
              </a:rPr>
              <a:t>GitHub</a:t>
            </a:r>
            <a:endParaRPr lang="en-US" sz="1200" dirty="0"/>
          </a:p>
        </p:txBody>
      </p:sp>
      <p:sp>
        <p:nvSpPr>
          <p:cNvPr id="8" name="Text 6">
            <a:hlinkClick r:id="rId2" tooltip=""/>
          </p:cNvPr>
          <p:cNvSpPr/>
          <p:nvPr/>
        </p:nvSpPr>
        <p:spPr>
          <a:xfrm>
            <a:off x="115808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github.com/cedanl</a:t>
            </a:r>
            <a:endParaRPr lang="en-US" sz="1400" dirty="0"/>
          </a:p>
        </p:txBody>
      </p:sp>
      <p:sp>
        <p:nvSpPr>
          <p:cNvPr id="9" name="Shape 7"/>
          <p:cNvSpPr/>
          <p:nvPr/>
        </p:nvSpPr>
        <p:spPr>
          <a:xfrm>
            <a:off x="4495648" y="3657600"/>
            <a:ext cx="3200400" cy="1234440"/>
          </a:xfrm>
          <a:prstGeom prst="roundRect">
            <a:avLst>
              <a:gd name="adj" fmla="val 10974"/>
            </a:avLst>
          </a:prstGeom>
          <a:solidFill>
            <a:srgbClr val="FFFFFF"/>
          </a:solidFill>
          <a:ln/>
        </p:spPr>
      </p:sp>
      <p:sp>
        <p:nvSpPr>
          <p:cNvPr id="10" name="Shape 8"/>
          <p:cNvSpPr/>
          <p:nvPr/>
        </p:nvSpPr>
        <p:spPr>
          <a:xfrm>
            <a:off x="5364328" y="3858768"/>
            <a:ext cx="1463040" cy="365760"/>
          </a:xfrm>
          <a:prstGeom prst="roundRect">
            <a:avLst>
              <a:gd name="adj" fmla="val 125000"/>
            </a:avLst>
          </a:prstGeom>
          <a:solidFill>
            <a:srgbClr val="00AF81"/>
          </a:solidFill>
          <a:ln/>
        </p:spPr>
      </p:sp>
      <p:sp>
        <p:nvSpPr>
          <p:cNvPr id="11" name="Text 9"/>
          <p:cNvSpPr/>
          <p:nvPr/>
        </p:nvSpPr>
        <p:spPr>
          <a:xfrm>
            <a:off x="545576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Community</a:t>
            </a:r>
            <a:endParaRPr lang="en-US" sz="1200" dirty="0"/>
          </a:p>
        </p:txBody>
      </p:sp>
      <p:sp>
        <p:nvSpPr>
          <p:cNvPr id="12" name="Text 10">
            <a:hlinkClick r:id="rId3" tooltip=""/>
          </p:cNvPr>
          <p:cNvSpPr/>
          <p:nvPr/>
        </p:nvSpPr>
        <p:spPr>
          <a:xfrm>
            <a:off x="463280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community.npuls.nl/groups/data-ai</a:t>
            </a:r>
            <a:endParaRPr lang="en-US" sz="1400" dirty="0"/>
          </a:p>
        </p:txBody>
      </p:sp>
      <p:sp>
        <p:nvSpPr>
          <p:cNvPr id="13" name="Shape 11"/>
          <p:cNvSpPr/>
          <p:nvPr/>
        </p:nvSpPr>
        <p:spPr>
          <a:xfrm>
            <a:off x="7970368" y="3657600"/>
            <a:ext cx="3200400" cy="1234440"/>
          </a:xfrm>
          <a:prstGeom prst="roundRect">
            <a:avLst>
              <a:gd name="adj" fmla="val 10974"/>
            </a:avLst>
          </a:prstGeom>
          <a:solidFill>
            <a:srgbClr val="FFFFFF"/>
          </a:solidFill>
          <a:ln/>
        </p:spPr>
      </p:sp>
      <p:sp>
        <p:nvSpPr>
          <p:cNvPr id="14" name="Shape 12"/>
          <p:cNvSpPr/>
          <p:nvPr/>
        </p:nvSpPr>
        <p:spPr>
          <a:xfrm>
            <a:off x="8839048" y="3858768"/>
            <a:ext cx="1463040" cy="365760"/>
          </a:xfrm>
          <a:prstGeom prst="roundRect">
            <a:avLst>
              <a:gd name="adj" fmla="val 125000"/>
            </a:avLst>
          </a:prstGeom>
          <a:solidFill>
            <a:srgbClr val="DD784B"/>
          </a:solidFill>
          <a:ln/>
        </p:spPr>
      </p:sp>
      <p:sp>
        <p:nvSpPr>
          <p:cNvPr id="15" name="Text 13"/>
          <p:cNvSpPr/>
          <p:nvPr/>
        </p:nvSpPr>
        <p:spPr>
          <a:xfrm>
            <a:off x="8930488" y="3858768"/>
            <a:ext cx="1280160" cy="365760"/>
          </a:xfrm>
          <a:prstGeom prst="rect">
            <a:avLst/>
          </a:prstGeom>
          <a:noFill/>
          <a:ln/>
        </p:spPr>
        <p:txBody>
          <a:bodyPr wrap="square" lIns="0" tIns="0" rIns="0" bIns="0" rtlCol="0" anchor="ctr"/>
          <a:lstStyle/>
          <a:p>
            <a:pPr algn="ctr" indent="0" marL="0">
              <a:lnSpc>
                <a:spcPct val="105000"/>
              </a:lnSpc>
              <a:buNone/>
            </a:pPr>
            <a:r>
              <a:rPr lang="en-US" sz="1200" dirty="0">
                <a:solidFill>
                  <a:srgbClr val="000000"/>
                </a:solidFill>
                <a:latin typeface="General Sans Semibold" pitchFamily="34" charset="0"/>
                <a:ea typeface="General Sans Semibold" pitchFamily="34" charset="-122"/>
                <a:cs typeface="General Sans Semibold" pitchFamily="34" charset="-120"/>
              </a:rPr>
              <a:t>Email</a:t>
            </a:r>
            <a:endParaRPr lang="en-US" sz="1200" dirty="0"/>
          </a:p>
        </p:txBody>
      </p:sp>
      <p:sp>
        <p:nvSpPr>
          <p:cNvPr id="16" name="Text 14">
            <a:hlinkClick r:id="rId4" tooltip=""/>
          </p:cNvPr>
          <p:cNvSpPr/>
          <p:nvPr/>
        </p:nvSpPr>
        <p:spPr>
          <a:xfrm>
            <a:off x="8107528" y="4370832"/>
            <a:ext cx="2926080" cy="365760"/>
          </a:xfrm>
          <a:prstGeom prst="rect">
            <a:avLst/>
          </a:prstGeom>
          <a:noFill/>
          <a:ln/>
        </p:spPr>
        <p:txBody>
          <a:bodyPr wrap="square" lIns="0" tIns="0" rIns="0" bIns="0" rtlCol="0" anchor="ctr"/>
          <a:lstStyle/>
          <a:p>
            <a:pPr algn="ctr" indent="0" marL="0">
              <a:buNone/>
            </a:pPr>
            <a:r>
              <a:rPr lang="en-US" sz="1400" u="sng" dirty="0">
                <a:solidFill>
                  <a:srgbClr val="000000"/>
                </a:solidFill>
                <a:latin typeface="General Sans" pitchFamily="34" charset="0"/>
                <a:ea typeface="General Sans" pitchFamily="34" charset="-122"/>
                <a:cs typeface="General Sans" pitchFamily="34" charset="-120"/>
                <a:hlinkClick r:id="rId4" invalidUrl="" action="" tgtFrame="" tooltip="" history="1" highlightClick="0" endSnd="0">
                  <a:extLst>
                    <a:ext uri="{A12FA001-AC4F-418D-AE19-62706E023703}">
                      <ahyp:hlinkClr xmlns:ahyp="http://schemas.microsoft.com/office/drawing/2018/hyperlinkcolor" val="tx"/>
                    </a:ext>
                  </a:extLst>
                </a:hlinkClick>
              </a:rPr>
              <a:t>ceda@surf.nl</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neral Sans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neral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Npuls · CEDA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data science in het onderwijs: jij stuurt, de agent bouwt</dc:title>
  <dc:subject>PptxGenJS Presentation</dc:subject>
  <dc:creator>CEDA</dc:creator>
  <cp:lastModifiedBy>CEDA</cp:lastModifiedBy>
  <cp:revision>1</cp:revision>
  <dcterms:created xsi:type="dcterms:W3CDTF">2026-10-08T11:06:42Z</dcterms:created>
  <dcterms:modified xsi:type="dcterms:W3CDTF">2026-10-08T11:06:42Z</dcterms:modified>
</cp:coreProperties>
</file>