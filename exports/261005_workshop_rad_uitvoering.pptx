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59" r:id="rId5"/>
    <p:sldId id="286" r:id="rId6"/>
    <p:sldId id="287" r:id="rId7"/>
    <p:sldId id="288" r:id="rId8"/>
    <p:sldId id="289" r:id="rId9"/>
    <p:sldId id="260" r:id="rId10"/>
    <p:sldId id="261" r:id="rId11"/>
    <p:sldId id="262" r:id="rId12"/>
    <p:sldId id="263" r:id="rId13"/>
    <p:sldId id="264" r:id="rId14"/>
    <p:sldId id="265" r:id="rId15"/>
    <p:sldId id="292" r:id="rId16"/>
    <p:sldId id="266" r:id="rId17"/>
    <p:sldId id="267" r:id="rId18"/>
    <p:sldId id="268" r:id="rId19"/>
    <p:sldId id="269" r:id="rId20"/>
    <p:sldId id="270" r:id="rId21"/>
    <p:sldId id="271" r:id="rId22"/>
    <p:sldId id="272" r:id="rId23"/>
    <p:sldId id="273" r:id="rId24"/>
    <p:sldId id="293" r:id="rId25"/>
    <p:sldId id="274" r:id="rId26"/>
    <p:sldId id="275" r:id="rId27"/>
    <p:sldId id="276" r:id="rId28"/>
    <p:sldId id="277" r:id="rId29"/>
    <p:sldId id="291" r:id="rId30"/>
    <p:sldId id="294" r:id="rId31"/>
    <p:sldId id="278" r:id="rId32"/>
    <p:sldId id="279" r:id="rId33"/>
    <p:sldId id="295" r:id="rId34"/>
    <p:sldId id="283" r:id="rId36"/>
    <p:sldId id="284" r:id="rId37"/>
    <p:sldId id="296" r:id="rId35"/>
    <p:sldId id="285"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7.xml"/><Relationship Id="rId36" Type="http://schemas.openxmlformats.org/officeDocument/2006/relationships/slide" Target="slides/slide34.xml"/><Relationship Id="rId37" Type="http://schemas.openxmlformats.org/officeDocument/2006/relationships/slide" Target="slides/slide35.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23629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Zeg in een zin wat vandaag gebeurt: in tweetallen werken met een AI-agent aan één casus, en een dashboard opleveren dat de vraag beantwoordt. Schrijf de eindtijd op een bord: 15:00 bijvoorbeeld.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het schema in dertig seconden door. Benadruk de spiegelmomenten: daar leer je het meest, omdat je ziet wat de groep naast je deed. Aan het eind evaluatie en afsluiting: iedereen draait /review-reflect, daarna een kort rondje. Bij elk spiegelmoment kijken we in de skill, niet in individuele dashboards.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Spelregels: iedereen werkt via de agent, niemand hoeft te kunnen programmeren, wel kritisch kijken. Doel aan het eind: een kwalitatief antwoord op de casusvraag, onderbouwd met je dashboard.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AL2: de mens doet het werk en AI levert losse stukken aan. Dit aandeel loopt vanaf begin 2026 hard terug. Bron: Anthropic R&amp;D Automation Index; zo werkt Anthropic zelf aan AI-onderzoek, de waarden zijn geschat. Vraag de zaal: waar herken je dit in je eigen werk?</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AL3: mens en AI werken als duo. Sinds maart 2026 is dit de grootste groep, in augustus ongeveer 70% van de taken. De mens blijft de regie houden: kiezen, controleren, bepalen.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AL4: AI voert de taak van begin tot eind uit, de mens geeft de opdracht en keurt goed. Een kwart van de taken in augustus 2026. Dit is wat jullie vandaag zelf doen: de agent bouwt, jullie sturen en controleren.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Waarom synthetisch: bouwen en testen gebeurt gescheiden van de echte data. De agent mag naar het taalmodel zolang er geen echte personen in zitten. Dezelfde code draait later op de echte data bij de instelling, daar komt de agent niet. Benoem expliciet: werken met eigen data valt buiten deze workshop; dat doe je in je eigen instelling, volgens de eigen regels voor privacy en AVG. Zo werkt CEDA ook; de skills en de werkwijze staan open op github.com/cedanl.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Wat is demodata: gegenereerd naar het patroon van een echt bestand en gecontroleerd tegen de 1CHO-metadata en CROHO-codes. Het is fictief, dus de agent mag erin. Dezelfde code draait later op echte data. Validatie tegen de werkelijkheid doen we niet; dat vraagt echte data buiten de devcontainer.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Elk tweetal kiest één van de drie vragen; alle drie kunnen met dezelfde demodata. A: eerstejaarsuitval = eerstejaars die binnen een jaar stoppen, per sector. B gebruikt de hoogste vooropleiding (mbo en havo). C gebruikt het diplomajaar; daar zijn de laatste cohorten nog niet waarneembaar, net als bij uitval. Wie niet kan kiezen, neemt A. De deelnemers laten de agent de cijfers uitrekenen; zij bepalen wat ze ermee doen. Bij de spiegelmomenten laten we A zien, omdat de data daar het sterkst op aansluit; de skills werken voor alle drie. Let op: opleidingsvorm heeft maar één waarde (voltijd). Wie dat zelf ontdekt, ziet waarom verkennen loont. Noem het niet vooraf.</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Verdeel de tweetallen nu. Niemand hoeft code te lezen: de prompter typt, de checker beoordeelt of het antwoord van de agent logisch is. Bij vragen van deelnemers: stel zelf een wedervraag (wat zou je de agent kunnen vragen?). Check dat per tweetal één laptop met de devcontainer werkt. Wat ze aan het eind in handen hebben: een eigen aanpak, gespiegeld aan de tweetallen om hen heen.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Vergelijk met een collega. De agent is de collega die het werk doet. Een prompt is een mondelinge opdracht aan die collega: snel, maar elke keer anders. Een skill is een werkinstructie die je die collega geeft: dezelfde stappen en dezelfde controles, elke keer. Laat een echte SKILL.md zien, maximaal een minuut. Vuistregel: elke prompt die je drie keer typt, is een skill in wording. Zelf doen jullie de rondes met prompts; de skills laten wij zien bij de spiegelmomenten.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Noem de drie skills bij naam: /verkennen_data in ronde 1, /schets_dashboard en /bouwen_dashboard in ronde 2. De deelnemers prompten zelf in de rondes: de leider laat de skills draaien bij de spiegelmomenten en legt dan uit wat erin staat en wat de skill afdwingt. Elke skill stelt hooguit drie vragen, één voor één, en doet liever een voorstel dan een vragenronde. Skills starten alleen als je ze zelf typt (/naam): tijdens gewoon chatten met de agent springen ze niet vanzelf aan, dus in de rondes werken de deelnemers echt met hun eigen prompts.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Een GitHub-account is vooraf gevraagd; wie er geen heeft, maakt er nu een aan (gratis) of kijkt mee bij een buur. De Codespace is de devcontainer: Claude Code, Python en de data staan klaar. De volgende drie slides laten de stappen in beeld zien; loop ze live mee op het scherm. Lukt het starten niet binnen een paar minuten, dan is dat een signaal over de omgeving en niet over de deelnemer. Houd hier genoeg tijd voor.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Iedereen logt in op github.com met het eigen account; de Codespace komt in dat account te staan. Een GitHub-account is vooraf gevraagd. Wie er geen heeft, maakt er nu een aan (gratis, een e-mailadres is genoeg) of kijkt mee bij een buur. Wacht tot iedereen is ingelogd voor je naar stap 2 gaat.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knop op het scherm zien. Alle deelnemers doen dit tegelijk; het laden kost een tot twee minuten (het image is groter geworden: Chromium en de dashboardpakketten staan er nu in, zodat het bouwen later sneller gaat), vul die tijd met uitleg over wat een Codespace is: dezelfde omgeving voor iedereen, in de browser, niets te installeren.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key deel je mondeling of op papier uit, niet op de slide. Wie de key als Codespace-secret (ANTHROPIC_FOUNDRY_API_KEY) in het eigen GitHub-account heeft staan, krijgt geen vraag: de terminal meldt dan dat de key is overgenomen. Is de key kwijt of fout geplakt: opnieuw instellen met het commando dair-onboard in de terminal.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 de eerste instructie live voor en laat zien dat de agent de code zichtbaar maakt. De skills laten we straks zien bij de spiegelmomenten.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de timer van 22 minuten. Loop rond; beantwoord vragen met een wedervraag. Let op: wie het laatste cohort meetelt (vertekend percentage), zit in de valkuil. Dat bespreken we bij het spiegelmoment.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bestuurder-navigator-ronde. Aan het eind van ronde 1 moeten ze kunnen zeggen hoeveel studenten en cohorten er zijn, welke cohorten niet waarneembaar zijn en waar kleine groepen zitten.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kijken niet naar individuele schetsen, maar naar de skill. Vraag eerst twee tweetallen om één ding te noemen dat ze in ronde 1 tegenkwamen (één zin per tweetal). Loop daarna met de volgende twee dia's door de skill. Draai /verkennen_data live en leg uit terwijl hij loopt; doe vooraf een droge run, want de skill doet nu meer (kwaliteit en verdelingen) en de eerdere tijdmeting geldt niet meer. Zet daarnaast desgewenst één gewone prompt op hetzelfde scherm.</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opbouw van /verkennen_data/SKILL.md. Open het bestand even op het scherm: eerst drie vragen (de data, jouw vraag, één voorstel voor kernmaat en drempels), dan de stappen. De skill schrijft begrip.json en draait verken.py, dat het profiel als HTML maakt. Vraag: welke van deze stappen heb jij in ronde 1 overgeslagen of anders gedaan?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zijn de checks die in de skill zijn verweven. Laat de deelnemers zelf aanwijzen welke ze in ronde 1 zelf hebben gedaan. Het laatste cohort heeft nog geen volgend jaar in de data, dus uitval lijkt daar 100%: de skill sluit het uit. In de demodata heeft de meerderheid van de cellen opleiding per cohort minder dan 30 studenten, terwijl elke opleiding over alle cohorten samen genoeg heeft. De drempels 30 en 5 zijn voorbeeldwaarden en niet getoetst door een privacy officer; de skill vraagt de gebruiker welke drempels gelden.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Laat het bestand zien dat de skill heeft gemaakt: een menu links, tegels met de kerncijfers, daaronder de keuzes en aannames in één tabel met de status. Vraag: welke keuzes zie je hier die jullie zelf niet hebben gemaakt? Dit is demodata; het profiel beschrijft het bestand, niet de werkelijkheid. Openen: rechtsklik, Show Preview; de pagina opent in een nieuw browsertabblad. Vraagt GitHub om door te gaan, klik dan op Continue.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Wissel nu van rol. Timer 22 minuten. Loop rond met de responsible-checks in je hoofd: drempel, waarneembaarheid, framing, toegankelijkheid.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vier minimumeisen. Meer hoeft niet; liever een werkend en uitlegbaar dashboard dan een volle tabbladenwand.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agent bouwt snel. Jij bepaalt wat je mag concluderen. Na ronde 2 zie je wat jullie zelf misten.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Ook nu geen individuele dashboards bekijken. Vraag twee tweetallen om één keuze te noemen die ze maakten (bijvoorbeeld de titel of de drempel). Draai /schets_dashboard en daarna /bouwen_dashboard live, leg uit terwijl ze lopen en doe vooraf een droge run voor de tijd. Laat vooral zien hoe snel het gaat en wat de skill er standaard bij doet: de checks zitten erin, jij hoeft er niet aan te denken.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Dit is de opbouw van /schets_dashboard/SKILL.md. De skill begint zonder vragenronde met een voorstel waar de gebruiker op reageert, en stelt daarna hooguit drie vragen. Let op: het is een schets zonder code en zonder conclusie; elke view is een vraag of hypothese, geen bevinding. Per view tekent de skill een schetsplaatje van het grafiektype met neutrale vormen: gelijke staven en vlakke lijnen, zodat niemand er al een uitkomst in leest.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Laat de schets zien: bovenaan de vraag in de eigen woorden van de gebruiker, dan de keuzes met status (bevestigd of aanname), daarna de views. Nog niets gebouwd en niets berekend: de schets is een voorstel dat de gebruiker beoordeelt.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opbouw van /bouwen_dashboard/SKILL.md. Let op het verschil met ronde 1: hier staan de responsible-checks niet in een aparte stap maar in de bouwinstructie zelf. De skill bouwt alle views uit de schets in één keer: sturen doe je bij de schets. Daarna bekijkt de skill de hele pagina met screenshots en rekent de uitkomst onafhankelijk na op de data. Het dashboard laadt zelf geen data: het eerste scherm is een upload. In de workshop staat het bestand daar al klaar en klik je op Doorgaan (een schijn-upload), zodat dezelfde code later op echte data draait zonder AI. Aan het eind bewaart de skill de tests, doet een waarden-check en een snelle stijlcheck, en test opnieuw. check-style en simplify-ceda draait de skill niet zelf: ze zijn optioneel en kosten veel tijd, de gebruiker typt ze zelf. Er wordt alleen iets opgeslagen in GitHub als de gebruiker "bewaar" zegt.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Vraag per rij: heb jij dit in je dashboard zelf gedaan? De skill doet het elke keer zonder dat je eraan hoeft te denken. Dat is het verschil tussen een prompt en een skill.</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Laat het dashboard zien dat uit de skill komt. Wijs aan: de vraag als titel, het label dat dit demodata is, n per groep, het filter en de knop om andere data te uploaden. Het eerste scherm is een uploadscherm: het dashboard laadt zelf geen data. In de workshop staat het bestand al klaar; deelnemers klikken alleen op Doorgaan, ze hoeven niets te downloaden of te uploaden. De Npuls-huisstijl is standaard, met het officiële logo in de hero. De skill legt ook uit hoe je het opent: in de Codespace via poort 8501 (Open in Browser). Eigen data gebruik je in je eigen instelling, niet in deze workshop.</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Laat dit staan voor de contactslide. Vraag iedereen de Codespace nu te verwijderen, of aan het eind van de dag. Elke Codespace gebruikt het gratis maandquotum van het eigen GitHub-account, en een gestopte Codespace houdt nog opslag vast. Wil iemand de bestanden uit de workshop bewaren, dan eerst kopiëren of downloaden. Stoppen bewaart de opslag, die telt ook mee; alleen Delete ruimt alles op.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hele evaluatie: iedereen draait alleen /review-reflect in de eigen Codespace. Laat iedereen /review-reflect typen; er opent een vragenlijst die ze invullen (ongeveer zes minuten). De antwoorden zijn anoniem en gaan naar de begeleiders. Vraag om concreet gedrag, niet om een onderwerp als "AI"; één of twee zinnen is genoeg. Het workshop-token geeft de begeleider vooraf; deel het niet op de slide. Loopt de tijd uit, kort dan het rondje op de volgende slide in, niet de review.</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Rondje door de groep, één zin per persoon of op een kaartje (circa 6 minuten). Sluit af met de contactslide. Verwijs voor echte data naar het CEDA-pakket eencijferho.</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0.png"/><Relationship Id="rId4" Type="http://schemas.openxmlformats.org/officeDocument/2006/relationships/hyperlink" Target="https://github.com/cedanl/dair-agentic-codin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1.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34.xml"/><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PNG"/><Relationship Id="rId4" Type="http://schemas.openxmlformats.org/officeDocument/2006/relationships/hyperlink" Target="https://github.com/cedanl" TargetMode="External"/><Relationship Id="rId5" Type="http://schemas.openxmlformats.org/officeDocument/2006/relationships/hyperlink" Target="https://community.npuls.nl/groups/data-ai" TargetMode="External"/><Relationship Id="rId6" Type="http://schemas.openxmlformats.org/officeDocument/2006/relationships/hyperlink" Target="mailto:ceda@surf.nl"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5" name="Picture 4" descr="Npuls-achtergrond met logo"/>
          <p:cNvPicPr>
            <a:picLocks noChangeAspect="1"/>
          </p:cNvPicPr>
          <p:nvPr/>
        </p:nvPicPr>
        <p:blipFill>
          <a:blip r:embed="rId3"/>
          <a:stretch>
            <a:fillRect/>
          </a:stretch>
        </p:blipFill>
        <p:spPr>
          <a:xfrm>
            <a:off x="0" y="0"/>
            <a:ext cx="12192000" cy="6858000"/>
          </a:xfrm>
          <a:prstGeom prst="rect">
            <a:avLst/>
          </a:prstGeom>
        </p:spPr>
      </p:pic>
      <p:sp>
        <p:nvSpPr>
          <p:cNvPr id="2" name="TextBox 1"/>
          <p:cNvSpPr txBox="1"/>
          <p:nvPr/>
        </p:nvSpPr>
        <p:spPr>
          <a:xfrm>
            <a:off x="914400" y="1691640"/>
            <a:ext cx="10058400" cy="1828800"/>
          </a:xfrm>
          <a:prstGeom prst="rect">
            <a:avLst/>
          </a:prstGeom>
          <a:noFill/>
        </p:spPr>
        <p:txBody>
          <a:bodyPr wrap="square" lIns="0" tIns="0" rIns="0" bIns="0" anchor="b">
            <a:spAutoFit/>
          </a:bodyPr>
          <a:lstStyle/>
          <a:p>
            <a:pPr algn="l"/>
            <a:r>
              <a:rPr sz="4600">
                <a:solidFill>
                  <a:srgbClr val="3D68EC"/>
                </a:solidFill>
                <a:latin typeface="General Sans Semibold"/>
              </a:rPr>
              <a:t>GenAI: jij stuurt, AI bouwt</a:t>
            </a:r>
          </a:p>
        </p:txBody>
      </p:sp>
      <p:sp>
        <p:nvSpPr>
          <p:cNvPr id="3" name="TextBox 2"/>
          <p:cNvSpPr txBox="1"/>
          <p:nvPr/>
        </p:nvSpPr>
        <p:spPr>
          <a:xfrm>
            <a:off x="914400" y="3657600"/>
            <a:ext cx="8229600" cy="548640"/>
          </a:xfrm>
          <a:prstGeom prst="rect">
            <a:avLst/>
          </a:prstGeom>
          <a:noFill/>
        </p:spPr>
        <p:txBody>
          <a:bodyPr wrap="square" lIns="0" tIns="0" rIns="0" bIns="0" anchor="t">
            <a:spAutoFit/>
          </a:bodyPr>
          <a:lstStyle/>
          <a:p>
            <a:pPr algn="l"/>
            <a:r>
              <a:rPr sz="2200">
                <a:solidFill>
                  <a:srgbClr val="000000"/>
                </a:solidFill>
                <a:latin typeface="Cooper Lt BT"/>
              </a:rPr>
              <a:t>Agentic data science in het onderwijs</a:t>
            </a:r>
          </a:p>
        </p:txBody>
      </p:sp>
      <p:sp>
        <p:nvSpPr>
          <p:cNvPr id="4" name="TextBox 3"/>
          <p:cNvSpPr txBox="1"/>
          <p:nvPr/>
        </p:nvSpPr>
        <p:spPr>
          <a:xfrm>
            <a:off x="914400" y="4297680"/>
            <a:ext cx="8229600" cy="411480"/>
          </a:xfrm>
          <a:prstGeom prst="rect">
            <a:avLst/>
          </a:prstGeom>
          <a:noFill/>
        </p:spPr>
        <p:txBody>
          <a:bodyPr wrap="square" lIns="0" tIns="0" rIns="0" bIns="0" anchor="t">
            <a:spAutoFit/>
          </a:bodyPr>
          <a:lstStyle/>
          <a:p>
            <a:pPr algn="l"/>
            <a:r>
              <a:rPr sz="1600">
                <a:solidFill>
                  <a:srgbClr val="000000"/>
                </a:solidFill>
                <a:latin typeface="General Sans"/>
              </a:rPr>
              <a:t>CEDA · DAIR-bijeenkomst · 120 minuten · één casus · één dashboard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marL="0" indent="0" algn="l">
              <a:lnSpc>
                <a:spcPct val="105000"/>
              </a:lnSpc>
              <a:buNone/>
            </a:pPr>
            <a:r>
              <a:rPr lang="en-US" sz="1300" kern="0" spc="30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marL="0" indent="0" algn="l">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marL="0" indent="0" algn="l">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txBody>
          <a:bodyPr/>
          <a:lstStyle/>
          <a:p>
            <a:endParaRPr/>
          </a:p>
        </p:txBody>
      </p:sp>
      <p:sp>
        <p:nvSpPr>
          <p:cNvPr id="6" name="Text 4"/>
          <p:cNvSpPr/>
          <p:nvPr/>
        </p:nvSpPr>
        <p:spPr>
          <a:xfrm>
            <a:off x="1051560" y="420624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txBody>
          <a:bodyPr/>
          <a:lstStyle/>
          <a:p>
            <a:endParaRPr/>
          </a:p>
        </p:txBody>
      </p:sp>
      <p:sp>
        <p:nvSpPr>
          <p:cNvPr id="8" name="Text 6"/>
          <p:cNvSpPr/>
          <p:nvPr/>
        </p:nvSpPr>
        <p:spPr>
          <a:xfrm>
            <a:off x="1051560" y="470916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txBody>
          <a:bodyPr/>
          <a:lstStyle/>
          <a:p>
            <a:endParaRPr/>
          </a:p>
        </p:txBody>
      </p:sp>
      <p:sp>
        <p:nvSpPr>
          <p:cNvPr id="10" name="Text 8"/>
          <p:cNvSpPr/>
          <p:nvPr/>
        </p:nvSpPr>
        <p:spPr>
          <a:xfrm>
            <a:off x="1051560" y="521208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 71"/>
          <p:cNvSpPr/>
          <p:nvPr/>
        </p:nvSpPr>
        <p:spPr>
          <a:xfrm>
            <a:off x="548640" y="1719072"/>
            <a:ext cx="1532847"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0:00</a:t>
            </a:r>
            <a:endParaRPr lang="en-US" sz="1400" dirty="0"/>
          </a:p>
        </p:txBody>
      </p:sp>
      <p:sp>
        <p:nvSpPr>
          <p:cNvPr id="74" name="Shape 72"/>
          <p:cNvSpPr/>
          <p:nvPr/>
        </p:nvSpPr>
        <p:spPr>
          <a:xfrm>
            <a:off x="548640" y="2103120"/>
            <a:ext cx="1532847" cy="914400"/>
          </a:xfrm>
          <a:prstGeom prst="rect">
            <a:avLst/>
          </a:prstGeom>
          <a:solidFill>
            <a:srgbClr val="F4D74B"/>
          </a:solidFill>
          <a:ln/>
        </p:spPr>
        <p:txBody>
          <a:bodyPr/>
          <a:lstStyle/>
          <a:p>
            <a:endParaRPr/>
          </a:p>
        </p:txBody>
      </p:sp>
      <p:sp>
        <p:nvSpPr>
          <p:cNvPr id="75" name="Text 73"/>
          <p:cNvSpPr/>
          <p:nvPr/>
        </p:nvSpPr>
        <p:spPr>
          <a:xfrm>
            <a:off x="548640" y="2103120"/>
            <a:ext cx="1532847" cy="914400"/>
          </a:xfrm>
          <a:prstGeom prst="rect">
            <a:avLst/>
          </a:prstGeom>
          <a:noFill/>
          <a:ln/>
        </p:spPr>
        <p:txBody>
          <a:bodyPr wrap="square" lIns="0" tIns="0" rIns="0" bIns="0" rtlCol="0" anchor="ctr"/>
          <a:lstStyle/>
          <a:p>
            <a:pPr marL="0" indent="0" algn="ctr">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17 min</a:t>
            </a:r>
            <a:endParaRPr lang="en-US" sz="1800" dirty="0"/>
          </a:p>
        </p:txBody>
      </p:sp>
      <p:sp>
        <p:nvSpPr>
          <p:cNvPr id="76" name="Shape 74"/>
          <p:cNvSpPr/>
          <p:nvPr/>
        </p:nvSpPr>
        <p:spPr>
          <a:xfrm>
            <a:off x="548640" y="3017520"/>
            <a:ext cx="1532847" cy="45720"/>
          </a:xfrm>
          <a:prstGeom prst="rect">
            <a:avLst/>
          </a:prstGeom>
          <a:solidFill>
            <a:srgbClr val="F4D74B"/>
          </a:solidFill>
          <a:ln/>
        </p:spPr>
        <p:txBody>
          <a:bodyPr/>
          <a:lstStyle/>
          <a:p>
            <a:endParaRPr/>
          </a:p>
        </p:txBody>
      </p:sp>
      <p:sp>
        <p:nvSpPr>
          <p:cNvPr id="77" name="Text 75"/>
          <p:cNvSpPr/>
          <p:nvPr/>
        </p:nvSpPr>
        <p:spPr>
          <a:xfrm>
            <a:off x="566928" y="3291840"/>
            <a:ext cx="1441407"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Intro, data en casus</a:t>
            </a:r>
            <a:endParaRPr lang="en-US" sz="1100" dirty="0"/>
          </a:p>
        </p:txBody>
      </p:sp>
      <p:sp>
        <p:nvSpPr>
          <p:cNvPr id="78" name="Text 76"/>
          <p:cNvSpPr/>
          <p:nvPr/>
        </p:nvSpPr>
        <p:spPr>
          <a:xfrm>
            <a:off x="566928" y="4160520"/>
            <a:ext cx="1441407"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CEDA, demodata en de opdracht</a:t>
            </a:r>
            <a:endParaRPr lang="en-US" sz="1200" dirty="0"/>
          </a:p>
        </p:txBody>
      </p:sp>
      <p:sp>
        <p:nvSpPr>
          <p:cNvPr id="79" name="Text 77"/>
          <p:cNvSpPr/>
          <p:nvPr/>
        </p:nvSpPr>
        <p:spPr>
          <a:xfrm>
            <a:off x="2127207" y="1719072"/>
            <a:ext cx="1172177"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0:17</a:t>
            </a:r>
            <a:endParaRPr lang="en-US" sz="1400" dirty="0"/>
          </a:p>
        </p:txBody>
      </p:sp>
      <p:sp>
        <p:nvSpPr>
          <p:cNvPr id="80" name="Shape 78"/>
          <p:cNvSpPr/>
          <p:nvPr/>
        </p:nvSpPr>
        <p:spPr>
          <a:xfrm>
            <a:off x="2127207" y="2103120"/>
            <a:ext cx="1172177" cy="914400"/>
          </a:xfrm>
          <a:prstGeom prst="rect">
            <a:avLst/>
          </a:prstGeom>
          <a:solidFill>
            <a:srgbClr val="F4D74B"/>
          </a:solidFill>
          <a:ln/>
        </p:spPr>
        <p:txBody>
          <a:bodyPr/>
          <a:lstStyle/>
          <a:p>
            <a:endParaRPr/>
          </a:p>
        </p:txBody>
      </p:sp>
      <p:sp>
        <p:nvSpPr>
          <p:cNvPr id="81" name="Text 79"/>
          <p:cNvSpPr/>
          <p:nvPr/>
        </p:nvSpPr>
        <p:spPr>
          <a:xfrm>
            <a:off x="2127207" y="2103120"/>
            <a:ext cx="1172177" cy="914400"/>
          </a:xfrm>
          <a:prstGeom prst="rect">
            <a:avLst/>
          </a:prstGeom>
          <a:noFill/>
          <a:ln/>
        </p:spPr>
        <p:txBody>
          <a:bodyPr wrap="square" lIns="0" tIns="0" rIns="0" bIns="0" rtlCol="0" anchor="ctr"/>
          <a:lstStyle/>
          <a:p>
            <a:pPr marL="0" indent="0" algn="ctr">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13 min</a:t>
            </a:r>
            <a:endParaRPr lang="en-US" sz="1800" dirty="0"/>
          </a:p>
        </p:txBody>
      </p:sp>
      <p:sp>
        <p:nvSpPr>
          <p:cNvPr id="82" name="Shape 80"/>
          <p:cNvSpPr/>
          <p:nvPr/>
        </p:nvSpPr>
        <p:spPr>
          <a:xfrm>
            <a:off x="2127207" y="3017520"/>
            <a:ext cx="1172177" cy="45720"/>
          </a:xfrm>
          <a:prstGeom prst="rect">
            <a:avLst/>
          </a:prstGeom>
          <a:solidFill>
            <a:srgbClr val="F4D74B"/>
          </a:solidFill>
          <a:ln/>
        </p:spPr>
        <p:txBody>
          <a:bodyPr/>
          <a:lstStyle/>
          <a:p>
            <a:endParaRPr/>
          </a:p>
        </p:txBody>
      </p:sp>
      <p:sp>
        <p:nvSpPr>
          <p:cNvPr id="83" name="Text 81"/>
          <p:cNvSpPr/>
          <p:nvPr/>
        </p:nvSpPr>
        <p:spPr>
          <a:xfrm>
            <a:off x="2145495" y="3291840"/>
            <a:ext cx="1080737"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Skills en devcontainer</a:t>
            </a:r>
            <a:endParaRPr lang="en-US" sz="1100" dirty="0"/>
          </a:p>
        </p:txBody>
      </p:sp>
      <p:sp>
        <p:nvSpPr>
          <p:cNvPr id="84" name="Text 82"/>
          <p:cNvSpPr/>
          <p:nvPr/>
        </p:nvSpPr>
        <p:spPr>
          <a:xfrm>
            <a:off x="2145495" y="4160520"/>
            <a:ext cx="1080737"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is een skill, eerste prompt</a:t>
            </a:r>
            <a:endParaRPr lang="en-US" sz="1200" dirty="0"/>
          </a:p>
        </p:txBody>
      </p:sp>
      <p:sp>
        <p:nvSpPr>
          <p:cNvPr id="85" name="Text 83"/>
          <p:cNvSpPr/>
          <p:nvPr/>
        </p:nvSpPr>
        <p:spPr>
          <a:xfrm>
            <a:off x="3345104" y="1719072"/>
            <a:ext cx="1983684"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0:30</a:t>
            </a:r>
            <a:endParaRPr lang="en-US" sz="1400" dirty="0"/>
          </a:p>
        </p:txBody>
      </p:sp>
      <p:sp>
        <p:nvSpPr>
          <p:cNvPr id="86" name="Shape 84"/>
          <p:cNvSpPr/>
          <p:nvPr/>
        </p:nvSpPr>
        <p:spPr>
          <a:xfrm>
            <a:off x="3345104" y="2103120"/>
            <a:ext cx="1983684" cy="914400"/>
          </a:xfrm>
          <a:prstGeom prst="rect">
            <a:avLst/>
          </a:prstGeom>
          <a:solidFill>
            <a:srgbClr val="3D68EC"/>
          </a:solidFill>
          <a:ln/>
        </p:spPr>
        <p:txBody>
          <a:bodyPr/>
          <a:lstStyle/>
          <a:p>
            <a:endParaRPr/>
          </a:p>
        </p:txBody>
      </p:sp>
      <p:sp>
        <p:nvSpPr>
          <p:cNvPr id="87" name="Text 85"/>
          <p:cNvSpPr/>
          <p:nvPr/>
        </p:nvSpPr>
        <p:spPr>
          <a:xfrm>
            <a:off x="3345104" y="2103120"/>
            <a:ext cx="1983684" cy="914400"/>
          </a:xfrm>
          <a:prstGeom prst="rect">
            <a:avLst/>
          </a:prstGeom>
          <a:noFill/>
          <a:ln/>
        </p:spPr>
        <p:txBody>
          <a:bodyPr wrap="square" lIns="0" tIns="0" rIns="0" bIns="0" rtlCol="0" anchor="ctr"/>
          <a:lstStyle/>
          <a:p>
            <a:pPr marL="0" indent="0" algn="ctr">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22 min</a:t>
            </a:r>
            <a:endParaRPr lang="en-US" sz="1800" dirty="0"/>
          </a:p>
        </p:txBody>
      </p:sp>
      <p:sp>
        <p:nvSpPr>
          <p:cNvPr id="88" name="Shape 86"/>
          <p:cNvSpPr/>
          <p:nvPr/>
        </p:nvSpPr>
        <p:spPr>
          <a:xfrm>
            <a:off x="3345104" y="3017520"/>
            <a:ext cx="1983684" cy="45720"/>
          </a:xfrm>
          <a:prstGeom prst="rect">
            <a:avLst/>
          </a:prstGeom>
          <a:solidFill>
            <a:srgbClr val="3D68EC"/>
          </a:solidFill>
          <a:ln/>
        </p:spPr>
        <p:txBody>
          <a:bodyPr/>
          <a:lstStyle/>
          <a:p>
            <a:endParaRPr/>
          </a:p>
        </p:txBody>
      </p:sp>
      <p:sp>
        <p:nvSpPr>
          <p:cNvPr id="89" name="Text 87"/>
          <p:cNvSpPr/>
          <p:nvPr/>
        </p:nvSpPr>
        <p:spPr>
          <a:xfrm>
            <a:off x="3363392" y="3291840"/>
            <a:ext cx="1892244"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1: data verkennen</a:t>
            </a:r>
            <a:endParaRPr lang="en-US" sz="1100" dirty="0"/>
          </a:p>
        </p:txBody>
      </p:sp>
      <p:sp>
        <p:nvSpPr>
          <p:cNvPr id="90" name="Text 88"/>
          <p:cNvSpPr/>
          <p:nvPr/>
        </p:nvSpPr>
        <p:spPr>
          <a:xfrm>
            <a:off x="3363392" y="4160520"/>
            <a:ext cx="1892244"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Jullie prompten zelf</a:t>
            </a:r>
            <a:endParaRPr lang="en-US" sz="1200" dirty="0"/>
          </a:p>
        </p:txBody>
      </p:sp>
      <p:sp>
        <p:nvSpPr>
          <p:cNvPr id="91" name="Text 89"/>
          <p:cNvSpPr/>
          <p:nvPr/>
        </p:nvSpPr>
        <p:spPr>
          <a:xfrm>
            <a:off x="5374508" y="1719072"/>
            <a:ext cx="1352512"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0:52</a:t>
            </a:r>
            <a:endParaRPr lang="en-US" sz="1400" dirty="0"/>
          </a:p>
        </p:txBody>
      </p:sp>
      <p:sp>
        <p:nvSpPr>
          <p:cNvPr id="92" name="Shape 90"/>
          <p:cNvSpPr/>
          <p:nvPr/>
        </p:nvSpPr>
        <p:spPr>
          <a:xfrm>
            <a:off x="5374508" y="2103120"/>
            <a:ext cx="1352512" cy="914400"/>
          </a:xfrm>
          <a:prstGeom prst="rect">
            <a:avLst/>
          </a:prstGeom>
          <a:solidFill>
            <a:srgbClr val="DD784B"/>
          </a:solidFill>
          <a:ln/>
        </p:spPr>
        <p:txBody>
          <a:bodyPr/>
          <a:lstStyle/>
          <a:p>
            <a:endParaRPr/>
          </a:p>
        </p:txBody>
      </p:sp>
      <p:sp>
        <p:nvSpPr>
          <p:cNvPr id="93" name="Text 91"/>
          <p:cNvSpPr/>
          <p:nvPr/>
        </p:nvSpPr>
        <p:spPr>
          <a:xfrm>
            <a:off x="5374508" y="2103120"/>
            <a:ext cx="1352512" cy="914400"/>
          </a:xfrm>
          <a:prstGeom prst="rect">
            <a:avLst/>
          </a:prstGeom>
          <a:noFill/>
          <a:ln/>
        </p:spPr>
        <p:txBody>
          <a:bodyPr wrap="square" lIns="0" tIns="0" rIns="0" bIns="0" rtlCol="0" anchor="ctr"/>
          <a:lstStyle/>
          <a:p>
            <a:pPr marL="0" indent="0" algn="ctr">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15 min</a:t>
            </a:r>
            <a:endParaRPr lang="en-US" sz="1800" dirty="0"/>
          </a:p>
        </p:txBody>
      </p:sp>
      <p:sp>
        <p:nvSpPr>
          <p:cNvPr id="94" name="Shape 92"/>
          <p:cNvSpPr/>
          <p:nvPr/>
        </p:nvSpPr>
        <p:spPr>
          <a:xfrm>
            <a:off x="5374508" y="3017520"/>
            <a:ext cx="1352512" cy="45720"/>
          </a:xfrm>
          <a:prstGeom prst="rect">
            <a:avLst/>
          </a:prstGeom>
          <a:solidFill>
            <a:srgbClr val="DD784B"/>
          </a:solidFill>
          <a:ln/>
        </p:spPr>
        <p:txBody>
          <a:bodyPr/>
          <a:lstStyle/>
          <a:p>
            <a:endParaRPr/>
          </a:p>
        </p:txBody>
      </p:sp>
      <p:sp>
        <p:nvSpPr>
          <p:cNvPr id="95" name="Text 93"/>
          <p:cNvSpPr/>
          <p:nvPr/>
        </p:nvSpPr>
        <p:spPr>
          <a:xfrm>
            <a:off x="5392796" y="3291840"/>
            <a:ext cx="1261072"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Spiegelmoment 1</a:t>
            </a:r>
            <a:endParaRPr lang="en-US" sz="1100" dirty="0"/>
          </a:p>
        </p:txBody>
      </p:sp>
      <p:sp>
        <p:nvSpPr>
          <p:cNvPr id="96" name="Text 94"/>
          <p:cNvSpPr/>
          <p:nvPr/>
        </p:nvSpPr>
        <p:spPr>
          <a:xfrm>
            <a:off x="5392796" y="4160520"/>
            <a:ext cx="1261072"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Skill live: kijk wat erin zit</a:t>
            </a:r>
            <a:endParaRPr lang="en-US" sz="1200" dirty="0"/>
          </a:p>
        </p:txBody>
      </p:sp>
      <p:sp>
        <p:nvSpPr>
          <p:cNvPr id="97" name="Shape 95"/>
          <p:cNvSpPr/>
          <p:nvPr/>
        </p:nvSpPr>
        <p:spPr>
          <a:xfrm>
            <a:off x="5392796" y="5029200"/>
            <a:ext cx="1315936" cy="310896"/>
          </a:xfrm>
          <a:prstGeom prst="roundRect">
            <a:avLst>
              <a:gd name="adj" fmla="val 147059"/>
            </a:avLst>
          </a:prstGeom>
          <a:solidFill>
            <a:srgbClr val="FFFFFF"/>
          </a:solidFill>
          <a:ln/>
        </p:spPr>
        <p:txBody>
          <a:bodyPr/>
          <a:lstStyle/>
          <a:p>
            <a:endParaRPr/>
          </a:p>
        </p:txBody>
      </p:sp>
      <p:sp>
        <p:nvSpPr>
          <p:cNvPr id="98" name="Text 96"/>
          <p:cNvSpPr/>
          <p:nvPr/>
        </p:nvSpPr>
        <p:spPr>
          <a:xfrm>
            <a:off x="5392796" y="5029200"/>
            <a:ext cx="1315936" cy="310896"/>
          </a:xfrm>
          <a:prstGeom prst="rect">
            <a:avLst/>
          </a:prstGeom>
          <a:noFill/>
          <a:ln/>
        </p:spPr>
        <p:txBody>
          <a:bodyPr wrap="square" lIns="0" tIns="0" rIns="0" bIns="0" rtlCol="0" anchor="ctr"/>
          <a:lstStyle/>
          <a:p>
            <a:pPr marL="0" indent="0" algn="ctr">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/verkennen_data</a:t>
            </a:r>
            <a:endParaRPr lang="en-US" sz="900" dirty="0"/>
          </a:p>
        </p:txBody>
      </p:sp>
      <p:sp>
        <p:nvSpPr>
          <p:cNvPr id="99" name="Text 97"/>
          <p:cNvSpPr/>
          <p:nvPr/>
        </p:nvSpPr>
        <p:spPr>
          <a:xfrm>
            <a:off x="6772740" y="1719072"/>
            <a:ext cx="1983684"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1:07</a:t>
            </a:r>
            <a:endParaRPr lang="en-US" sz="1400" dirty="0"/>
          </a:p>
        </p:txBody>
      </p:sp>
      <p:sp>
        <p:nvSpPr>
          <p:cNvPr id="100" name="Shape 98"/>
          <p:cNvSpPr/>
          <p:nvPr/>
        </p:nvSpPr>
        <p:spPr>
          <a:xfrm>
            <a:off x="6772740" y="2103120"/>
            <a:ext cx="1983684" cy="914400"/>
          </a:xfrm>
          <a:prstGeom prst="rect">
            <a:avLst/>
          </a:prstGeom>
          <a:solidFill>
            <a:srgbClr val="3D68EC"/>
          </a:solidFill>
          <a:ln/>
        </p:spPr>
        <p:txBody>
          <a:bodyPr/>
          <a:lstStyle/>
          <a:p>
            <a:endParaRPr/>
          </a:p>
        </p:txBody>
      </p:sp>
      <p:sp>
        <p:nvSpPr>
          <p:cNvPr id="101" name="Text 99"/>
          <p:cNvSpPr/>
          <p:nvPr/>
        </p:nvSpPr>
        <p:spPr>
          <a:xfrm>
            <a:off x="6772740" y="2103120"/>
            <a:ext cx="1983684" cy="914400"/>
          </a:xfrm>
          <a:prstGeom prst="rect">
            <a:avLst/>
          </a:prstGeom>
          <a:noFill/>
          <a:ln/>
        </p:spPr>
        <p:txBody>
          <a:bodyPr wrap="square" lIns="0" tIns="0" rIns="0" bIns="0" rtlCol="0" anchor="ctr"/>
          <a:lstStyle/>
          <a:p>
            <a:pPr marL="0" indent="0" algn="ctr">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22 min</a:t>
            </a:r>
            <a:endParaRPr lang="en-US" sz="1800" dirty="0"/>
          </a:p>
        </p:txBody>
      </p:sp>
      <p:sp>
        <p:nvSpPr>
          <p:cNvPr id="102" name="Shape 100"/>
          <p:cNvSpPr/>
          <p:nvPr/>
        </p:nvSpPr>
        <p:spPr>
          <a:xfrm>
            <a:off x="6772740" y="3017520"/>
            <a:ext cx="1983684" cy="45720"/>
          </a:xfrm>
          <a:prstGeom prst="rect">
            <a:avLst/>
          </a:prstGeom>
          <a:solidFill>
            <a:srgbClr val="3D68EC"/>
          </a:solidFill>
          <a:ln/>
        </p:spPr>
        <p:txBody>
          <a:bodyPr/>
          <a:lstStyle/>
          <a:p>
            <a:endParaRPr/>
          </a:p>
        </p:txBody>
      </p:sp>
      <p:sp>
        <p:nvSpPr>
          <p:cNvPr id="103" name="Text 101"/>
          <p:cNvSpPr/>
          <p:nvPr/>
        </p:nvSpPr>
        <p:spPr>
          <a:xfrm>
            <a:off x="6791028" y="3291840"/>
            <a:ext cx="1892244"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2: dashboard bouwen</a:t>
            </a:r>
            <a:endParaRPr lang="en-US" sz="1100" dirty="0"/>
          </a:p>
        </p:txBody>
      </p:sp>
      <p:sp>
        <p:nvSpPr>
          <p:cNvPr id="104" name="Text 102"/>
          <p:cNvSpPr/>
          <p:nvPr/>
        </p:nvSpPr>
        <p:spPr>
          <a:xfrm>
            <a:off x="6791028" y="4160520"/>
            <a:ext cx="1892244"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Jullie prompten zelf, andere rol</a:t>
            </a:r>
            <a:endParaRPr lang="en-US" sz="1200" dirty="0"/>
          </a:p>
        </p:txBody>
      </p:sp>
      <p:sp>
        <p:nvSpPr>
          <p:cNvPr id="105" name="Text 103"/>
          <p:cNvSpPr/>
          <p:nvPr/>
        </p:nvSpPr>
        <p:spPr>
          <a:xfrm>
            <a:off x="8802144" y="1719072"/>
            <a:ext cx="1352512"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1:29</a:t>
            </a:r>
            <a:endParaRPr lang="en-US" sz="1400" dirty="0"/>
          </a:p>
        </p:txBody>
      </p:sp>
      <p:sp>
        <p:nvSpPr>
          <p:cNvPr id="106" name="Shape 104"/>
          <p:cNvSpPr/>
          <p:nvPr/>
        </p:nvSpPr>
        <p:spPr>
          <a:xfrm>
            <a:off x="8802144" y="2103120"/>
            <a:ext cx="1352512" cy="914400"/>
          </a:xfrm>
          <a:prstGeom prst="rect">
            <a:avLst/>
          </a:prstGeom>
          <a:solidFill>
            <a:srgbClr val="DD784B"/>
          </a:solidFill>
          <a:ln/>
        </p:spPr>
        <p:txBody>
          <a:bodyPr/>
          <a:lstStyle/>
          <a:p>
            <a:endParaRPr/>
          </a:p>
        </p:txBody>
      </p:sp>
      <p:sp>
        <p:nvSpPr>
          <p:cNvPr id="107" name="Text 105"/>
          <p:cNvSpPr/>
          <p:nvPr/>
        </p:nvSpPr>
        <p:spPr>
          <a:xfrm>
            <a:off x="8802144" y="2103120"/>
            <a:ext cx="1352512" cy="914400"/>
          </a:xfrm>
          <a:prstGeom prst="rect">
            <a:avLst/>
          </a:prstGeom>
          <a:noFill/>
          <a:ln/>
        </p:spPr>
        <p:txBody>
          <a:bodyPr wrap="square" lIns="0" tIns="0" rIns="0" bIns="0" rtlCol="0" anchor="ctr"/>
          <a:lstStyle/>
          <a:p>
            <a:pPr marL="0" indent="0" algn="ctr">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15 min</a:t>
            </a:r>
            <a:endParaRPr lang="en-US" sz="1800" dirty="0"/>
          </a:p>
        </p:txBody>
      </p:sp>
      <p:sp>
        <p:nvSpPr>
          <p:cNvPr id="108" name="Shape 106"/>
          <p:cNvSpPr/>
          <p:nvPr/>
        </p:nvSpPr>
        <p:spPr>
          <a:xfrm>
            <a:off x="8802144" y="3017520"/>
            <a:ext cx="1352512" cy="45720"/>
          </a:xfrm>
          <a:prstGeom prst="rect">
            <a:avLst/>
          </a:prstGeom>
          <a:solidFill>
            <a:srgbClr val="DD784B"/>
          </a:solidFill>
          <a:ln/>
        </p:spPr>
        <p:txBody>
          <a:bodyPr/>
          <a:lstStyle/>
          <a:p>
            <a:endParaRPr/>
          </a:p>
        </p:txBody>
      </p:sp>
      <p:sp>
        <p:nvSpPr>
          <p:cNvPr id="109" name="Text 107"/>
          <p:cNvSpPr/>
          <p:nvPr/>
        </p:nvSpPr>
        <p:spPr>
          <a:xfrm>
            <a:off x="8820432" y="3291840"/>
            <a:ext cx="1261072"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Spiegelmoment 2</a:t>
            </a:r>
            <a:endParaRPr lang="en-US" sz="1100" dirty="0"/>
          </a:p>
        </p:txBody>
      </p:sp>
      <p:sp>
        <p:nvSpPr>
          <p:cNvPr id="110" name="Text 108"/>
          <p:cNvSpPr/>
          <p:nvPr/>
        </p:nvSpPr>
        <p:spPr>
          <a:xfrm>
            <a:off x="8820432" y="4160520"/>
            <a:ext cx="1261072"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Skill live: kijk wat erin zit</a:t>
            </a:r>
            <a:endParaRPr lang="en-US" sz="1200" dirty="0"/>
          </a:p>
        </p:txBody>
      </p:sp>
      <p:sp>
        <p:nvSpPr>
          <p:cNvPr id="111" name="Shape 109"/>
          <p:cNvSpPr/>
          <p:nvPr/>
        </p:nvSpPr>
        <p:spPr>
          <a:xfrm>
            <a:off x="8820432" y="4999200"/>
            <a:ext cx="1315936" cy="480000"/>
          </a:xfrm>
          <a:prstGeom prst="roundRect">
            <a:avLst>
              <a:gd name="adj" fmla="val 147059"/>
            </a:avLst>
          </a:prstGeom>
          <a:solidFill>
            <a:srgbClr val="FFFFFF"/>
          </a:solidFill>
          <a:ln/>
        </p:spPr>
        <p:txBody>
          <a:bodyPr/>
          <a:lstStyle/>
          <a:p>
            <a:endParaRPr/>
          </a:p>
        </p:txBody>
      </p:sp>
      <p:sp>
        <p:nvSpPr>
          <p:cNvPr id="112" name="Text 110"/>
          <p:cNvSpPr/>
          <p:nvPr/>
        </p:nvSpPr>
        <p:spPr>
          <a:xfrm>
            <a:off x="8820432" y="5029200"/>
            <a:ext cx="1315936" cy="440000"/>
          </a:xfrm>
          <a:prstGeom prst="rect">
            <a:avLst/>
          </a:prstGeom>
          <a:noFill/>
          <a:ln/>
        </p:spPr>
        <p:txBody>
          <a:bodyPr wrap="square" lIns="0" tIns="0" rIns="0" bIns="0" rtlCol="0" anchor="ctr"/>
          <a:lstStyle/>
          <a:p>
            <a:pPr marL="0" indent="0" algn="ctr">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/schets_dashboard</a:t>
            </a:r>
            <a:endParaRPr lang="en-US" sz="900" dirty="0"/>
          </a:p>
          <a:p>
            <a:pPr marL="0" indent="0" algn="ctr">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/bouwen_dashboard</a:t>
            </a:r>
            <a:endParaRPr lang="en-US" sz="900" dirty="0"/>
          </a:p>
        </p:txBody>
      </p:sp>
      <p:sp>
        <p:nvSpPr>
          <p:cNvPr id="113" name="Text 111"/>
          <p:cNvSpPr/>
          <p:nvPr/>
        </p:nvSpPr>
        <p:spPr>
          <a:xfrm>
            <a:off x="10200376" y="1719072"/>
            <a:ext cx="1442679"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1:44</a:t>
            </a:r>
            <a:endParaRPr lang="en-US" sz="1400" dirty="0"/>
          </a:p>
        </p:txBody>
      </p:sp>
      <p:sp>
        <p:nvSpPr>
          <p:cNvPr id="114" name="Shape 112"/>
          <p:cNvSpPr/>
          <p:nvPr/>
        </p:nvSpPr>
        <p:spPr>
          <a:xfrm>
            <a:off x="10200376" y="2103120"/>
            <a:ext cx="1442679" cy="914400"/>
          </a:xfrm>
          <a:prstGeom prst="rect">
            <a:avLst/>
          </a:prstGeom>
          <a:solidFill>
            <a:srgbClr val="00AF81"/>
          </a:solidFill>
          <a:ln/>
        </p:spPr>
        <p:txBody>
          <a:bodyPr/>
          <a:lstStyle/>
          <a:p>
            <a:endParaRPr/>
          </a:p>
        </p:txBody>
      </p:sp>
      <p:sp>
        <p:nvSpPr>
          <p:cNvPr id="115" name="Text 113"/>
          <p:cNvSpPr/>
          <p:nvPr/>
        </p:nvSpPr>
        <p:spPr>
          <a:xfrm>
            <a:off x="10200376" y="2103120"/>
            <a:ext cx="1442679" cy="914400"/>
          </a:xfrm>
          <a:prstGeom prst="rect">
            <a:avLst/>
          </a:prstGeom>
          <a:noFill/>
          <a:ln/>
        </p:spPr>
        <p:txBody>
          <a:bodyPr wrap="square" lIns="0" tIns="0" rIns="0" bIns="0" rtlCol="0" anchor="ctr"/>
          <a:lstStyle/>
          <a:p>
            <a:pPr marL="0" indent="0" algn="ctr">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16 min</a:t>
            </a:r>
            <a:endParaRPr lang="en-US" sz="1800" dirty="0"/>
          </a:p>
        </p:txBody>
      </p:sp>
      <p:sp>
        <p:nvSpPr>
          <p:cNvPr id="116" name="Shape 114"/>
          <p:cNvSpPr/>
          <p:nvPr/>
        </p:nvSpPr>
        <p:spPr>
          <a:xfrm>
            <a:off x="10200376" y="3017520"/>
            <a:ext cx="1442679" cy="45720"/>
          </a:xfrm>
          <a:prstGeom prst="rect">
            <a:avLst/>
          </a:prstGeom>
          <a:solidFill>
            <a:srgbClr val="00AF81"/>
          </a:solidFill>
          <a:ln/>
        </p:spPr>
        <p:txBody>
          <a:bodyPr/>
          <a:lstStyle/>
          <a:p>
            <a:endParaRPr/>
          </a:p>
        </p:txBody>
      </p:sp>
      <p:sp>
        <p:nvSpPr>
          <p:cNvPr id="117" name="Text 115"/>
          <p:cNvSpPr/>
          <p:nvPr/>
        </p:nvSpPr>
        <p:spPr>
          <a:xfrm>
            <a:off x="10218664" y="3291840"/>
            <a:ext cx="1351239"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Evaluatie en afsluiting</a:t>
            </a:r>
            <a:endParaRPr lang="en-US" sz="1100" dirty="0"/>
          </a:p>
        </p:txBody>
      </p:sp>
      <p:sp>
        <p:nvSpPr>
          <p:cNvPr id="118" name="Text 116"/>
          <p:cNvSpPr/>
          <p:nvPr/>
        </p:nvSpPr>
        <p:spPr>
          <a:xfrm>
            <a:off x="10218664" y="4160520"/>
            <a:ext cx="1351239"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/review-reflect en een rondje</a:t>
            </a:r>
            <a:endParaRPr lang="en-US" sz="1200" dirty="0"/>
          </a:p>
        </p:txBody>
      </p:sp>
      <p:sp>
        <p:nvSpPr>
          <p:cNvPr id="119" name="Text 117"/>
          <p:cNvSpPr/>
          <p:nvPr/>
        </p:nvSpPr>
        <p:spPr>
          <a:xfrm>
            <a:off x="10728655" y="1719072"/>
            <a:ext cx="914400" cy="274320"/>
          </a:xfrm>
          <a:prstGeom prst="rect">
            <a:avLst/>
          </a:prstGeom>
          <a:noFill/>
          <a:ln/>
        </p:spPr>
        <p:txBody>
          <a:bodyPr wrap="square" lIns="0" tIns="0" rIns="0" bIns="0" rtlCol="0" anchor="t"/>
          <a:lstStyle/>
          <a:p>
            <a:pPr marL="0" indent="0" algn="r">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2:00</a:t>
            </a:r>
            <a:endParaRPr lang="en-US" sz="1400" dirty="0"/>
          </a:p>
        </p:txBody>
      </p:sp>
      <p:sp>
        <p:nvSpPr>
          <p:cNvPr id="120" name="Shape 118"/>
          <p:cNvSpPr/>
          <p:nvPr/>
        </p:nvSpPr>
        <p:spPr>
          <a:xfrm>
            <a:off x="548640" y="6025896"/>
            <a:ext cx="201168" cy="201168"/>
          </a:xfrm>
          <a:prstGeom prst="rect">
            <a:avLst/>
          </a:prstGeom>
          <a:solidFill>
            <a:srgbClr val="F4D74B"/>
          </a:solidFill>
          <a:ln/>
        </p:spPr>
        <p:txBody>
          <a:bodyPr/>
          <a:lstStyle/>
          <a:p>
            <a:endParaRPr/>
          </a:p>
        </p:txBody>
      </p:sp>
      <p:sp>
        <p:nvSpPr>
          <p:cNvPr id="121" name="Text 119"/>
          <p:cNvSpPr/>
          <p:nvPr/>
        </p:nvSpPr>
        <p:spPr>
          <a:xfrm>
            <a:off x="841248"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Uitleg</a:t>
            </a:r>
            <a:endParaRPr lang="en-US" sz="1200" dirty="0"/>
          </a:p>
        </p:txBody>
      </p:sp>
      <p:sp>
        <p:nvSpPr>
          <p:cNvPr id="122" name="Shape 120"/>
          <p:cNvSpPr/>
          <p:nvPr/>
        </p:nvSpPr>
        <p:spPr>
          <a:xfrm>
            <a:off x="1901952" y="6025896"/>
            <a:ext cx="201168" cy="201168"/>
          </a:xfrm>
          <a:prstGeom prst="rect">
            <a:avLst/>
          </a:prstGeom>
          <a:solidFill>
            <a:srgbClr val="3D68EC"/>
          </a:solidFill>
          <a:ln/>
        </p:spPr>
        <p:txBody>
          <a:bodyPr/>
          <a:lstStyle/>
          <a:p>
            <a:endParaRPr/>
          </a:p>
        </p:txBody>
      </p:sp>
      <p:sp>
        <p:nvSpPr>
          <p:cNvPr id="123" name="Text 121"/>
          <p:cNvSpPr/>
          <p:nvPr/>
        </p:nvSpPr>
        <p:spPr>
          <a:xfrm>
            <a:off x="2194560"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Werken in tweetallen</a:t>
            </a:r>
            <a:endParaRPr lang="en-US" sz="1200" dirty="0"/>
          </a:p>
        </p:txBody>
      </p:sp>
      <p:sp>
        <p:nvSpPr>
          <p:cNvPr id="124" name="Shape 122"/>
          <p:cNvSpPr/>
          <p:nvPr/>
        </p:nvSpPr>
        <p:spPr>
          <a:xfrm>
            <a:off x="4663440" y="6025896"/>
            <a:ext cx="201168" cy="201168"/>
          </a:xfrm>
          <a:prstGeom prst="rect">
            <a:avLst/>
          </a:prstGeom>
          <a:solidFill>
            <a:srgbClr val="DD784B"/>
          </a:solidFill>
          <a:ln/>
        </p:spPr>
        <p:txBody>
          <a:bodyPr/>
          <a:lstStyle/>
          <a:p>
            <a:endParaRPr/>
          </a:p>
        </p:txBody>
      </p:sp>
      <p:sp>
        <p:nvSpPr>
          <p:cNvPr id="125" name="Text 123"/>
          <p:cNvSpPr/>
          <p:nvPr/>
        </p:nvSpPr>
        <p:spPr>
          <a:xfrm>
            <a:off x="4956048"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Spiegelmoment</a:t>
            </a:r>
            <a:endParaRPr lang="en-US" sz="1200" dirty="0"/>
          </a:p>
        </p:txBody>
      </p:sp>
      <p:sp>
        <p:nvSpPr>
          <p:cNvPr id="126" name="Shape 124"/>
          <p:cNvSpPr/>
          <p:nvPr/>
        </p:nvSpPr>
        <p:spPr>
          <a:xfrm>
            <a:off x="6720840" y="6025896"/>
            <a:ext cx="201168" cy="201168"/>
          </a:xfrm>
          <a:prstGeom prst="rect">
            <a:avLst/>
          </a:prstGeom>
          <a:solidFill>
            <a:srgbClr val="00AF81"/>
          </a:solidFill>
          <a:ln/>
        </p:spPr>
        <p:txBody>
          <a:bodyPr/>
          <a:lstStyle/>
          <a:p>
            <a:endParaRPr/>
          </a:p>
        </p:txBody>
      </p:sp>
      <p:sp>
        <p:nvSpPr>
          <p:cNvPr id="127" name="Text 125"/>
          <p:cNvSpPr/>
          <p:nvPr/>
        </p:nvSpPr>
        <p:spPr>
          <a:xfrm>
            <a:off x="7013448"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Evaluatie en afsluiting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Jij stuurt, de agent programmeert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F4D74B"/>
                </a:solidFill>
                <a:latin typeface="Cooper Lt BT" pitchFamily="34" charset="0"/>
                <a:ea typeface="Cooper Lt BT" pitchFamily="34" charset="-122"/>
                <a:cs typeface="Cooper Lt BT" pitchFamily="34" charset="-120"/>
              </a:rPr>
              <a:t>Er is geen goed of fout dashboard, alleen keuzes die je kunt uitleggen.</a:t>
            </a:r>
            <a:endParaRPr lang="en-US" sz="2200" dirty="0"/>
          </a:p>
        </p:txBody>
      </p:sp>
      <p:pic>
        <p:nvPicPr>
          <p:cNvPr id="74" name="Image 0" descr="exports\261005_workshop_rad_uitvoering\img\kunstmatigeintelligentie.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assisteert: de mens doet het werk</a:t>
            </a:r>
            <a:endParaRPr lang="en-US" sz="3100" dirty="0"/>
          </a:p>
        </p:txBody>
      </p:sp>
      <p:pic>
        <p:nvPicPr>
          <p:cNvPr id="73" name="Image 0" descr="Lijngrafiek: het aandeel taken waarbij AI assisteert stijgt tot november 2025 en daalt daarna naar vrijwel nul in augustus 2026"/>
          <p:cNvPicPr>
            <a:picLocks noChangeAspect="1"/>
          </p:cNvPicPr>
          <p:nvPr/>
        </p:nvPicPr>
        <p:blipFill>
          <a:blip r:embed="rId3"/>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vraagt AI om een query of formule voor uitvalcijfers.</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laat AI code schrijven of een foutmelding uitleggen.</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Beleidsmedewerker </a:t>
            </a:r>
            <a:r>
              <a:rPr lang="en-US" sz="1800" dirty="0">
                <a:solidFill>
                  <a:srgbClr val="000000"/>
                </a:solidFill>
                <a:latin typeface="General Sans" pitchFamily="34" charset="0"/>
                <a:ea typeface="General Sans" pitchFamily="34" charset="-122"/>
                <a:cs typeface="General Sans" pitchFamily="34" charset="-120"/>
              </a:rPr>
              <a:t>laat AI een alinea herschrijven of een notitie samenvatten.</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werkt samen: mens en AI als duo</a:t>
            </a:r>
            <a:endParaRPr lang="en-US" sz="3100" dirty="0"/>
          </a:p>
        </p:txBody>
      </p:sp>
      <p:pic>
        <p:nvPicPr>
          <p:cNvPr id="73" name="Image 0" descr="Lijngrafiek: het aandeel taken waarbij AI samenwerkt stijgt vanaf november 2025 en wordt in maart 2026 de grootste groep"/>
          <p:cNvPicPr>
            <a:picLocks noChangeAspect="1"/>
          </p:cNvPicPr>
          <p:nvPr/>
        </p:nvPicPr>
        <p:blipFill>
          <a:blip r:embed="rId3"/>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AI maakt grafieken van uitval per sector, de analist kiest en controleert.</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AI bouwt en test een uitvalmodel mee, de data scientist kiest de aanpak.</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Beleidsmedewerker </a:t>
            </a:r>
            <a:r>
              <a:rPr lang="en-US" sz="1800" dirty="0">
                <a:solidFill>
                  <a:srgbClr val="000000"/>
                </a:solidFill>
                <a:latin typeface="General Sans" pitchFamily="34" charset="0"/>
                <a:ea typeface="General Sans" pitchFamily="34" charset="-122"/>
                <a:cs typeface="General Sans" pitchFamily="34" charset="-120"/>
              </a:rPr>
              <a:t>AI schrijft een conceptnotitie, de medewerker bepaalt de lijn.</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bouwt: jij geeft de opdracht en keurt goed</a:t>
            </a:r>
            <a:endParaRPr lang="en-US" sz="3100" dirty="0"/>
          </a:p>
        </p:txBody>
      </p:sp>
      <p:pic>
        <p:nvPicPr>
          <p:cNvPr id="73" name="Image 0" descr="Lijngrafiek: het aandeel taken waarbij AI zelf bouwt groeit vanaf maart 2026 tot ongeveer een kwart in augustus 2026"/>
          <p:cNvPicPr>
            <a:picLocks noChangeAspect="1"/>
          </p:cNvPicPr>
          <p:nvPr/>
        </p:nvPicPr>
        <p:blipFill>
          <a:blip r:embed="rId3"/>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"Welke eerstejaars stoppen binnen een jaar?" AI rekent en bouwt het dashboard.</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"Voorspel uitval." AI doet het traject van data tot evaluatie.</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Beleidsmedewerker </a:t>
            </a:r>
            <a:r>
              <a:rPr lang="en-US" sz="1800" dirty="0">
                <a:solidFill>
                  <a:srgbClr val="000000"/>
                </a:solidFill>
                <a:latin typeface="General Sans" pitchFamily="34" charset="0"/>
                <a:ea typeface="General Sans" pitchFamily="34" charset="-122"/>
                <a:cs typeface="General Sans" pitchFamily="34" charset="-120"/>
              </a:rPr>
              <a:t>"Advies over uitval." AI onderzoekt en schrijft.</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Eerst synthetisch, dan echte data</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txBody>
          <a:bodyPr/>
          <a:lstStyle/>
          <a:p>
            <a:endParaRPr/>
          </a:p>
        </p:txBody>
      </p:sp>
      <p:sp>
        <p:nvSpPr>
          <p:cNvPr id="74" name="Shape 72"/>
          <p:cNvSpPr/>
          <p:nvPr/>
        </p:nvSpPr>
        <p:spPr>
          <a:xfrm>
            <a:off x="822960" y="1719072"/>
            <a:ext cx="2966618" cy="402336"/>
          </a:xfrm>
          <a:prstGeom prst="roundRect">
            <a:avLst>
              <a:gd name="adj" fmla="val 113636"/>
            </a:avLst>
          </a:prstGeom>
          <a:solidFill>
            <a:srgbClr val="3D68EC"/>
          </a:solidFill>
          <a:ln/>
        </p:spPr>
        <p:txBody>
          <a:bodyPr/>
          <a:lstStyle/>
          <a:p>
            <a:endParaRPr/>
          </a:p>
        </p:txBody>
      </p:sp>
      <p:sp>
        <p:nvSpPr>
          <p:cNvPr id="75" name="Text 73"/>
          <p:cNvSpPr/>
          <p:nvPr/>
        </p:nvSpPr>
        <p:spPr>
          <a:xfrm>
            <a:off x="914400"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Testomgeving</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Synthetische data</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Zelfde kolommen en codes, geen echte personen.</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data/demodata_1cho.csv</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txBody>
          <a:bodyPr/>
          <a:lstStyle/>
          <a:p>
            <a:endParaRPr/>
          </a:p>
        </p:txBody>
      </p:sp>
      <p:sp>
        <p:nvSpPr>
          <p:cNvPr id="81" name="Shape 79"/>
          <p:cNvSpPr/>
          <p:nvPr/>
        </p:nvSpPr>
        <p:spPr>
          <a:xfrm>
            <a:off x="4612538" y="1719072"/>
            <a:ext cx="2966618" cy="402336"/>
          </a:xfrm>
          <a:prstGeom prst="roundRect">
            <a:avLst>
              <a:gd name="adj" fmla="val 113636"/>
            </a:avLst>
          </a:prstGeom>
          <a:solidFill>
            <a:srgbClr val="3D68EC"/>
          </a:solidFill>
          <a:ln/>
        </p:spPr>
        <p:txBody>
          <a:bodyPr/>
          <a:lstStyle/>
          <a:p>
            <a:endParaRPr/>
          </a:p>
        </p:txBody>
      </p:sp>
      <p:sp>
        <p:nvSpPr>
          <p:cNvPr id="82" name="Text 80"/>
          <p:cNvSpPr/>
          <p:nvPr/>
        </p:nvSpPr>
        <p:spPr>
          <a:xfrm>
            <a:off x="4703978"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Testomgeving</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Bouwen met de agent</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Mag naar het taalmodel, geen AVG-toets nodig.</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Claude Code in VS Code</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txBody>
          <a:bodyPr/>
          <a:lstStyle/>
          <a:p>
            <a:endParaRPr/>
          </a:p>
        </p:txBody>
      </p:sp>
      <p:sp>
        <p:nvSpPr>
          <p:cNvPr id="88" name="Shape 86"/>
          <p:cNvSpPr/>
          <p:nvPr/>
        </p:nvSpPr>
        <p:spPr>
          <a:xfrm>
            <a:off x="8402117" y="1719072"/>
            <a:ext cx="2966618" cy="402336"/>
          </a:xfrm>
          <a:prstGeom prst="roundRect">
            <a:avLst>
              <a:gd name="adj" fmla="val 113636"/>
            </a:avLst>
          </a:prstGeom>
          <a:solidFill>
            <a:srgbClr val="3D68EC"/>
          </a:solidFill>
          <a:ln/>
        </p:spPr>
        <p:txBody>
          <a:bodyPr/>
          <a:lstStyle/>
          <a:p>
            <a:endParaRPr/>
          </a:p>
        </p:txBody>
      </p:sp>
      <p:sp>
        <p:nvSpPr>
          <p:cNvPr id="89" name="Text 87"/>
          <p:cNvSpPr/>
          <p:nvPr/>
        </p:nvSpPr>
        <p:spPr>
          <a:xfrm>
            <a:off x="8493557"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Productie</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Echte instellingsdata</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Dezelfde code draait hier. De agent komt hier niet.</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Bij de instelling zelf</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Eigen data gebruiken valt buiten deze workshop. Dat kun je in je eigen instelling doen.</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bg>
      <p:bgPr>
        <a:solidFill>
          <a:srgbClr val="FAEAEA"/>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Het is demodata: veilig om mee te oefenen</a:t>
            </a:r>
            <a:endParaRPr lang="en-US" sz="3200" dirty="0"/>
          </a:p>
        </p:txBody>
      </p:sp>
      <p:sp>
        <p:nvSpPr>
          <p:cNvPr id="73" name="Shape 71"/>
          <p:cNvSpPr/>
          <p:nvPr/>
        </p:nvSpPr>
        <p:spPr>
          <a:xfrm>
            <a:off x="548640" y="1572768"/>
            <a:ext cx="201168" cy="201168"/>
          </a:xfrm>
          <a:prstGeom prst="ellipse">
            <a:avLst/>
          </a:prstGeom>
          <a:solidFill>
            <a:srgbClr val="3D68EC"/>
          </a:solidFill>
          <a:ln/>
        </p:spPr>
        <p:txBody>
          <a:bodyPr/>
          <a:lstStyle/>
          <a:p>
            <a:endParaRPr/>
          </a:p>
        </p:txBody>
      </p:sp>
      <p:sp>
        <p:nvSpPr>
          <p:cNvPr id="74" name="Text 72"/>
          <p:cNvSpPr/>
          <p:nvPr/>
        </p:nvSpPr>
        <p:spPr>
          <a:xfrm>
            <a:off x="960120" y="14630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Fictief:</a:t>
            </a:r>
            <a:r>
              <a:rPr lang="en-US" sz="1900" dirty="0">
                <a:solidFill>
                  <a:srgbClr val="000000"/>
                </a:solidFill>
                <a:latin typeface="General Sans" pitchFamily="34" charset="0"/>
                <a:ea typeface="General Sans" pitchFamily="34" charset="-122"/>
                <a:cs typeface="General Sans" pitchFamily="34" charset="-120"/>
              </a:rPr>
              <a:t> zelfde kolommen en codes als 1CHO, maar geen echte personen</a:t>
            </a:r>
            <a:endParaRPr lang="en-US" sz="1900" dirty="0"/>
          </a:p>
        </p:txBody>
      </p:sp>
      <p:sp>
        <p:nvSpPr>
          <p:cNvPr id="75" name="Shape 73"/>
          <p:cNvSpPr/>
          <p:nvPr/>
        </p:nvSpPr>
        <p:spPr>
          <a:xfrm>
            <a:off x="548640" y="2487168"/>
            <a:ext cx="201168" cy="201168"/>
          </a:xfrm>
          <a:prstGeom prst="ellipse">
            <a:avLst/>
          </a:prstGeom>
          <a:solidFill>
            <a:srgbClr val="DD784B"/>
          </a:solidFill>
          <a:ln/>
        </p:spPr>
        <p:txBody>
          <a:bodyPr/>
          <a:lstStyle/>
          <a:p>
            <a:endParaRPr/>
          </a:p>
        </p:txBody>
      </p:sp>
      <p:sp>
        <p:nvSpPr>
          <p:cNvPr id="76" name="Text 74"/>
          <p:cNvSpPr/>
          <p:nvPr/>
        </p:nvSpPr>
        <p:spPr>
          <a:xfrm>
            <a:off x="960120" y="23774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Mag de agent in:</a:t>
            </a:r>
            <a:r>
              <a:rPr lang="en-US" sz="1900" dirty="0">
                <a:solidFill>
                  <a:srgbClr val="000000"/>
                </a:solidFill>
                <a:latin typeface="General Sans" pitchFamily="34" charset="0"/>
                <a:ea typeface="General Sans" pitchFamily="34" charset="-122"/>
                <a:cs typeface="General Sans" pitchFamily="34" charset="-120"/>
              </a:rPr>
              <a:t> geen AVG-toets of verwerkersovereenkomst nodig</a:t>
            </a:r>
            <a:endParaRPr lang="en-US" sz="1900" dirty="0"/>
          </a:p>
        </p:txBody>
      </p:sp>
      <p:sp>
        <p:nvSpPr>
          <p:cNvPr id="77" name="Shape 75"/>
          <p:cNvSpPr/>
          <p:nvPr/>
        </p:nvSpPr>
        <p:spPr>
          <a:xfrm>
            <a:off x="548640" y="3401568"/>
            <a:ext cx="201168" cy="201168"/>
          </a:xfrm>
          <a:prstGeom prst="ellipse">
            <a:avLst/>
          </a:prstGeom>
          <a:solidFill>
            <a:srgbClr val="00AF81"/>
          </a:solidFill>
          <a:ln/>
        </p:spPr>
        <p:txBody>
          <a:bodyPr/>
          <a:lstStyle/>
          <a:p>
            <a:endParaRPr/>
          </a:p>
        </p:txBody>
      </p:sp>
      <p:sp>
        <p:nvSpPr>
          <p:cNvPr id="78" name="Text 76"/>
          <p:cNvSpPr/>
          <p:nvPr/>
        </p:nvSpPr>
        <p:spPr>
          <a:xfrm>
            <a:off x="960120" y="32918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Realistisch:</a:t>
            </a:r>
            <a:r>
              <a:rPr lang="en-US" sz="1900" dirty="0">
                <a:solidFill>
                  <a:srgbClr val="000000"/>
                </a:solidFill>
                <a:latin typeface="General Sans" pitchFamily="34" charset="0"/>
                <a:ea typeface="General Sans" pitchFamily="34" charset="-122"/>
                <a:cs typeface="General Sans" pitchFamily="34" charset="-120"/>
              </a:rPr>
              <a:t> gecontroleerd tegen de 1CHO-metadata en de CROHO-codes</a:t>
            </a:r>
            <a:endParaRPr lang="en-US" sz="1900" dirty="0"/>
          </a:p>
        </p:txBody>
      </p:sp>
      <p:sp>
        <p:nvSpPr>
          <p:cNvPr id="79" name="Shape 77"/>
          <p:cNvSpPr/>
          <p:nvPr/>
        </p:nvSpPr>
        <p:spPr>
          <a:xfrm>
            <a:off x="548640" y="4315968"/>
            <a:ext cx="201168" cy="201168"/>
          </a:xfrm>
          <a:prstGeom prst="ellipse">
            <a:avLst/>
          </a:prstGeom>
          <a:solidFill>
            <a:srgbClr val="F4D74B"/>
          </a:solidFill>
          <a:ln/>
        </p:spPr>
        <p:txBody>
          <a:bodyPr/>
          <a:lstStyle/>
          <a:p>
            <a:endParaRPr/>
          </a:p>
        </p:txBody>
      </p:sp>
      <p:sp>
        <p:nvSpPr>
          <p:cNvPr id="80" name="Text 78"/>
          <p:cNvSpPr/>
          <p:nvPr/>
        </p:nvSpPr>
        <p:spPr>
          <a:xfrm>
            <a:off x="960120" y="42062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Alleen oefenen:</a:t>
            </a:r>
            <a:r>
              <a:rPr lang="en-US" sz="1900" dirty="0">
                <a:solidFill>
                  <a:srgbClr val="000000"/>
                </a:solidFill>
                <a:latin typeface="General Sans" pitchFamily="34" charset="0"/>
                <a:ea typeface="General Sans" pitchFamily="34" charset="-122"/>
                <a:cs typeface="General Sans" pitchFamily="34" charset="-120"/>
              </a:rPr>
              <a:t> de kansen zijn onze keuze, geen werkelijkheid</a:t>
            </a:r>
            <a:endParaRPr lang="en-US" sz="1900" dirty="0"/>
          </a:p>
        </p:txBody>
      </p:sp>
      <p:pic>
        <p:nvPicPr>
          <p:cNvPr id="81" name="Image 0" descr="exports\261005_workshop_rad_uitvoering\img\Slot.png"/>
          <p:cNvPicPr>
            <a:picLocks noChangeAspect="1"/>
          </p:cNvPicPr>
          <p:nvPr/>
        </p:nvPicPr>
        <p:blipFill>
          <a:blip r:embed="rId3"/>
          <a:stretch>
            <a:fillRect/>
          </a:stretch>
        </p:blipFill>
        <p:spPr>
          <a:xfrm>
            <a:off x="7498080" y="1417320"/>
            <a:ext cx="4206240" cy="42062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CF5D4"/>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Kies je casus: drie vragen, één dataset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Uitval</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Wie stopt na jaar 1?</a:t>
            </a:r>
            <a:endParaRPr lang="en-US" sz="23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Welke eerstejaars stoppen binnen een jaar, en verschilt dat per sector en opleidingsvorm?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txBody>
          <a:bodyPr/>
          <a:lstStyle/>
          <a:p>
            <a:endParaRPr/>
          </a:p>
        </p:txBody>
      </p:sp>
      <p:sp>
        <p:nvSpPr>
          <p:cNvPr id="81" name="Shape 79"/>
          <p:cNvSpPr/>
          <p:nvPr/>
        </p:nvSpPr>
        <p:spPr>
          <a:xfrm>
            <a:off x="4612538" y="1645920"/>
            <a:ext cx="548640" cy="548640"/>
          </a:xfrm>
          <a:prstGeom prst="ellipse">
            <a:avLst/>
          </a:prstGeom>
          <a:solidFill>
            <a:srgbClr val="F4D9DC"/>
          </a:solidFill>
          <a:ln/>
        </p:spPr>
        <p:txBody>
          <a:bodyPr/>
          <a:lstStyle/>
          <a:p>
            <a:endParaRPr/>
          </a:p>
        </p:txBody>
      </p:sp>
      <p:sp>
        <p:nvSpPr>
          <p:cNvPr id="82" name="Text 80"/>
          <p:cNvSpPr/>
          <p:nvPr/>
        </p:nvSpPr>
        <p:spPr>
          <a:xfrm>
            <a:off x="461253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B</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txBody>
          <a:bodyPr/>
          <a:lstStyle/>
          <a:p>
            <a:endParaRPr/>
          </a:p>
        </p:txBody>
      </p:sp>
      <p:sp>
        <p:nvSpPr>
          <p:cNvPr id="84" name="Text 82"/>
          <p:cNvSpPr/>
          <p:nvPr/>
        </p:nvSpPr>
        <p:spPr>
          <a:xfrm>
            <a:off x="5389778"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Vooropleiding</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Mbo of havo?</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Vallen eerstejaars met een mbo-diploma vaker uit dan havisten, en verschilt dat per sector?</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txBody>
          <a:bodyPr/>
          <a:lstStyle/>
          <a:p>
            <a:endParaRPr/>
          </a:p>
        </p:txBody>
      </p:sp>
      <p:sp>
        <p:nvSpPr>
          <p:cNvPr id="88" name="Shape 86"/>
          <p:cNvSpPr/>
          <p:nvPr/>
        </p:nvSpPr>
        <p:spPr>
          <a:xfrm>
            <a:off x="8402117" y="1645920"/>
            <a:ext cx="548640" cy="548640"/>
          </a:xfrm>
          <a:prstGeom prst="ellipse">
            <a:avLst/>
          </a:prstGeom>
          <a:solidFill>
            <a:srgbClr val="F4D9DC"/>
          </a:solidFill>
          <a:ln/>
        </p:spPr>
        <p:txBody>
          <a:bodyPr/>
          <a:lstStyle/>
          <a:p>
            <a:endParaRPr/>
          </a:p>
        </p:txBody>
      </p:sp>
      <p:sp>
        <p:nvSpPr>
          <p:cNvPr id="89" name="Text 87"/>
          <p:cNvSpPr/>
          <p:nvPr/>
        </p:nvSpPr>
        <p:spPr>
          <a:xfrm>
            <a:off x="8402117"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C</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txBody>
          <a:bodyPr/>
          <a:lstStyle/>
          <a:p>
            <a:endParaRPr/>
          </a:p>
        </p:txBody>
      </p:sp>
      <p:sp>
        <p:nvSpPr>
          <p:cNvPr id="91" name="Text 89"/>
          <p:cNvSpPr/>
          <p:nvPr/>
        </p:nvSpPr>
        <p:spPr>
          <a:xfrm>
            <a:off x="9179357"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Studiesucces</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marL="0" indent="0" algn="l">
              <a:lnSpc>
                <a:spcPct val="105000"/>
              </a:lnSpc>
              <a:buNone/>
            </a:pPr>
            <a:r>
              <a:rPr lang="en-US" sz="2400" dirty="0">
                <a:solidFill>
                  <a:srgbClr val="000000"/>
                </a:solidFill>
                <a:latin typeface="General Sans Semibold" pitchFamily="34" charset="0"/>
                <a:ea typeface="General Sans Semibold" pitchFamily="34" charset="-122"/>
                <a:cs typeface="General Sans Semibold" pitchFamily="34" charset="-120"/>
              </a:rPr>
              <a:t>Wie haalt het diploma?</a:t>
            </a:r>
            <a:endParaRPr lang="en-US" sz="24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Hoeveel studenten halen hun bachelor binnen vijf jaar, per sector of vestiging?</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marL="0" indent="0" algn="l">
              <a:lnSpc>
                <a:spcPct val="105000"/>
              </a:lnSpc>
              <a:buNone/>
            </a:pPr>
            <a:r>
              <a:rPr lang="en-US" sz="1700" dirty="0">
                <a:solidFill>
                  <a:srgbClr val="000000"/>
                </a:solidFill>
                <a:latin typeface="General Sans" pitchFamily="34" charset="0"/>
                <a:ea typeface="General Sans" pitchFamily="34" charset="-122"/>
                <a:cs typeface="General Sans" pitchFamily="34" charset="-120"/>
              </a:rPr>
              <a:t>Alle drie in data/demodata_1cho.csv: fictieve studenten, 2012-2023. Elke vraag levert één dashboard met de conclusie als titel. Wij laten vraag A zien.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Werk in tweetallen, wissel per ronde</a:t>
            </a:r>
            <a:endParaRPr lang="en-US" sz="3400" dirty="0"/>
          </a:p>
        </p:txBody>
      </p:sp>
      <p:sp>
        <p:nvSpPr>
          <p:cNvPr id="73" name="Shape 71"/>
          <p:cNvSpPr/>
          <p:nvPr/>
        </p:nvSpPr>
        <p:spPr>
          <a:xfrm>
            <a:off x="548640" y="1572768"/>
            <a:ext cx="201168" cy="201168"/>
          </a:xfrm>
          <a:prstGeom prst="ellipse">
            <a:avLst/>
          </a:prstGeom>
          <a:solidFill>
            <a:srgbClr val="3D68EC"/>
          </a:solidFill>
          <a:ln/>
        </p:spPr>
        <p:txBody>
          <a:bodyPr/>
          <a:lstStyle/>
          <a:p>
            <a:endParaRPr/>
          </a:p>
        </p:txBody>
      </p:sp>
      <p:sp>
        <p:nvSpPr>
          <p:cNvPr id="74" name="Text 72"/>
          <p:cNvSpPr/>
          <p:nvPr/>
        </p:nvSpPr>
        <p:spPr>
          <a:xfrm>
            <a:off x="960120" y="14630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Prompter:</a:t>
            </a:r>
            <a:r>
              <a:rPr lang="en-US" sz="1900" dirty="0">
                <a:solidFill>
                  <a:srgbClr val="000000"/>
                </a:solidFill>
                <a:latin typeface="General Sans" pitchFamily="34" charset="0"/>
                <a:ea typeface="General Sans" pitchFamily="34" charset="-122"/>
                <a:cs typeface="General Sans" pitchFamily="34" charset="-120"/>
              </a:rPr>
              <a:t> typt de opdrachten aan de agent</a:t>
            </a:r>
            <a:endParaRPr lang="en-US" sz="1900" dirty="0"/>
          </a:p>
        </p:txBody>
      </p:sp>
      <p:sp>
        <p:nvSpPr>
          <p:cNvPr id="75" name="Shape 73"/>
          <p:cNvSpPr/>
          <p:nvPr/>
        </p:nvSpPr>
        <p:spPr>
          <a:xfrm>
            <a:off x="548640" y="2487168"/>
            <a:ext cx="201168" cy="201168"/>
          </a:xfrm>
          <a:prstGeom prst="ellipse">
            <a:avLst/>
          </a:prstGeom>
          <a:solidFill>
            <a:srgbClr val="DD784B"/>
          </a:solidFill>
          <a:ln/>
        </p:spPr>
        <p:txBody>
          <a:bodyPr/>
          <a:lstStyle/>
          <a:p>
            <a:endParaRPr/>
          </a:p>
        </p:txBody>
      </p:sp>
      <p:sp>
        <p:nvSpPr>
          <p:cNvPr id="76" name="Text 74"/>
          <p:cNvSpPr/>
          <p:nvPr/>
        </p:nvSpPr>
        <p:spPr>
          <a:xfrm>
            <a:off x="960120" y="2377440"/>
            <a:ext cx="5897880" cy="804672"/>
          </a:xfrm>
          <a:prstGeom prst="rect">
            <a:avLst/>
          </a:prstGeom>
          <a:noFill/>
          <a:ln/>
        </p:spPr>
        <p:txBody>
          <a:bodyPr wrap="square" lIns="0" tIns="0" rIns="0" bIns="0" rtlCol="0" anchor="t"/>
          <a:lstStyle/>
          <a:p>
            <a:pPr marL="0" indent="0" algn="l">
              <a:lnSpc>
                <a:spcPct val="105000"/>
              </a:lnSpc>
              <a:buNone/>
            </a:pPr>
            <a:r>
              <a:rPr lang="en-US" sz="1700" dirty="0">
                <a:solidFill>
                  <a:srgbClr val="3D68EC"/>
                </a:solidFill>
                <a:latin typeface="General Sans Semibold" pitchFamily="34" charset="0"/>
                <a:ea typeface="General Sans Semibold" pitchFamily="34" charset="-122"/>
                <a:cs typeface="General Sans Semibold" pitchFamily="34" charset="-120"/>
              </a:rPr>
              <a:t>Checker:</a:t>
            </a:r>
            <a:r>
              <a:rPr lang="en-US" sz="1700" dirty="0">
                <a:solidFill>
                  <a:srgbClr val="000000"/>
                </a:solidFill>
                <a:latin typeface="General Sans" pitchFamily="34" charset="0"/>
                <a:ea typeface="General Sans" pitchFamily="34" charset="-122"/>
                <a:cs typeface="General Sans" pitchFamily="34" charset="-120"/>
              </a:rPr>
              <a:t> leest wat de agent teruggeeft en vraagt: klopt dit, en kunnen we dit zo laten zien?</a:t>
            </a:r>
            <a:endParaRPr lang="en-US" sz="1700" dirty="0"/>
          </a:p>
        </p:txBody>
      </p:sp>
      <p:sp>
        <p:nvSpPr>
          <p:cNvPr id="77" name="Shape 75"/>
          <p:cNvSpPr/>
          <p:nvPr/>
        </p:nvSpPr>
        <p:spPr>
          <a:xfrm>
            <a:off x="548640" y="3401568"/>
            <a:ext cx="201168" cy="201168"/>
          </a:xfrm>
          <a:prstGeom prst="ellipse">
            <a:avLst/>
          </a:prstGeom>
          <a:solidFill>
            <a:srgbClr val="00AF81"/>
          </a:solidFill>
          <a:ln/>
        </p:spPr>
        <p:txBody>
          <a:bodyPr/>
          <a:lstStyle/>
          <a:p>
            <a:endParaRPr/>
          </a:p>
        </p:txBody>
      </p:sp>
      <p:sp>
        <p:nvSpPr>
          <p:cNvPr id="78" name="Text 76"/>
          <p:cNvSpPr/>
          <p:nvPr/>
        </p:nvSpPr>
        <p:spPr>
          <a:xfrm>
            <a:off x="960120" y="32918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Wissel</a:t>
            </a:r>
            <a:r>
              <a:rPr lang="en-US" sz="1900" dirty="0">
                <a:solidFill>
                  <a:srgbClr val="000000"/>
                </a:solidFill>
                <a:latin typeface="General Sans" pitchFamily="34" charset="0"/>
                <a:ea typeface="General Sans" pitchFamily="34" charset="-122"/>
                <a:cs typeface="General Sans" pitchFamily="34" charset="-120"/>
              </a:rPr>
              <a:t> na ronde 1, zodat beiden beide rollen doen</a:t>
            </a:r>
            <a:endParaRPr lang="en-US" sz="1900" dirty="0"/>
          </a:p>
        </p:txBody>
      </p:sp>
      <p:sp>
        <p:nvSpPr>
          <p:cNvPr id="79" name="Shape 77"/>
          <p:cNvSpPr/>
          <p:nvPr/>
        </p:nvSpPr>
        <p:spPr>
          <a:xfrm>
            <a:off x="548640" y="4315968"/>
            <a:ext cx="201168" cy="201168"/>
          </a:xfrm>
          <a:prstGeom prst="ellipse">
            <a:avLst/>
          </a:prstGeom>
          <a:solidFill>
            <a:srgbClr val="F4D74B"/>
          </a:solidFill>
          <a:ln/>
        </p:spPr>
        <p:txBody>
          <a:bodyPr/>
          <a:lstStyle/>
          <a:p>
            <a:endParaRPr/>
          </a:p>
        </p:txBody>
      </p:sp>
      <p:sp>
        <p:nvSpPr>
          <p:cNvPr id="80" name="Text 78"/>
          <p:cNvSpPr/>
          <p:nvPr/>
        </p:nvSpPr>
        <p:spPr>
          <a:xfrm>
            <a:off x="960120" y="42062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Loop je vast?</a:t>
            </a:r>
            <a:r>
              <a:rPr lang="en-US" sz="1900" dirty="0">
                <a:solidFill>
                  <a:srgbClr val="000000"/>
                </a:solidFill>
                <a:latin typeface="General Sans" pitchFamily="34" charset="0"/>
                <a:ea typeface="General Sans" pitchFamily="34" charset="-122"/>
                <a:cs typeface="General Sans" pitchFamily="34" charset="-120"/>
              </a:rPr>
              <a:t> Vraag de agent: leg uit wat je net deed</a:t>
            </a:r>
            <a:endParaRPr lang="en-US" sz="1900" dirty="0"/>
          </a:p>
        </p:txBody>
      </p:sp>
      <p:pic>
        <p:nvPicPr>
          <p:cNvPr id="81" name="Image 0" descr="exports\261005_workshop_rad_uitvoering\img\gesprek.png"/>
          <p:cNvPicPr>
            <a:picLocks noChangeAspect="1"/>
          </p:cNvPicPr>
          <p:nvPr/>
        </p:nvPicPr>
        <p:blipFill>
          <a:blip r:embed="rId3"/>
          <a:stretch>
            <a:fillRect/>
          </a:stretch>
        </p:blipFill>
        <p:spPr>
          <a:xfrm>
            <a:off x="7498080" y="1417320"/>
            <a:ext cx="4206240" cy="42062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Agent, prompt en skill</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txBody>
          <a:bodyPr/>
          <a:lstStyle/>
          <a:p>
            <a:endParaRPr/>
          </a:p>
        </p:txBody>
      </p:sp>
      <p:sp>
        <p:nvSpPr>
          <p:cNvPr id="74" name="Shape 72"/>
          <p:cNvSpPr/>
          <p:nvPr/>
        </p:nvSpPr>
        <p:spPr>
          <a:xfrm>
            <a:off x="822960" y="1719072"/>
            <a:ext cx="2966618" cy="402336"/>
          </a:xfrm>
          <a:prstGeom prst="roundRect">
            <a:avLst>
              <a:gd name="adj" fmla="val 113636"/>
            </a:avLst>
          </a:prstGeom>
          <a:solidFill>
            <a:srgbClr val="3D68EC"/>
          </a:solidFill>
          <a:ln/>
        </p:spPr>
        <p:txBody>
          <a:bodyPr/>
          <a:lstStyle/>
          <a:p>
            <a:endParaRPr/>
          </a:p>
        </p:txBody>
      </p:sp>
      <p:sp>
        <p:nvSpPr>
          <p:cNvPr id="75" name="Text 73"/>
          <p:cNvSpPr/>
          <p:nvPr/>
        </p:nvSpPr>
        <p:spPr>
          <a:xfrm>
            <a:off x="914400"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De uitvoerder</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 AI die het werk doet: leest, schrijft en draait de code.</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Claude Code in VS Code</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txBody>
          <a:bodyPr/>
          <a:lstStyle/>
          <a:p>
            <a:endParaRPr/>
          </a:p>
        </p:txBody>
      </p:sp>
      <p:sp>
        <p:nvSpPr>
          <p:cNvPr id="81" name="Shape 79"/>
          <p:cNvSpPr/>
          <p:nvPr/>
        </p:nvSpPr>
        <p:spPr>
          <a:xfrm>
            <a:off x="4612538" y="1719072"/>
            <a:ext cx="2966618" cy="402336"/>
          </a:xfrm>
          <a:prstGeom prst="roundRect">
            <a:avLst>
              <a:gd name="adj" fmla="val 113636"/>
            </a:avLst>
          </a:prstGeom>
          <a:solidFill>
            <a:srgbClr val="3D68EC"/>
          </a:solidFill>
          <a:ln/>
        </p:spPr>
        <p:txBody>
          <a:bodyPr/>
          <a:lstStyle/>
          <a:p>
            <a:endParaRPr/>
          </a:p>
        </p:txBody>
      </p:sp>
      <p:sp>
        <p:nvSpPr>
          <p:cNvPr id="82" name="Text 80"/>
          <p:cNvSpPr/>
          <p:nvPr/>
        </p:nvSpPr>
        <p:spPr>
          <a:xfrm>
            <a:off x="4703978"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Een losse opdracht</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Prompt</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jij zelf typt. Elke keer anders.</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"Laat zien wie er uitvalt"</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txBody>
          <a:bodyPr/>
          <a:lstStyle/>
          <a:p>
            <a:endParaRPr/>
          </a:p>
        </p:txBody>
      </p:sp>
      <p:sp>
        <p:nvSpPr>
          <p:cNvPr id="88" name="Shape 86"/>
          <p:cNvSpPr/>
          <p:nvPr/>
        </p:nvSpPr>
        <p:spPr>
          <a:xfrm>
            <a:off x="8402117" y="1719072"/>
            <a:ext cx="2966618" cy="402336"/>
          </a:xfrm>
          <a:prstGeom prst="roundRect">
            <a:avLst>
              <a:gd name="adj" fmla="val 113636"/>
            </a:avLst>
          </a:prstGeom>
          <a:solidFill>
            <a:srgbClr val="3D68EC"/>
          </a:solidFill>
          <a:ln/>
        </p:spPr>
        <p:txBody>
          <a:bodyPr/>
          <a:lstStyle/>
          <a:p>
            <a:endParaRPr/>
          </a:p>
        </p:txBody>
      </p:sp>
      <p:sp>
        <p:nvSpPr>
          <p:cNvPr id="89" name="Text 87"/>
          <p:cNvSpPr/>
          <p:nvPr/>
        </p:nvSpPr>
        <p:spPr>
          <a:xfrm>
            <a:off x="8493557"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Een vast stappenplan</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Skill</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tekstbestand met stappen en checks. Elke keer dezelfde werkwijze.</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Eerst profiel, dan definities</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In de rondes prompten jullie zelf. Bij de spiegelmomenten laten wij zien hoe een skill hetzelfde doet.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skills, twee spiegelmomenten</a:t>
            </a:r>
            <a:endParaRPr lang="en-US" sz="3400" dirty="0"/>
          </a:p>
        </p:txBody>
      </p:sp>
      <p:sp>
        <p:nvSpPr>
          <p:cNvPr id="73" name="Shape 71"/>
          <p:cNvSpPr/>
          <p:nvPr/>
        </p:nvSpPr>
        <p:spPr>
          <a:xfrm>
            <a:off x="548640" y="1371600"/>
            <a:ext cx="5410048" cy="3490722"/>
          </a:xfrm>
          <a:prstGeom prst="roundRect">
            <a:avLst>
              <a:gd name="adj" fmla="val 1921"/>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4175608"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3992728"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Spiegelmoment 1</a:t>
            </a:r>
            <a:endParaRPr lang="en-US" sz="1200" dirty="0"/>
          </a:p>
        </p:txBody>
      </p:sp>
      <p:sp>
        <p:nvSpPr>
          <p:cNvPr id="78" name="Text 76"/>
          <p:cNvSpPr/>
          <p:nvPr/>
        </p:nvSpPr>
        <p:spPr>
          <a:xfrm>
            <a:off x="822960" y="2423160"/>
            <a:ext cx="4861408" cy="338328"/>
          </a:xfrm>
          <a:prstGeom prst="rect">
            <a:avLst/>
          </a:prstGeom>
          <a:noFill/>
          <a:ln/>
        </p:spPr>
        <p:txBody>
          <a:bodyPr wrap="square" lIns="0" tIns="0" rIns="0" bIns="0" rtlCol="0" anchor="t"/>
          <a:lstStyle/>
          <a:p>
            <a:pPr marL="0" indent="0" algn="l">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/verkennen_data</a:t>
            </a:r>
            <a:endParaRPr lang="en-US" sz="2200" dirty="0"/>
          </a:p>
        </p:txBody>
      </p:sp>
      <p:sp>
        <p:nvSpPr>
          <p:cNvPr id="79" name="Text 77"/>
          <p:cNvSpPr/>
          <p:nvPr/>
        </p:nvSpPr>
        <p:spPr>
          <a:xfrm>
            <a:off x="822960" y="3035808"/>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DOET</a:t>
            </a:r>
            <a:endParaRPr lang="en-US" sz="1100" dirty="0"/>
          </a:p>
        </p:txBody>
      </p:sp>
      <p:sp>
        <p:nvSpPr>
          <p:cNvPr id="80" name="Text 78"/>
          <p:cNvSpPr/>
          <p:nvPr/>
        </p:nvSpPr>
        <p:spPr>
          <a:xfrm>
            <a:off x="822960" y="3383280"/>
            <a:ext cx="486140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Kolommen, kwaliteit, verdelingen, definities en privacy.</a:t>
            </a:r>
            <a:endParaRPr lang="en-US" sz="1500" dirty="0"/>
          </a:p>
        </p:txBody>
      </p:sp>
      <p:sp>
        <p:nvSpPr>
          <p:cNvPr id="81" name="Text 79"/>
          <p:cNvSpPr/>
          <p:nvPr/>
        </p:nvSpPr>
        <p:spPr>
          <a:xfrm>
            <a:off x="822960" y="4061460"/>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2" name="Text 80"/>
          <p:cNvSpPr/>
          <p:nvPr/>
        </p:nvSpPr>
        <p:spPr>
          <a:xfrm>
            <a:off x="822960" y="4408932"/>
            <a:ext cx="4861408" cy="31623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uitvoer/data-profiel.html</a:t>
            </a:r>
            <a:endParaRPr lang="en-US" sz="1500" dirty="0"/>
          </a:p>
        </p:txBody>
      </p:sp>
      <p:sp>
        <p:nvSpPr>
          <p:cNvPr id="83" name="Shape 81"/>
          <p:cNvSpPr/>
          <p:nvPr/>
        </p:nvSpPr>
        <p:spPr>
          <a:xfrm>
            <a:off x="6233008" y="1371600"/>
            <a:ext cx="5410048" cy="3490722"/>
          </a:xfrm>
          <a:prstGeom prst="roundRect">
            <a:avLst>
              <a:gd name="adj" fmla="val 1921"/>
            </a:avLst>
          </a:prstGeom>
          <a:solidFill>
            <a:srgbClr val="DD784B"/>
          </a:solidFill>
          <a:ln/>
        </p:spPr>
        <p:txBody>
          <a:bodyPr/>
          <a:lstStyle/>
          <a:p>
            <a:endParaRPr/>
          </a:p>
        </p:txBody>
      </p:sp>
      <p:sp>
        <p:nvSpPr>
          <p:cNvPr id="84" name="Shape 82"/>
          <p:cNvSpPr/>
          <p:nvPr/>
        </p:nvSpPr>
        <p:spPr>
          <a:xfrm>
            <a:off x="6507328" y="1645920"/>
            <a:ext cx="548640" cy="548640"/>
          </a:xfrm>
          <a:prstGeom prst="ellipse">
            <a:avLst/>
          </a:prstGeom>
          <a:solidFill>
            <a:srgbClr val="F4D9DC"/>
          </a:solidFill>
          <a:ln/>
        </p:spPr>
        <p:txBody>
          <a:bodyPr/>
          <a:lstStyle/>
          <a:p>
            <a:endParaRPr/>
          </a:p>
        </p:txBody>
      </p:sp>
      <p:sp>
        <p:nvSpPr>
          <p:cNvPr id="85" name="Text 83"/>
          <p:cNvSpPr/>
          <p:nvPr/>
        </p:nvSpPr>
        <p:spPr>
          <a:xfrm>
            <a:off x="650732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7193128" y="1719072"/>
            <a:ext cx="4175608" cy="402336"/>
          </a:xfrm>
          <a:prstGeom prst="roundRect">
            <a:avLst>
              <a:gd name="adj" fmla="val 113636"/>
            </a:avLst>
          </a:prstGeom>
          <a:solidFill>
            <a:srgbClr val="F4D9DC"/>
          </a:solidFill>
          <a:ln/>
        </p:spPr>
        <p:txBody>
          <a:bodyPr/>
          <a:lstStyle/>
          <a:p>
            <a:endParaRPr/>
          </a:p>
        </p:txBody>
      </p:sp>
      <p:sp>
        <p:nvSpPr>
          <p:cNvPr id="87" name="Text 85"/>
          <p:cNvSpPr/>
          <p:nvPr/>
        </p:nvSpPr>
        <p:spPr>
          <a:xfrm>
            <a:off x="7284568" y="1719072"/>
            <a:ext cx="399272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Spiegelmoment 2</a:t>
            </a:r>
            <a:endParaRPr lang="en-US" sz="1200" dirty="0"/>
          </a:p>
        </p:txBody>
      </p:sp>
      <p:sp>
        <p:nvSpPr>
          <p:cNvPr id="88" name="Text 86"/>
          <p:cNvSpPr/>
          <p:nvPr/>
        </p:nvSpPr>
        <p:spPr>
          <a:xfrm>
            <a:off x="6507328" y="2423160"/>
            <a:ext cx="486140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Schetsen en bouwen</a:t>
            </a:r>
            <a:endParaRPr lang="en-US" sz="2200" dirty="0"/>
          </a:p>
        </p:txBody>
      </p:sp>
      <p:sp>
        <p:nvSpPr>
          <p:cNvPr id="89" name="Text 87"/>
          <p:cNvSpPr/>
          <p:nvPr/>
        </p:nvSpPr>
        <p:spPr>
          <a:xfrm>
            <a:off x="6507328" y="3035808"/>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DOET</a:t>
            </a:r>
            <a:endParaRPr lang="en-US" sz="1100" dirty="0"/>
          </a:p>
        </p:txBody>
      </p:sp>
      <p:sp>
        <p:nvSpPr>
          <p:cNvPr id="90" name="Text 88"/>
          <p:cNvSpPr/>
          <p:nvPr/>
        </p:nvSpPr>
        <p:spPr>
          <a:xfrm>
            <a:off x="6507328" y="3383280"/>
            <a:ext cx="486140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/schets_dashboard en /bouwen_dashboard: views schetsen, dan het dashboard bouwen.</a:t>
            </a:r>
            <a:endParaRPr lang="en-US" sz="1500" dirty="0"/>
          </a:p>
        </p:txBody>
      </p:sp>
      <p:sp>
        <p:nvSpPr>
          <p:cNvPr id="91" name="Text 89"/>
          <p:cNvSpPr/>
          <p:nvPr/>
        </p:nvSpPr>
        <p:spPr>
          <a:xfrm>
            <a:off x="6507328" y="4061460"/>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2" name="Text 90"/>
          <p:cNvSpPr/>
          <p:nvPr/>
        </p:nvSpPr>
        <p:spPr>
          <a:xfrm>
            <a:off x="6507328" y="4408932"/>
            <a:ext cx="4861408" cy="31623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uitvoer/schets.html en een dashboard</a:t>
            </a:r>
            <a:endParaRPr lang="en-US" sz="1500" dirty="0"/>
          </a:p>
        </p:txBody>
      </p:sp>
      <p:sp>
        <p:nvSpPr>
          <p:cNvPr id="93" name="Text 91"/>
          <p:cNvSpPr/>
          <p:nvPr/>
        </p:nvSpPr>
        <p:spPr>
          <a:xfrm>
            <a:off x="548640" y="5045202"/>
            <a:ext cx="11094415" cy="45720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Een skill start alleen als je hem zelf typt, nooit vanzelf. Jullie prompten zelf; wij draaien de skills bij de spiegelmomenten.</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start je met de agent</a:t>
            </a:r>
            <a:endParaRPr lang="en-US" sz="3400" dirty="0"/>
          </a:p>
        </p:txBody>
      </p:sp>
      <p:sp>
        <p:nvSpPr>
          <p:cNvPr id="73" name="Shape 71"/>
          <p:cNvSpPr/>
          <p:nvPr/>
        </p:nvSpPr>
        <p:spPr>
          <a:xfrm>
            <a:off x="548640" y="1417320"/>
            <a:ext cx="11094415" cy="868680"/>
          </a:xfrm>
          <a:prstGeom prst="roundRect">
            <a:avLst>
              <a:gd name="adj" fmla="val 15512"/>
            </a:avLst>
          </a:prstGeom>
          <a:solidFill>
            <a:srgbClr val="FFFFFF"/>
          </a:solidFill>
          <a:ln/>
        </p:spPr>
        <p:txBody>
          <a:bodyPr/>
          <a:lstStyle/>
          <a:p>
            <a:endParaRPr/>
          </a:p>
        </p:txBody>
      </p:sp>
      <p:sp>
        <p:nvSpPr>
          <p:cNvPr id="74" name="Text 72"/>
          <p:cNvSpPr/>
          <p:nvPr/>
        </p:nvSpPr>
        <p:spPr>
          <a:xfrm>
            <a:off x="822960" y="1472184"/>
            <a:ext cx="3840480" cy="75895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GitHub-account</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Gratis; log in op github.com</a:t>
            </a:r>
            <a:endParaRPr lang="en-US" sz="1400" dirty="0"/>
          </a:p>
        </p:txBody>
      </p:sp>
      <p:sp>
        <p:nvSpPr>
          <p:cNvPr id="76" name="Shape 74"/>
          <p:cNvSpPr/>
          <p:nvPr/>
        </p:nvSpPr>
        <p:spPr>
          <a:xfrm>
            <a:off x="9859975" y="1687068"/>
            <a:ext cx="1554480" cy="329184"/>
          </a:xfrm>
          <a:prstGeom prst="roundRect">
            <a:avLst>
              <a:gd name="adj" fmla="val 138889"/>
            </a:avLst>
          </a:prstGeom>
          <a:solidFill>
            <a:srgbClr val="00AF81"/>
          </a:solidFill>
          <a:ln/>
        </p:spPr>
        <p:txBody>
          <a:bodyPr/>
          <a:lstStyle/>
          <a:p>
            <a:endParaRPr/>
          </a:p>
        </p:txBody>
      </p:sp>
      <p:sp>
        <p:nvSpPr>
          <p:cNvPr id="77" name="Text 75"/>
          <p:cNvSpPr/>
          <p:nvPr/>
        </p:nvSpPr>
        <p:spPr>
          <a:xfrm>
            <a:off x="9951415" y="1687068"/>
            <a:ext cx="1371600" cy="329184"/>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1</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txBody>
          <a:bodyPr/>
          <a:lstStyle/>
          <a:p>
            <a:endParaRPr/>
          </a:p>
        </p:txBody>
      </p:sp>
      <p:sp>
        <p:nvSpPr>
          <p:cNvPr id="79" name="Text 77"/>
          <p:cNvSpPr/>
          <p:nvPr/>
        </p:nvSpPr>
        <p:spPr>
          <a:xfrm>
            <a:off x="822960" y="2432304"/>
            <a:ext cx="3840480" cy="75895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Codespace</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Open de workshop-repo en maak er een</a:t>
            </a:r>
            <a:endParaRPr lang="en-US" sz="1400" dirty="0"/>
          </a:p>
        </p:txBody>
      </p:sp>
      <p:sp>
        <p:nvSpPr>
          <p:cNvPr id="81" name="Shape 79"/>
          <p:cNvSpPr/>
          <p:nvPr/>
        </p:nvSpPr>
        <p:spPr>
          <a:xfrm>
            <a:off x="9859975" y="2647188"/>
            <a:ext cx="1554480" cy="329184"/>
          </a:xfrm>
          <a:prstGeom prst="roundRect">
            <a:avLst>
              <a:gd name="adj" fmla="val 138889"/>
            </a:avLst>
          </a:prstGeom>
          <a:solidFill>
            <a:srgbClr val="00AF81"/>
          </a:solidFill>
          <a:ln/>
        </p:spPr>
        <p:txBody>
          <a:bodyPr/>
          <a:lstStyle/>
          <a:p>
            <a:endParaRPr/>
          </a:p>
        </p:txBody>
      </p:sp>
      <p:sp>
        <p:nvSpPr>
          <p:cNvPr id="82" name="Text 80"/>
          <p:cNvSpPr/>
          <p:nvPr/>
        </p:nvSpPr>
        <p:spPr>
          <a:xfrm>
            <a:off x="9951415" y="2647188"/>
            <a:ext cx="1371600" cy="329184"/>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2</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txBody>
          <a:bodyPr/>
          <a:lstStyle/>
          <a:p>
            <a:endParaRPr/>
          </a:p>
        </p:txBody>
      </p:sp>
      <p:sp>
        <p:nvSpPr>
          <p:cNvPr id="84" name="Text 82"/>
          <p:cNvSpPr/>
          <p:nvPr/>
        </p:nvSpPr>
        <p:spPr>
          <a:xfrm>
            <a:off x="822960" y="3392424"/>
            <a:ext cx="3840480" cy="75895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Terminal en key</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Plak de workshop-key van de begeleider</a:t>
            </a:r>
            <a:endParaRPr lang="en-US" sz="1400" dirty="0"/>
          </a:p>
        </p:txBody>
      </p:sp>
      <p:sp>
        <p:nvSpPr>
          <p:cNvPr id="86" name="Shape 84"/>
          <p:cNvSpPr/>
          <p:nvPr/>
        </p:nvSpPr>
        <p:spPr>
          <a:xfrm>
            <a:off x="9859975" y="3607308"/>
            <a:ext cx="1554480" cy="329184"/>
          </a:xfrm>
          <a:prstGeom prst="roundRect">
            <a:avLst>
              <a:gd name="adj" fmla="val 138889"/>
            </a:avLst>
          </a:prstGeom>
          <a:solidFill>
            <a:srgbClr val="00AF81"/>
          </a:solidFill>
          <a:ln/>
        </p:spPr>
        <p:txBody>
          <a:bodyPr/>
          <a:lstStyle/>
          <a:p>
            <a:endParaRPr/>
          </a:p>
        </p:txBody>
      </p:sp>
      <p:sp>
        <p:nvSpPr>
          <p:cNvPr id="87" name="Text 85"/>
          <p:cNvSpPr/>
          <p:nvPr/>
        </p:nvSpPr>
        <p:spPr>
          <a:xfrm>
            <a:off x="9951415" y="3607308"/>
            <a:ext cx="1371600" cy="329184"/>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3</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txBody>
          <a:bodyPr/>
          <a:lstStyle/>
          <a:p>
            <a:endParaRPr/>
          </a:p>
        </p:txBody>
      </p:sp>
      <p:sp>
        <p:nvSpPr>
          <p:cNvPr id="89" name="Text 87"/>
          <p:cNvSpPr/>
          <p:nvPr/>
        </p:nvSpPr>
        <p:spPr>
          <a:xfrm>
            <a:off x="822960" y="4352544"/>
            <a:ext cx="3840480" cy="75895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Claude Code</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Open het Claude-paneel</a:t>
            </a:r>
            <a:endParaRPr lang="en-US" sz="1400" dirty="0"/>
          </a:p>
        </p:txBody>
      </p:sp>
      <p:sp>
        <p:nvSpPr>
          <p:cNvPr id="91" name="Shape 89"/>
          <p:cNvSpPr/>
          <p:nvPr/>
        </p:nvSpPr>
        <p:spPr>
          <a:xfrm>
            <a:off x="9859975" y="4567428"/>
            <a:ext cx="1554480" cy="329184"/>
          </a:xfrm>
          <a:prstGeom prst="roundRect">
            <a:avLst>
              <a:gd name="adj" fmla="val 138889"/>
            </a:avLst>
          </a:prstGeom>
          <a:solidFill>
            <a:srgbClr val="3D68EC"/>
          </a:solidFill>
          <a:ln/>
        </p:spPr>
        <p:txBody>
          <a:bodyPr/>
          <a:lstStyle/>
          <a:p>
            <a:endParaRPr/>
          </a:p>
        </p:txBody>
      </p:sp>
      <p:sp>
        <p:nvSpPr>
          <p:cNvPr id="92" name="Text 90"/>
          <p:cNvSpPr/>
          <p:nvPr/>
        </p:nvSpPr>
        <p:spPr>
          <a:xfrm>
            <a:off x="9951415" y="4567428"/>
            <a:ext cx="1371600" cy="329184"/>
          </a:xfrm>
          <a:prstGeom prst="rect">
            <a:avLst/>
          </a:prstGeom>
          <a:noFill/>
          <a:ln/>
        </p:spPr>
        <p:txBody>
          <a:bodyPr wrap="square" lIns="0" tIns="0" rIns="0" bIns="0" rtlCol="0" anchor="ctr"/>
          <a:lstStyle/>
          <a:p>
            <a:pPr marL="0" indent="0" algn="ctr">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Stap 4</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marL="0" indent="0" algn="l">
              <a:lnSpc>
                <a:spcPct val="105000"/>
              </a:lnSpc>
              <a:buNone/>
            </a:pPr>
            <a:r>
              <a:rPr lang="en-US" sz="1100" dirty="0">
                <a:solidFill>
                  <a:srgbClr val="3D68EC"/>
                </a:solidFill>
                <a:latin typeface="General Sans" pitchFamily="34" charset="0"/>
                <a:ea typeface="General Sans" pitchFamily="34" charset="-122"/>
                <a:cs typeface="General Sans" pitchFamily="34" charset="-120"/>
              </a:rPr>
              <a:t>Loop je vast? Roep iemand, dan zoeken we het samen uit.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Stap 1: log in op GitHub</a:t>
            </a:r>
            <a:endParaRPr lang="en-US" sz="3100" dirty="0"/>
          </a:p>
        </p:txBody>
      </p:sp>
      <p:pic>
        <p:nvPicPr>
          <p:cNvPr id="73" name="Image 0" descr="Rechtsboven op github.com: de knoppen Sign in en Sign up"/>
          <p:cNvPicPr>
            <a:picLocks noChangeAspect="1"/>
          </p:cNvPicPr>
          <p:nvPr/>
        </p:nvPicPr>
        <p:blipFill>
          <a:blip r:embed="rId3"/>
          <a:stretch>
            <a:fillRect/>
          </a:stretch>
        </p:blipFill>
        <p:spPr>
          <a:xfrm>
            <a:off x="851870" y="1900000"/>
            <a:ext cx="6464595" cy="1369980"/>
          </a:xfrm>
          <a:prstGeom prst="rect">
            <a:avLst/>
          </a:prstGeom>
        </p:spPr>
      </p:pic>
      <p:sp>
        <p:nvSpPr>
          <p:cNvPr id="74" name="Text 71"/>
          <p:cNvSpPr/>
          <p:nvPr/>
        </p:nvSpPr>
        <p:spPr>
          <a:xfrm>
            <a:off x="548640" y="351998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github.com</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Klik rechtsboven op </a:t>
            </a:r>
            <a:r>
              <a:rPr lang="en-US" sz="1800" dirty="0">
                <a:solidFill>
                  <a:srgbClr val="00AF81"/>
                </a:solidFill>
                <a:latin typeface="General Sans Semibold" pitchFamily="34" charset="0"/>
                <a:ea typeface="General Sans Semibold" pitchFamily="34" charset="-122"/>
                <a:cs typeface="General Sans Semibold" pitchFamily="34" charset="-120"/>
              </a:rPr>
              <a:t>Sign in</a:t>
            </a:r>
            <a:r>
              <a:rPr lang="en-US" sz="1800" dirty="0">
                <a:solidFill>
                  <a:srgbClr val="000000"/>
                </a:solidFill>
                <a:latin typeface="General Sans" pitchFamily="34" charset="0"/>
                <a:ea typeface="General Sans" pitchFamily="34" charset="-122"/>
                <a:cs typeface="General Sans" pitchFamily="34" charset="-120"/>
              </a:rPr>
              <a:t> en log in met je eigen GitHub-account. Heb je er nog geen? Maak er dan gratis een aan met </a:t>
            </a:r>
            <a:r>
              <a:rPr lang="en-US" sz="1800" dirty="0">
                <a:solidFill>
                  <a:srgbClr val="00AF81"/>
                </a:solidFill>
                <a:latin typeface="General Sans Semibold" pitchFamily="34" charset="0"/>
                <a:ea typeface="General Sans Semibold" pitchFamily="34" charset="-122"/>
                <a:cs typeface="General Sans Semibold" pitchFamily="34" charset="-120"/>
              </a:rPr>
              <a:t>Sign up</a:t>
            </a:r>
            <a:r>
              <a:rPr lang="en-US" sz="1800" dirty="0">
                <a:solidFill>
                  <a:srgbClr val="000000"/>
                </a:solidFill>
                <a:latin typeface="General Sans" pitchFamily="34" charset="0"/>
                <a:ea typeface="General Sans" pitchFamily="34" charset="-122"/>
                <a:cs typeface="General Sans" pitchFamily="34" charset="-120"/>
              </a:rPr>
              <a:t>.</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0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Stap 2: open de repo en maak een Codespace</a:t>
            </a:r>
            <a:endParaRPr lang="en-US" sz="3100" dirty="0"/>
          </a:p>
        </p:txBody>
      </p:sp>
      <p:pic>
        <p:nvPicPr>
          <p:cNvPr id="73" name="Image 0" descr="GitHub-repo met de Code-knop en de Codespaces-tab geopend"/>
          <p:cNvPicPr>
            <a:picLocks noChangeAspect="1"/>
          </p:cNvPicPr>
          <p:nvPr/>
        </p:nvPicPr>
        <p:blipFill>
          <a:blip r:embed="rId3"/>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github.com/cedanl/dair-agentic-coding</a:t>
            </a:r>
            <a:endParaRPr lang="en-US" sz="1300" dirty="0"/>
          </a:p>
        </p:txBody>
      </p:sp>
      <p:sp>
        <p:nvSpPr>
          <p:cNvPr id="75" name="Text 72"/>
          <p:cNvSpPr/>
          <p:nvPr/>
        </p:nvSpPr>
        <p:spPr>
          <a:xfrm>
            <a:off x="8103795" y="1463040"/>
            <a:ext cx="3464025" cy="4480560"/>
          </a:xfrm>
          <a:prstGeom prst="rect">
            <a:avLst/>
          </a:prstGeom>
          <a:noFill/>
          <a:ln/>
        </p:spPr>
        <p:txBody>
          <a:bodyPr wrap="square" lIns="0" tIns="0" rIns="0" bIns="0" rtlCol="0" anchor="t"/>
          <a:lstStyle/>
          <a:p>
            <a:pPr marL="0" indent="0" algn="l">
              <a:lnSpc>
                <a:spcPct val="105000"/>
              </a:lnSpc>
              <a:spcAft>
                <a:spcPts val="800"/>
              </a:spcAft>
              <a:buNone/>
            </a:pPr>
            <a:endParaRPr lang="en-US" sz="1800" dirty="0">
              <a:solidFill>
                <a:srgbClr val="000000"/>
              </a:solidFill>
              <a:latin typeface="General Sans" pitchFamily="34" charset="0"/>
              <a:ea typeface="General Sans" pitchFamily="34" charset="-122"/>
              <a:cs typeface="General Sans" pitchFamily="34" charset="-120"/>
            </a:endParaRPr>
          </a:p>
          <a:p>
            <a:pPr marL="0" indent="0" algn="l">
              <a:lnSpc>
                <a:spcPct val="100000"/>
              </a:lnSpc>
              <a:spcAft>
                <a:spcPts val="800"/>
              </a:spcAft>
              <a:buNone/>
            </a:pPr>
            <a:r>
              <a:rPr lang="en-US" dirty="0">
                <a:solidFill>
                  <a:srgbClr val="000000"/>
                </a:solidFill>
                <a:latin typeface="General Sans" pitchFamily="34" charset="0"/>
                <a:ea typeface="General Sans" pitchFamily="34" charset="-122"/>
                <a:cs typeface="General Sans" pitchFamily="34" charset="-120"/>
                <a:hlinkClick r:id="rId4"/>
              </a:rPr>
              <a:t>https://github.com/cedanl/dair-agentic-coding</a:t>
            </a:r>
            <a:r>
              <a:rPr lang="en-US" dirty="0">
                <a:solidFill>
                  <a:srgbClr val="000000"/>
                </a:solidFill>
                <a:latin typeface="General Sans" pitchFamily="34" charset="0"/>
                <a:ea typeface="General Sans" pitchFamily="34" charset="-122"/>
                <a:cs typeface="General Sans" pitchFamily="34" charset="-120"/>
              </a:rPr>
              <a:t> </a:t>
            </a:r>
          </a:p>
          <a:p>
            <a:pPr marL="0" indent="0" algn="l">
              <a:lnSpc>
                <a:spcPct val="105000"/>
              </a:lnSpc>
              <a:spcAft>
                <a:spcPts val="800"/>
              </a:spcAft>
              <a:buNone/>
            </a:pPr>
            <a:endParaRPr lang="en-US" sz="1800" dirty="0">
              <a:solidFill>
                <a:srgbClr val="000000"/>
              </a:solidFill>
              <a:latin typeface="General Sans" pitchFamily="34" charset="0"/>
              <a:ea typeface="General Sans" pitchFamily="34" charset="-122"/>
              <a:cs typeface="General Sans" pitchFamily="34" charset="-120"/>
            </a:endParaRPr>
          </a:p>
          <a:p>
            <a:pPr marL="0" indent="0" algn="l">
              <a:lnSpc>
                <a:spcPct val="105000"/>
              </a:lnSpc>
              <a:spcAft>
                <a:spcPts val="800"/>
              </a:spcAft>
              <a:buNone/>
            </a:pPr>
            <a:endParaRPr lang="en-US" dirty="0">
              <a:solidFill>
                <a:srgbClr val="000000"/>
              </a:solidFill>
              <a:latin typeface="General Sans" pitchFamily="34" charset="0"/>
              <a:ea typeface="General Sans" pitchFamily="34" charset="-122"/>
              <a:cs typeface="General Sans" pitchFamily="34" charset="-120"/>
            </a:endParaRPr>
          </a:p>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Groene knop </a:t>
            </a:r>
            <a:r>
              <a:rPr lang="en-US" sz="1800" dirty="0">
                <a:solidFill>
                  <a:srgbClr val="00AF81"/>
                </a:solidFill>
                <a:latin typeface="General Sans Semibold" pitchFamily="34" charset="0"/>
                <a:ea typeface="General Sans Semibold" pitchFamily="34" charset="-122"/>
                <a:cs typeface="General Sans Semibold" pitchFamily="34" charset="-120"/>
              </a:rPr>
              <a:t>Code</a:t>
            </a:r>
            <a:r>
              <a:rPr lang="en-US" sz="1800" dirty="0">
                <a:solidFill>
                  <a:srgbClr val="000000"/>
                </a:solidFill>
                <a:latin typeface="General Sans" pitchFamily="34" charset="0"/>
                <a:ea typeface="General Sans" pitchFamily="34" charset="-122"/>
                <a:cs typeface="General Sans" pitchFamily="34" charset="-120"/>
              </a:rPr>
              <a:t>, tab </a:t>
            </a:r>
            <a:r>
              <a:rPr lang="en-US" sz="1800" dirty="0">
                <a:solidFill>
                  <a:srgbClr val="00AF81"/>
                </a:solidFill>
                <a:latin typeface="General Sans Semibold" pitchFamily="34" charset="0"/>
                <a:ea typeface="General Sans Semibold" pitchFamily="34" charset="-122"/>
                <a:cs typeface="General Sans Semibold" pitchFamily="34" charset="-120"/>
              </a:rPr>
              <a:t>Codespaces</a:t>
            </a:r>
            <a:r>
              <a:rPr lang="en-US" sz="1800" dirty="0">
                <a:solidFill>
                  <a:srgbClr val="000000"/>
                </a:solidFill>
                <a:latin typeface="General Sans" pitchFamily="34" charset="0"/>
                <a:ea typeface="General Sans" pitchFamily="34" charset="-122"/>
                <a:cs typeface="General Sans" pitchFamily="34" charset="-120"/>
              </a:rPr>
              <a:t>, dan </a:t>
            </a:r>
            <a:r>
              <a:rPr lang="en-US" sz="1800" dirty="0">
                <a:solidFill>
                  <a:srgbClr val="00AF81"/>
                </a:solidFill>
                <a:latin typeface="General Sans Semibold" pitchFamily="34" charset="0"/>
                <a:ea typeface="General Sans Semibold" pitchFamily="34" charset="-122"/>
                <a:cs typeface="General Sans Semibold" pitchFamily="34" charset="-120"/>
              </a:rPr>
              <a:t>Create codespace on main</a:t>
            </a:r>
            <a:r>
              <a:rPr lang="en-US" sz="1800" dirty="0">
                <a:solidFill>
                  <a:srgbClr val="000000"/>
                </a:solidFill>
                <a:latin typeface="General Sans" pitchFamily="34" charset="0"/>
                <a:ea typeface="General Sans" pitchFamily="34" charset="-122"/>
                <a:cs typeface="General Sans" pitchFamily="34" charset="-120"/>
              </a:rPr>
              <a:t>. Wachten duurt een tot twee minuten.</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Stap 3: open een terminal en plak de key (alleen de eerste keer)</a:t>
            </a:r>
            <a:endParaRPr lang="en-US" sz="2500" dirty="0"/>
          </a:p>
        </p:txBody>
      </p:sp>
      <p:pic>
        <p:nvPicPr>
          <p:cNvPr id="73" name="Image 0" descr="VS Code met het menu Terminal en New Terminal"/>
          <p:cNvPicPr>
            <a:picLocks noChangeAspect="1"/>
          </p:cNvPicPr>
          <p:nvPr/>
        </p:nvPicPr>
        <p:blipFill>
          <a:blip r:embed="rId3"/>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Terminal → New Terminal</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Vraagt de terminal om de workshop-key? Die krijg je van de begeleider. Plak hem en druk op Enter. Je ziet niets verschijnen, dat is normaal.</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Stap 4: open het Claude-paneel</a:t>
            </a:r>
            <a:endParaRPr lang="en-US" sz="3400" dirty="0"/>
          </a:p>
        </p:txBody>
      </p:sp>
      <p:pic>
        <p:nvPicPr>
          <p:cNvPr id="73" name="Image 0" descr="VS Code met het oranje Claude-icoon rechtsboven in de editor"/>
          <p:cNvPicPr>
            <a:picLocks noChangeAspect="1"/>
          </p:cNvPicPr>
          <p:nvPr/>
        </p:nvPicPr>
        <p:blipFill>
          <a:blip r:embed="rId3"/>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Klik op het oranje Claude-icoon, je hoeft niets in de terminal te typen</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Probeer als eerste instructie: "Lees data/demodata_1cho.csv en vertel in gewone taal wat erin zit."</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00AF81"/>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Shape 70"/>
          <p:cNvSpPr/>
          <p:nvPr/>
        </p:nvSpPr>
        <p:spPr>
          <a:xfrm>
            <a:off x="548640" y="1280160"/>
            <a:ext cx="1005840" cy="1005840"/>
          </a:xfrm>
          <a:prstGeom prst="ellipse">
            <a:avLst/>
          </a:prstGeom>
          <a:solidFill>
            <a:srgbClr val="F4D9DC"/>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ken je data</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22 minuten. Verken data en codebook voor je iets bouwt.</a:t>
            </a:r>
            <a:endParaRPr lang="en-US" sz="2200" dirty="0"/>
          </a:p>
        </p:txBody>
      </p:sp>
      <p:pic>
        <p:nvPicPr>
          <p:cNvPr id="76" name="Image 0" descr="exports\261005_workshop_rad_uitvoering\img\data.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bg>
      <p:bgPr>
        <a:solidFill>
          <a:srgbClr val="FCF5D4"/>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Ronde 1: wat je doet en oplevert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Verken</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marL="0" indent="0" algn="l">
              <a:lnSpc>
                <a:spcPct val="105000"/>
              </a:lnSpc>
              <a:buNone/>
            </a:pPr>
            <a:r>
              <a:rPr lang="en-US" sz="2400" dirty="0">
                <a:solidFill>
                  <a:srgbClr val="F4D9DC"/>
                </a:solidFill>
                <a:latin typeface="General Sans Semibold" pitchFamily="34" charset="0"/>
                <a:ea typeface="General Sans Semibold" pitchFamily="34" charset="-122"/>
                <a:cs typeface="General Sans Semibold" pitchFamily="34" charset="-120"/>
              </a:rPr>
              <a:t>Wat zit erin?</a:t>
            </a:r>
            <a:endParaRPr lang="en-US" sz="24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en wat één rij is.</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txBody>
          <a:bodyPr/>
          <a:lstStyle/>
          <a:p>
            <a:endParaRPr/>
          </a:p>
        </p:txBody>
      </p:sp>
      <p:sp>
        <p:nvSpPr>
          <p:cNvPr id="81" name="Shape 79"/>
          <p:cNvSpPr/>
          <p:nvPr/>
        </p:nvSpPr>
        <p:spPr>
          <a:xfrm>
            <a:off x="4612538" y="1645920"/>
            <a:ext cx="548640" cy="548640"/>
          </a:xfrm>
          <a:prstGeom prst="ellipse">
            <a:avLst/>
          </a:prstGeom>
          <a:solidFill>
            <a:srgbClr val="F4D9DC"/>
          </a:solidFill>
          <a:ln/>
        </p:spPr>
        <p:txBody>
          <a:bodyPr/>
          <a:lstStyle/>
          <a:p>
            <a:endParaRPr/>
          </a:p>
        </p:txBody>
      </p:sp>
      <p:sp>
        <p:nvSpPr>
          <p:cNvPr id="82" name="Text 80"/>
          <p:cNvSpPr/>
          <p:nvPr/>
        </p:nvSpPr>
        <p:spPr>
          <a:xfrm>
            <a:off x="461253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txBody>
          <a:bodyPr/>
          <a:lstStyle/>
          <a:p>
            <a:endParaRPr/>
          </a:p>
        </p:txBody>
      </p:sp>
      <p:sp>
        <p:nvSpPr>
          <p:cNvPr id="84" name="Text 82"/>
          <p:cNvSpPr/>
          <p:nvPr/>
        </p:nvSpPr>
        <p:spPr>
          <a:xfrm>
            <a:off x="5389778"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mag je laten zien?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Kleine groepen en cohorten die nog niet afgelopen zijn. Wat telt wel en niet mee?</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txBody>
          <a:bodyPr/>
          <a:lstStyle/>
          <a:p>
            <a:endParaRPr/>
          </a:p>
        </p:txBody>
      </p:sp>
      <p:sp>
        <p:nvSpPr>
          <p:cNvPr id="88" name="Shape 86"/>
          <p:cNvSpPr/>
          <p:nvPr/>
        </p:nvSpPr>
        <p:spPr>
          <a:xfrm>
            <a:off x="8402117" y="1645920"/>
            <a:ext cx="548640" cy="548640"/>
          </a:xfrm>
          <a:prstGeom prst="ellipse">
            <a:avLst/>
          </a:prstGeom>
          <a:solidFill>
            <a:srgbClr val="F4D9DC"/>
          </a:solidFill>
          <a:ln/>
        </p:spPr>
        <p:txBody>
          <a:bodyPr/>
          <a:lstStyle/>
          <a:p>
            <a:endParaRPr/>
          </a:p>
        </p:txBody>
      </p:sp>
      <p:sp>
        <p:nvSpPr>
          <p:cNvPr id="89" name="Text 87"/>
          <p:cNvSpPr/>
          <p:nvPr/>
        </p:nvSpPr>
        <p:spPr>
          <a:xfrm>
            <a:off x="8402117"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txBody>
          <a:bodyPr/>
          <a:lstStyle/>
          <a:p>
            <a:endParaRPr/>
          </a:p>
        </p:txBody>
      </p:sp>
      <p:sp>
        <p:nvSpPr>
          <p:cNvPr id="91" name="Text 89"/>
          <p:cNvSpPr/>
          <p:nvPr/>
        </p:nvSpPr>
        <p:spPr>
          <a:xfrm>
            <a:off x="9179357"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Leg vast</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bedoel je precies?</a:t>
            </a:r>
            <a:endParaRPr lang="en-US" sz="23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 definitie van je kernmaat, wat één rij is en de drempels voor kleine groepen.</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marL="0" indent="0" algn="l">
              <a:lnSpc>
                <a:spcPct val="105000"/>
              </a:lnSpc>
              <a:buNone/>
            </a:pPr>
            <a:r>
              <a:rPr lang="en-US" sz="1500" dirty="0">
                <a:solidFill>
                  <a:srgbClr val="DD784B"/>
                </a:solidFill>
                <a:latin typeface="General Sans Semibold" pitchFamily="34" charset="0"/>
                <a:ea typeface="General Sans Semibold" pitchFamily="34" charset="-122"/>
                <a:cs typeface="General Sans Semibold" pitchFamily="34" charset="-120"/>
              </a:rPr>
              <a:t>Probeer: "Vertel in gewone taal wat er in data/demodata_1cho.csv zit." Oplevering: begrip van de data, je definities en een eerste privacy-check.</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bg>
      <p:bgPr>
        <a:solidFill>
          <a:srgbClr val="DD78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Shape 70"/>
          <p:cNvSpPr/>
          <p:nvPr/>
        </p:nvSpPr>
        <p:spPr>
          <a:xfrm>
            <a:off x="548640" y="1280160"/>
            <a:ext cx="1005840" cy="1005840"/>
          </a:xfrm>
          <a:prstGeom prst="ellipse">
            <a:avLst/>
          </a:prstGeom>
          <a:solidFill>
            <a:srgbClr val="F4D9DC"/>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/verkennen_data, en wat deed jij anders?</a:t>
            </a:r>
            <a:endParaRPr lang="en-US" sz="2200" dirty="0"/>
          </a:p>
        </p:txBody>
      </p:sp>
      <p:pic>
        <p:nvPicPr>
          <p:cNvPr id="76" name="Image 0" descr="exports\261005_workshop_rad_uitvoering\img\Boek puzzelstuk.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/verkennen_data: de stappen</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Stap 1</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Kolommen</a:t>
            </a:r>
            <a:endParaRPr lang="en-US" sz="20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Per kolom in gewone taal wat het kan betekenen, als aanname.</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Kolomoverzicht</a:t>
            </a:r>
            <a:endParaRPr lang="en-US" sz="1500" dirty="0"/>
          </a:p>
        </p:txBody>
      </p:sp>
      <p:sp>
        <p:nvSpPr>
          <p:cNvPr id="82" name="Shape 80"/>
          <p:cNvSpPr/>
          <p:nvPr/>
        </p:nvSpPr>
        <p:spPr>
          <a:xfrm>
            <a:off x="3089072" y="3177540"/>
            <a:ext cx="237744" cy="548640"/>
          </a:xfrm>
          <a:prstGeom prst="chevron">
            <a:avLst/>
          </a:prstGeom>
          <a:solidFill>
            <a:srgbClr val="3D68EC"/>
          </a:solidFill>
          <a:ln/>
        </p:spPr>
        <p:txBody>
          <a:bodyPr/>
          <a:lstStyle/>
          <a:p>
            <a:endParaRPr/>
          </a:p>
        </p:txBody>
      </p:sp>
      <p:sp>
        <p:nvSpPr>
          <p:cNvPr id="83" name="Shape 81"/>
          <p:cNvSpPr/>
          <p:nvPr/>
        </p:nvSpPr>
        <p:spPr>
          <a:xfrm>
            <a:off x="3436544" y="1371600"/>
            <a:ext cx="2430704" cy="4160520"/>
          </a:xfrm>
          <a:prstGeom prst="roundRect">
            <a:avLst>
              <a:gd name="adj" fmla="val 3962"/>
            </a:avLst>
          </a:prstGeom>
          <a:solidFill>
            <a:srgbClr val="DD784B"/>
          </a:solidFill>
          <a:ln/>
        </p:spPr>
        <p:txBody>
          <a:bodyPr/>
          <a:lstStyle/>
          <a:p>
            <a:endParaRPr/>
          </a:p>
        </p:txBody>
      </p:sp>
      <p:sp>
        <p:nvSpPr>
          <p:cNvPr id="84" name="Shape 82"/>
          <p:cNvSpPr/>
          <p:nvPr/>
        </p:nvSpPr>
        <p:spPr>
          <a:xfrm>
            <a:off x="3710864" y="1645920"/>
            <a:ext cx="548640" cy="548640"/>
          </a:xfrm>
          <a:prstGeom prst="ellipse">
            <a:avLst/>
          </a:prstGeom>
          <a:solidFill>
            <a:srgbClr val="F4D9DC"/>
          </a:solidFill>
          <a:ln/>
        </p:spPr>
        <p:txBody>
          <a:bodyPr/>
          <a:lstStyle/>
          <a:p>
            <a:endParaRPr/>
          </a:p>
        </p:txBody>
      </p:sp>
      <p:sp>
        <p:nvSpPr>
          <p:cNvPr id="85" name="Text 83"/>
          <p:cNvSpPr/>
          <p:nvPr/>
        </p:nvSpPr>
        <p:spPr>
          <a:xfrm>
            <a:off x="3710864"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txBody>
          <a:bodyPr/>
          <a:lstStyle/>
          <a:p>
            <a:endParaRPr/>
          </a:p>
        </p:txBody>
      </p:sp>
      <p:sp>
        <p:nvSpPr>
          <p:cNvPr id="87" name="Text 85"/>
          <p:cNvSpPr/>
          <p:nvPr/>
        </p:nvSpPr>
        <p:spPr>
          <a:xfrm>
            <a:off x="4488104"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2</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Kwaliteit</a:t>
            </a:r>
            <a:endParaRPr lang="en-US" sz="20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Sleutel, dubbele rijen, ontbrekende waarden en verdelingen.</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Datakwaliteit</a:t>
            </a:r>
            <a:endParaRPr lang="en-US" sz="1500" dirty="0"/>
          </a:p>
        </p:txBody>
      </p:sp>
      <p:sp>
        <p:nvSpPr>
          <p:cNvPr id="92" name="Shape 90"/>
          <p:cNvSpPr/>
          <p:nvPr/>
        </p:nvSpPr>
        <p:spPr>
          <a:xfrm>
            <a:off x="5976976" y="3177540"/>
            <a:ext cx="237744" cy="548640"/>
          </a:xfrm>
          <a:prstGeom prst="chevron">
            <a:avLst/>
          </a:prstGeom>
          <a:solidFill>
            <a:srgbClr val="3D68EC"/>
          </a:solidFill>
          <a:ln/>
        </p:spPr>
        <p:txBody>
          <a:bodyPr/>
          <a:lstStyle/>
          <a:p>
            <a:endParaRPr/>
          </a:p>
        </p:txBody>
      </p:sp>
      <p:sp>
        <p:nvSpPr>
          <p:cNvPr id="93" name="Shape 91"/>
          <p:cNvSpPr/>
          <p:nvPr/>
        </p:nvSpPr>
        <p:spPr>
          <a:xfrm>
            <a:off x="6324448" y="1371600"/>
            <a:ext cx="2430704" cy="4160520"/>
          </a:xfrm>
          <a:prstGeom prst="roundRect">
            <a:avLst>
              <a:gd name="adj" fmla="val 3962"/>
            </a:avLst>
          </a:prstGeom>
          <a:solidFill>
            <a:srgbClr val="00AF81"/>
          </a:solidFill>
          <a:ln/>
        </p:spPr>
        <p:txBody>
          <a:bodyPr/>
          <a:lstStyle/>
          <a:p>
            <a:endParaRPr/>
          </a:p>
        </p:txBody>
      </p:sp>
      <p:sp>
        <p:nvSpPr>
          <p:cNvPr id="94" name="Shape 92"/>
          <p:cNvSpPr/>
          <p:nvPr/>
        </p:nvSpPr>
        <p:spPr>
          <a:xfrm>
            <a:off x="6598768" y="1645920"/>
            <a:ext cx="548640" cy="548640"/>
          </a:xfrm>
          <a:prstGeom prst="ellipse">
            <a:avLst/>
          </a:prstGeom>
          <a:solidFill>
            <a:srgbClr val="F4D9DC"/>
          </a:solidFill>
          <a:ln/>
        </p:spPr>
        <p:txBody>
          <a:bodyPr/>
          <a:lstStyle/>
          <a:p>
            <a:endParaRPr/>
          </a:p>
        </p:txBody>
      </p:sp>
      <p:sp>
        <p:nvSpPr>
          <p:cNvPr id="95" name="Text 93"/>
          <p:cNvSpPr/>
          <p:nvPr/>
        </p:nvSpPr>
        <p:spPr>
          <a:xfrm>
            <a:off x="659876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txBody>
          <a:bodyPr/>
          <a:lstStyle/>
          <a:p>
            <a:endParaRPr/>
          </a:p>
        </p:txBody>
      </p:sp>
      <p:sp>
        <p:nvSpPr>
          <p:cNvPr id="97" name="Text 95"/>
          <p:cNvSpPr/>
          <p:nvPr/>
        </p:nvSpPr>
        <p:spPr>
          <a:xfrm>
            <a:off x="7376008"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3</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Definities</a:t>
            </a:r>
            <a:endParaRPr lang="en-US" sz="19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 kernmaat letterlijk vastgelegd, met wat nog niet waarneembaar is.</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Afspraken</a:t>
            </a:r>
            <a:endParaRPr lang="en-US" sz="1500" dirty="0"/>
          </a:p>
        </p:txBody>
      </p:sp>
      <p:sp>
        <p:nvSpPr>
          <p:cNvPr id="102" name="Shape 100"/>
          <p:cNvSpPr/>
          <p:nvPr/>
        </p:nvSpPr>
        <p:spPr>
          <a:xfrm>
            <a:off x="8864879" y="3177540"/>
            <a:ext cx="237744" cy="548640"/>
          </a:xfrm>
          <a:prstGeom prst="chevron">
            <a:avLst/>
          </a:prstGeom>
          <a:solidFill>
            <a:srgbClr val="3D68EC"/>
          </a:solidFill>
          <a:ln/>
        </p:spPr>
        <p:txBody>
          <a:bodyPr/>
          <a:lstStyle/>
          <a:p>
            <a:endParaRPr/>
          </a:p>
        </p:txBody>
      </p:sp>
      <p:sp>
        <p:nvSpPr>
          <p:cNvPr id="103" name="Shape 101"/>
          <p:cNvSpPr/>
          <p:nvPr/>
        </p:nvSpPr>
        <p:spPr>
          <a:xfrm>
            <a:off x="9212351" y="1371600"/>
            <a:ext cx="2430704" cy="4160520"/>
          </a:xfrm>
          <a:prstGeom prst="roundRect">
            <a:avLst>
              <a:gd name="adj" fmla="val 3962"/>
            </a:avLst>
          </a:prstGeom>
          <a:solidFill>
            <a:srgbClr val="F4D74B"/>
          </a:solidFill>
          <a:ln/>
        </p:spPr>
        <p:txBody>
          <a:bodyPr/>
          <a:lstStyle/>
          <a:p>
            <a:endParaRPr/>
          </a:p>
        </p:txBody>
      </p:sp>
      <p:sp>
        <p:nvSpPr>
          <p:cNvPr id="104" name="Shape 102"/>
          <p:cNvSpPr/>
          <p:nvPr/>
        </p:nvSpPr>
        <p:spPr>
          <a:xfrm>
            <a:off x="9486671" y="1645920"/>
            <a:ext cx="548640" cy="548640"/>
          </a:xfrm>
          <a:prstGeom prst="ellipse">
            <a:avLst/>
          </a:prstGeom>
          <a:solidFill>
            <a:srgbClr val="3D68EC"/>
          </a:solidFill>
          <a:ln/>
        </p:spPr>
        <p:txBody>
          <a:bodyPr/>
          <a:lstStyle/>
          <a:p>
            <a:endParaRPr/>
          </a:p>
        </p:txBody>
      </p:sp>
      <p:sp>
        <p:nvSpPr>
          <p:cNvPr id="105" name="Text 103"/>
          <p:cNvSpPr/>
          <p:nvPr/>
        </p:nvSpPr>
        <p:spPr>
          <a:xfrm>
            <a:off x="9486671"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txBody>
          <a:bodyPr/>
          <a:lstStyle/>
          <a:p>
            <a:endParaRPr/>
          </a:p>
        </p:txBody>
      </p:sp>
      <p:sp>
        <p:nvSpPr>
          <p:cNvPr id="107" name="Text 105"/>
          <p:cNvSpPr/>
          <p:nvPr/>
        </p:nvSpPr>
        <p:spPr>
          <a:xfrm>
            <a:off x="10263911"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4</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Privacy</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Ideeën bij jouw vraag en drempels voor kleine groepen.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Ideeën en privacy</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Na drie korte vragen. In: data/demodata_1cho.csv en je vraag. Uit: uitvoer/data-profiel.html.</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bg>
      <p:bgPr>
        <a:solidFill>
          <a:srgbClr val="FAEAEA"/>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skill 1 voor je afvangt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txBody>
          <a:bodyPr/>
          <a:lstStyle/>
          <a:p>
            <a:endParaRPr/>
          </a:p>
        </p:txBody>
      </p:sp>
      <p:sp>
        <p:nvSpPr>
          <p:cNvPr id="74" name="Shape 72"/>
          <p:cNvSpPr/>
          <p:nvPr/>
        </p:nvSpPr>
        <p:spPr>
          <a:xfrm>
            <a:off x="822960" y="1719072"/>
            <a:ext cx="2019224" cy="402336"/>
          </a:xfrm>
          <a:prstGeom prst="roundRect">
            <a:avLst>
              <a:gd name="adj" fmla="val 113636"/>
            </a:avLst>
          </a:prstGeom>
          <a:solidFill>
            <a:srgbClr val="F4D74B"/>
          </a:solidFill>
          <a:ln/>
        </p:spPr>
        <p:txBody>
          <a:bodyPr/>
          <a:lstStyle/>
          <a:p>
            <a:endParaRPr/>
          </a:p>
        </p:txBody>
      </p:sp>
      <p:sp>
        <p:nvSpPr>
          <p:cNvPr id="75" name="Text 73"/>
          <p:cNvSpPr/>
          <p:nvPr/>
        </p:nvSpPr>
        <p:spPr>
          <a:xfrm>
            <a:off x="914400"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76" name="Text 74"/>
          <p:cNvSpPr/>
          <p:nvPr/>
        </p:nvSpPr>
        <p:spPr>
          <a:xfrm>
            <a:off x="822960" y="2423160"/>
            <a:ext cx="2019224" cy="572008"/>
          </a:xfrm>
          <a:prstGeom prst="rect">
            <a:avLst/>
          </a:prstGeom>
          <a:noFill/>
          <a:ln/>
        </p:spPr>
        <p:txBody>
          <a:bodyPr wrap="square" lIns="0" tIns="0" rIns="0" bIns="0" rtlCol="0" anchor="t"/>
          <a:lstStyle/>
          <a:p>
            <a:pPr marL="0" indent="0" algn="l">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Laatste cohort</a:t>
            </a:r>
            <a:endParaRPr lang="en-US" sz="1900" dirty="0"/>
          </a:p>
        </p:txBody>
      </p:sp>
      <p:sp>
        <p:nvSpPr>
          <p:cNvPr id="77" name="Text 75"/>
          <p:cNvSpPr/>
          <p:nvPr/>
        </p:nvSpPr>
        <p:spPr>
          <a:xfrm>
            <a:off x="822960"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Het laatste cohort lijkt helemaal uit te vallen. De skill sluit het uit.</a:t>
            </a:r>
            <a:endParaRPr lang="en-US" sz="1500" dirty="0"/>
          </a:p>
        </p:txBody>
      </p:sp>
      <p:sp>
        <p:nvSpPr>
          <p:cNvPr id="78" name="Shape 76"/>
          <p:cNvSpPr/>
          <p:nvPr/>
        </p:nvSpPr>
        <p:spPr>
          <a:xfrm>
            <a:off x="3390824" y="1371600"/>
            <a:ext cx="2567864" cy="3025648"/>
          </a:xfrm>
          <a:prstGeom prst="roundRect">
            <a:avLst>
              <a:gd name="adj" fmla="val 3550"/>
            </a:avLst>
          </a:prstGeom>
          <a:solidFill>
            <a:srgbClr val="DD784B"/>
          </a:solidFill>
          <a:ln/>
        </p:spPr>
        <p:txBody>
          <a:bodyPr/>
          <a:lstStyle/>
          <a:p>
            <a:endParaRPr/>
          </a:p>
        </p:txBody>
      </p:sp>
      <p:sp>
        <p:nvSpPr>
          <p:cNvPr id="79" name="Shape 77"/>
          <p:cNvSpPr/>
          <p:nvPr/>
        </p:nvSpPr>
        <p:spPr>
          <a:xfrm>
            <a:off x="3665144" y="1719072"/>
            <a:ext cx="2019224" cy="402336"/>
          </a:xfrm>
          <a:prstGeom prst="roundRect">
            <a:avLst>
              <a:gd name="adj" fmla="val 113636"/>
            </a:avLst>
          </a:prstGeom>
          <a:solidFill>
            <a:srgbClr val="F4D9DC"/>
          </a:solidFill>
          <a:ln/>
        </p:spPr>
        <p:txBody>
          <a:bodyPr/>
          <a:lstStyle/>
          <a:p>
            <a:endParaRPr/>
          </a:p>
        </p:txBody>
      </p:sp>
      <p:sp>
        <p:nvSpPr>
          <p:cNvPr id="80" name="Text 78"/>
          <p:cNvSpPr/>
          <p:nvPr/>
        </p:nvSpPr>
        <p:spPr>
          <a:xfrm>
            <a:off x="3756584"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81" name="Text 79"/>
          <p:cNvSpPr/>
          <p:nvPr/>
        </p:nvSpPr>
        <p:spPr>
          <a:xfrm>
            <a:off x="3665144" y="2423160"/>
            <a:ext cx="2019224" cy="57200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waarde</a:t>
            </a:r>
            <a:endParaRPr lang="en-US" sz="2000" dirty="0"/>
          </a:p>
        </p:txBody>
      </p:sp>
      <p:sp>
        <p:nvSpPr>
          <p:cNvPr id="82" name="Text 80"/>
          <p:cNvSpPr/>
          <p:nvPr/>
        </p:nvSpPr>
        <p:spPr>
          <a:xfrm>
            <a:off x="3665144"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Opleidingsvorm is overal voltijd. De skill laat die weg.</a:t>
            </a:r>
            <a:endParaRPr lang="en-US" sz="1500" dirty="0"/>
          </a:p>
        </p:txBody>
      </p:sp>
      <p:sp>
        <p:nvSpPr>
          <p:cNvPr id="83" name="Shape 81"/>
          <p:cNvSpPr/>
          <p:nvPr/>
        </p:nvSpPr>
        <p:spPr>
          <a:xfrm>
            <a:off x="6233008" y="1371600"/>
            <a:ext cx="2567864" cy="3025648"/>
          </a:xfrm>
          <a:prstGeom prst="roundRect">
            <a:avLst>
              <a:gd name="adj" fmla="val 3550"/>
            </a:avLst>
          </a:prstGeom>
          <a:solidFill>
            <a:srgbClr val="00AF81"/>
          </a:solidFill>
          <a:ln/>
        </p:spPr>
        <p:txBody>
          <a:bodyPr/>
          <a:lstStyle/>
          <a:p>
            <a:endParaRPr/>
          </a:p>
        </p:txBody>
      </p:sp>
      <p:sp>
        <p:nvSpPr>
          <p:cNvPr id="84" name="Shape 82"/>
          <p:cNvSpPr/>
          <p:nvPr/>
        </p:nvSpPr>
        <p:spPr>
          <a:xfrm>
            <a:off x="6507328" y="1719072"/>
            <a:ext cx="2019224" cy="402336"/>
          </a:xfrm>
          <a:prstGeom prst="roundRect">
            <a:avLst>
              <a:gd name="adj" fmla="val 113636"/>
            </a:avLst>
          </a:prstGeom>
          <a:solidFill>
            <a:srgbClr val="F4D9DC"/>
          </a:solidFill>
          <a:ln/>
        </p:spPr>
        <p:txBody>
          <a:bodyPr/>
          <a:lstStyle/>
          <a:p>
            <a:endParaRPr/>
          </a:p>
        </p:txBody>
      </p:sp>
      <p:sp>
        <p:nvSpPr>
          <p:cNvPr id="85" name="Text 83"/>
          <p:cNvSpPr/>
          <p:nvPr/>
        </p:nvSpPr>
        <p:spPr>
          <a:xfrm>
            <a:off x="6598768"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86" name="Text 84"/>
          <p:cNvSpPr/>
          <p:nvPr/>
        </p:nvSpPr>
        <p:spPr>
          <a:xfrm>
            <a:off x="6507328" y="2423160"/>
            <a:ext cx="201922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87" name="Text 85"/>
          <p:cNvSpPr/>
          <p:nvPr/>
        </p:nvSpPr>
        <p:spPr>
          <a:xfrm>
            <a:off x="6507328"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de 30 studenten worden niet getoond.</a:t>
            </a:r>
            <a:endParaRPr lang="en-US" sz="1500" dirty="0"/>
          </a:p>
        </p:txBody>
      </p:sp>
      <p:sp>
        <p:nvSpPr>
          <p:cNvPr id="88" name="Shape 86"/>
          <p:cNvSpPr/>
          <p:nvPr/>
        </p:nvSpPr>
        <p:spPr>
          <a:xfrm>
            <a:off x="9075191" y="1371600"/>
            <a:ext cx="2567864" cy="3025648"/>
          </a:xfrm>
          <a:prstGeom prst="roundRect">
            <a:avLst>
              <a:gd name="adj" fmla="val 3550"/>
            </a:avLst>
          </a:prstGeom>
          <a:solidFill>
            <a:srgbClr val="F4D74B"/>
          </a:solidFill>
          <a:ln/>
        </p:spPr>
        <p:txBody>
          <a:bodyPr/>
          <a:lstStyle/>
          <a:p>
            <a:endParaRPr/>
          </a:p>
        </p:txBody>
      </p:sp>
      <p:sp>
        <p:nvSpPr>
          <p:cNvPr id="89" name="Shape 87"/>
          <p:cNvSpPr/>
          <p:nvPr/>
        </p:nvSpPr>
        <p:spPr>
          <a:xfrm>
            <a:off x="9349511" y="1719072"/>
            <a:ext cx="2019224" cy="402336"/>
          </a:xfrm>
          <a:prstGeom prst="roundRect">
            <a:avLst>
              <a:gd name="adj" fmla="val 113636"/>
            </a:avLst>
          </a:prstGeom>
          <a:solidFill>
            <a:srgbClr val="3D68EC"/>
          </a:solidFill>
          <a:ln/>
        </p:spPr>
        <p:txBody>
          <a:bodyPr/>
          <a:lstStyle/>
          <a:p>
            <a:endParaRPr/>
          </a:p>
        </p:txBody>
      </p:sp>
      <p:sp>
        <p:nvSpPr>
          <p:cNvPr id="90" name="Text 88"/>
          <p:cNvSpPr/>
          <p:nvPr/>
        </p:nvSpPr>
        <p:spPr>
          <a:xfrm>
            <a:off x="9440951"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Framing</a:t>
            </a:r>
            <a:endParaRPr lang="en-US" sz="1200" dirty="0"/>
          </a:p>
        </p:txBody>
      </p:sp>
      <p:sp>
        <p:nvSpPr>
          <p:cNvPr id="91" name="Text 89"/>
          <p:cNvSpPr/>
          <p:nvPr/>
        </p:nvSpPr>
        <p:spPr>
          <a:xfrm>
            <a:off x="9349511" y="2423160"/>
            <a:ext cx="2019224" cy="572008"/>
          </a:xfrm>
          <a:prstGeom prst="rect">
            <a:avLst/>
          </a:prstGeom>
          <a:noFill/>
          <a:ln/>
        </p:spPr>
        <p:txBody>
          <a:bodyPr wrap="square" lIns="0" tIns="0" rIns="0" bIns="0" rtlCol="0" anchor="t"/>
          <a:lstStyle/>
          <a:p>
            <a:pPr marL="0" indent="0" algn="l">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92" name="Text 90"/>
          <p:cNvSpPr/>
          <p:nvPr/>
        </p:nvSpPr>
        <p:spPr>
          <a:xfrm>
            <a:off x="9349511"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heet nooit effect. De skill noemt wat niet kan.</a:t>
            </a:r>
            <a:endParaRPr lang="en-US" sz="1500" dirty="0"/>
          </a:p>
        </p:txBody>
      </p:sp>
      <p:sp>
        <p:nvSpPr>
          <p:cNvPr id="93" name="Text 91"/>
          <p:cNvSpPr/>
          <p:nvPr/>
        </p:nvSpPr>
        <p:spPr>
          <a:xfrm>
            <a:off x="548640" y="4580128"/>
            <a:ext cx="11094415" cy="457200"/>
          </a:xfrm>
          <a:prstGeom prst="rect">
            <a:avLst/>
          </a:prstGeom>
          <a:noFill/>
          <a:ln/>
        </p:spPr>
        <p:txBody>
          <a:bodyPr wrap="square" lIns="0" tIns="0" rIns="0" bIns="0" rtlCol="0" anchor="t"/>
          <a:lstStyle/>
          <a:p>
            <a:pPr marL="0" indent="0" algn="l">
              <a:lnSpc>
                <a:spcPct val="105000"/>
              </a:lnSpc>
              <a:buNone/>
            </a:pPr>
            <a:r>
              <a:rPr lang="en-US" sz="1700" dirty="0">
                <a:solidFill>
                  <a:srgbClr val="000000"/>
                </a:solidFill>
                <a:latin typeface="General Sans" pitchFamily="34" charset="0"/>
                <a:ea typeface="General Sans" pitchFamily="34" charset="-122"/>
                <a:cs typeface="General Sans" pitchFamily="34" charset="-120"/>
              </a:rPr>
              <a:t>Wat misten jullie zelf, en wat zagen jullie juist wel? Dat is de vraag voor dit moment.</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het dataprofiel eruit</a:t>
            </a:r>
            <a:endParaRPr lang="en-US" sz="3100" dirty="0"/>
          </a:p>
        </p:txBody>
      </p:sp>
      <p:pic>
        <p:nvPicPr>
          <p:cNvPr id="73" name="Image 0" descr="Schermafbeelding van data-profiel.html: menu links, tegels met kerncijfers en een tabel met keuzes en aannames"/>
          <p:cNvPicPr>
            <a:picLocks noChangeAspect="1"/>
          </p:cNvPicPr>
          <p:nvPr/>
        </p:nvPicPr>
        <p:blipFill>
          <a:blip r:embed="rId3"/>
          <a:stretch>
            <a:fillRect/>
          </a:stretch>
        </p:blipFill>
        <p:spPr>
          <a:xfrm>
            <a:off x="640000" y="1371600"/>
            <a:ext cx="6900000" cy="3881250"/>
          </a:xfrm>
          <a:prstGeom prst="rect">
            <a:avLst/>
          </a:prstGeom>
        </p:spPr>
      </p:pic>
      <p:sp>
        <p:nvSpPr>
          <p:cNvPr id="74" name="Text 71"/>
          <p:cNvSpPr/>
          <p:nvPr/>
        </p:nvSpPr>
        <p:spPr>
          <a:xfrm>
            <a:off x="640000" y="540285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uitvoer/data-profiel.html</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is de uitkomst van </a:t>
            </a:r>
            <a:r>
              <a:rPr lang="en-US" sz="1800" dirty="0">
                <a:solidFill>
                  <a:srgbClr val="00AF81"/>
                </a:solidFill>
                <a:latin typeface="General Sans Semibold" pitchFamily="34" charset="0"/>
                <a:ea typeface="General Sans Semibold" pitchFamily="34" charset="-122"/>
                <a:cs typeface="General Sans Semibold" pitchFamily="34" charset="-120"/>
              </a:rPr>
              <a:t>verkennen_data</a:t>
            </a:r>
            <a:r>
              <a:rPr lang="en-US" sz="1800" dirty="0">
                <a:solidFill>
                  <a:srgbClr val="000000"/>
                </a:solidFill>
                <a:latin typeface="General Sans" pitchFamily="34" charset="0"/>
                <a:ea typeface="General Sans" pitchFamily="34" charset="-122"/>
                <a:cs typeface="General Sans" pitchFamily="34" charset="-120"/>
              </a:rPr>
              <a:t>: een menu, tegels met de kerncijfers en een tabel met je </a:t>
            </a:r>
            <a:r>
              <a:rPr lang="en-US" sz="1800" dirty="0">
                <a:solidFill>
                  <a:srgbClr val="00AF81"/>
                </a:solidFill>
                <a:latin typeface="General Sans Semibold" pitchFamily="34" charset="0"/>
                <a:ea typeface="General Sans Semibold" pitchFamily="34" charset="-122"/>
                <a:cs typeface="General Sans Semibold" pitchFamily="34" charset="-120"/>
              </a:rPr>
              <a:t>keuzes en aannames</a:t>
            </a:r>
            <a:r>
              <a:rPr lang="en-US" sz="1800" dirty="0">
                <a:solidFill>
                  <a:srgbClr val="000000"/>
                </a:solidFill>
                <a:latin typeface="General Sans" pitchFamily="34" charset="0"/>
                <a:ea typeface="General Sans" pitchFamily="34" charset="-122"/>
                <a:cs typeface="General Sans" pitchFamily="34" charset="-120"/>
              </a:rPr>
              <a:t>. Open het met rechtsklik en </a:t>
            </a:r>
            <a:r>
              <a:rPr lang="en-US" sz="1800" dirty="0">
                <a:solidFill>
                  <a:srgbClr val="00AF81"/>
                </a:solidFill>
                <a:latin typeface="General Sans Semibold" pitchFamily="34" charset="0"/>
                <a:ea typeface="General Sans Semibold" pitchFamily="34" charset="-122"/>
                <a:cs typeface="General Sans Semibold" pitchFamily="34" charset="-120"/>
              </a:rPr>
              <a:t>Show Preview</a:t>
            </a:r>
            <a:r>
              <a:rPr lang="en-US" sz="1800" dirty="0">
                <a:solidFill>
                  <a:srgbClr val="000000"/>
                </a:solidFill>
                <a:latin typeface="General Sans" pitchFamily="34" charset="0"/>
                <a:ea typeface="General Sans" pitchFamily="34" charset="-122"/>
                <a:cs typeface="General Sans" pitchFamily="34" charset="-120"/>
              </a:rPr>
              <a:t>.</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Shape 70"/>
          <p:cNvSpPr/>
          <p:nvPr/>
        </p:nvSpPr>
        <p:spPr>
          <a:xfrm>
            <a:off x="548640" y="1280160"/>
            <a:ext cx="1005840" cy="1005840"/>
          </a:xfrm>
          <a:prstGeom prst="ellipse">
            <a:avLst/>
          </a:prstGeom>
          <a:solidFill>
            <a:srgbClr val="F4D74B"/>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bouw het dashboard</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F4D74B"/>
                </a:solidFill>
                <a:latin typeface="Cooper Lt BT" pitchFamily="34" charset="0"/>
                <a:ea typeface="Cooper Lt BT" pitchFamily="34" charset="-122"/>
                <a:cs typeface="Cooper Lt BT" pitchFamily="34" charset="-120"/>
              </a:rPr>
              <a:t>22 minuten. Wissel van rol en maak de conclusie zichtbaar.</a:t>
            </a:r>
            <a:endParaRPr lang="en-US" sz="2200" dirty="0"/>
          </a:p>
        </p:txBody>
      </p:sp>
      <p:pic>
        <p:nvPicPr>
          <p:cNvPr id="76" name="Image 0" descr="exports\261005_workshop_rad_uitvoering\img\Laptopman.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je dashboard minimaal heeft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11505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Grafiek</a:t>
            </a:r>
            <a:endParaRPr lang="en-US" sz="1200" dirty="0"/>
          </a:p>
        </p:txBody>
      </p:sp>
      <p:sp>
        <p:nvSpPr>
          <p:cNvPr id="78" name="Text 76"/>
          <p:cNvSpPr/>
          <p:nvPr/>
        </p:nvSpPr>
        <p:spPr>
          <a:xfrm>
            <a:off x="822960" y="2423160"/>
            <a:ext cx="2019224" cy="572008"/>
          </a:xfrm>
          <a:prstGeom prst="rect">
            <a:avLst/>
          </a:prstGeom>
          <a:noFill/>
          <a:ln/>
        </p:spPr>
        <p:txBody>
          <a:bodyPr wrap="square" lIns="0" tIns="0" rIns="0" bIns="0" rtlCol="0" anchor="t"/>
          <a:lstStyle/>
          <a:p>
            <a:pPr marL="0" indent="0" algn="l">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Conclusie als titel</a:t>
            </a:r>
            <a:endParaRPr lang="en-US" sz="1900" dirty="0"/>
          </a:p>
        </p:txBody>
      </p:sp>
      <p:sp>
        <p:nvSpPr>
          <p:cNvPr id="79" name="Text 77"/>
          <p:cNvSpPr/>
          <p:nvPr/>
        </p:nvSpPr>
        <p:spPr>
          <a:xfrm>
            <a:off x="822960"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"Uitval is het hoogst in techniek" in plaats van "Uitval per sector".</a:t>
            </a:r>
            <a:endParaRPr lang="en-US" sz="1500" dirty="0"/>
          </a:p>
        </p:txBody>
      </p:sp>
      <p:sp>
        <p:nvSpPr>
          <p:cNvPr id="80" name="Shape 78"/>
          <p:cNvSpPr/>
          <p:nvPr/>
        </p:nvSpPr>
        <p:spPr>
          <a:xfrm>
            <a:off x="3390824" y="1371600"/>
            <a:ext cx="2567864" cy="3025648"/>
          </a:xfrm>
          <a:prstGeom prst="roundRect">
            <a:avLst>
              <a:gd name="adj" fmla="val 3550"/>
            </a:avLst>
          </a:prstGeom>
          <a:solidFill>
            <a:srgbClr val="DD784B"/>
          </a:solidFill>
          <a:ln/>
        </p:spPr>
        <p:txBody>
          <a:bodyPr/>
          <a:lstStyle/>
          <a:p>
            <a:endParaRPr/>
          </a:p>
        </p:txBody>
      </p:sp>
      <p:sp>
        <p:nvSpPr>
          <p:cNvPr id="81" name="Shape 79"/>
          <p:cNvSpPr/>
          <p:nvPr/>
        </p:nvSpPr>
        <p:spPr>
          <a:xfrm>
            <a:off x="3665144" y="1645920"/>
            <a:ext cx="548640" cy="548640"/>
          </a:xfrm>
          <a:prstGeom prst="ellipse">
            <a:avLst/>
          </a:prstGeom>
          <a:solidFill>
            <a:srgbClr val="F4D9DC"/>
          </a:solidFill>
          <a:ln/>
        </p:spPr>
        <p:txBody>
          <a:bodyPr/>
          <a:lstStyle/>
          <a:p>
            <a:endParaRPr/>
          </a:p>
        </p:txBody>
      </p:sp>
      <p:sp>
        <p:nvSpPr>
          <p:cNvPr id="82" name="Text 80"/>
          <p:cNvSpPr/>
          <p:nvPr/>
        </p:nvSpPr>
        <p:spPr>
          <a:xfrm>
            <a:off x="3665144"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F4D9DC"/>
          </a:solidFill>
          <a:ln/>
        </p:spPr>
        <p:txBody>
          <a:bodyPr/>
          <a:lstStyle/>
          <a:p>
            <a:endParaRPr/>
          </a:p>
        </p:txBody>
      </p:sp>
      <p:sp>
        <p:nvSpPr>
          <p:cNvPr id="84" name="Text 82"/>
          <p:cNvSpPr/>
          <p:nvPr/>
        </p:nvSpPr>
        <p:spPr>
          <a:xfrm>
            <a:off x="4442384" y="1719072"/>
            <a:ext cx="11505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Vergelijking</a:t>
            </a:r>
            <a:endParaRPr lang="en-US" sz="1200" dirty="0"/>
          </a:p>
        </p:txBody>
      </p:sp>
      <p:sp>
        <p:nvSpPr>
          <p:cNvPr id="85" name="Text 83"/>
          <p:cNvSpPr/>
          <p:nvPr/>
        </p:nvSpPr>
        <p:spPr>
          <a:xfrm>
            <a:off x="3665144" y="2423160"/>
            <a:ext cx="2019224" cy="57200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nul-as</a:t>
            </a:r>
            <a:endParaRPr lang="en-US" sz="2000" dirty="0"/>
          </a:p>
        </p:txBody>
      </p:sp>
      <p:sp>
        <p:nvSpPr>
          <p:cNvPr id="86" name="Text 84"/>
          <p:cNvSpPr/>
          <p:nvPr/>
        </p:nvSpPr>
        <p:spPr>
          <a:xfrm>
            <a:off x="3665144"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of cohorten naast elkaar, vergelijkbaar en eerlijk.</a:t>
            </a:r>
            <a:endParaRPr lang="en-US" sz="1500" dirty="0"/>
          </a:p>
        </p:txBody>
      </p:sp>
      <p:sp>
        <p:nvSpPr>
          <p:cNvPr id="87" name="Shape 85"/>
          <p:cNvSpPr/>
          <p:nvPr/>
        </p:nvSpPr>
        <p:spPr>
          <a:xfrm>
            <a:off x="6233008" y="1371600"/>
            <a:ext cx="2567864" cy="3025648"/>
          </a:xfrm>
          <a:prstGeom prst="roundRect">
            <a:avLst>
              <a:gd name="adj" fmla="val 3550"/>
            </a:avLst>
          </a:prstGeom>
          <a:solidFill>
            <a:srgbClr val="00AF81"/>
          </a:solidFill>
          <a:ln/>
        </p:spPr>
        <p:txBody>
          <a:bodyPr/>
          <a:lstStyle/>
          <a:p>
            <a:endParaRPr/>
          </a:p>
        </p:txBody>
      </p:sp>
      <p:sp>
        <p:nvSpPr>
          <p:cNvPr id="88" name="Shape 86"/>
          <p:cNvSpPr/>
          <p:nvPr/>
        </p:nvSpPr>
        <p:spPr>
          <a:xfrm>
            <a:off x="6507328" y="1645920"/>
            <a:ext cx="548640" cy="548640"/>
          </a:xfrm>
          <a:prstGeom prst="ellipse">
            <a:avLst/>
          </a:prstGeom>
          <a:solidFill>
            <a:srgbClr val="F4D9DC"/>
          </a:solidFill>
          <a:ln/>
        </p:spPr>
        <p:txBody>
          <a:bodyPr/>
          <a:lstStyle/>
          <a:p>
            <a:endParaRPr/>
          </a:p>
        </p:txBody>
      </p:sp>
      <p:sp>
        <p:nvSpPr>
          <p:cNvPr id="89" name="Text 87"/>
          <p:cNvSpPr/>
          <p:nvPr/>
        </p:nvSpPr>
        <p:spPr>
          <a:xfrm>
            <a:off x="650732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F4D9DC"/>
          </a:solidFill>
          <a:ln/>
        </p:spPr>
        <p:txBody>
          <a:bodyPr/>
          <a:lstStyle/>
          <a:p>
            <a:endParaRPr/>
          </a:p>
        </p:txBody>
      </p:sp>
      <p:sp>
        <p:nvSpPr>
          <p:cNvPr id="91" name="Text 89"/>
          <p:cNvSpPr/>
          <p:nvPr/>
        </p:nvSpPr>
        <p:spPr>
          <a:xfrm>
            <a:off x="7284568" y="1719072"/>
            <a:ext cx="11505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Filter</a:t>
            </a:r>
            <a:endParaRPr lang="en-US" sz="1200" dirty="0"/>
          </a:p>
        </p:txBody>
      </p:sp>
      <p:sp>
        <p:nvSpPr>
          <p:cNvPr id="92" name="Text 90"/>
          <p:cNvSpPr/>
          <p:nvPr/>
        </p:nvSpPr>
        <p:spPr>
          <a:xfrm>
            <a:off x="6507328" y="2423160"/>
            <a:ext cx="201922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Sector of cohort</a:t>
            </a:r>
            <a:endParaRPr lang="en-US" sz="1900" dirty="0"/>
          </a:p>
        </p:txBody>
      </p:sp>
      <p:sp>
        <p:nvSpPr>
          <p:cNvPr id="93" name="Text 91"/>
          <p:cNvSpPr/>
          <p:nvPr/>
        </p:nvSpPr>
        <p:spPr>
          <a:xfrm>
            <a:off x="6507328"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Ook na het filteren worden kleine groepen niet getoond.</a:t>
            </a:r>
            <a:endParaRPr lang="en-US" sz="1500" dirty="0"/>
          </a:p>
        </p:txBody>
      </p:sp>
      <p:sp>
        <p:nvSpPr>
          <p:cNvPr id="94" name="Shape 92"/>
          <p:cNvSpPr/>
          <p:nvPr/>
        </p:nvSpPr>
        <p:spPr>
          <a:xfrm>
            <a:off x="9075191" y="1371600"/>
            <a:ext cx="2567864" cy="3025648"/>
          </a:xfrm>
          <a:prstGeom prst="roundRect">
            <a:avLst>
              <a:gd name="adj" fmla="val 3550"/>
            </a:avLst>
          </a:prstGeom>
          <a:solidFill>
            <a:srgbClr val="F4D74B"/>
          </a:solidFill>
          <a:ln/>
        </p:spPr>
        <p:txBody>
          <a:bodyPr/>
          <a:lstStyle/>
          <a:p>
            <a:endParaRPr/>
          </a:p>
        </p:txBody>
      </p:sp>
      <p:sp>
        <p:nvSpPr>
          <p:cNvPr id="95" name="Shape 93"/>
          <p:cNvSpPr/>
          <p:nvPr/>
        </p:nvSpPr>
        <p:spPr>
          <a:xfrm>
            <a:off x="9349511" y="1645920"/>
            <a:ext cx="548640" cy="548640"/>
          </a:xfrm>
          <a:prstGeom prst="ellipse">
            <a:avLst/>
          </a:prstGeom>
          <a:solidFill>
            <a:srgbClr val="3D68EC"/>
          </a:solidFill>
          <a:ln/>
        </p:spPr>
        <p:txBody>
          <a:bodyPr/>
          <a:lstStyle/>
          <a:p>
            <a:endParaRPr/>
          </a:p>
        </p:txBody>
      </p:sp>
      <p:sp>
        <p:nvSpPr>
          <p:cNvPr id="96" name="Text 94"/>
          <p:cNvSpPr/>
          <p:nvPr/>
        </p:nvSpPr>
        <p:spPr>
          <a:xfrm>
            <a:off x="9349511"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txBody>
          <a:bodyPr/>
          <a:lstStyle/>
          <a:p>
            <a:endParaRPr/>
          </a:p>
        </p:txBody>
      </p:sp>
      <p:sp>
        <p:nvSpPr>
          <p:cNvPr id="98" name="Text 96"/>
          <p:cNvSpPr/>
          <p:nvPr/>
        </p:nvSpPr>
        <p:spPr>
          <a:xfrm>
            <a:off x="10126751" y="1719072"/>
            <a:ext cx="11505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Uitleg</a:t>
            </a:r>
            <a:endParaRPr lang="en-US" sz="1200" dirty="0"/>
          </a:p>
        </p:txBody>
      </p:sp>
      <p:sp>
        <p:nvSpPr>
          <p:cNvPr id="99" name="Text 97"/>
          <p:cNvSpPr/>
          <p:nvPr/>
        </p:nvSpPr>
        <p:spPr>
          <a:xfrm>
            <a:off x="9349511" y="2423160"/>
            <a:ext cx="2019224" cy="572008"/>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Zo lees je dit</a:t>
            </a:r>
            <a:endParaRPr lang="en-US" sz="1900" dirty="0"/>
          </a:p>
        </p:txBody>
      </p:sp>
      <p:sp>
        <p:nvSpPr>
          <p:cNvPr id="100" name="Text 98"/>
          <p:cNvSpPr/>
          <p:nvPr/>
        </p:nvSpPr>
        <p:spPr>
          <a:xfrm>
            <a:off x="9349511" y="3269488"/>
            <a:ext cx="2019224"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Definities, bron en wat het dashboard niet kan zeggen.</a:t>
            </a:r>
            <a:endParaRPr lang="en-US" sz="1500" dirty="0"/>
          </a:p>
        </p:txBody>
      </p:sp>
      <p:sp>
        <p:nvSpPr>
          <p:cNvPr id="101" name="Text 99"/>
          <p:cNvSpPr/>
          <p:nvPr/>
        </p:nvSpPr>
        <p:spPr>
          <a:xfrm>
            <a:off x="548640" y="4580128"/>
            <a:ext cx="11094415" cy="457200"/>
          </a:xfrm>
          <a:prstGeom prst="rect">
            <a:avLst/>
          </a:prstGeom>
          <a:noFill/>
          <a:ln/>
        </p:spPr>
        <p:txBody>
          <a:bodyPr wrap="square" lIns="0" tIns="0" rIns="0" bIns="0" rtlCol="0" anchor="t"/>
          <a:lstStyle/>
          <a:p>
            <a:pPr marL="0" indent="0" algn="l">
              <a:lnSpc>
                <a:spcPct val="105000"/>
              </a:lnSpc>
              <a:buNone/>
            </a:pPr>
            <a:r>
              <a:rPr lang="en-US" sz="1500" dirty="0">
                <a:solidFill>
                  <a:srgbClr val="00AF81"/>
                </a:solidFill>
                <a:latin typeface="General Sans Semibold" pitchFamily="34" charset="0"/>
                <a:ea typeface="General Sans Semibold" pitchFamily="34" charset="-122"/>
                <a:cs typeface="General Sans Semibold" pitchFamily="34" charset="-120"/>
              </a:rPr>
              <a:t>Probeer:</a:t>
            </a:r>
            <a:r>
              <a:rPr lang="en-US" sz="1500" dirty="0">
                <a:solidFill>
                  <a:srgbClr val="000000"/>
                </a:solidFill>
                <a:latin typeface="General Sans" pitchFamily="34" charset="0"/>
                <a:ea typeface="General Sans" pitchFamily="34" charset="-122"/>
                <a:cs typeface="General Sans" pitchFamily="34" charset="-120"/>
              </a:rPr>
              <a:t> "Bouw een Streamlit-dashboard dat laat zien welke eerstejaars binnen een jaar stoppen, per sector." Het dashboard is het middel, de casusvraag het doel.</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1">
    <p:bg>
      <p:bgPr>
        <a:solidFill>
          <a:srgbClr val="FAEAEA"/>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Responsible zit in het bouwen</a:t>
            </a:r>
            <a:endParaRPr lang="en-US" sz="3400" dirty="0"/>
          </a:p>
        </p:txBody>
      </p:sp>
      <p:sp>
        <p:nvSpPr>
          <p:cNvPr id="73" name="Shape 71"/>
          <p:cNvSpPr/>
          <p:nvPr/>
        </p:nvSpPr>
        <p:spPr>
          <a:xfrm>
            <a:off x="548640" y="1371600"/>
            <a:ext cx="2567864" cy="3016758"/>
          </a:xfrm>
          <a:prstGeom prst="roundRect">
            <a:avLst>
              <a:gd name="adj" fmla="val 3550"/>
            </a:avLst>
          </a:prstGeom>
          <a:solidFill>
            <a:srgbClr val="3D68EC"/>
          </a:solidFill>
          <a:ln/>
        </p:spPr>
        <p:txBody>
          <a:bodyPr/>
          <a:lstStyle/>
          <a:p>
            <a:endParaRPr/>
          </a:p>
        </p:txBody>
      </p:sp>
      <p:sp>
        <p:nvSpPr>
          <p:cNvPr id="74" name="Shape 72"/>
          <p:cNvSpPr/>
          <p:nvPr/>
        </p:nvSpPr>
        <p:spPr>
          <a:xfrm>
            <a:off x="822960" y="1719072"/>
            <a:ext cx="2019224" cy="402336"/>
          </a:xfrm>
          <a:prstGeom prst="roundRect">
            <a:avLst>
              <a:gd name="adj" fmla="val 113636"/>
            </a:avLst>
          </a:prstGeom>
          <a:solidFill>
            <a:srgbClr val="F4D74B"/>
          </a:solidFill>
          <a:ln/>
        </p:spPr>
        <p:txBody>
          <a:bodyPr/>
          <a:lstStyle/>
          <a:p>
            <a:endParaRPr/>
          </a:p>
        </p:txBody>
      </p:sp>
      <p:sp>
        <p:nvSpPr>
          <p:cNvPr id="75" name="Text 73"/>
          <p:cNvSpPr/>
          <p:nvPr/>
        </p:nvSpPr>
        <p:spPr>
          <a:xfrm>
            <a:off x="914400"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76" name="Text 74"/>
          <p:cNvSpPr/>
          <p:nvPr/>
        </p:nvSpPr>
        <p:spPr>
          <a:xfrm>
            <a:off x="822960" y="2423160"/>
            <a:ext cx="2019224" cy="338328"/>
          </a:xfrm>
          <a:prstGeom prst="rect">
            <a:avLst/>
          </a:prstGeom>
          <a:noFill/>
          <a:ln/>
        </p:spPr>
        <p:txBody>
          <a:bodyPr wrap="square" lIns="0" tIns="0" rIns="0" bIns="0" rtlCol="0" anchor="t"/>
          <a:lstStyle/>
          <a:p>
            <a:pPr marL="0" indent="0" algn="l">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Drempel</a:t>
            </a:r>
            <a:endParaRPr lang="en-US" sz="2000" dirty="0"/>
          </a:p>
        </p:txBody>
      </p:sp>
      <p:sp>
        <p:nvSpPr>
          <p:cNvPr id="77" name="Text 75"/>
          <p:cNvSpPr/>
          <p:nvPr/>
        </p:nvSpPr>
        <p:spPr>
          <a:xfrm>
            <a:off x="822960" y="3035808"/>
            <a:ext cx="2019224" cy="121539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Geen groepen onder de 30 studenten, geen percentages onder 5.</a:t>
            </a:r>
            <a:endParaRPr lang="en-US" sz="1500" dirty="0"/>
          </a:p>
        </p:txBody>
      </p:sp>
      <p:sp>
        <p:nvSpPr>
          <p:cNvPr id="78" name="Shape 76"/>
          <p:cNvSpPr/>
          <p:nvPr/>
        </p:nvSpPr>
        <p:spPr>
          <a:xfrm>
            <a:off x="3390824" y="1371600"/>
            <a:ext cx="2567864" cy="3016758"/>
          </a:xfrm>
          <a:prstGeom prst="roundRect">
            <a:avLst>
              <a:gd name="adj" fmla="val 3550"/>
            </a:avLst>
          </a:prstGeom>
          <a:solidFill>
            <a:srgbClr val="DD784B"/>
          </a:solidFill>
          <a:ln/>
        </p:spPr>
        <p:txBody>
          <a:bodyPr/>
          <a:lstStyle/>
          <a:p>
            <a:endParaRPr/>
          </a:p>
        </p:txBody>
      </p:sp>
      <p:sp>
        <p:nvSpPr>
          <p:cNvPr id="79" name="Shape 77"/>
          <p:cNvSpPr/>
          <p:nvPr/>
        </p:nvSpPr>
        <p:spPr>
          <a:xfrm>
            <a:off x="3665144" y="1719072"/>
            <a:ext cx="2019224" cy="402336"/>
          </a:xfrm>
          <a:prstGeom prst="roundRect">
            <a:avLst>
              <a:gd name="adj" fmla="val 113636"/>
            </a:avLst>
          </a:prstGeom>
          <a:solidFill>
            <a:srgbClr val="F4D9DC"/>
          </a:solidFill>
          <a:ln/>
        </p:spPr>
        <p:txBody>
          <a:bodyPr/>
          <a:lstStyle/>
          <a:p>
            <a:endParaRPr/>
          </a:p>
        </p:txBody>
      </p:sp>
      <p:sp>
        <p:nvSpPr>
          <p:cNvPr id="80" name="Text 78"/>
          <p:cNvSpPr/>
          <p:nvPr/>
        </p:nvSpPr>
        <p:spPr>
          <a:xfrm>
            <a:off x="3756584"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Eerlijk</a:t>
            </a:r>
            <a:endParaRPr lang="en-US" sz="1200" dirty="0"/>
          </a:p>
        </p:txBody>
      </p:sp>
      <p:sp>
        <p:nvSpPr>
          <p:cNvPr id="81" name="Text 79"/>
          <p:cNvSpPr/>
          <p:nvPr/>
        </p:nvSpPr>
        <p:spPr>
          <a:xfrm>
            <a:off x="3665144" y="2423160"/>
            <a:ext cx="2019224" cy="33832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82" name="Text 80"/>
          <p:cNvSpPr/>
          <p:nvPr/>
        </p:nvSpPr>
        <p:spPr>
          <a:xfrm>
            <a:off x="3665144" y="3035808"/>
            <a:ext cx="2019224" cy="121539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 en groepen worden niet gestigmatiseerd.</a:t>
            </a:r>
            <a:endParaRPr lang="en-US" sz="1500" dirty="0"/>
          </a:p>
        </p:txBody>
      </p:sp>
      <p:sp>
        <p:nvSpPr>
          <p:cNvPr id="83" name="Shape 81"/>
          <p:cNvSpPr/>
          <p:nvPr/>
        </p:nvSpPr>
        <p:spPr>
          <a:xfrm>
            <a:off x="6233008" y="1371600"/>
            <a:ext cx="2567864" cy="3016758"/>
          </a:xfrm>
          <a:prstGeom prst="roundRect">
            <a:avLst>
              <a:gd name="adj" fmla="val 3550"/>
            </a:avLst>
          </a:prstGeom>
          <a:solidFill>
            <a:srgbClr val="00AF81"/>
          </a:solidFill>
          <a:ln/>
        </p:spPr>
        <p:txBody>
          <a:bodyPr/>
          <a:lstStyle/>
          <a:p>
            <a:endParaRPr/>
          </a:p>
        </p:txBody>
      </p:sp>
      <p:sp>
        <p:nvSpPr>
          <p:cNvPr id="84" name="Shape 82"/>
          <p:cNvSpPr/>
          <p:nvPr/>
        </p:nvSpPr>
        <p:spPr>
          <a:xfrm>
            <a:off x="6507328" y="1719072"/>
            <a:ext cx="2019224" cy="402336"/>
          </a:xfrm>
          <a:prstGeom prst="roundRect">
            <a:avLst>
              <a:gd name="adj" fmla="val 113636"/>
            </a:avLst>
          </a:prstGeom>
          <a:solidFill>
            <a:srgbClr val="F4D9DC"/>
          </a:solidFill>
          <a:ln/>
        </p:spPr>
        <p:txBody>
          <a:bodyPr/>
          <a:lstStyle/>
          <a:p>
            <a:endParaRPr/>
          </a:p>
        </p:txBody>
      </p:sp>
      <p:sp>
        <p:nvSpPr>
          <p:cNvPr id="85" name="Text 83"/>
          <p:cNvSpPr/>
          <p:nvPr/>
        </p:nvSpPr>
        <p:spPr>
          <a:xfrm>
            <a:off x="6598768"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Toegankelijk</a:t>
            </a:r>
            <a:endParaRPr lang="en-US" sz="1200" dirty="0"/>
          </a:p>
        </p:txBody>
      </p:sp>
      <p:sp>
        <p:nvSpPr>
          <p:cNvPr id="86" name="Text 84"/>
          <p:cNvSpPr/>
          <p:nvPr/>
        </p:nvSpPr>
        <p:spPr>
          <a:xfrm>
            <a:off x="6507328" y="2423160"/>
            <a:ext cx="2019224" cy="33832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Leesbaar</a:t>
            </a:r>
            <a:endParaRPr lang="en-US" sz="2000" dirty="0"/>
          </a:p>
        </p:txBody>
      </p:sp>
      <p:sp>
        <p:nvSpPr>
          <p:cNvPr id="87" name="Text 85"/>
          <p:cNvSpPr/>
          <p:nvPr/>
        </p:nvSpPr>
        <p:spPr>
          <a:xfrm>
            <a:off x="6507328" y="3035808"/>
            <a:ext cx="2019224" cy="121539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Kleurcontrast, alt-tekst en kleuren die ook zonder rood-groen werken.</a:t>
            </a:r>
            <a:endParaRPr lang="en-US" sz="1500" dirty="0"/>
          </a:p>
        </p:txBody>
      </p:sp>
      <p:sp>
        <p:nvSpPr>
          <p:cNvPr id="88" name="Shape 86"/>
          <p:cNvSpPr/>
          <p:nvPr/>
        </p:nvSpPr>
        <p:spPr>
          <a:xfrm>
            <a:off x="9075191" y="1371600"/>
            <a:ext cx="2567864" cy="3016758"/>
          </a:xfrm>
          <a:prstGeom prst="roundRect">
            <a:avLst>
              <a:gd name="adj" fmla="val 3550"/>
            </a:avLst>
          </a:prstGeom>
          <a:solidFill>
            <a:srgbClr val="F4D74B"/>
          </a:solidFill>
          <a:ln/>
        </p:spPr>
        <p:txBody>
          <a:bodyPr/>
          <a:lstStyle/>
          <a:p>
            <a:endParaRPr/>
          </a:p>
        </p:txBody>
      </p:sp>
      <p:sp>
        <p:nvSpPr>
          <p:cNvPr id="89" name="Shape 87"/>
          <p:cNvSpPr/>
          <p:nvPr/>
        </p:nvSpPr>
        <p:spPr>
          <a:xfrm>
            <a:off x="9349511" y="1719072"/>
            <a:ext cx="2019224" cy="402336"/>
          </a:xfrm>
          <a:prstGeom prst="roundRect">
            <a:avLst>
              <a:gd name="adj" fmla="val 113636"/>
            </a:avLst>
          </a:prstGeom>
          <a:solidFill>
            <a:srgbClr val="3D68EC"/>
          </a:solidFill>
          <a:ln/>
        </p:spPr>
        <p:txBody>
          <a:bodyPr/>
          <a:lstStyle/>
          <a:p>
            <a:endParaRPr/>
          </a:p>
        </p:txBody>
      </p:sp>
      <p:sp>
        <p:nvSpPr>
          <p:cNvPr id="90" name="Text 88"/>
          <p:cNvSpPr/>
          <p:nvPr/>
        </p:nvSpPr>
        <p:spPr>
          <a:xfrm>
            <a:off x="9440951" y="1719072"/>
            <a:ext cx="183634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Bron</a:t>
            </a:r>
            <a:endParaRPr lang="en-US" sz="1200" dirty="0"/>
          </a:p>
        </p:txBody>
      </p:sp>
      <p:sp>
        <p:nvSpPr>
          <p:cNvPr id="91" name="Text 89"/>
          <p:cNvSpPr/>
          <p:nvPr/>
        </p:nvSpPr>
        <p:spPr>
          <a:xfrm>
            <a:off x="9349511" y="2423160"/>
            <a:ext cx="2019224" cy="338328"/>
          </a:xfrm>
          <a:prstGeom prst="rect">
            <a:avLst/>
          </a:prstGeom>
          <a:noFill/>
          <a:ln/>
        </p:spPr>
        <p:txBody>
          <a:bodyPr wrap="square" lIns="0" tIns="0" rIns="0" bIns="0" rtlCol="0" anchor="t"/>
          <a:lstStyle/>
          <a:p>
            <a:pPr marL="0" indent="0" algn="l">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Uitleg</a:t>
            </a:r>
            <a:endParaRPr lang="en-US" sz="2000" dirty="0"/>
          </a:p>
        </p:txBody>
      </p:sp>
      <p:sp>
        <p:nvSpPr>
          <p:cNvPr id="92" name="Text 90"/>
          <p:cNvSpPr/>
          <p:nvPr/>
        </p:nvSpPr>
        <p:spPr>
          <a:xfrm>
            <a:off x="9349511" y="3035808"/>
            <a:ext cx="2019224" cy="121539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Bron, definities en peildatum bij elke grafiek.</a:t>
            </a:r>
            <a:endParaRPr lang="en-US" sz="1500" dirty="0"/>
          </a:p>
        </p:txBody>
      </p:sp>
      <p:sp>
        <p:nvSpPr>
          <p:cNvPr id="93" name="Text 91"/>
          <p:cNvSpPr/>
          <p:nvPr/>
        </p:nvSpPr>
        <p:spPr>
          <a:xfrm>
            <a:off x="548640" y="4571238"/>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000000"/>
                </a:solidFill>
                <a:latin typeface="General Sans" pitchFamily="34" charset="0"/>
                <a:ea typeface="General Sans" pitchFamily="34" charset="-122"/>
                <a:cs typeface="General Sans" pitchFamily="34" charset="-120"/>
              </a:rPr>
              <a:t>Geen aparte stap achteraf: de skill past deze checks toe tijdens het bouwen.</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2">
    <p:bg>
      <p:bgPr>
        <a:solidFill>
          <a:srgbClr val="DD78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Shape 70"/>
          <p:cNvSpPr/>
          <p:nvPr/>
        </p:nvSpPr>
        <p:spPr>
          <a:xfrm>
            <a:off x="548640" y="1280160"/>
            <a:ext cx="1005840" cy="1005840"/>
          </a:xfrm>
          <a:prstGeom prst="ellipse">
            <a:avLst/>
          </a:prstGeom>
          <a:solidFill>
            <a:srgbClr val="F4D9DC"/>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kijk in de skills</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/schets_dashboard en /bouwen_dashboard, en wat miste je dashboard?</a:t>
            </a:r>
            <a:endParaRPr lang="en-US" sz="2200" dirty="0"/>
          </a:p>
        </p:txBody>
      </p:sp>
      <p:pic>
        <p:nvPicPr>
          <p:cNvPr id="76" name="Image 0" descr="exports\261005_workshop_rad_uitvoering\img\Puzzelstuk 3D.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/schets_dashboard: van voorstel naar views</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Voorstel</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marL="0" indent="0" algn="l">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Eerst een voorstel</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Twee of drie views met grafiektype en volgorde, in één bericht.</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Aannames</a:t>
            </a:r>
            <a:endParaRPr lang="en-US" sz="1500" dirty="0"/>
          </a:p>
        </p:txBody>
      </p:sp>
      <p:sp>
        <p:nvSpPr>
          <p:cNvPr id="82" name="Shape 80"/>
          <p:cNvSpPr/>
          <p:nvPr/>
        </p:nvSpPr>
        <p:spPr>
          <a:xfrm>
            <a:off x="3089072" y="3177540"/>
            <a:ext cx="237744" cy="548640"/>
          </a:xfrm>
          <a:prstGeom prst="chevron">
            <a:avLst/>
          </a:prstGeom>
          <a:solidFill>
            <a:srgbClr val="3D68EC"/>
          </a:solidFill>
          <a:ln/>
        </p:spPr>
        <p:txBody>
          <a:bodyPr/>
          <a:lstStyle/>
          <a:p>
            <a:endParaRPr/>
          </a:p>
        </p:txBody>
      </p:sp>
      <p:sp>
        <p:nvSpPr>
          <p:cNvPr id="83" name="Shape 81"/>
          <p:cNvSpPr/>
          <p:nvPr/>
        </p:nvSpPr>
        <p:spPr>
          <a:xfrm>
            <a:off x="3436544" y="1371600"/>
            <a:ext cx="2430704" cy="4160520"/>
          </a:xfrm>
          <a:prstGeom prst="roundRect">
            <a:avLst>
              <a:gd name="adj" fmla="val 3962"/>
            </a:avLst>
          </a:prstGeom>
          <a:solidFill>
            <a:srgbClr val="DD784B"/>
          </a:solidFill>
          <a:ln/>
        </p:spPr>
        <p:txBody>
          <a:bodyPr/>
          <a:lstStyle/>
          <a:p>
            <a:endParaRPr/>
          </a:p>
        </p:txBody>
      </p:sp>
      <p:sp>
        <p:nvSpPr>
          <p:cNvPr id="84" name="Shape 82"/>
          <p:cNvSpPr/>
          <p:nvPr/>
        </p:nvSpPr>
        <p:spPr>
          <a:xfrm>
            <a:off x="3710864" y="1645920"/>
            <a:ext cx="548640" cy="548640"/>
          </a:xfrm>
          <a:prstGeom prst="ellipse">
            <a:avLst/>
          </a:prstGeom>
          <a:solidFill>
            <a:srgbClr val="F4D9DC"/>
          </a:solidFill>
          <a:ln/>
        </p:spPr>
        <p:txBody>
          <a:bodyPr/>
          <a:lstStyle/>
          <a:p>
            <a:endParaRPr/>
          </a:p>
        </p:txBody>
      </p:sp>
      <p:sp>
        <p:nvSpPr>
          <p:cNvPr id="85" name="Text 83"/>
          <p:cNvSpPr/>
          <p:nvPr/>
        </p:nvSpPr>
        <p:spPr>
          <a:xfrm>
            <a:off x="3710864"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txBody>
          <a:bodyPr/>
          <a:lstStyle/>
          <a:p>
            <a:endParaRPr/>
          </a:p>
        </p:txBody>
      </p:sp>
      <p:sp>
        <p:nvSpPr>
          <p:cNvPr id="87" name="Text 85"/>
          <p:cNvSpPr/>
          <p:nvPr/>
        </p:nvSpPr>
        <p:spPr>
          <a:xfrm>
            <a:off x="4488104"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Per view</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Vraag en maat</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Vraag, maat, uitsplitsing en grafiektype, met een schetsplaatje.</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Views</a:t>
            </a:r>
            <a:endParaRPr lang="en-US" sz="1500" dirty="0"/>
          </a:p>
        </p:txBody>
      </p:sp>
      <p:sp>
        <p:nvSpPr>
          <p:cNvPr id="92" name="Shape 90"/>
          <p:cNvSpPr/>
          <p:nvPr/>
        </p:nvSpPr>
        <p:spPr>
          <a:xfrm>
            <a:off x="5976976" y="3177540"/>
            <a:ext cx="237744" cy="548640"/>
          </a:xfrm>
          <a:prstGeom prst="chevron">
            <a:avLst/>
          </a:prstGeom>
          <a:solidFill>
            <a:srgbClr val="3D68EC"/>
          </a:solidFill>
          <a:ln/>
        </p:spPr>
        <p:txBody>
          <a:bodyPr/>
          <a:lstStyle/>
          <a:p>
            <a:endParaRPr/>
          </a:p>
        </p:txBody>
      </p:sp>
      <p:sp>
        <p:nvSpPr>
          <p:cNvPr id="93" name="Shape 91"/>
          <p:cNvSpPr/>
          <p:nvPr/>
        </p:nvSpPr>
        <p:spPr>
          <a:xfrm>
            <a:off x="6324448" y="1371600"/>
            <a:ext cx="2430704" cy="4160520"/>
          </a:xfrm>
          <a:prstGeom prst="roundRect">
            <a:avLst>
              <a:gd name="adj" fmla="val 3962"/>
            </a:avLst>
          </a:prstGeom>
          <a:solidFill>
            <a:srgbClr val="00AF81"/>
          </a:solidFill>
          <a:ln/>
        </p:spPr>
        <p:txBody>
          <a:bodyPr/>
          <a:lstStyle/>
          <a:p>
            <a:endParaRPr/>
          </a:p>
        </p:txBody>
      </p:sp>
      <p:sp>
        <p:nvSpPr>
          <p:cNvPr id="94" name="Shape 92"/>
          <p:cNvSpPr/>
          <p:nvPr/>
        </p:nvSpPr>
        <p:spPr>
          <a:xfrm>
            <a:off x="6598768" y="1645920"/>
            <a:ext cx="548640" cy="548640"/>
          </a:xfrm>
          <a:prstGeom prst="ellipse">
            <a:avLst/>
          </a:prstGeom>
          <a:solidFill>
            <a:srgbClr val="F4D9DC"/>
          </a:solidFill>
          <a:ln/>
        </p:spPr>
        <p:txBody>
          <a:bodyPr/>
          <a:lstStyle/>
          <a:p>
            <a:endParaRPr/>
          </a:p>
        </p:txBody>
      </p:sp>
      <p:sp>
        <p:nvSpPr>
          <p:cNvPr id="95" name="Text 93"/>
          <p:cNvSpPr/>
          <p:nvPr/>
        </p:nvSpPr>
        <p:spPr>
          <a:xfrm>
            <a:off x="659876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txBody>
          <a:bodyPr/>
          <a:lstStyle/>
          <a:p>
            <a:endParaRPr/>
          </a:p>
        </p:txBody>
      </p:sp>
      <p:sp>
        <p:nvSpPr>
          <p:cNvPr id="97" name="Text 95"/>
          <p:cNvSpPr/>
          <p:nvPr/>
        </p:nvSpPr>
        <p:spPr>
          <a:xfrm>
            <a:off x="7376008"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Valt weg</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Privacy en tijd</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de drempel en perioden die nog niet waarneembaar zijn.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Eerlijk</a:t>
            </a:r>
            <a:endParaRPr lang="en-US" sz="1500" dirty="0"/>
          </a:p>
        </p:txBody>
      </p:sp>
      <p:sp>
        <p:nvSpPr>
          <p:cNvPr id="102" name="Shape 100"/>
          <p:cNvSpPr/>
          <p:nvPr/>
        </p:nvSpPr>
        <p:spPr>
          <a:xfrm>
            <a:off x="8864879" y="3177540"/>
            <a:ext cx="237744" cy="548640"/>
          </a:xfrm>
          <a:prstGeom prst="chevron">
            <a:avLst/>
          </a:prstGeom>
          <a:solidFill>
            <a:srgbClr val="3D68EC"/>
          </a:solidFill>
          <a:ln/>
        </p:spPr>
        <p:txBody>
          <a:bodyPr/>
          <a:lstStyle/>
          <a:p>
            <a:endParaRPr/>
          </a:p>
        </p:txBody>
      </p:sp>
      <p:sp>
        <p:nvSpPr>
          <p:cNvPr id="103" name="Shape 101"/>
          <p:cNvSpPr/>
          <p:nvPr/>
        </p:nvSpPr>
        <p:spPr>
          <a:xfrm>
            <a:off x="9212351" y="1371600"/>
            <a:ext cx="2430704" cy="4160520"/>
          </a:xfrm>
          <a:prstGeom prst="roundRect">
            <a:avLst>
              <a:gd name="adj" fmla="val 3962"/>
            </a:avLst>
          </a:prstGeom>
          <a:solidFill>
            <a:srgbClr val="F4D74B"/>
          </a:solidFill>
          <a:ln/>
        </p:spPr>
        <p:txBody>
          <a:bodyPr/>
          <a:lstStyle/>
          <a:p>
            <a:endParaRPr/>
          </a:p>
        </p:txBody>
      </p:sp>
      <p:sp>
        <p:nvSpPr>
          <p:cNvPr id="104" name="Shape 102"/>
          <p:cNvSpPr/>
          <p:nvPr/>
        </p:nvSpPr>
        <p:spPr>
          <a:xfrm>
            <a:off x="9486671" y="1645920"/>
            <a:ext cx="548640" cy="548640"/>
          </a:xfrm>
          <a:prstGeom prst="ellipse">
            <a:avLst/>
          </a:prstGeom>
          <a:solidFill>
            <a:srgbClr val="3D68EC"/>
          </a:solidFill>
          <a:ln/>
        </p:spPr>
        <p:txBody>
          <a:bodyPr/>
          <a:lstStyle/>
          <a:p>
            <a:endParaRPr/>
          </a:p>
        </p:txBody>
      </p:sp>
      <p:sp>
        <p:nvSpPr>
          <p:cNvPr id="105" name="Text 103"/>
          <p:cNvSpPr/>
          <p:nvPr/>
        </p:nvSpPr>
        <p:spPr>
          <a:xfrm>
            <a:off x="9486671"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txBody>
          <a:bodyPr/>
          <a:lstStyle/>
          <a:p>
            <a:endParaRPr/>
          </a:p>
        </p:txBody>
      </p:sp>
      <p:sp>
        <p:nvSpPr>
          <p:cNvPr id="107" name="Text 105"/>
          <p:cNvSpPr/>
          <p:nvPr/>
        </p:nvSpPr>
        <p:spPr>
          <a:xfrm>
            <a:off x="10263911"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Eindigt</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Wat het niet kan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Geen oorzaak, alleen verband, en niets over de werkelijkheid op demodata.</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schets.html</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 uitvoer/data-profiel.html en je vraag. Uit: uitvoer/schets.html, zonder code.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de schets eruit</a:t>
            </a:r>
            <a:endParaRPr lang="en-US" sz="3100" dirty="0"/>
          </a:p>
        </p:txBody>
      </p:sp>
      <p:pic>
        <p:nvPicPr>
          <p:cNvPr id="73" name="Image 0" descr="Schermafbeelding van schets.html: de vraag, keuzes van de gebruiker en views"/>
          <p:cNvPicPr>
            <a:picLocks noChangeAspect="1"/>
          </p:cNvPicPr>
          <p:nvPr/>
        </p:nvPicPr>
        <p:blipFill>
          <a:blip r:embed="rId3"/>
          <a:stretch>
            <a:fillRect/>
          </a:stretch>
        </p:blipFill>
        <p:spPr>
          <a:xfrm>
            <a:off x="640000" y="1371600"/>
            <a:ext cx="6900000" cy="3881250"/>
          </a:xfrm>
          <a:prstGeom prst="rect">
            <a:avLst/>
          </a:prstGeom>
        </p:spPr>
      </p:pic>
      <p:sp>
        <p:nvSpPr>
          <p:cNvPr id="74" name="Text 71"/>
          <p:cNvSpPr/>
          <p:nvPr/>
        </p:nvSpPr>
        <p:spPr>
          <a:xfrm>
            <a:off x="640000" y="540285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uitvoer/schets.html</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is de uitkomst van schets_dashboard: je vraag, je keuzes en per view de maat, de uitsplitsing en een schetsplaatje. Zonder data en zonder conclusie.</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3">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/bouwen_dashboard: wat de skill doet</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Leest in</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marL="0" indent="0" algn="l">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Profiel en schets</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uitvoer/data-profiel.html en uitvoer/schets.html.</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Vaste invoer</a:t>
            </a:r>
            <a:endParaRPr lang="en-US" sz="1500" dirty="0"/>
          </a:p>
        </p:txBody>
      </p:sp>
      <p:sp>
        <p:nvSpPr>
          <p:cNvPr id="82" name="Shape 80"/>
          <p:cNvSpPr/>
          <p:nvPr/>
        </p:nvSpPr>
        <p:spPr>
          <a:xfrm>
            <a:off x="3089072" y="3177540"/>
            <a:ext cx="237744" cy="548640"/>
          </a:xfrm>
          <a:prstGeom prst="chevron">
            <a:avLst/>
          </a:prstGeom>
          <a:solidFill>
            <a:srgbClr val="3D68EC"/>
          </a:solidFill>
          <a:ln/>
        </p:spPr>
        <p:txBody>
          <a:bodyPr/>
          <a:lstStyle/>
          <a:p>
            <a:endParaRPr/>
          </a:p>
        </p:txBody>
      </p:sp>
      <p:sp>
        <p:nvSpPr>
          <p:cNvPr id="83" name="Shape 81"/>
          <p:cNvSpPr/>
          <p:nvPr/>
        </p:nvSpPr>
        <p:spPr>
          <a:xfrm>
            <a:off x="3436544" y="1371600"/>
            <a:ext cx="2430704" cy="4160520"/>
          </a:xfrm>
          <a:prstGeom prst="roundRect">
            <a:avLst>
              <a:gd name="adj" fmla="val 3962"/>
            </a:avLst>
          </a:prstGeom>
          <a:solidFill>
            <a:srgbClr val="DD784B"/>
          </a:solidFill>
          <a:ln/>
        </p:spPr>
        <p:txBody>
          <a:bodyPr/>
          <a:lstStyle/>
          <a:p>
            <a:endParaRPr/>
          </a:p>
        </p:txBody>
      </p:sp>
      <p:sp>
        <p:nvSpPr>
          <p:cNvPr id="84" name="Shape 82"/>
          <p:cNvSpPr/>
          <p:nvPr/>
        </p:nvSpPr>
        <p:spPr>
          <a:xfrm>
            <a:off x="3710864" y="1645920"/>
            <a:ext cx="548640" cy="548640"/>
          </a:xfrm>
          <a:prstGeom prst="ellipse">
            <a:avLst/>
          </a:prstGeom>
          <a:solidFill>
            <a:srgbClr val="F4D9DC"/>
          </a:solidFill>
          <a:ln/>
        </p:spPr>
        <p:txBody>
          <a:bodyPr/>
          <a:lstStyle/>
          <a:p>
            <a:endParaRPr/>
          </a:p>
        </p:txBody>
      </p:sp>
      <p:sp>
        <p:nvSpPr>
          <p:cNvPr id="85" name="Text 83"/>
          <p:cNvSpPr/>
          <p:nvPr/>
        </p:nvSpPr>
        <p:spPr>
          <a:xfrm>
            <a:off x="3710864"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txBody>
          <a:bodyPr/>
          <a:lstStyle/>
          <a:p>
            <a:endParaRPr/>
          </a:p>
        </p:txBody>
      </p:sp>
      <p:sp>
        <p:nvSpPr>
          <p:cNvPr id="87" name="Text 85"/>
          <p:cNvSpPr/>
          <p:nvPr/>
        </p:nvSpPr>
        <p:spPr>
          <a:xfrm>
            <a:off x="4488104"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Bouwt</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Het dashboard</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Alle views in één keer, met de checks erin en een uploadscherm eerst.</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Werkend dashboard</a:t>
            </a:r>
            <a:endParaRPr lang="en-US" sz="1500" dirty="0"/>
          </a:p>
        </p:txBody>
      </p:sp>
      <p:sp>
        <p:nvSpPr>
          <p:cNvPr id="92" name="Shape 90"/>
          <p:cNvSpPr/>
          <p:nvPr/>
        </p:nvSpPr>
        <p:spPr>
          <a:xfrm>
            <a:off x="5976976" y="3177540"/>
            <a:ext cx="237744" cy="548640"/>
          </a:xfrm>
          <a:prstGeom prst="chevron">
            <a:avLst/>
          </a:prstGeom>
          <a:solidFill>
            <a:srgbClr val="3D68EC"/>
          </a:solidFill>
          <a:ln/>
        </p:spPr>
        <p:txBody>
          <a:bodyPr/>
          <a:lstStyle/>
          <a:p>
            <a:endParaRPr/>
          </a:p>
        </p:txBody>
      </p:sp>
      <p:sp>
        <p:nvSpPr>
          <p:cNvPr id="93" name="Shape 91"/>
          <p:cNvSpPr/>
          <p:nvPr/>
        </p:nvSpPr>
        <p:spPr>
          <a:xfrm>
            <a:off x="6324448" y="1371600"/>
            <a:ext cx="2430704" cy="4160520"/>
          </a:xfrm>
          <a:prstGeom prst="roundRect">
            <a:avLst>
              <a:gd name="adj" fmla="val 3962"/>
            </a:avLst>
          </a:prstGeom>
          <a:solidFill>
            <a:srgbClr val="00AF81"/>
          </a:solidFill>
          <a:ln/>
        </p:spPr>
        <p:txBody>
          <a:bodyPr/>
          <a:lstStyle/>
          <a:p>
            <a:endParaRPr/>
          </a:p>
        </p:txBody>
      </p:sp>
      <p:sp>
        <p:nvSpPr>
          <p:cNvPr id="94" name="Shape 92"/>
          <p:cNvSpPr/>
          <p:nvPr/>
        </p:nvSpPr>
        <p:spPr>
          <a:xfrm>
            <a:off x="6598768" y="1645920"/>
            <a:ext cx="548640" cy="548640"/>
          </a:xfrm>
          <a:prstGeom prst="ellipse">
            <a:avLst/>
          </a:prstGeom>
          <a:solidFill>
            <a:srgbClr val="F4D9DC"/>
          </a:solidFill>
          <a:ln/>
        </p:spPr>
        <p:txBody>
          <a:bodyPr/>
          <a:lstStyle/>
          <a:p>
            <a:endParaRPr/>
          </a:p>
        </p:txBody>
      </p:sp>
      <p:sp>
        <p:nvSpPr>
          <p:cNvPr id="95" name="Text 93"/>
          <p:cNvSpPr/>
          <p:nvPr/>
        </p:nvSpPr>
        <p:spPr>
          <a:xfrm>
            <a:off x="659876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txBody>
          <a:bodyPr/>
          <a:lstStyle/>
          <a:p>
            <a:endParaRPr/>
          </a:p>
        </p:txBody>
      </p:sp>
      <p:sp>
        <p:nvSpPr>
          <p:cNvPr id="97" name="Text 95"/>
          <p:cNvSpPr/>
          <p:nvPr/>
        </p:nvSpPr>
        <p:spPr>
          <a:xfrm>
            <a:off x="7376008"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Controleert</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Pagina en cijfers</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Bekijkt de hele pagina en rekent de uitkomst na op de data.</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Nagekeken</a:t>
            </a:r>
            <a:endParaRPr lang="en-US" sz="1500" dirty="0"/>
          </a:p>
        </p:txBody>
      </p:sp>
      <p:sp>
        <p:nvSpPr>
          <p:cNvPr id="102" name="Shape 100"/>
          <p:cNvSpPr/>
          <p:nvPr/>
        </p:nvSpPr>
        <p:spPr>
          <a:xfrm>
            <a:off x="8864879" y="3177540"/>
            <a:ext cx="237744" cy="548640"/>
          </a:xfrm>
          <a:prstGeom prst="chevron">
            <a:avLst/>
          </a:prstGeom>
          <a:solidFill>
            <a:srgbClr val="3D68EC"/>
          </a:solidFill>
          <a:ln/>
        </p:spPr>
        <p:txBody>
          <a:bodyPr/>
          <a:lstStyle/>
          <a:p>
            <a:endParaRPr/>
          </a:p>
        </p:txBody>
      </p:sp>
      <p:sp>
        <p:nvSpPr>
          <p:cNvPr id="103" name="Shape 101"/>
          <p:cNvSpPr/>
          <p:nvPr/>
        </p:nvSpPr>
        <p:spPr>
          <a:xfrm>
            <a:off x="9212351" y="1371600"/>
            <a:ext cx="2430704" cy="4160520"/>
          </a:xfrm>
          <a:prstGeom prst="roundRect">
            <a:avLst>
              <a:gd name="adj" fmla="val 3962"/>
            </a:avLst>
          </a:prstGeom>
          <a:solidFill>
            <a:srgbClr val="F4D74B"/>
          </a:solidFill>
          <a:ln/>
        </p:spPr>
        <p:txBody>
          <a:bodyPr/>
          <a:lstStyle/>
          <a:p>
            <a:endParaRPr/>
          </a:p>
        </p:txBody>
      </p:sp>
      <p:sp>
        <p:nvSpPr>
          <p:cNvPr id="104" name="Shape 102"/>
          <p:cNvSpPr/>
          <p:nvPr/>
        </p:nvSpPr>
        <p:spPr>
          <a:xfrm>
            <a:off x="9486671" y="1645920"/>
            <a:ext cx="548640" cy="548640"/>
          </a:xfrm>
          <a:prstGeom prst="ellipse">
            <a:avLst/>
          </a:prstGeom>
          <a:solidFill>
            <a:srgbClr val="3D68EC"/>
          </a:solidFill>
          <a:ln/>
        </p:spPr>
        <p:txBody>
          <a:bodyPr/>
          <a:lstStyle/>
          <a:p>
            <a:endParaRPr/>
          </a:p>
        </p:txBody>
      </p:sp>
      <p:sp>
        <p:nvSpPr>
          <p:cNvPr id="105" name="Text 103"/>
          <p:cNvSpPr/>
          <p:nvPr/>
        </p:nvSpPr>
        <p:spPr>
          <a:xfrm>
            <a:off x="9486671"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txBody>
          <a:bodyPr/>
          <a:lstStyle/>
          <a:p>
            <a:endParaRPr/>
          </a:p>
        </p:txBody>
      </p:sp>
      <p:sp>
        <p:nvSpPr>
          <p:cNvPr id="107" name="Text 105"/>
          <p:cNvSpPr/>
          <p:nvPr/>
        </p:nvSpPr>
        <p:spPr>
          <a:xfrm>
            <a:off x="10263911" y="1719072"/>
            <a:ext cx="1013384" cy="402336"/>
          </a:xfrm>
          <a:prstGeom prst="rect">
            <a:avLst/>
          </a:prstGeom>
          <a:noFill/>
          <a:ln/>
        </p:spPr>
        <p:txBody>
          <a:bodyPr wrap="square" lIns="0" tIns="0" rIns="0" bIns="0" rtlCol="0" anchor="ctr"/>
          <a:lstStyle/>
          <a:p>
            <a:pPr marL="0" indent="0" algn="ctr">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Rondt af</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marL="0" indent="0" algn="l">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Testen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Tests bewaren, waarden-check, snelle stijlcheck en opnieuw testen.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Getest</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 profiel en schets. Uit: een werkend, verantwoord dashboard. Bewaren alleen als je "bewaar" zegt; code nakijken met /check-style of /simplify-ceda is optioneel.</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4">
    <p:bg>
      <p:bgPr>
        <a:solidFill>
          <a:srgbClr val="FCF5D4"/>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verweeft de skill de checks</a:t>
            </a:r>
            <a:endParaRPr lang="en-US" sz="34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extLst>
                    <a:ext uri="{9D8B030D-6E8A-4147-A177-3AD203B41FA5}">
                      <a16:colId xmlns:a16="http://schemas.microsoft.com/office/drawing/2014/main" val="20000"/>
                    </a:ext>
                  </a:extLst>
                </a:gridCol>
                <a:gridCol w="8320811">
                  <a:extLst>
                    <a:ext uri="{9D8B030D-6E8A-4147-A177-3AD203B41FA5}">
                      <a16:colId xmlns:a16="http://schemas.microsoft.com/office/drawing/2014/main" val="20001"/>
                    </a:ext>
                  </a:extLst>
                </a:gridCol>
              </a:tblGrid>
              <a:tr h="0">
                <a:tc>
                  <a:txBody>
                    <a:bodyPr/>
                    <a:lstStyle/>
                    <a:p>
                      <a:pPr marL="0" indent="0">
                        <a:buNone/>
                      </a:pPr>
                      <a:r>
                        <a:rPr lang="en-US" sz="1400" dirty="0">
                          <a:solidFill>
                            <a:srgbClr val="F4D9DC"/>
                          </a:solidFill>
                          <a:latin typeface="General Sans Semibold" pitchFamily="34" charset="0"/>
                          <a:ea typeface="General Sans Semibold" pitchFamily="34" charset="-122"/>
                          <a:cs typeface="General Sans Semibold" pitchFamily="34" charset="-120"/>
                        </a:rPr>
                        <a:t>Check</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c>
                  <a:txBody>
                    <a:bodyPr/>
                    <a:lstStyle/>
                    <a:p>
                      <a:pPr marL="0" indent="0">
                        <a:buNone/>
                      </a:pPr>
                      <a:r>
                        <a:rPr lang="en-US" sz="1400" dirty="0">
                          <a:solidFill>
                            <a:srgbClr val="F4D9DC"/>
                          </a:solidFill>
                          <a:latin typeface="General Sans Semibold" pitchFamily="34" charset="0"/>
                          <a:ea typeface="General Sans Semibold" pitchFamily="34" charset="-122"/>
                          <a:cs typeface="General Sans Semibold" pitchFamily="34" charset="-120"/>
                        </a:rPr>
                        <a:t>Wat de skill in het dashboard doet</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extLst>
                  <a:ext uri="{0D108BD9-81ED-4DB2-BD59-A6C34878D82A}">
                    <a16:rowId xmlns:a16="http://schemas.microsoft.com/office/drawing/2014/main" val="10000"/>
                  </a:ext>
                </a:extLst>
              </a:tr>
              <a:tr h="0">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Privacy</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Groepen onder 30 en percentages onder 5 niet tonen; de drempel is een parameter</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extLst>
                  <a:ext uri="{0D108BD9-81ED-4DB2-BD59-A6C34878D82A}">
                    <a16:rowId xmlns:a16="http://schemas.microsoft.com/office/drawing/2014/main" val="10001"/>
                  </a:ext>
                </a:extLst>
              </a:tr>
              <a:tr h="0">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Waarneembaarheid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Cohorten waarvan de termijn nog niet af is uitsluiten en dat melden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Eerlijke framing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Conclusie als titel, geen oorzaak, geen stigmatiserende woorden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extLst>
                  <a:ext uri="{0D108BD9-81ED-4DB2-BD59-A6C34878D82A}">
                    <a16:rowId xmlns:a16="http://schemas.microsoft.com/office/drawing/2014/main" val="10003"/>
                  </a:ext>
                </a:extLst>
              </a:tr>
              <a:tr h="0">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Toegankelijkheid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Kleurenblind-veilig palet, contrast 4,5:1, tekstuele samenvatting per grafiek</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Bron en uitleg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marL="0" indent="0">
                        <a:buNone/>
                      </a:pPr>
                      <a:r>
                        <a:rPr lang="en-US" sz="1400" dirty="0">
                          <a:solidFill>
                            <a:srgbClr val="000000"/>
                          </a:solidFill>
                          <a:latin typeface="General Sans" pitchFamily="34" charset="0"/>
                          <a:ea typeface="General Sans" pitchFamily="34" charset="-122"/>
                          <a:cs typeface="General Sans" pitchFamily="34" charset="-120"/>
                        </a:rPr>
                        <a:t>Bron, definities, peildatum, n per groep en wat het niet kan zeggen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het dashboard eruit</a:t>
            </a:r>
            <a:endParaRPr lang="en-US" sz="3100" dirty="0"/>
          </a:p>
        </p:txBody>
      </p:sp>
      <p:pic>
        <p:nvPicPr>
          <p:cNvPr id="73" name="Image 0" descr="Schermafbeelding van het gebouwde dashboard: uitval in het eerste jaar per sector als staafdiagram, met filter en demodata-label"/>
          <p:cNvPicPr>
            <a:picLocks noChangeAspect="1"/>
          </p:cNvPicPr>
          <p:nvPr/>
        </p:nvPicPr>
        <p:blipFill>
          <a:blip r:embed="rId3"/>
          <a:stretch>
            <a:fillRect/>
          </a:stretch>
        </p:blipFill>
        <p:spPr>
          <a:xfrm>
            <a:off x="640000" y="1371600"/>
            <a:ext cx="5430508" cy="4450000"/>
          </a:xfrm>
          <a:prstGeom prst="rect">
            <a:avLst/>
          </a:prstGeom>
        </p:spPr>
      </p:pic>
      <p:sp>
        <p:nvSpPr>
          <p:cNvPr id="74" name="Text 71"/>
          <p:cNvSpPr/>
          <p:nvPr/>
        </p:nvSpPr>
        <p:spPr>
          <a:xfrm>
            <a:off x="640000" y="5971600"/>
            <a:ext cx="5430508"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Streamlit in Npuls-huisstijl, code in dashboard/</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bouwt </a:t>
            </a:r>
            <a:r>
              <a:rPr lang="en-US" sz="1800" dirty="0">
                <a:solidFill>
                  <a:srgbClr val="00AF81"/>
                </a:solidFill>
                <a:latin typeface="General Sans Semibold" pitchFamily="34" charset="0"/>
                <a:ea typeface="General Sans Semibold" pitchFamily="34" charset="-122"/>
                <a:cs typeface="General Sans Semibold" pitchFamily="34" charset="-120"/>
              </a:rPr>
              <a:t>bouwen_dashboard</a:t>
            </a:r>
            <a:r>
              <a:rPr lang="en-US" sz="1800" dirty="0">
                <a:solidFill>
                  <a:srgbClr val="000000"/>
                </a:solidFill>
                <a:latin typeface="General Sans" pitchFamily="34" charset="0"/>
                <a:ea typeface="General Sans" pitchFamily="34" charset="-122"/>
                <a:cs typeface="General Sans" pitchFamily="34" charset="-120"/>
              </a:rPr>
              <a:t>: eerst een uploadscherm met het bestand al klaar, dan een filter, grafieken met </a:t>
            </a:r>
            <a:r>
              <a:rPr lang="en-US" sz="1800" dirty="0">
                <a:solidFill>
                  <a:srgbClr val="00AF81"/>
                </a:solidFill>
                <a:latin typeface="General Sans Semibold" pitchFamily="34" charset="0"/>
                <a:ea typeface="General Sans Semibold" pitchFamily="34" charset="-122"/>
                <a:cs typeface="General Sans Semibold" pitchFamily="34" charset="-120"/>
              </a:rPr>
              <a:t>n per groep</a:t>
            </a:r>
            <a:r>
              <a:rPr lang="en-US" sz="1800" dirty="0">
                <a:solidFill>
                  <a:srgbClr val="000000"/>
                </a:solidFill>
                <a:latin typeface="General Sans" pitchFamily="34" charset="0"/>
                <a:ea typeface="General Sans" pitchFamily="34" charset="-122"/>
                <a:cs typeface="General Sans" pitchFamily="34" charset="-120"/>
              </a:rPr>
              <a:t> en een label dat het </a:t>
            </a:r>
            <a:r>
              <a:rPr lang="en-US" sz="1800" dirty="0">
                <a:solidFill>
                  <a:srgbClr val="00AF81"/>
                </a:solidFill>
                <a:latin typeface="General Sans Semibold" pitchFamily="34" charset="0"/>
                <a:ea typeface="General Sans Semibold" pitchFamily="34" charset="-122"/>
                <a:cs typeface="General Sans Semibold" pitchFamily="34" charset="-120"/>
              </a:rPr>
              <a:t>demodata</a:t>
            </a:r>
            <a:r>
              <a:rPr lang="en-US" sz="1800" dirty="0">
                <a:solidFill>
                  <a:srgbClr val="000000"/>
                </a:solidFill>
                <a:latin typeface="General Sans" pitchFamily="34" charset="0"/>
                <a:ea typeface="General Sans" pitchFamily="34" charset="-122"/>
                <a:cs typeface="General Sans" pitchFamily="34" charset="-120"/>
              </a:rPr>
              <a:t> is.</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8">
    <p:bg>
      <p:bgPr>
        <a:solidFill>
          <a:srgbClr val="F4D7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Wat willen jullie nog zien?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Typ /review-reflect: er opent een vragenlijst. Vul in wat je nog wilt zien en leren. Anoniem, en je kunt een vraag overslaan.</a:t>
            </a:r>
            <a:endParaRPr lang="en-US" sz="2200" dirty="0"/>
          </a:p>
        </p:txBody>
      </p:sp>
      <p:pic>
        <p:nvPicPr>
          <p:cNvPr id="74" name="Image 0" descr="exports\261005_workshop_rad_uitvoering\img\Lamp.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9">
    <p:bg>
      <p:bgPr>
        <a:solidFill>
          <a:srgbClr val="F4D9DC"/>
        </a:solidFill>
        <a:effectLst/>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1290320"/>
          </a:xfrm>
          <a:prstGeom prst="rect">
            <a:avLst/>
          </a:prstGeom>
          <a:noFill/>
          <a:ln/>
        </p:spPr>
        <p:txBody>
          <a:bodyPr wrap="square" lIns="0" tIns="0" rIns="0" bIns="0" rtlCol="0" anchor="t"/>
          <a:lstStyle/>
          <a:p>
            <a:pPr marL="0" indent="0" algn="l">
              <a:lnSpc>
                <a:spcPct val="105000"/>
              </a:lnSpc>
              <a:buNone/>
            </a:pPr>
            <a:r>
              <a:rPr lang="en-US" sz="4000" dirty="0">
                <a:solidFill>
                  <a:srgbClr val="000000"/>
                </a:solidFill>
                <a:latin typeface="Cooper Lt BT" pitchFamily="34" charset="0"/>
                <a:ea typeface="Cooper Lt BT" pitchFamily="34" charset="-122"/>
                <a:cs typeface="Cooper Lt BT" pitchFamily="34" charset="-120"/>
              </a:rPr>
              <a:t>Wat verloor en won je?</a:t>
            </a:r>
            <a:endParaRPr lang="en-US" sz="4000" dirty="0"/>
          </a:p>
        </p:txBody>
      </p:sp>
      <p:sp>
        <p:nvSpPr>
          <p:cNvPr id="4" name="Text 2"/>
          <p:cNvSpPr/>
          <p:nvPr/>
        </p:nvSpPr>
        <p:spPr>
          <a:xfrm>
            <a:off x="548640" y="3256280"/>
            <a:ext cx="5120640" cy="822960"/>
          </a:xfrm>
          <a:prstGeom prst="rect">
            <a:avLst/>
          </a:prstGeom>
          <a:noFill/>
          <a:ln/>
        </p:spPr>
        <p:txBody>
          <a:bodyPr wrap="square" lIns="0" tIns="0" rIns="0" bIns="0" rtlCol="0" anchor="t"/>
          <a:lstStyle/>
          <a:p>
            <a:pPr marL="0" indent="0" algn="l">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En wat doe je morgen anders?</a:t>
            </a:r>
            <a:endParaRPr lang="en-US" sz="1800" dirty="0"/>
          </a:p>
        </p:txBody>
      </p:sp>
      <p:sp>
        <p:nvSpPr>
          <p:cNvPr id="5" name="Text 3"/>
          <p:cNvSpPr/>
          <p:nvPr/>
        </p:nvSpPr>
        <p:spPr>
          <a:xfrm>
            <a:off x="6400800" y="1600200"/>
            <a:ext cx="5242255" cy="457200"/>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Voor onderweg</a:t>
            </a:r>
            <a:endParaRPr lang="en-US" sz="2200" dirty="0"/>
          </a:p>
        </p:txBody>
      </p:sp>
      <p:sp>
        <p:nvSpPr>
          <p:cNvPr id="6" name="Shape 4"/>
          <p:cNvSpPr/>
          <p:nvPr/>
        </p:nvSpPr>
        <p:spPr>
          <a:xfrm>
            <a:off x="6400800" y="2240280"/>
            <a:ext cx="5242255" cy="1371600"/>
          </a:xfrm>
          <a:prstGeom prst="roundRect">
            <a:avLst>
              <a:gd name="adj" fmla="val 11111"/>
            </a:avLst>
          </a:prstGeom>
          <a:solidFill>
            <a:srgbClr val="00AF81"/>
          </a:solidFill>
          <a:ln/>
        </p:spPr>
        <p:txBody>
          <a:bodyPr/>
          <a:lstStyle/>
          <a:p>
            <a:endParaRPr/>
          </a:p>
        </p:txBody>
      </p:sp>
      <p:sp>
        <p:nvSpPr>
          <p:cNvPr id="7" name="Shape 5"/>
          <p:cNvSpPr/>
          <p:nvPr/>
        </p:nvSpPr>
        <p:spPr>
          <a:xfrm>
            <a:off x="6675120" y="2441448"/>
            <a:ext cx="1371600" cy="347472"/>
          </a:xfrm>
          <a:prstGeom prst="roundRect">
            <a:avLst>
              <a:gd name="adj" fmla="val 131579"/>
            </a:avLst>
          </a:prstGeom>
          <a:solidFill>
            <a:srgbClr val="F4D9DC"/>
          </a:solidFill>
          <a:ln/>
        </p:spPr>
        <p:txBody>
          <a:bodyPr/>
          <a:lstStyle/>
          <a:p>
            <a:endParaRPr/>
          </a:p>
        </p:txBody>
      </p:sp>
      <p:sp>
        <p:nvSpPr>
          <p:cNvPr id="8" name="Text 6"/>
          <p:cNvSpPr/>
          <p:nvPr/>
        </p:nvSpPr>
        <p:spPr>
          <a:xfrm>
            <a:off x="6766560" y="2441448"/>
            <a:ext cx="1188720" cy="347472"/>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Meenemen</a:t>
            </a:r>
            <a:endParaRPr lang="en-US" sz="1100" dirty="0"/>
          </a:p>
        </p:txBody>
      </p:sp>
      <p:sp>
        <p:nvSpPr>
          <p:cNvPr id="9" name="Text 7"/>
          <p:cNvSpPr/>
          <p:nvPr/>
        </p:nvSpPr>
        <p:spPr>
          <a:xfrm>
            <a:off x="6675120" y="2880360"/>
            <a:ext cx="4693615" cy="59436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Eigen data gebruik je in je eigen instelling, buiten deze workshop. De drie skills staan in de repo.</a:t>
            </a:r>
            <a:endParaRPr lang="en-US" sz="1500" dirty="0"/>
          </a:p>
        </p:txBody>
      </p:sp>
      <p:sp>
        <p:nvSpPr>
          <p:cNvPr id="10" name="Shape 8"/>
          <p:cNvSpPr/>
          <p:nvPr/>
        </p:nvSpPr>
        <p:spPr>
          <a:xfrm>
            <a:off x="6400800" y="3749040"/>
            <a:ext cx="5242255" cy="1371600"/>
          </a:xfrm>
          <a:prstGeom prst="roundRect">
            <a:avLst>
              <a:gd name="adj" fmla="val 11111"/>
            </a:avLst>
          </a:prstGeom>
          <a:solidFill>
            <a:srgbClr val="00AF81"/>
          </a:solidFill>
          <a:ln/>
        </p:spPr>
        <p:txBody>
          <a:bodyPr/>
          <a:lstStyle/>
          <a:p>
            <a:endParaRPr/>
          </a:p>
        </p:txBody>
      </p:sp>
      <p:sp>
        <p:nvSpPr>
          <p:cNvPr id="11" name="Shape 9"/>
          <p:cNvSpPr/>
          <p:nvPr/>
        </p:nvSpPr>
        <p:spPr>
          <a:xfrm>
            <a:off x="6675120" y="3950208"/>
            <a:ext cx="1371600" cy="347472"/>
          </a:xfrm>
          <a:prstGeom prst="roundRect">
            <a:avLst>
              <a:gd name="adj" fmla="val 131579"/>
            </a:avLst>
          </a:prstGeom>
          <a:solidFill>
            <a:srgbClr val="F4D9DC"/>
          </a:solidFill>
          <a:ln/>
        </p:spPr>
        <p:txBody>
          <a:bodyPr/>
          <a:lstStyle/>
          <a:p>
            <a:endParaRPr/>
          </a:p>
        </p:txBody>
      </p:sp>
      <p:sp>
        <p:nvSpPr>
          <p:cNvPr id="12" name="Text 10"/>
          <p:cNvSpPr/>
          <p:nvPr/>
        </p:nvSpPr>
        <p:spPr>
          <a:xfrm>
            <a:off x="6766560" y="3950208"/>
            <a:ext cx="1188720" cy="347472"/>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Nog even</a:t>
            </a:r>
            <a:endParaRPr lang="en-US" sz="1100" dirty="0"/>
          </a:p>
        </p:txBody>
      </p:sp>
      <p:sp>
        <p:nvSpPr>
          <p:cNvPr id="13" name="Text 11"/>
          <p:cNvSpPr/>
          <p:nvPr/>
        </p:nvSpPr>
        <p:spPr>
          <a:xfrm>
            <a:off x="6675120" y="4389120"/>
            <a:ext cx="4693615" cy="59436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Jij stuurt, de agent bouwt. Jij beslist wat je ermee doet.</a:t>
            </a:r>
            <a:endParaRPr lang="en-US" sz="1500" dirty="0"/>
          </a:p>
        </p:txBody>
      </p:sp>
      <p:pic>
        <p:nvPicPr>
          <p:cNvPr id="14" name="Image 0" descr="Npuls"/>
          <p:cNvPicPr>
            <a:picLocks noChangeAspect="1"/>
          </p:cNvPicPr>
          <p:nvPr/>
        </p:nvPicPr>
        <p:blipFill>
          <a:blip r:embed="rId3"/>
          <a:stretch>
            <a:fillRect/>
          </a:stretch>
        </p:blipFill>
        <p:spPr>
          <a:xfrm>
            <a:off x="10454335" y="5120640"/>
            <a:ext cx="1188720" cy="118872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3D68EC"/>
        </a:solidFill>
        <a:effectLst/>
      </p:bgPr>
    </p:bg>
    <p:spTree>
      <p:nvGrpSpPr>
        <p:cNvPr id="1" name=""/>
        <p:cNvGrpSpPr/>
        <p:nvPr/>
      </p:nvGrpSpPr>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Ruim na afloop je Codespace op</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F4D74B"/>
                </a:solidFill>
                <a:latin typeface="Cooper Lt BT" pitchFamily="34" charset="0"/>
                <a:ea typeface="Cooper Lt BT" pitchFamily="34" charset="-122"/>
                <a:cs typeface="Cooper Lt BT" pitchFamily="34" charset="-120"/>
              </a:rPr>
              <a:t>github.com/codespaces, de drie puntjes naast je Codespace, dan Delete. Stoppen alleen is niet genoeg.</a:t>
            </a:r>
            <a:endParaRPr lang="en-US" sz="2200" dirty="0"/>
          </a:p>
        </p:txBody>
      </p:sp>
      <p:pic>
        <p:nvPicPr>
          <p:cNvPr id="74" name="Image 0" descr="exports\261005_workshop_rad_uitvoering\img\kunstmatigeintelligentie.png"/>
          <p:cNvPicPr>
            <a:picLocks noChangeAspect="1"/>
          </p:cNvPicPr>
          <p:nvPr/>
        </p:nvPicPr>
        <p:blipFill>
          <a:blip r:embed="rId4"/>
          <a:stretch>
            <a:fillRect/>
          </a:stretch>
        </p:blipFill>
        <p:spPr>
          <a:xfrm>
            <a:off x="8503920" y="1828800"/>
            <a:ext cx="3291840" cy="329184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marL="0" indent="0" algn="ctr">
              <a:lnSpc>
                <a:spcPct val="105000"/>
              </a:lnSpc>
              <a:buNone/>
            </a:pPr>
            <a:r>
              <a:rPr lang="en-US" sz="1300" kern="0" spc="30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marL="0" indent="0" algn="ctr">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marL="0" indent="0" algn="ctr">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txBody>
          <a:bodyPr/>
          <a:lstStyle/>
          <a:p>
            <a:endParaRPr/>
          </a:p>
        </p:txBody>
      </p:sp>
      <p:sp>
        <p:nvSpPr>
          <p:cNvPr id="6" name="Shape 4"/>
          <p:cNvSpPr/>
          <p:nvPr/>
        </p:nvSpPr>
        <p:spPr>
          <a:xfrm>
            <a:off x="1889608" y="3858768"/>
            <a:ext cx="1463040" cy="365760"/>
          </a:xfrm>
          <a:prstGeom prst="roundRect">
            <a:avLst>
              <a:gd name="adj" fmla="val 125000"/>
            </a:avLst>
          </a:prstGeom>
          <a:solidFill>
            <a:srgbClr val="3D68EC"/>
          </a:solidFill>
          <a:ln/>
        </p:spPr>
        <p:txBody>
          <a:bodyPr/>
          <a:lstStyle/>
          <a:p>
            <a:endParaRPr/>
          </a:p>
        </p:txBody>
      </p:sp>
      <p:sp>
        <p:nvSpPr>
          <p:cNvPr id="7" name="Text 5"/>
          <p:cNvSpPr/>
          <p:nvPr/>
        </p:nvSpPr>
        <p:spPr>
          <a:xfrm>
            <a:off x="198104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4"/>
          </p:cNvPr>
          <p:cNvSpPr/>
          <p:nvPr/>
        </p:nvSpPr>
        <p:spPr>
          <a:xfrm>
            <a:off x="115808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4">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txBody>
          <a:bodyPr/>
          <a:lstStyle/>
          <a:p>
            <a:endParaRPr/>
          </a:p>
        </p:txBody>
      </p:sp>
      <p:sp>
        <p:nvSpPr>
          <p:cNvPr id="10" name="Shape 8"/>
          <p:cNvSpPr/>
          <p:nvPr/>
        </p:nvSpPr>
        <p:spPr>
          <a:xfrm>
            <a:off x="5364328" y="3858768"/>
            <a:ext cx="1463040" cy="365760"/>
          </a:xfrm>
          <a:prstGeom prst="roundRect">
            <a:avLst>
              <a:gd name="adj" fmla="val 125000"/>
            </a:avLst>
          </a:prstGeom>
          <a:solidFill>
            <a:srgbClr val="00AF81"/>
          </a:solidFill>
          <a:ln/>
        </p:spPr>
        <p:txBody>
          <a:bodyPr/>
          <a:lstStyle/>
          <a:p>
            <a:endParaRPr/>
          </a:p>
        </p:txBody>
      </p:sp>
      <p:sp>
        <p:nvSpPr>
          <p:cNvPr id="11" name="Text 9"/>
          <p:cNvSpPr/>
          <p:nvPr/>
        </p:nvSpPr>
        <p:spPr>
          <a:xfrm>
            <a:off x="545576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5"/>
          </p:cNvPr>
          <p:cNvSpPr/>
          <p:nvPr/>
        </p:nvSpPr>
        <p:spPr>
          <a:xfrm>
            <a:off x="463280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5">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txBody>
          <a:bodyPr/>
          <a:lstStyle/>
          <a:p>
            <a:endParaRPr/>
          </a:p>
        </p:txBody>
      </p:sp>
      <p:sp>
        <p:nvSpPr>
          <p:cNvPr id="14" name="Shape 12"/>
          <p:cNvSpPr/>
          <p:nvPr/>
        </p:nvSpPr>
        <p:spPr>
          <a:xfrm>
            <a:off x="8839048" y="3858768"/>
            <a:ext cx="1463040" cy="365760"/>
          </a:xfrm>
          <a:prstGeom prst="roundRect">
            <a:avLst>
              <a:gd name="adj" fmla="val 125000"/>
            </a:avLst>
          </a:prstGeom>
          <a:solidFill>
            <a:srgbClr val="DD784B"/>
          </a:solidFill>
          <a:ln/>
        </p:spPr>
        <p:txBody>
          <a:bodyPr/>
          <a:lstStyle/>
          <a:p>
            <a:endParaRPr/>
          </a:p>
        </p:txBody>
      </p:sp>
      <p:sp>
        <p:nvSpPr>
          <p:cNvPr id="15" name="Text 13"/>
          <p:cNvSpPr/>
          <p:nvPr/>
        </p:nvSpPr>
        <p:spPr>
          <a:xfrm>
            <a:off x="893048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6"/>
          </p:cNvPr>
          <p:cNvSpPr/>
          <p:nvPr/>
        </p:nvSpPr>
        <p:spPr>
          <a:xfrm>
            <a:off x="810752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6">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4598</Words>
  <Application>Microsoft Office PowerPoint</Application>
  <PresentationFormat>Widescreen</PresentationFormat>
  <Paragraphs>459</Paragraphs>
  <Slides>38</Slides>
  <Notes>38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38</vt:i4>
      </vt:variant>
    </vt:vector>
  </HeadingPairs>
  <TitlesOfParts>
    <vt:vector size="43" baseType="lpstr">
      <vt:lpstr>Arial</vt:lpstr>
      <vt:lpstr>Cooper Lt BT</vt:lpstr>
      <vt:lpstr>General Sans</vt:lpstr>
      <vt:lpstr>General Sans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data science in het onderwijs: jij stuurt, de agent bouwt</dc:title>
  <dc:subject>PptxGenJS Presentation</dc:subject>
  <dc:creator>CEDA</dc:creator>
  <cp:lastModifiedBy>Aslam Tanjung</cp:lastModifiedBy>
  <cp:revision>2</cp:revision>
  <dcterms:created xsi:type="dcterms:W3CDTF">2026-10-08T11:06:42Z</dcterms:created>
  <dcterms:modified xsi:type="dcterms:W3CDTF">2026-10-13T10:24:39Z</dcterms:modified>
</cp:coreProperties>
</file>