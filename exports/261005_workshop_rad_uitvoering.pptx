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86" r:id="rId6"/>
    <p:sldId id="287" r:id="rId7"/>
    <p:sldId id="288" r:id="rId8"/>
    <p:sldId id="289" r:id="rId9"/>
    <p:sldId id="260" r:id="rId10"/>
    <p:sldId id="261" r:id="rId11"/>
    <p:sldId id="262" r:id="rId12"/>
    <p:sldId id="263" r:id="rId13"/>
    <p:sldId id="264" r:id="rId14"/>
    <p:sldId id="265" r:id="rId15"/>
    <p:sldId id="292" r:id="rId16"/>
    <p:sldId id="266" r:id="rId17"/>
    <p:sldId id="267" r:id="rId18"/>
    <p:sldId id="268" r:id="rId19"/>
    <p:sldId id="269" r:id="rId20"/>
    <p:sldId id="270" r:id="rId21"/>
    <p:sldId id="271" r:id="rId22"/>
    <p:sldId id="272" r:id="rId23"/>
    <p:sldId id="273" r:id="rId24"/>
    <p:sldId id="293" r:id="rId25"/>
    <p:sldId id="274" r:id="rId26"/>
    <p:sldId id="275" r:id="rId27"/>
    <p:sldId id="276" r:id="rId28"/>
    <p:sldId id="277" r:id="rId29"/>
    <p:sldId id="291" r:id="rId30"/>
    <p:sldId id="294" r:id="rId31"/>
    <p:sldId id="278" r:id="rId32"/>
    <p:sldId id="279" r:id="rId33"/>
    <p:sldId id="295" r:id="rId34"/>
    <p:sldId id="281" r:id="rId35"/>
    <p:sldId id="283" r:id="rId36"/>
    <p:sldId id="284" r:id="rId37"/>
    <p:sldId id="290" r:id="rId38"/>
    <p:sldId id="28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 Skills starten alleen als je ze zelf typt (/naam): tijdens gewoon chatten met de agent springen ze niet vanzelf aan, dus in de rondes werken de deelnemers echt met hun eigen prompts.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tot twee minuten (het image is groter geworden: Chromium en de dashboardpakketten staan er nu in, zodat het bouwen later sneller gaat), vul die tijd met uitleg over wat een Codespace is: dezelfde omgeving voor iedereen, in de browser, niets te installeren.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Wie de key als Codespace-secret (ANTHROPIC_FOUNDRY_API_KEY) in het eigen GitHub-account heeft staan, krijgt geen vraag: de terminal meldt dan dat de key is overgenomen. Is de key kwijt of fout geplakt: opnieuw instellen met het commando dair-onboard in de terminal.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 Openen: rechtsklik, Show Preview; de pagina opent in een nieuw browsertabblad. Vraagt GitHub om door te gaan, klik dan op Continue.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In de workshop staat het bestand daar al klaar en klik je op Doorgaan (een schijn-upload),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In de workshop staat het bestand al klaar; deelnemers klikken alleen op Doorgaan, ze hoeven niets te downloaden of te uploaden.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Evaluatie en afsluiting zijn één blok van 16 minuten. Vraag eerst toestemming: de antwoorden zijn anoniem en gebruiken we om te bepalen of er een vervolg komt. Terugblik in een kort rondje, daarna de vragenlijst in de eigen Codespace. Houd de tijd: loopt het uit, kort dan de afsluiting in, niet de vragenlijst.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Eén slide voor de evaluatie: de vraag wat ze nog willen zien en leren, en meteen de review.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hyperlink" Target="https://github.com/cedanl/dair-agentic-cod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hyperlink" Target="https://github.com/cedanl" TargetMode="External"/><Relationship Id="rId5" Type="http://schemas.openxmlformats.org/officeDocument/2006/relationships/hyperlink" Target="https://community.npuls.nl/groups/data-ai" TargetMode="External"/><Relationship Id="rId6" Type="http://schemas.openxmlformats.org/officeDocument/2006/relationships/hyperlink" Target="mailto:ceda@surf.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lstStyle/>
          <a:p>
            <a:endParaR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lstStyle/>
          <a:p>
            <a:endParaR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lstStyle/>
          <a:p>
            <a:endParaR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lstStyle/>
          <a:p>
            <a:endParaR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lstStyle/>
          <a:p>
            <a:endParaR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lstStyle/>
          <a:p>
            <a:endParaR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lstStyle/>
          <a:p>
            <a:endParaR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lstStyle/>
          <a:p>
            <a:endParaR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lstStyle/>
          <a:p>
            <a:endParaR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lstStyle/>
          <a:p>
            <a:endParaR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lstStyle/>
          <a:p>
            <a:endParaR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lstStyle/>
          <a:p>
            <a:endParaR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lstStyle/>
          <a:p>
            <a:endParaR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lstStyle/>
          <a:p>
            <a:endParaR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lstStyle/>
          <a:p>
            <a:endParaR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lstStyle/>
          <a:p>
            <a:endParaR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vragenlijst,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lstStyle/>
          <a:p>
            <a:endParaR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lstStyle/>
          <a:p>
            <a:endParaR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lstStyle/>
          <a:p>
            <a:endParaR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lstStyle/>
          <a:p>
            <a:endParaR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Wij laten vraag A zien.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lstStyle/>
          <a:p>
            <a:endParaRPr/>
          </a:p>
        </p:txBody>
      </p:sp>
      <p:sp>
        <p:nvSpPr>
          <p:cNvPr id="84" name="Shape 82"/>
          <p:cNvSpPr/>
          <p:nvPr/>
        </p:nvSpPr>
        <p:spPr>
          <a:xfrm>
            <a:off x="6507328" y="1645920"/>
            <a:ext cx="548640" cy="548640"/>
          </a:xfrm>
          <a:prstGeom prst="ellipse">
            <a:avLst/>
          </a:prstGeom>
          <a:solidFill>
            <a:srgbClr val="F4D9DC"/>
          </a:solidFill>
          <a:ln/>
        </p:spPr>
        <p:txBody>
          <a:bodyPr/>
          <a:lstStyle/>
          <a:p>
            <a:endParaR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lstStyle/>
          <a:p>
            <a:endParaR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prompten zelf; wij draaien de skills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lstStyle/>
          <a:p>
            <a:endParaR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lstStyle/>
          <a:p>
            <a:endParaR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lstStyle/>
          <a:p>
            <a:endParaR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lstStyle/>
          <a:p>
            <a:endParaR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lstStyle/>
          <a:p>
            <a:endParaR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icPr>
            <a:picLocks noChangeAspect="1"/>
          </p:cNvPicPr>
          <p:nvPr/>
        </p:nvPicPr>
        <p:blipFill>
          <a:blip r:embed="rId3"/>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r>
              <a:rPr lang="en-US" sz="1800" dirty="0">
                <a:solidFill>
                  <a:srgbClr val="00AF81"/>
                </a:solidFill>
                <a:latin typeface="General Sans Semibold" pitchFamily="34" charset="0"/>
                <a:ea typeface="General Sans Semibold" pitchFamily="34" charset="-122"/>
                <a:cs typeface="General Sans Semibold" pitchFamily="34" charset="-120"/>
              </a:rPr>
              <a:t>Sign in</a:t>
            </a: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r>
              <a:rPr lang="en-US" sz="1800" dirty="0">
                <a:solidFill>
                  <a:srgbClr val="00AF81"/>
                </a:solidFill>
                <a:latin typeface="General Sans Semibold" pitchFamily="34" charset="0"/>
                <a:ea typeface="General Sans Semibold" pitchFamily="34" charset="-122"/>
                <a:cs typeface="General Sans Semibold" pitchFamily="34" charset="-120"/>
              </a:rPr>
              <a:t>Sign up</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0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8103795" y="1463040"/>
            <a:ext cx="3464025" cy="4480560"/>
          </a:xfrm>
          <a:prstGeom prst="rect">
            <a:avLst/>
          </a:prstGeom>
          <a:noFill/>
          <a:ln/>
        </p:spPr>
        <p:txBody>
          <a:bodyPr wrap="square" lIns="0" tIns="0" rIns="0" bIns="0" rtlCol="0" anchor="t"/>
          <a:lstStyle/>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0000"/>
              </a:lnSpc>
              <a:spcAft>
                <a:spcPts val="800"/>
              </a:spcAft>
              <a:buNone/>
            </a:pPr>
            <a:r>
              <a:rPr lang="en-US" dirty="0">
                <a:solidFill>
                  <a:srgbClr val="000000"/>
                </a:solidFill>
                <a:latin typeface="General Sans" pitchFamily="34" charset="0"/>
                <a:ea typeface="General Sans" pitchFamily="34" charset="-122"/>
                <a:cs typeface="General Sans" pitchFamily="34" charset="-120"/>
                <a:hlinkClick r:id="rId4"/>
              </a:rPr>
              <a:t>https://github.com/cedanl/dair-agentic-coding</a:t>
            </a:r>
            <a:r>
              <a:rPr lang="en-US" dirty="0">
                <a:solidFill>
                  <a:srgbClr val="000000"/>
                </a:solidFill>
                <a:latin typeface="General Sans" pitchFamily="34" charset="0"/>
                <a:ea typeface="General Sans" pitchFamily="34" charset="-122"/>
                <a:cs typeface="General Sans" pitchFamily="34" charset="-120"/>
              </a:rPr>
              <a:t> </a:t>
            </a:r>
          </a:p>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endParaRPr lang="en-US"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Wachten duurt een tot twee minuten.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Vraagt de terminal om de workshop-key? Die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Open het met rechtsklik en </a:t>
            </a:r>
            <a:r>
              <a:rPr lang="en-US" sz="1800" dirty="0">
                <a:solidFill>
                  <a:srgbClr val="00AF81"/>
                </a:solidFill>
                <a:latin typeface="General Sans Semibold" pitchFamily="34" charset="0"/>
                <a:ea typeface="General Sans Semibold" pitchFamily="34" charset="-122"/>
                <a:cs typeface="General Sans Semibold" pitchFamily="34" charset="-120"/>
              </a:rPr>
              <a:t>Show Preview</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81" name="Shape 79"/>
          <p:cNvSpPr/>
          <p:nvPr/>
        </p:nvSpPr>
        <p:spPr>
          <a:xfrm>
            <a:off x="3665144" y="1645920"/>
            <a:ext cx="548640" cy="548640"/>
          </a:xfrm>
          <a:prstGeom prst="ellipse">
            <a:avLst/>
          </a:prstGeom>
          <a:solidFill>
            <a:srgbClr val="F4D9DC"/>
          </a:solidFill>
          <a:ln/>
        </p:spPr>
        <p:txBody>
          <a:bodyPr/>
          <a:lstStyle/>
          <a:p>
            <a:endParaR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lstStyle/>
          <a:p>
            <a:endParaR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8" name="Shape 86"/>
          <p:cNvSpPr/>
          <p:nvPr/>
        </p:nvSpPr>
        <p:spPr>
          <a:xfrm>
            <a:off x="6507328" y="1645920"/>
            <a:ext cx="548640" cy="548640"/>
          </a:xfrm>
          <a:prstGeom prst="ellipse">
            <a:avLst/>
          </a:prstGeom>
          <a:solidFill>
            <a:srgbClr val="F4D9DC"/>
          </a:solidFill>
          <a:ln/>
        </p:spPr>
        <p:txBody>
          <a:bodyPr/>
          <a:lstStyle/>
          <a:p>
            <a:endParaR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lstStyle/>
          <a:p>
            <a:endParaR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95" name="Shape 93"/>
          <p:cNvSpPr/>
          <p:nvPr/>
        </p:nvSpPr>
        <p:spPr>
          <a:xfrm>
            <a:off x="9349511" y="1645920"/>
            <a:ext cx="548640" cy="548640"/>
          </a:xfrm>
          <a:prstGeom prst="ellipse">
            <a:avLst/>
          </a:prstGeom>
          <a:solidFill>
            <a:srgbClr val="3D68EC"/>
          </a:solidFill>
          <a:ln/>
        </p:spPr>
        <p:txBody>
          <a:bodyPr/>
          <a:lstStyle/>
          <a:p>
            <a:endParaR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lstStyle/>
          <a:p>
            <a:endParaR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extLst>
                    <a:ext uri="{9D8B030D-6E8A-4147-A177-3AD203B41FA5}">
                      <a16:colId xmlns:a16="http://schemas.microsoft.com/office/drawing/2014/main" val="20000"/>
                    </a:ext>
                  </a:extLst>
                </a:gridCol>
                <a:gridCol w="8320811">
                  <a:extLst>
                    <a:ext uri="{9D8B030D-6E8A-4147-A177-3AD203B41FA5}">
                      <a16:colId xmlns:a16="http://schemas.microsoft.com/office/drawing/2014/main" val="20001"/>
                    </a:ext>
                  </a:extLst>
                </a:gridCol>
              </a:tblGrid>
              <a:tr h="0">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icPr>
            <a:picLocks noChangeAspect="1"/>
          </p:cNvPicPr>
          <p:nvPr/>
        </p:nvPicPr>
        <p:blipFill>
          <a:blip r:embed="rId3"/>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r>
              <a:rPr lang="en-US" sz="1800" dirty="0">
                <a:solidFill>
                  <a:srgbClr val="000000"/>
                </a:solidFill>
                <a:latin typeface="General Sans" pitchFamily="34" charset="0"/>
                <a:ea typeface="General Sans" pitchFamily="34" charset="-122"/>
                <a:cs typeface="General Sans" pitchFamily="34" charset="-120"/>
              </a:rPr>
              <a:t>: eerst een uploadscherm met het bestand al klaar, dan een filter, grafieken met </a:t>
            </a:r>
            <a:r>
              <a:rPr lang="en-US" sz="1800" dirty="0">
                <a:solidFill>
                  <a:srgbClr val="00AF81"/>
                </a:solidFill>
                <a:latin typeface="General Sans Semibold" pitchFamily="34" charset="0"/>
                <a:ea typeface="General Sans Semibold" pitchFamily="34" charset="-122"/>
                <a:cs typeface="General Sans Semibold" pitchFamily="34" charset="-120"/>
              </a:rPr>
              <a:t>n per groep</a:t>
            </a:r>
            <a:r>
              <a:rPr lang="en-US" sz="1800" dirty="0">
                <a:solidFill>
                  <a:srgbClr val="000000"/>
                </a:solidFill>
                <a:latin typeface="General Sans" pitchFamily="34" charset="0"/>
                <a:ea typeface="General Sans" pitchFamily="34" charset="-122"/>
                <a:cs typeface="General Sans" pitchFamily="34" charset="-120"/>
              </a:rPr>
              <a:t> en een label dat het </a:t>
            </a:r>
            <a:r>
              <a:rPr lang="en-US" sz="1800" dirty="0">
                <a:solidFill>
                  <a:srgbClr val="00AF81"/>
                </a:solidFill>
                <a:latin typeface="General Sans Semibold" pitchFamily="34" charset="0"/>
                <a:ea typeface="General Sans Semibold" pitchFamily="34" charset="-122"/>
                <a:cs typeface="General Sans Semibold" pitchFamily="34" charset="-120"/>
              </a:rPr>
              <a:t>demodata</a:t>
            </a: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txBody>
          <a:bodyPr/>
          <a:lstStyle/>
          <a:p>
            <a:endParaRPr/>
          </a:p>
        </p:txBody>
      </p:sp>
      <p:sp>
        <p:nvSpPr>
          <p:cNvPr id="74" name="Shape 72"/>
          <p:cNvSpPr/>
          <p:nvPr/>
        </p:nvSpPr>
        <p:spPr>
          <a:xfrm>
            <a:off x="822960" y="1645920"/>
            <a:ext cx="548640" cy="548640"/>
          </a:xfrm>
          <a:prstGeom prst="ellipse">
            <a:avLst/>
          </a:prstGeom>
          <a:solidFill>
            <a:srgbClr val="3D68EC"/>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txBody>
          <a:bodyPr/>
          <a:lstStyle/>
          <a:p>
            <a:endParaR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txBody>
          <a:bodyPr/>
          <a:lstStyle/>
          <a:p>
            <a:endParaRPr/>
          </a:p>
        </p:txBody>
      </p:sp>
      <p:sp>
        <p:nvSpPr>
          <p:cNvPr id="81" name="Shape 79"/>
          <p:cNvSpPr/>
          <p:nvPr/>
        </p:nvSpPr>
        <p:spPr>
          <a:xfrm>
            <a:off x="3665144" y="1645920"/>
            <a:ext cx="548640" cy="548640"/>
          </a:xfrm>
          <a:prstGeom prst="ellipse">
            <a:avLst/>
          </a:prstGeom>
          <a:solidFill>
            <a:srgbClr val="3D68EC"/>
          </a:solidFill>
          <a:ln/>
        </p:spPr>
        <p:txBody>
          <a:bodyPr/>
          <a:lstStyle/>
          <a:p>
            <a:endParaR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txBody>
          <a:bodyPr/>
          <a:lstStyle/>
          <a:p>
            <a:endParaR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Vragenlijst</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Typ /review-reflect: er opent een vragenlijst.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txBody>
          <a:bodyPr/>
          <a:lstStyle/>
          <a:p>
            <a:endParaRPr/>
          </a:p>
        </p:txBody>
      </p:sp>
      <p:sp>
        <p:nvSpPr>
          <p:cNvPr id="88" name="Shape 86"/>
          <p:cNvSpPr/>
          <p:nvPr/>
        </p:nvSpPr>
        <p:spPr>
          <a:xfrm>
            <a:off x="6507328" y="1645920"/>
            <a:ext cx="548640" cy="548640"/>
          </a:xfrm>
          <a:prstGeom prst="ellipse">
            <a:avLst/>
          </a:prstGeom>
          <a:solidFill>
            <a:srgbClr val="3D68EC"/>
          </a:solidFill>
          <a:ln/>
        </p:spPr>
        <p:txBody>
          <a:bodyPr/>
          <a:lstStyle/>
          <a:p>
            <a:endParaR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txBody>
          <a:bodyPr/>
          <a:lstStyle/>
          <a:p>
            <a:endParaR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Vervolg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vragenlijst vraagt of en in welke vorm je een vervolg wilt.</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txBody>
          <a:bodyPr/>
          <a:lstStyle/>
          <a:p>
            <a:endParaRPr/>
          </a:p>
        </p:txBody>
      </p:sp>
      <p:sp>
        <p:nvSpPr>
          <p:cNvPr id="95" name="Shape 93"/>
          <p:cNvSpPr/>
          <p:nvPr/>
        </p:nvSpPr>
        <p:spPr>
          <a:xfrm>
            <a:off x="9349511" y="1645920"/>
            <a:ext cx="548640" cy="548640"/>
          </a:xfrm>
          <a:prstGeom prst="ellipse">
            <a:avLst/>
          </a:prstGeom>
          <a:solidFill>
            <a:srgbClr val="3D68EC"/>
          </a:solidFill>
          <a:ln/>
        </p:spPr>
        <p:txBody>
          <a:bodyPr/>
          <a:lstStyle/>
          <a:p>
            <a:endParaR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lstStyle/>
          <a:p>
            <a:endParaR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4598</Words>
  <Application>Microsoft Office PowerPoint</Application>
  <PresentationFormat>Widescreen</PresentationFormat>
  <Paragraphs>459</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2026-10-13T10:24:39Z</dcterms:modified>
</cp:coreProperties>
</file>