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authors.xml" ContentType="application/vnd.ms-powerpoint.authors+xml"/>
  <Override PartName="/ppt/comments/modernComment_101_0.xml" ContentType="application/vnd.ms-powerpoint.comments+xml"/>
  <Override PartName="/ppt/comments/modernComment_102_0.xml" ContentType="application/vnd.ms-powerpoint.comments+xml"/>
  <Override PartName="/ppt/comments/modernComment_103_0.xml" ContentType="application/vnd.ms-powerpoint.comments+xml"/>
  <Override PartName="/ppt/comments/modernComment_106_0.xml" ContentType="application/vnd.ms-powerpoint.comment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9" r:id="rId5"/>
    <p:sldId id="266" r:id="rId18"/>
    <p:sldId id="267" r:id="rId19"/>
    <p:sldId id="258" r:id="rId4"/>
    <p:sldId id="268" r:id="rId20"/>
    <p:sldId id="269" r:id="rId21"/>
    <p:sldId id="260" r:id="rId6"/>
    <p:sldId id="261" r:id="rId7"/>
    <p:sldId id="262" r:id="rId8"/>
    <p:sldId id="263" r:id="rId9"/>
    <p:sldId id="264" r:id="rId10"/>
    <p:sldId id="270" r:id="rId22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2D11F7D-11EF-FF80-122A-4ACC359334A6}" name="Corneel den Hartogh" initials="CdH" userId="S::corneel.denhartogh@surf.nl::1aae7db1-df05-436d-8614-f8b2392b876b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9032"/>
    <p:restoredTop sz="94610"/>
  </p:normalViewPr>
  <p:slideViewPr>
    <p:cSldViewPr snapToGrid="0" snapToObjects="1">
      <p:cViewPr varScale="1">
        <p:scale>
          <a:sx n="64" d="100"/>
          <a:sy n="64" d="100"/>
        </p:scale>
        <p:origin x="96" y="7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6.xml"/><Relationship Id="rId5" Type="http://schemas.openxmlformats.org/officeDocument/2006/relationships/slide" Target="slides/slide3.xml"/><Relationship Id="rId6" Type="http://schemas.openxmlformats.org/officeDocument/2006/relationships/slide" Target="slides/slide9.xml"/><Relationship Id="rId7" Type="http://schemas.openxmlformats.org/officeDocument/2006/relationships/slide" Target="slides/slide10.xml"/><Relationship Id="rId8" Type="http://schemas.openxmlformats.org/officeDocument/2006/relationships/slide" Target="slides/slide11.xml"/><Relationship Id="rId9" Type="http://schemas.openxmlformats.org/officeDocument/2006/relationships/slide" Target="slides/slide12.xml"/><Relationship Id="rId10" Type="http://schemas.openxmlformats.org/officeDocument/2006/relationships/slide" Target="slides/slide13.xml"/><Relationship Id="rId11" Type="http://schemas.openxmlformats.org/officeDocument/2006/relationships/slide" Target="slides/slide14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microsoft.com/office/2018/10/relationships/authors" Target="authors.xml"/><Relationship Id="rId18" Type="http://schemas.openxmlformats.org/officeDocument/2006/relationships/slide" Target="slides/slide4.xml"/><Relationship Id="rId19" Type="http://schemas.openxmlformats.org/officeDocument/2006/relationships/slide" Target="slides/slide5.xml"/><Relationship Id="rId20" Type="http://schemas.openxmlformats.org/officeDocument/2006/relationships/slide" Target="slides/slide7.xml"/><Relationship Id="rId21" Type="http://schemas.openxmlformats.org/officeDocument/2006/relationships/slide" Target="slides/slide8.xml"/><Relationship Id="rId22" Type="http://schemas.openxmlformats.org/officeDocument/2006/relationships/slide" Target="slides/slide15.xml"/></Relationships>
</file>

<file path=ppt/comments/modernComment_101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9AD8BBF2-EA91-4B45-93C7-3F4B05E0D141}" authorId="{B2D11F7D-11EF-FF80-122A-4ACC359334A6}" created="2026-10-01T11:51:07.246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57"/>
      <ac:picMk id="3" creationId="{00000000-0000-0000-0000-000000000000}"/>
    </ac:deMkLst>
    <p188:txBody>
      <a:bodyPr/>
      <a:lstStyle/>
      <a:p>
        <a:r>
          <a:rPr lang="en-US"/>
          <a:t>dit is niet het npuls logo?</a:t>
        </a:r>
      </a:p>
    </p188:txBody>
  </p188:cm>
</p188:cmLst>
</file>

<file path=ppt/comments/modernComment_102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C9C64636-B86A-184C-9220-54B440722AE3}" authorId="{B2D11F7D-11EF-FF80-122A-4ACC359334A6}" created="2026-10-01T11:46:41.86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58"/>
      <ac:spMk id="38" creationId="{00000000-0000-0000-0000-000000000000}"/>
      <ac:txMk cp="0" len="148">
        <ac:context len="149" hash="4285380498"/>
      </ac:txMk>
    </ac:txMkLst>
    <p188:pos x="9321501" y="523897"/>
    <p188:txBody>
      <a:bodyPr/>
      <a:lstStyle/>
      <a:p>
        <a:r>
          <a:rPr lang="en-US"/>
          <a:t>lichten we dit hier of later toe?</a:t>
        </a:r>
      </a:p>
    </p188:txBody>
  </p188:cm>
</p188:cmLst>
</file>

<file path=ppt/comments/modernComment_103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ADA1C945-E1B9-EB4F-94EC-A09F280755A0}" authorId="{B2D11F7D-11EF-FF80-122A-4ACC359334A6}" created="2026-10-01T11:57:19.257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59"/>
      <ac:spMk id="2" creationId="{00000000-0000-0000-0000-000000000000}"/>
      <ac:txMk cp="0" len="21">
        <ac:context len="22" hash="3241130774"/>
      </ac:txMk>
    </ac:txMkLst>
    <p188:pos x="5058784" y="570155"/>
    <p188:txBody>
      <a:bodyPr/>
      <a:lstStyle/>
      <a:p>
        <a:r>
          <a:rPr lang="en-US"/>
          <a:t>9 onderdelen in 90 minuten waarvan 3 rondes lijkt me een uitdaging</a:t>
        </a:r>
      </a:p>
    </p188:txBody>
  </p188:cm>
</p188:cmLst>
</file>

<file path=ppt/comments/modernComment_106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FCE28DA-C453-2348-AE7B-90B132219FCC}" authorId="{B2D11F7D-11EF-FF80-122A-4ACC359334A6}" created="2026-10-01T11:49:37.714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62"/>
      <ac:spMk id="10" creationId="{00000000-0000-0000-0000-000000000000}"/>
      <ac:txMk cp="0" len="10">
        <ac:context len="136" hash="3309166040"/>
      </ac:txMk>
    </ac:txMkLst>
    <p188:pos x="763793" y="793376"/>
    <p188:txBody>
      <a:bodyPr/>
      <a:lstStyle/>
      <a:p>
        <a:r>
          <a:rPr lang="en-US"/>
          <a:t>wablief?</a:t>
        </a:r>
      </a:p>
    </p188:txBody>
  </p188:cm>
</p188:cmLst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210015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Synthetische data (±7 min)</a:t>
            </a:r>
          </a:p>
          <a:p>
            <a:r>
              <a:t>- Wat: data die gegenereerd is naar het patroon van een echt bestand. Zelfde kolommen, codes en verdelingen, geen echte personen.</a:t>
            </a:r>
          </a:p>
          <a:p>
            <a:r>
              <a:t>- Waarom: we willen met een AI-agent werken zonder privacyrisico. Echte 1CHO-data mag niet zomaar een taalmodel in.</a:t>
            </a:r>
          </a:p>
          <a:p>
            <a:r>
              <a:t>- Ingebouwd: een patroon om te vinden en kleine groepen om te blokkeren (privacy-drempel, verweven in beide skills).</a:t>
            </a:r>
          </a:p>
          <a:p>
            <a:r>
              <a:t>- Grens: conclusies over de echte wereld trek je hier niet. Voor echte data: het CEDA-pakket eencijferho.</a:t>
            </a:r>
          </a:p>
          <a:p>
            <a:r>
              <a:t>- Vraag aan de zaal: wie werkt al met synthetische data, en waarvoor?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 opdracht (±7 min, samen met de casusslide)</a:t>
            </a:r>
          </a:p>
          <a:p>
            <a:r>
              <a:t>- Eén casusvraag, twee rondes, één dashboard.</a:t>
            </a:r>
          </a:p>
          <a:p>
            <a:r>
              <a:t>- Tweetallen: de bestuurder prompt, de navigator controleert wat de agent doet. Wissel na ronde 1.</a:t>
            </a:r>
          </a:p>
          <a:p>
            <a:r>
              <a:t>- Na elke ronde een spiegelmoment: 2-3 tweetallen laten zien wat ze deden, daarna laten we zien wat de skill in één instructie doet.</a:t>
            </a:r>
          </a:p>
          <a:p>
            <a:r>
              <a:t>- Eindproduct: een dashboard dat de vraag beantwoordt én de responsible-checks doorstaat.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Wat is een skill? (±4 min)</a:t>
            </a:r>
          </a:p>
          <a:p>
            <a:r>
              <a:t>- Prompt: wat je nu al doet. Prima voor eenmalig werk, maar niet herhaalbaar.</a:t>
            </a:r>
          </a:p>
          <a:p>
            <a:r>
              <a:t>- Skill: een map met een SKILL.md. Bovenaan staat wanneer de skill van toepassing is, daaronder de stappen, voorbeelden, scripts en checks.</a:t>
            </a:r>
          </a:p>
          <a:p>
            <a:r>
              <a:t>- De agent leest alleen de korte beschrijving, en laadt de rest pas als de taak erom vraagt. Je kunt er dus veel hebben zonder dat het traag wordt.</a:t>
            </a:r>
          </a:p>
          <a:p>
            <a:r>
              <a:t>- Laat eventueel live een SKILL.md uit de devcontainer zien: het is gewoon Markdown.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Verkooppraatje skills en prompts (±6 min)</a:t>
            </a:r>
          </a:p>
          <a:p>
            <a:r>
              <a:t>- Herkenbaar: je schrijft een goede prompt, het werkt, en een week later typ je hem opnieuw (en net iets anders).</a:t>
            </a:r>
          </a:p>
          <a:p>
            <a:r>
              <a:t>- Een skill legt jouw vakkennis vast: definities uit het codebook, de n&lt;5-drempel, de huisstijl. De agent past ze elke keer toe, ook als je het zelf vergeet.</a:t>
            </a:r>
          </a:p>
          <a:p>
            <a:r>
              <a:t>- Transparant: geen black box. Je leest de skill, je past hem aan, je ziet in de code wat de agent ermee deed.</a:t>
            </a:r>
          </a:p>
          <a:p>
            <a:r>
              <a:t>- Deelbaar: een collega kloont de repo en heeft dezelfde werkwijze. Kennis van één analist wordt teamkennis.</a:t>
            </a:r>
          </a:p>
          <a:p>
            <a:r>
              <a:t>- Goedkoop: het zijn tekstbestanden, geen licentie of platform.</a:t>
            </a:r>
          </a:p>
          <a:p>
            <a:r>
              <a:t>- Brug naar de rondes: na elke ronde laten we de skill draaien. Vergelijk zelf: jouw 20 minuten tegenover één instructie.</a:t>
            </a:r>
          </a:p>
          <a:p>
            <a:r>
              <a:t>- Afsluitende oproep: welke prompt typ jij steeds opnieuw? Dat is je eerste skill.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Evaluatie en afsluiting (16 min, één blok). Vraag eerst toestemming: de antwoorden zijn anoniem en dienen om te bepalen of er een vervolg komt. Terugblik (4 min) via de peiling of een kort rondje; meerkeuzevraag (2 min); open vraag (4 min); daarna de afsluiting (6 min). Formulering: workshop-rad/docs/evaluatievragen.md.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microsoft.com/office/2018/10/relationships/comments" Target="../comments/modernComment_101_0.xml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microsoft.com/office/2018/10/relationships/comments" Target="../comments/modernComment_103_0.xml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microsoft.com/office/2018/10/relationships/comments" Target="../comments/modernComment_102_0.xml"/><Relationship Id="rId4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microsoft.com/office/2018/10/relationships/comments" Target="../comments/modernComment_106_0.xml"/><Relationship Id="rId4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microsoft.com/office/2018/10/relationships/comments" Target="../comments/modernComment_101_0.xml"/><Relationship Id="rId4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microsoft.com/office/2018/10/relationships/comments" Target="../comments/modernComment_106_0.xml"/><Relationship Id="rId4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D68EC"/>
        </a:solid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57200"/>
            <a:ext cx="685800" cy="6858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1463040" y="621792"/>
            <a:ext cx="2834640" cy="365760"/>
          </a:xfrm>
          <a:prstGeom prst="roundRect">
            <a:avLst>
              <a:gd name="adj" fmla="val 50000"/>
            </a:avLst>
          </a:prstGeom>
          <a:solidFill>
            <a:srgbClr val="F4D74B"/>
          </a:solidFill>
          <a:ln w="12700">
            <a:solidFill>
              <a:srgbClr val="F4D74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5" name="Text 1"/>
          <p:cNvSpPr txBox="1"/>
          <p:nvPr/>
        </p:nvSpPr>
        <p:spPr>
          <a:xfrm>
            <a:off x="1463040" y="62179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D68E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CEDA · DAIR-bijeenkomst</a:t>
            </a:r>
            <a:endParaRPr lang="en-US" sz="13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1737360"/>
            <a:ext cx="6675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600" b="1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Agentic data science in het onderwijs</a:t>
            </a:r>
            <a:endParaRPr lang="en-US" sz="46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361188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i="1" dirty="0">
                <a:solidFill>
                  <a:srgbClr val="F4D7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Workshop-voorstel: korte rondes met spiegelen</a:t>
            </a:r>
            <a:endParaRPr lang="en-US" sz="22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420624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120 minuten · één casus · één dashboard</a:t>
            </a:r>
            <a:endParaRPr lang="en-US" sz="16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5074920"/>
            <a:ext cx="3840480" cy="1920240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8595360" y="2560320"/>
            <a:ext cx="0" cy="640080"/>
          </a:xfrm>
          <a:prstGeom prst="line">
            <a:avLst/>
          </a:prstGeom>
          <a:noFill/>
          <a:ln w="25400">
            <a:solidFill>
              <a:srgbClr val="F4D9DC"/>
            </a:solidFill>
            <a:prstDash val="dash"/>
          </a:ln>
        </p:spPr>
        <p:txBody>
          <a:bodyPr/>
          <a:lstStyle/>
          <a:p>
            <a:endParaRPr lang="en-NL"/>
          </a:p>
        </p:txBody>
      </p:sp>
      <p:sp>
        <p:nvSpPr>
          <p:cNvPr id="11" name="Shape 6"/>
          <p:cNvSpPr/>
          <p:nvPr/>
        </p:nvSpPr>
        <p:spPr>
          <a:xfrm>
            <a:off x="8138160" y="1645920"/>
            <a:ext cx="914400" cy="914400"/>
          </a:xfrm>
          <a:prstGeom prst="ellipse">
            <a:avLst/>
          </a:prstGeom>
          <a:solidFill>
            <a:srgbClr val="F4D74B"/>
          </a:solidFill>
          <a:ln w="12700">
            <a:solidFill>
              <a:srgbClr val="F4D74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2" name="Text 7"/>
          <p:cNvSpPr txBox="1"/>
          <p:nvPr/>
        </p:nvSpPr>
        <p:spPr>
          <a:xfrm>
            <a:off x="8138160" y="16459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3D68E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1</a:t>
            </a:r>
            <a:endParaRPr lang="en-US" sz="2800" dirty="0"/>
          </a:p>
        </p:txBody>
      </p:sp>
      <p:sp>
        <p:nvSpPr>
          <p:cNvPr id="13" name="Text 8"/>
          <p:cNvSpPr txBox="1"/>
          <p:nvPr/>
        </p:nvSpPr>
        <p:spPr>
          <a:xfrm>
            <a:off x="9326880" y="164592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Data exploratie</a:t>
            </a:r>
            <a:endParaRPr lang="en-US" sz="2000" dirty="0"/>
          </a:p>
        </p:txBody>
      </p:sp>
      <p:sp>
        <p:nvSpPr>
          <p:cNvPr id="14" name="Shape 10"/>
          <p:cNvSpPr/>
          <p:nvPr/>
        </p:nvSpPr>
        <p:spPr>
          <a:xfrm>
            <a:off x="8138160" y="3200400"/>
            <a:ext cx="914400" cy="914400"/>
          </a:xfrm>
          <a:prstGeom prst="ellipse">
            <a:avLst/>
          </a:prstGeom>
          <a:solidFill>
            <a:srgbClr val="DD784B"/>
          </a:solidFill>
          <a:ln w="12700">
            <a:solidFill>
              <a:srgbClr val="DD784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5" name="Text 11"/>
          <p:cNvSpPr txBox="1"/>
          <p:nvPr/>
        </p:nvSpPr>
        <p:spPr>
          <a:xfrm>
            <a:off x="8138160" y="32004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2</a:t>
            </a:r>
            <a:endParaRPr lang="en-US" sz="2800" dirty="0"/>
          </a:p>
        </p:txBody>
      </p:sp>
      <p:sp>
        <p:nvSpPr>
          <p:cNvPr id="16" name="Text 12"/>
          <p:cNvSpPr txBox="1"/>
          <p:nvPr/>
        </p:nvSpPr>
        <p:spPr>
          <a:xfrm>
            <a:off x="9326880" y="320040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Dashboard bouwen</a:t>
            </a:r>
            <a:endParaRPr lang="en-US" sz="2000" dirty="0"/>
          </a:p>
        </p:txBody>
      </p:sp>
      <p:sp>
        <p:nvSpPr>
          <p:cNvPr id="17" name="Text 16"/>
          <p:cNvSpPr txBox="1"/>
          <p:nvPr/>
        </p:nvSpPr>
        <p:spPr>
          <a:xfrm>
            <a:off x="8503920" y="61722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4D74B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Onderwijs bewegen.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D9DC"/>
        </a:solid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411480"/>
            <a:ext cx="9966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3D68E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Eén casus, één dashboard, twee rondes</a:t>
            </a:r>
            <a:endParaRPr lang="en-US" sz="3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48695" y="365760"/>
            <a:ext cx="594360" cy="59436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132588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i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is geen black box maar een transparante junior-analist. De agent versnelt het handwerk, de deelnemers houden de regie.</a:t>
            </a:r>
            <a:endParaRPr lang="en-US" sz="2100" dirty="0"/>
          </a:p>
        </p:txBody>
      </p:sp>
      <p:sp>
        <p:nvSpPr>
          <p:cNvPr id="6" name="Shape 2"/>
          <p:cNvSpPr/>
          <p:nvPr/>
        </p:nvSpPr>
        <p:spPr>
          <a:xfrm>
            <a:off x="548640" y="2468880"/>
            <a:ext cx="2606040" cy="2468880"/>
          </a:xfrm>
          <a:prstGeom prst="roundRect">
            <a:avLst>
              <a:gd name="adj" fmla="val 11111"/>
            </a:avLst>
          </a:prstGeom>
          <a:solidFill>
            <a:srgbClr val="3D68EC"/>
          </a:solidFill>
          <a:ln w="12700">
            <a:solidFill>
              <a:srgbClr val="3D68E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7" name="Text 3"/>
          <p:cNvSpPr txBox="1"/>
          <p:nvPr/>
        </p:nvSpPr>
        <p:spPr>
          <a:xfrm>
            <a:off x="822960" y="269748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F4D74B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120</a:t>
            </a:r>
            <a:endParaRPr lang="en-US" sz="6400" dirty="0"/>
          </a:p>
        </p:txBody>
      </p:sp>
      <p:sp>
        <p:nvSpPr>
          <p:cNvPr id="8" name="Text 4"/>
          <p:cNvSpPr txBox="1"/>
          <p:nvPr/>
        </p:nvSpPr>
        <p:spPr>
          <a:xfrm>
            <a:off x="822960" y="37490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minuten</a:t>
            </a:r>
            <a:endParaRPr lang="en-US" sz="1900" dirty="0"/>
          </a:p>
        </p:txBody>
      </p:sp>
      <p:sp>
        <p:nvSpPr>
          <p:cNvPr id="9" name="Text 5"/>
          <p:cNvSpPr txBox="1"/>
          <p:nvPr/>
        </p:nvSpPr>
        <p:spPr>
          <a:xfrm>
            <a:off x="822960" y="41605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één workshop, tien blokken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3376879" y="2468880"/>
            <a:ext cx="2606040" cy="2468880"/>
          </a:xfrm>
          <a:prstGeom prst="roundRect">
            <a:avLst>
              <a:gd name="adj" fmla="val 11111"/>
            </a:avLst>
          </a:prstGeom>
          <a:solidFill>
            <a:srgbClr val="DD784B"/>
          </a:solidFill>
          <a:ln w="12700">
            <a:solidFill>
              <a:srgbClr val="DD784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1" name="Text 7"/>
          <p:cNvSpPr txBox="1"/>
          <p:nvPr/>
        </p:nvSpPr>
        <p:spPr>
          <a:xfrm>
            <a:off x="3651199" y="269748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2</a:t>
            </a:r>
            <a:endParaRPr lang="en-US" sz="6400" dirty="0"/>
          </a:p>
        </p:txBody>
      </p:sp>
      <p:sp>
        <p:nvSpPr>
          <p:cNvPr id="12" name="Text 8"/>
          <p:cNvSpPr txBox="1"/>
          <p:nvPr/>
        </p:nvSpPr>
        <p:spPr>
          <a:xfrm>
            <a:off x="3651199" y="37490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rondes</a:t>
            </a:r>
            <a:endParaRPr lang="en-US" sz="1900" dirty="0"/>
          </a:p>
        </p:txBody>
      </p:sp>
      <p:sp>
        <p:nvSpPr>
          <p:cNvPr id="13" name="Text 9"/>
          <p:cNvSpPr txBox="1"/>
          <p:nvPr/>
        </p:nvSpPr>
        <p:spPr>
          <a:xfrm>
            <a:off x="3651199" y="41605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exploreren en bouwen, allebei verantwoord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205118" y="2468880"/>
            <a:ext cx="2606040" cy="2468880"/>
          </a:xfrm>
          <a:prstGeom prst="roundRect">
            <a:avLst>
              <a:gd name="adj" fmla="val 11111"/>
            </a:avLst>
          </a:prstGeom>
          <a:solidFill>
            <a:srgbClr val="00AF81"/>
          </a:solidFill>
          <a:ln w="12700">
            <a:solidFill>
              <a:srgbClr val="00AF81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5" name="Text 11"/>
          <p:cNvSpPr txBox="1"/>
          <p:nvPr/>
        </p:nvSpPr>
        <p:spPr>
          <a:xfrm>
            <a:off x="6479438" y="269748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2</a:t>
            </a:r>
            <a:endParaRPr lang="en-US" sz="6400" dirty="0"/>
          </a:p>
        </p:txBody>
      </p:sp>
      <p:sp>
        <p:nvSpPr>
          <p:cNvPr id="16" name="Text 12"/>
          <p:cNvSpPr txBox="1"/>
          <p:nvPr/>
        </p:nvSpPr>
        <p:spPr>
          <a:xfrm>
            <a:off x="6479438" y="37490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spiegelmomenten</a:t>
            </a:r>
            <a:endParaRPr lang="en-US" sz="1900" dirty="0"/>
          </a:p>
        </p:txBody>
      </p:sp>
      <p:sp>
        <p:nvSpPr>
          <p:cNvPr id="17" name="Text 13"/>
          <p:cNvSpPr txBox="1"/>
          <p:nvPr/>
        </p:nvSpPr>
        <p:spPr>
          <a:xfrm>
            <a:off x="6479438" y="41605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elk met een skill die de stap ervoor doet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9033358" y="2468880"/>
            <a:ext cx="2606040" cy="2468880"/>
          </a:xfrm>
          <a:prstGeom prst="roundRect">
            <a:avLst>
              <a:gd name="adj" fmla="val 11111"/>
            </a:avLst>
          </a:prstGeom>
          <a:solidFill>
            <a:srgbClr val="F4D74B"/>
          </a:solidFill>
          <a:ln w="12700">
            <a:solidFill>
              <a:srgbClr val="F4D74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9" name="Text 15"/>
          <p:cNvSpPr txBox="1"/>
          <p:nvPr/>
        </p:nvSpPr>
        <p:spPr>
          <a:xfrm>
            <a:off x="9307678" y="269748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3D68E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1</a:t>
            </a:r>
            <a:endParaRPr lang="en-US" sz="6400" dirty="0"/>
          </a:p>
        </p:txBody>
      </p:sp>
      <p:sp>
        <p:nvSpPr>
          <p:cNvPr id="20" name="Text 16"/>
          <p:cNvSpPr txBox="1"/>
          <p:nvPr/>
        </p:nvSpPr>
        <p:spPr>
          <a:xfrm>
            <a:off x="9307678" y="37490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3D68E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casus</a:t>
            </a:r>
            <a:endParaRPr lang="en-US" sz="1900" dirty="0"/>
          </a:p>
        </p:txBody>
      </p:sp>
      <p:sp>
        <p:nvSpPr>
          <p:cNvPr id="21" name="Text 17"/>
          <p:cNvSpPr txBox="1"/>
          <p:nvPr/>
        </p:nvSpPr>
        <p:spPr>
          <a:xfrm>
            <a:off x="9307678" y="41605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D68E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beantwoord met één dashboard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548640" y="5212080"/>
            <a:ext cx="11091672" cy="777240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3" name="Text 19"/>
          <p:cNvSpPr txBox="1"/>
          <p:nvPr/>
        </p:nvSpPr>
        <p:spPr>
          <a:xfrm>
            <a:off x="822960" y="521208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D68E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Wow-moment: </a:t>
            </a:r>
            <a:r>
              <a:rPr lang="en-US" sz="1500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elke ronde een zichtbare sprong. De skill doet de vorige stap in één instructie, gespiegeld aan de groep ernaast.</a:t>
            </a:r>
            <a:endParaRPr lang="en-US" sz="1500" dirty="0"/>
          </a:p>
        </p:txBody>
      </p:sp>
      <p:sp>
        <p:nvSpPr>
          <p:cNvPr id="24" name="Text 20"/>
          <p:cNvSpPr txBox="1"/>
          <p:nvPr/>
        </p:nvSpPr>
        <p:spPr>
          <a:xfrm>
            <a:off x="548640" y="619963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D68E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Data is synthetisch: validatie tegen de werkelijkheid gebeurt niet tijdens de workshop. Dat vraagt echte data, buiten de devcontainer.</a:t>
            </a:r>
            <a:endParaRPr lang="en-US" sz="1100" dirty="0"/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EAEA"/>
        </a:solid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41148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3D68E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Programma: 120 minuten</a:t>
            </a:r>
            <a:endParaRPr lang="en-US" sz="3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48695" y="365760"/>
            <a:ext cx="594360" cy="59436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548640" y="1188720"/>
            <a:ext cx="445008" cy="310896"/>
          </a:xfrm>
          <a:prstGeom prst="roundRect">
            <a:avLst>
              <a:gd name="adj" fmla="val 23529"/>
            </a:avLst>
          </a:prstGeom>
          <a:solidFill>
            <a:srgbClr val="F4D74B"/>
          </a:solidFill>
          <a:ln w="12700">
            <a:solidFill>
              <a:srgbClr val="F4D74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6" name="Text 2"/>
          <p:cNvSpPr txBox="1"/>
          <p:nvPr/>
        </p:nvSpPr>
        <p:spPr>
          <a:xfrm>
            <a:off x="548640" y="1188720"/>
            <a:ext cx="445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D68E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5 min</a:t>
            </a:r>
            <a:endParaRPr lang="en-US" sz="1000" dirty="0"/>
          </a:p>
        </p:txBody>
      </p:sp>
      <p:sp>
        <p:nvSpPr>
          <p:cNvPr id="7" name="Shape 1"/>
          <p:cNvSpPr/>
          <p:nvPr/>
        </p:nvSpPr>
        <p:spPr>
          <a:xfrm>
            <a:off x="1039368" y="1188720"/>
            <a:ext cx="534009" cy="310896"/>
          </a:xfrm>
          <a:prstGeom prst="roundRect">
            <a:avLst>
              <a:gd name="adj" fmla="val 23529"/>
            </a:avLst>
          </a:prstGeom>
          <a:solidFill>
            <a:srgbClr val="F4D74B"/>
          </a:solidFill>
          <a:ln w="12700">
            <a:solidFill>
              <a:srgbClr val="F4D74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8" name="Text 2"/>
          <p:cNvSpPr txBox="1"/>
          <p:nvPr/>
        </p:nvSpPr>
        <p:spPr>
          <a:xfrm>
            <a:off x="1039368" y="1188720"/>
            <a:ext cx="53400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D68E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6 min</a:t>
            </a:r>
            <a:endParaRPr lang="en-US" sz="1000" dirty="0"/>
          </a:p>
        </p:txBody>
      </p:sp>
      <p:sp>
        <p:nvSpPr>
          <p:cNvPr id="9" name="Shape 1"/>
          <p:cNvSpPr/>
          <p:nvPr/>
        </p:nvSpPr>
        <p:spPr>
          <a:xfrm>
            <a:off x="1619097" y="1188720"/>
            <a:ext cx="534009" cy="310896"/>
          </a:xfrm>
          <a:prstGeom prst="roundRect">
            <a:avLst>
              <a:gd name="adj" fmla="val 23529"/>
            </a:avLst>
          </a:prstGeom>
          <a:solidFill>
            <a:srgbClr val="F4D74B"/>
          </a:solidFill>
          <a:ln w="12700">
            <a:solidFill>
              <a:srgbClr val="F4D74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0" name="Text 2"/>
          <p:cNvSpPr txBox="1"/>
          <p:nvPr/>
        </p:nvSpPr>
        <p:spPr>
          <a:xfrm>
            <a:off x="1619097" y="1188720"/>
            <a:ext cx="53400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D68E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6 min</a:t>
            </a:r>
            <a:endParaRPr lang="en-US" sz="1000" dirty="0"/>
          </a:p>
        </p:txBody>
      </p:sp>
      <p:sp>
        <p:nvSpPr>
          <p:cNvPr id="11" name="Shape 1"/>
          <p:cNvSpPr/>
          <p:nvPr/>
        </p:nvSpPr>
        <p:spPr>
          <a:xfrm>
            <a:off x="2198827" y="1188720"/>
            <a:ext cx="712012" cy="310896"/>
          </a:xfrm>
          <a:prstGeom prst="roundRect">
            <a:avLst>
              <a:gd name="adj" fmla="val 23529"/>
            </a:avLst>
          </a:prstGeom>
          <a:solidFill>
            <a:srgbClr val="F4D74B"/>
          </a:solidFill>
          <a:ln w="12700">
            <a:solidFill>
              <a:srgbClr val="F4D74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2" name="Text 2"/>
          <p:cNvSpPr txBox="1"/>
          <p:nvPr/>
        </p:nvSpPr>
        <p:spPr>
          <a:xfrm>
            <a:off x="2198827" y="1188720"/>
            <a:ext cx="7120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D68E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8 min</a:t>
            </a:r>
            <a:endParaRPr lang="en-US" sz="1000" dirty="0"/>
          </a:p>
        </p:txBody>
      </p:sp>
      <p:sp>
        <p:nvSpPr>
          <p:cNvPr id="13" name="Shape 1"/>
          <p:cNvSpPr/>
          <p:nvPr/>
        </p:nvSpPr>
        <p:spPr>
          <a:xfrm>
            <a:off x="2956560" y="1188720"/>
            <a:ext cx="445008" cy="310896"/>
          </a:xfrm>
          <a:prstGeom prst="roundRect">
            <a:avLst>
              <a:gd name="adj" fmla="val 23529"/>
            </a:avLst>
          </a:prstGeom>
          <a:solidFill>
            <a:srgbClr val="F4D74B"/>
          </a:solidFill>
          <a:ln w="12700">
            <a:solidFill>
              <a:srgbClr val="F4D74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4" name="Text 2"/>
          <p:cNvSpPr txBox="1"/>
          <p:nvPr/>
        </p:nvSpPr>
        <p:spPr>
          <a:xfrm>
            <a:off x="2956560" y="1188720"/>
            <a:ext cx="445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D68E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5 min</a:t>
            </a:r>
            <a:endParaRPr lang="en-US" sz="1000" dirty="0"/>
          </a:p>
        </p:txBody>
      </p:sp>
      <p:sp>
        <p:nvSpPr>
          <p:cNvPr id="15" name="Shape 5"/>
          <p:cNvSpPr/>
          <p:nvPr/>
        </p:nvSpPr>
        <p:spPr>
          <a:xfrm>
            <a:off x="3447288" y="1188720"/>
            <a:ext cx="1958035" cy="310896"/>
          </a:xfrm>
          <a:prstGeom prst="roundRect">
            <a:avLst>
              <a:gd name="adj" fmla="val 23529"/>
            </a:avLst>
          </a:prstGeom>
          <a:solidFill>
            <a:srgbClr val="3D68EC"/>
          </a:solidFill>
          <a:ln w="12700">
            <a:solidFill>
              <a:srgbClr val="3D68E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6" name="Text 6"/>
          <p:cNvSpPr txBox="1"/>
          <p:nvPr/>
        </p:nvSpPr>
        <p:spPr>
          <a:xfrm>
            <a:off x="3447288" y="1188720"/>
            <a:ext cx="19580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4D74B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22 min</a:t>
            </a:r>
            <a:endParaRPr lang="en-US" sz="1000" dirty="0"/>
          </a:p>
        </p:txBody>
      </p:sp>
      <p:sp>
        <p:nvSpPr>
          <p:cNvPr id="17" name="Shape 7"/>
          <p:cNvSpPr/>
          <p:nvPr/>
        </p:nvSpPr>
        <p:spPr>
          <a:xfrm>
            <a:off x="5451043" y="1188720"/>
            <a:ext cx="1335024" cy="310896"/>
          </a:xfrm>
          <a:prstGeom prst="roundRect">
            <a:avLst>
              <a:gd name="adj" fmla="val 23529"/>
            </a:avLst>
          </a:prstGeom>
          <a:solidFill>
            <a:srgbClr val="DD784B"/>
          </a:solidFill>
          <a:ln w="12700">
            <a:solidFill>
              <a:srgbClr val="DD784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8" name="Text 8"/>
          <p:cNvSpPr txBox="1"/>
          <p:nvPr/>
        </p:nvSpPr>
        <p:spPr>
          <a:xfrm>
            <a:off x="5451043" y="1188720"/>
            <a:ext cx="1335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15 min</a:t>
            </a:r>
            <a:endParaRPr lang="en-US" sz="1000" dirty="0"/>
          </a:p>
        </p:txBody>
      </p:sp>
      <p:sp>
        <p:nvSpPr>
          <p:cNvPr id="19" name="Shape 5"/>
          <p:cNvSpPr/>
          <p:nvPr/>
        </p:nvSpPr>
        <p:spPr>
          <a:xfrm>
            <a:off x="6831787" y="1188720"/>
            <a:ext cx="1958035" cy="310896"/>
          </a:xfrm>
          <a:prstGeom prst="roundRect">
            <a:avLst>
              <a:gd name="adj" fmla="val 23529"/>
            </a:avLst>
          </a:prstGeom>
          <a:solidFill>
            <a:srgbClr val="3D68EC"/>
          </a:solidFill>
          <a:ln w="12700">
            <a:solidFill>
              <a:srgbClr val="3D68E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0" name="Text 6"/>
          <p:cNvSpPr txBox="1"/>
          <p:nvPr/>
        </p:nvSpPr>
        <p:spPr>
          <a:xfrm>
            <a:off x="6831787" y="1188720"/>
            <a:ext cx="19580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4D74B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22 min</a:t>
            </a:r>
            <a:endParaRPr lang="en-US" sz="1000" dirty="0"/>
          </a:p>
        </p:txBody>
      </p:sp>
      <p:sp>
        <p:nvSpPr>
          <p:cNvPr id="21" name="Shape 7"/>
          <p:cNvSpPr/>
          <p:nvPr/>
        </p:nvSpPr>
        <p:spPr>
          <a:xfrm>
            <a:off x="8835542" y="1188720"/>
            <a:ext cx="1335024" cy="310896"/>
          </a:xfrm>
          <a:prstGeom prst="roundRect">
            <a:avLst>
              <a:gd name="adj" fmla="val 23529"/>
            </a:avLst>
          </a:prstGeom>
          <a:solidFill>
            <a:srgbClr val="DD784B"/>
          </a:solidFill>
          <a:ln w="12700">
            <a:solidFill>
              <a:srgbClr val="DD784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2" name="Text 8"/>
          <p:cNvSpPr txBox="1"/>
          <p:nvPr/>
        </p:nvSpPr>
        <p:spPr>
          <a:xfrm>
            <a:off x="8835542" y="1188720"/>
            <a:ext cx="1335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15 min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10216286" y="1188720"/>
            <a:ext cx="1424025" cy="310896"/>
          </a:xfrm>
          <a:prstGeom prst="roundRect">
            <a:avLst>
              <a:gd name="adj" fmla="val 23529"/>
            </a:avLst>
          </a:prstGeom>
          <a:solidFill>
            <a:srgbClr val="00AF81"/>
          </a:solidFill>
          <a:ln w="12700">
            <a:solidFill>
              <a:srgbClr val="00AF81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4" name="Text 18"/>
          <p:cNvSpPr txBox="1"/>
          <p:nvPr/>
        </p:nvSpPr>
        <p:spPr>
          <a:xfrm>
            <a:off x="10216286" y="1188720"/>
            <a:ext cx="142402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16 min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548640" y="1691640"/>
            <a:ext cx="11091672" cy="384048"/>
          </a:xfrm>
          <a:prstGeom prst="roundRect">
            <a:avLst>
              <a:gd name="adj" fmla="val 3181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6" name="Shape 20"/>
          <p:cNvSpPr/>
          <p:nvPr/>
        </p:nvSpPr>
        <p:spPr>
          <a:xfrm>
            <a:off x="640080" y="1737360"/>
            <a:ext cx="292608" cy="292608"/>
          </a:xfrm>
          <a:prstGeom prst="ellipse">
            <a:avLst/>
          </a:prstGeom>
          <a:solidFill>
            <a:srgbClr val="F4D74B"/>
          </a:solidFill>
          <a:ln w="12700">
            <a:solidFill>
              <a:srgbClr val="F4D74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7" name="Text 21"/>
          <p:cNvSpPr txBox="1"/>
          <p:nvPr/>
        </p:nvSpPr>
        <p:spPr>
          <a:xfrm>
            <a:off x="640080" y="17373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D68E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1</a:t>
            </a:r>
            <a:endParaRPr lang="en-US" sz="1100" dirty="0"/>
          </a:p>
        </p:txBody>
      </p:sp>
      <p:sp>
        <p:nvSpPr>
          <p:cNvPr id="28" name="Text 22"/>
          <p:cNvSpPr txBox="1"/>
          <p:nvPr/>
        </p:nvSpPr>
        <p:spPr>
          <a:xfrm>
            <a:off x="1097280" y="169164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D68E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0:00</a:t>
            </a:r>
            <a:endParaRPr lang="en-US" sz="1200" dirty="0"/>
          </a:p>
        </p:txBody>
      </p:sp>
      <p:sp>
        <p:nvSpPr>
          <p:cNvPr id="29" name="Text 23"/>
          <p:cNvSpPr txBox="1"/>
          <p:nvPr/>
        </p:nvSpPr>
        <p:spPr>
          <a:xfrm>
            <a:off x="1783080" y="169164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Intro (CEDA)</a:t>
            </a:r>
            <a:endParaRPr lang="en-US" sz="1300" dirty="0"/>
          </a:p>
        </p:txBody>
      </p:sp>
      <p:sp>
        <p:nvSpPr>
          <p:cNvPr id="30" name="Text 24"/>
          <p:cNvSpPr txBox="1"/>
          <p:nvPr/>
        </p:nvSpPr>
        <p:spPr>
          <a:xfrm>
            <a:off x="4617720" y="169164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68E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5 min</a:t>
            </a:r>
            <a:endParaRPr lang="en-US" sz="1200" dirty="0"/>
          </a:p>
        </p:txBody>
      </p:sp>
      <p:sp>
        <p:nvSpPr>
          <p:cNvPr id="31" name="Text 25"/>
          <p:cNvSpPr txBox="1"/>
          <p:nvPr/>
        </p:nvSpPr>
        <p:spPr>
          <a:xfrm>
            <a:off x="5303520" y="1691640"/>
            <a:ext cx="6245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Waarom agentic data science, en wat gaan we doen?</a:t>
            </a:r>
            <a:endParaRPr lang="en-US" sz="1100" dirty="0"/>
          </a:p>
        </p:txBody>
      </p:sp>
      <p:sp>
        <p:nvSpPr>
          <p:cNvPr id="32" name="Shape 19"/>
          <p:cNvSpPr/>
          <p:nvPr/>
        </p:nvSpPr>
        <p:spPr>
          <a:xfrm>
            <a:off x="548640" y="2112264"/>
            <a:ext cx="11091672" cy="384048"/>
          </a:xfrm>
          <a:prstGeom prst="roundRect">
            <a:avLst>
              <a:gd name="adj" fmla="val 3181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3" name="Shape 20"/>
          <p:cNvSpPr/>
          <p:nvPr/>
        </p:nvSpPr>
        <p:spPr>
          <a:xfrm>
            <a:off x="640080" y="2157984"/>
            <a:ext cx="292608" cy="292608"/>
          </a:xfrm>
          <a:prstGeom prst="ellipse">
            <a:avLst/>
          </a:prstGeom>
          <a:solidFill>
            <a:srgbClr val="F4D74B"/>
          </a:solidFill>
          <a:ln w="12700">
            <a:solidFill>
              <a:srgbClr val="F4D74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4" name="Text 21"/>
          <p:cNvSpPr txBox="1"/>
          <p:nvPr/>
        </p:nvSpPr>
        <p:spPr>
          <a:xfrm>
            <a:off x="640080" y="21579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D68E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2</a:t>
            </a:r>
            <a:endParaRPr lang="en-US" sz="1100" dirty="0"/>
          </a:p>
        </p:txBody>
      </p:sp>
      <p:sp>
        <p:nvSpPr>
          <p:cNvPr id="35" name="Text 22"/>
          <p:cNvSpPr txBox="1"/>
          <p:nvPr/>
        </p:nvSpPr>
        <p:spPr>
          <a:xfrm>
            <a:off x="1097280" y="2112264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D68E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0:05</a:t>
            </a:r>
            <a:endParaRPr lang="en-US" sz="1200" dirty="0"/>
          </a:p>
        </p:txBody>
      </p:sp>
      <p:sp>
        <p:nvSpPr>
          <p:cNvPr id="36" name="Text 23"/>
          <p:cNvSpPr txBox="1"/>
          <p:nvPr/>
        </p:nvSpPr>
        <p:spPr>
          <a:xfrm>
            <a:off x="1783080" y="2112264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Synthetische data</a:t>
            </a:r>
            <a:endParaRPr lang="en-US" sz="1300" dirty="0"/>
          </a:p>
        </p:txBody>
      </p:sp>
      <p:sp>
        <p:nvSpPr>
          <p:cNvPr id="37" name="Text 24"/>
          <p:cNvSpPr txBox="1"/>
          <p:nvPr/>
        </p:nvSpPr>
        <p:spPr>
          <a:xfrm>
            <a:off x="4617720" y="2112264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68E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6 min</a:t>
            </a:r>
            <a:endParaRPr lang="en-US" sz="1200" dirty="0"/>
          </a:p>
        </p:txBody>
      </p:sp>
      <p:sp>
        <p:nvSpPr>
          <p:cNvPr id="38" name="Text 25"/>
          <p:cNvSpPr txBox="1"/>
          <p:nvPr/>
        </p:nvSpPr>
        <p:spPr>
          <a:xfrm>
            <a:off x="5303520" y="2112264"/>
            <a:ext cx="6245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Wat is het, waarom gebruiken we het, wat kun je er (niet) mee?</a:t>
            </a:r>
            <a:endParaRPr lang="en-US" sz="1100" dirty="0"/>
          </a:p>
        </p:txBody>
      </p:sp>
      <p:sp>
        <p:nvSpPr>
          <p:cNvPr id="39" name="Shape 19"/>
          <p:cNvSpPr/>
          <p:nvPr/>
        </p:nvSpPr>
        <p:spPr>
          <a:xfrm>
            <a:off x="548640" y="2532888"/>
            <a:ext cx="11091672" cy="384048"/>
          </a:xfrm>
          <a:prstGeom prst="roundRect">
            <a:avLst>
              <a:gd name="adj" fmla="val 3181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40" name="Shape 20"/>
          <p:cNvSpPr/>
          <p:nvPr/>
        </p:nvSpPr>
        <p:spPr>
          <a:xfrm>
            <a:off x="640080" y="2578608"/>
            <a:ext cx="292608" cy="292608"/>
          </a:xfrm>
          <a:prstGeom prst="ellipse">
            <a:avLst/>
          </a:prstGeom>
          <a:solidFill>
            <a:srgbClr val="F4D74B"/>
          </a:solidFill>
          <a:ln w="12700">
            <a:solidFill>
              <a:srgbClr val="F4D74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41" name="Text 21"/>
          <p:cNvSpPr txBox="1"/>
          <p:nvPr/>
        </p:nvSpPr>
        <p:spPr>
          <a:xfrm>
            <a:off x="640080" y="25786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D68E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3</a:t>
            </a:r>
            <a:endParaRPr lang="en-US" sz="1100" dirty="0"/>
          </a:p>
        </p:txBody>
      </p:sp>
      <p:sp>
        <p:nvSpPr>
          <p:cNvPr id="42" name="Text 22"/>
          <p:cNvSpPr txBox="1"/>
          <p:nvPr/>
        </p:nvSpPr>
        <p:spPr>
          <a:xfrm>
            <a:off x="1097280" y="2532888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D68E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0:11</a:t>
            </a:r>
            <a:endParaRPr lang="en-US" sz="1200" dirty="0"/>
          </a:p>
        </p:txBody>
      </p:sp>
      <p:sp>
        <p:nvSpPr>
          <p:cNvPr id="43" name="Text 23"/>
          <p:cNvSpPr txBox="1"/>
          <p:nvPr/>
        </p:nvSpPr>
        <p:spPr>
          <a:xfrm>
            <a:off x="1783080" y="2532888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De opdracht en casus</a:t>
            </a:r>
            <a:endParaRPr lang="en-US" sz="1300" dirty="0"/>
          </a:p>
        </p:txBody>
      </p:sp>
      <p:sp>
        <p:nvSpPr>
          <p:cNvPr id="44" name="Text 24"/>
          <p:cNvSpPr txBox="1"/>
          <p:nvPr/>
        </p:nvSpPr>
        <p:spPr>
          <a:xfrm>
            <a:off x="4617720" y="2532888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68E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6 min</a:t>
            </a:r>
            <a:endParaRPr lang="en-US" sz="1200" dirty="0"/>
          </a:p>
        </p:txBody>
      </p:sp>
      <p:sp>
        <p:nvSpPr>
          <p:cNvPr id="45" name="Text 25"/>
          <p:cNvSpPr txBox="1"/>
          <p:nvPr/>
        </p:nvSpPr>
        <p:spPr>
          <a:xfrm>
            <a:off x="5303520" y="2532888"/>
            <a:ext cx="6245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Casusvraag, werken in tweetallen en het eindproduct</a:t>
            </a:r>
            <a:endParaRPr lang="en-US" sz="1100" dirty="0"/>
          </a:p>
        </p:txBody>
      </p:sp>
      <p:sp>
        <p:nvSpPr>
          <p:cNvPr id="46" name="Shape 19"/>
          <p:cNvSpPr/>
          <p:nvPr/>
        </p:nvSpPr>
        <p:spPr>
          <a:xfrm>
            <a:off x="548640" y="2953512"/>
            <a:ext cx="11091672" cy="384048"/>
          </a:xfrm>
          <a:prstGeom prst="roundRect">
            <a:avLst>
              <a:gd name="adj" fmla="val 3181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47" name="Shape 20"/>
          <p:cNvSpPr/>
          <p:nvPr/>
        </p:nvSpPr>
        <p:spPr>
          <a:xfrm>
            <a:off x="640080" y="2999232"/>
            <a:ext cx="292608" cy="292608"/>
          </a:xfrm>
          <a:prstGeom prst="ellipse">
            <a:avLst/>
          </a:prstGeom>
          <a:solidFill>
            <a:srgbClr val="F4D74B"/>
          </a:solidFill>
          <a:ln w="12700">
            <a:solidFill>
              <a:srgbClr val="F4D74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48" name="Text 21"/>
          <p:cNvSpPr txBox="1"/>
          <p:nvPr/>
        </p:nvSpPr>
        <p:spPr>
          <a:xfrm>
            <a:off x="640080" y="29992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D68E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4</a:t>
            </a:r>
            <a:endParaRPr lang="en-US" sz="1100" dirty="0"/>
          </a:p>
        </p:txBody>
      </p:sp>
      <p:sp>
        <p:nvSpPr>
          <p:cNvPr id="49" name="Text 22"/>
          <p:cNvSpPr txBox="1"/>
          <p:nvPr/>
        </p:nvSpPr>
        <p:spPr>
          <a:xfrm>
            <a:off x="1097280" y="2953512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D68E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0:17</a:t>
            </a:r>
            <a:endParaRPr lang="en-US" sz="1200" dirty="0"/>
          </a:p>
        </p:txBody>
      </p:sp>
      <p:sp>
        <p:nvSpPr>
          <p:cNvPr id="50" name="Text 23"/>
          <p:cNvSpPr txBox="1"/>
          <p:nvPr/>
        </p:nvSpPr>
        <p:spPr>
          <a:xfrm>
            <a:off x="1783080" y="2953512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Skills en prompts</a:t>
            </a:r>
            <a:endParaRPr lang="en-US" sz="1300" dirty="0"/>
          </a:p>
        </p:txBody>
      </p:sp>
      <p:sp>
        <p:nvSpPr>
          <p:cNvPr id="51" name="Text 24"/>
          <p:cNvSpPr txBox="1"/>
          <p:nvPr/>
        </p:nvSpPr>
        <p:spPr>
          <a:xfrm>
            <a:off x="4617720" y="2953512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68E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8 min</a:t>
            </a:r>
            <a:endParaRPr lang="en-US" sz="1200" dirty="0"/>
          </a:p>
        </p:txBody>
      </p:sp>
      <p:sp>
        <p:nvSpPr>
          <p:cNvPr id="52" name="Text 25"/>
          <p:cNvSpPr txBox="1"/>
          <p:nvPr/>
        </p:nvSpPr>
        <p:spPr>
          <a:xfrm>
            <a:off x="5303520" y="2953512"/>
            <a:ext cx="6245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Wat is een skill, en waarom loont het om er één te maken?</a:t>
            </a:r>
            <a:endParaRPr lang="en-US" sz="1100" dirty="0"/>
          </a:p>
        </p:txBody>
      </p:sp>
      <p:sp>
        <p:nvSpPr>
          <p:cNvPr id="53" name="Shape 19"/>
          <p:cNvSpPr/>
          <p:nvPr/>
        </p:nvSpPr>
        <p:spPr>
          <a:xfrm>
            <a:off x="548640" y="3374136"/>
            <a:ext cx="11091672" cy="384048"/>
          </a:xfrm>
          <a:prstGeom prst="roundRect">
            <a:avLst>
              <a:gd name="adj" fmla="val 3181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54" name="Shape 20"/>
          <p:cNvSpPr/>
          <p:nvPr/>
        </p:nvSpPr>
        <p:spPr>
          <a:xfrm>
            <a:off x="640080" y="3419856"/>
            <a:ext cx="292608" cy="292608"/>
          </a:xfrm>
          <a:prstGeom prst="ellipse">
            <a:avLst/>
          </a:prstGeom>
          <a:solidFill>
            <a:srgbClr val="F4D74B"/>
          </a:solidFill>
          <a:ln w="12700">
            <a:solidFill>
              <a:srgbClr val="F4D74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55" name="Text 21"/>
          <p:cNvSpPr txBox="1"/>
          <p:nvPr/>
        </p:nvSpPr>
        <p:spPr>
          <a:xfrm>
            <a:off x="640080" y="34198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D68E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5</a:t>
            </a:r>
            <a:endParaRPr lang="en-US" sz="1100" dirty="0"/>
          </a:p>
        </p:txBody>
      </p:sp>
      <p:sp>
        <p:nvSpPr>
          <p:cNvPr id="56" name="Text 22"/>
          <p:cNvSpPr txBox="1"/>
          <p:nvPr/>
        </p:nvSpPr>
        <p:spPr>
          <a:xfrm>
            <a:off x="1097280" y="3374136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D68E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0:25</a:t>
            </a:r>
            <a:endParaRPr lang="en-US" sz="1200" dirty="0"/>
          </a:p>
        </p:txBody>
      </p:sp>
      <p:sp>
        <p:nvSpPr>
          <p:cNvPr id="57" name="Text 23"/>
          <p:cNvSpPr txBox="1"/>
          <p:nvPr/>
        </p:nvSpPr>
        <p:spPr>
          <a:xfrm>
            <a:off x="1783080" y="3374136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Devcontainer + voorbeeldprompt</a:t>
            </a:r>
            <a:endParaRPr lang="en-US" sz="1300" dirty="0"/>
          </a:p>
        </p:txBody>
      </p:sp>
      <p:sp>
        <p:nvSpPr>
          <p:cNvPr id="58" name="Text 24"/>
          <p:cNvSpPr txBox="1"/>
          <p:nvPr/>
        </p:nvSpPr>
        <p:spPr>
          <a:xfrm>
            <a:off x="4617720" y="3374136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68E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5 min</a:t>
            </a:r>
            <a:endParaRPr lang="en-US" sz="1200" dirty="0"/>
          </a:p>
        </p:txBody>
      </p:sp>
      <p:sp>
        <p:nvSpPr>
          <p:cNvPr id="59" name="Text 25"/>
          <p:cNvSpPr txBox="1"/>
          <p:nvPr/>
        </p:nvSpPr>
        <p:spPr>
          <a:xfrm>
            <a:off x="5303520" y="3374136"/>
            <a:ext cx="6245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Kijk hoe je de agent aanspreekt</a:t>
            </a:r>
            <a:endParaRPr lang="en-US" sz="1100" dirty="0"/>
          </a:p>
        </p:txBody>
      </p:sp>
      <p:sp>
        <p:nvSpPr>
          <p:cNvPr id="60" name="Shape 33"/>
          <p:cNvSpPr/>
          <p:nvPr/>
        </p:nvSpPr>
        <p:spPr>
          <a:xfrm>
            <a:off x="548640" y="3794760"/>
            <a:ext cx="11091672" cy="384048"/>
          </a:xfrm>
          <a:prstGeom prst="roundRect">
            <a:avLst>
              <a:gd name="adj" fmla="val 3181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61" name="Shape 34"/>
          <p:cNvSpPr/>
          <p:nvPr/>
        </p:nvSpPr>
        <p:spPr>
          <a:xfrm>
            <a:off x="640080" y="3840480"/>
            <a:ext cx="292608" cy="292608"/>
          </a:xfrm>
          <a:prstGeom prst="ellipse">
            <a:avLst/>
          </a:prstGeom>
          <a:solidFill>
            <a:srgbClr val="3D68EC"/>
          </a:solidFill>
          <a:ln w="12700">
            <a:solidFill>
              <a:srgbClr val="3D68E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62" name="Text 35"/>
          <p:cNvSpPr txBox="1"/>
          <p:nvPr/>
        </p:nvSpPr>
        <p:spPr>
          <a:xfrm>
            <a:off x="640080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4D74B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6</a:t>
            </a:r>
            <a:endParaRPr lang="en-US" sz="1100" dirty="0"/>
          </a:p>
        </p:txBody>
      </p:sp>
      <p:sp>
        <p:nvSpPr>
          <p:cNvPr id="63" name="Text 36"/>
          <p:cNvSpPr txBox="1"/>
          <p:nvPr/>
        </p:nvSpPr>
        <p:spPr>
          <a:xfrm>
            <a:off x="1097280" y="379476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D68E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0:30</a:t>
            </a:r>
            <a:endParaRPr lang="en-US" sz="1200" dirty="0"/>
          </a:p>
        </p:txBody>
      </p:sp>
      <p:sp>
        <p:nvSpPr>
          <p:cNvPr id="64" name="Text 37"/>
          <p:cNvSpPr txBox="1"/>
          <p:nvPr/>
        </p:nvSpPr>
        <p:spPr>
          <a:xfrm>
            <a:off x="1783080" y="379476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Ronde 1: data exploratie</a:t>
            </a:r>
            <a:endParaRPr lang="en-US" sz="1300" dirty="0"/>
          </a:p>
        </p:txBody>
      </p:sp>
      <p:sp>
        <p:nvSpPr>
          <p:cNvPr id="65" name="Text 38"/>
          <p:cNvSpPr txBox="1"/>
          <p:nvPr/>
        </p:nvSpPr>
        <p:spPr>
          <a:xfrm>
            <a:off x="4617720" y="379476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68E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22 min</a:t>
            </a:r>
            <a:endParaRPr lang="en-US" sz="1200" dirty="0"/>
          </a:p>
        </p:txBody>
      </p:sp>
      <p:sp>
        <p:nvSpPr>
          <p:cNvPr id="66" name="Text 39"/>
          <p:cNvSpPr txBox="1"/>
          <p:nvPr/>
        </p:nvSpPr>
        <p:spPr>
          <a:xfrm>
            <a:off x="5303520" y="3794760"/>
            <a:ext cx="6245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Verken data en codebook, check kleine groepen en definities</a:t>
            </a:r>
            <a:endParaRPr lang="en-US" sz="1100" dirty="0"/>
          </a:p>
        </p:txBody>
      </p:sp>
      <p:sp>
        <p:nvSpPr>
          <p:cNvPr id="67" name="Shape 40"/>
          <p:cNvSpPr/>
          <p:nvPr/>
        </p:nvSpPr>
        <p:spPr>
          <a:xfrm>
            <a:off x="548640" y="4215384"/>
            <a:ext cx="11091672" cy="384048"/>
          </a:xfrm>
          <a:prstGeom prst="roundRect">
            <a:avLst>
              <a:gd name="adj" fmla="val 3181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68" name="Shape 41"/>
          <p:cNvSpPr/>
          <p:nvPr/>
        </p:nvSpPr>
        <p:spPr>
          <a:xfrm>
            <a:off x="640080" y="4261104"/>
            <a:ext cx="292608" cy="292608"/>
          </a:xfrm>
          <a:prstGeom prst="ellipse">
            <a:avLst/>
          </a:prstGeom>
          <a:solidFill>
            <a:srgbClr val="DD784B"/>
          </a:solidFill>
          <a:ln w="12700">
            <a:solidFill>
              <a:srgbClr val="DD784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69" name="Text 42"/>
          <p:cNvSpPr txBox="1"/>
          <p:nvPr/>
        </p:nvSpPr>
        <p:spPr>
          <a:xfrm>
            <a:off x="640080" y="42611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7</a:t>
            </a:r>
            <a:endParaRPr lang="en-US" sz="1100" dirty="0"/>
          </a:p>
        </p:txBody>
      </p:sp>
      <p:sp>
        <p:nvSpPr>
          <p:cNvPr id="70" name="Text 43"/>
          <p:cNvSpPr txBox="1"/>
          <p:nvPr/>
        </p:nvSpPr>
        <p:spPr>
          <a:xfrm>
            <a:off x="1097280" y="4215384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D68E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0:52</a:t>
            </a:r>
            <a:endParaRPr lang="en-US" sz="1200" dirty="0"/>
          </a:p>
        </p:txBody>
      </p:sp>
      <p:sp>
        <p:nvSpPr>
          <p:cNvPr id="71" name="Text 44"/>
          <p:cNvSpPr txBox="1"/>
          <p:nvPr/>
        </p:nvSpPr>
        <p:spPr>
          <a:xfrm>
            <a:off x="1783080" y="4215384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Spiegelmoment 1</a:t>
            </a:r>
            <a:endParaRPr lang="en-US" sz="1300" dirty="0"/>
          </a:p>
        </p:txBody>
      </p:sp>
      <p:sp>
        <p:nvSpPr>
          <p:cNvPr id="72" name="Text 45"/>
          <p:cNvSpPr txBox="1"/>
          <p:nvPr/>
        </p:nvSpPr>
        <p:spPr>
          <a:xfrm>
            <a:off x="4617720" y="4215384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68E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15 min</a:t>
            </a:r>
            <a:endParaRPr lang="en-US" sz="1200" dirty="0"/>
          </a:p>
        </p:txBody>
      </p:sp>
      <p:sp>
        <p:nvSpPr>
          <p:cNvPr id="73" name="Text 46"/>
          <p:cNvSpPr txBox="1"/>
          <p:nvPr/>
        </p:nvSpPr>
        <p:spPr>
          <a:xfrm>
            <a:off x="5303520" y="4215384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Bespreek de skill: wat zit erin, wat deed jij anders?</a:t>
            </a:r>
            <a:endParaRPr lang="en-US" sz="1100" dirty="0"/>
          </a:p>
        </p:txBody>
      </p:sp>
      <p:sp>
        <p:nvSpPr>
          <p:cNvPr id="74" name="Shape 47"/>
          <p:cNvSpPr/>
          <p:nvPr/>
        </p:nvSpPr>
        <p:spPr>
          <a:xfrm>
            <a:off x="9646920" y="4274820"/>
            <a:ext cx="1874520" cy="265176"/>
          </a:xfrm>
          <a:prstGeom prst="roundRect">
            <a:avLst>
              <a:gd name="adj" fmla="val 50000"/>
            </a:avLst>
          </a:prstGeom>
          <a:solidFill>
            <a:srgbClr val="3D68EC"/>
          </a:solidFill>
          <a:ln w="12700">
            <a:solidFill>
              <a:srgbClr val="3D68E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75" name="Text 48"/>
          <p:cNvSpPr txBox="1"/>
          <p:nvPr/>
        </p:nvSpPr>
        <p:spPr>
          <a:xfrm>
            <a:off x="9646920" y="4274820"/>
            <a:ext cx="18745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4D74B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Skill 1 doet ronde 1</a:t>
            </a:r>
            <a:endParaRPr lang="en-US" sz="1000" dirty="0"/>
          </a:p>
        </p:txBody>
      </p:sp>
      <p:sp>
        <p:nvSpPr>
          <p:cNvPr id="76" name="Shape 33"/>
          <p:cNvSpPr/>
          <p:nvPr/>
        </p:nvSpPr>
        <p:spPr>
          <a:xfrm>
            <a:off x="548640" y="4636008"/>
            <a:ext cx="11091672" cy="384048"/>
          </a:xfrm>
          <a:prstGeom prst="roundRect">
            <a:avLst>
              <a:gd name="adj" fmla="val 3181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77" name="Shape 34"/>
          <p:cNvSpPr/>
          <p:nvPr/>
        </p:nvSpPr>
        <p:spPr>
          <a:xfrm>
            <a:off x="640080" y="4681728"/>
            <a:ext cx="292608" cy="292608"/>
          </a:xfrm>
          <a:prstGeom prst="ellipse">
            <a:avLst/>
          </a:prstGeom>
          <a:solidFill>
            <a:srgbClr val="3D68EC"/>
          </a:solidFill>
          <a:ln w="12700">
            <a:solidFill>
              <a:srgbClr val="3D68E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78" name="Text 35"/>
          <p:cNvSpPr txBox="1"/>
          <p:nvPr/>
        </p:nvSpPr>
        <p:spPr>
          <a:xfrm>
            <a:off x="640080" y="46817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4D74B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8</a:t>
            </a:r>
            <a:endParaRPr lang="en-US" sz="1100" dirty="0"/>
          </a:p>
        </p:txBody>
      </p:sp>
      <p:sp>
        <p:nvSpPr>
          <p:cNvPr id="79" name="Text 36"/>
          <p:cNvSpPr txBox="1"/>
          <p:nvPr/>
        </p:nvSpPr>
        <p:spPr>
          <a:xfrm>
            <a:off x="1097280" y="4636008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D68E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1:07</a:t>
            </a:r>
            <a:endParaRPr lang="en-US" sz="1200" dirty="0"/>
          </a:p>
        </p:txBody>
      </p:sp>
      <p:sp>
        <p:nvSpPr>
          <p:cNvPr id="80" name="Text 37"/>
          <p:cNvSpPr txBox="1"/>
          <p:nvPr/>
        </p:nvSpPr>
        <p:spPr>
          <a:xfrm>
            <a:off x="1783080" y="4636008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Ronde 2: dashboard bouwen</a:t>
            </a:r>
            <a:endParaRPr lang="en-US" sz="1300" dirty="0"/>
          </a:p>
        </p:txBody>
      </p:sp>
      <p:sp>
        <p:nvSpPr>
          <p:cNvPr id="81" name="Text 38"/>
          <p:cNvSpPr txBox="1"/>
          <p:nvPr/>
        </p:nvSpPr>
        <p:spPr>
          <a:xfrm>
            <a:off x="4617720" y="4636008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68E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22 min</a:t>
            </a:r>
            <a:endParaRPr lang="en-US" sz="1200" dirty="0"/>
          </a:p>
        </p:txBody>
      </p:sp>
      <p:sp>
        <p:nvSpPr>
          <p:cNvPr id="82" name="Text 39"/>
          <p:cNvSpPr txBox="1"/>
          <p:nvPr/>
        </p:nvSpPr>
        <p:spPr>
          <a:xfrm>
            <a:off x="5303520" y="4636008"/>
            <a:ext cx="6245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Bouw het dashboard met eerlijke framing en toegankelijke grafieken</a:t>
            </a:r>
            <a:endParaRPr lang="en-US" sz="1100" dirty="0"/>
          </a:p>
        </p:txBody>
      </p:sp>
      <p:sp>
        <p:nvSpPr>
          <p:cNvPr id="83" name="Shape 40"/>
          <p:cNvSpPr/>
          <p:nvPr/>
        </p:nvSpPr>
        <p:spPr>
          <a:xfrm>
            <a:off x="548640" y="5056632"/>
            <a:ext cx="11091672" cy="384048"/>
          </a:xfrm>
          <a:prstGeom prst="roundRect">
            <a:avLst>
              <a:gd name="adj" fmla="val 3181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84" name="Shape 41"/>
          <p:cNvSpPr/>
          <p:nvPr/>
        </p:nvSpPr>
        <p:spPr>
          <a:xfrm>
            <a:off x="640080" y="5102352"/>
            <a:ext cx="292608" cy="292608"/>
          </a:xfrm>
          <a:prstGeom prst="ellipse">
            <a:avLst/>
          </a:prstGeom>
          <a:solidFill>
            <a:srgbClr val="DD784B"/>
          </a:solidFill>
          <a:ln w="12700">
            <a:solidFill>
              <a:srgbClr val="DD784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85" name="Text 42"/>
          <p:cNvSpPr txBox="1"/>
          <p:nvPr/>
        </p:nvSpPr>
        <p:spPr>
          <a:xfrm>
            <a:off x="640080" y="51023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9</a:t>
            </a:r>
            <a:endParaRPr lang="en-US" sz="1100" dirty="0"/>
          </a:p>
        </p:txBody>
      </p:sp>
      <p:sp>
        <p:nvSpPr>
          <p:cNvPr id="86" name="Text 43"/>
          <p:cNvSpPr txBox="1"/>
          <p:nvPr/>
        </p:nvSpPr>
        <p:spPr>
          <a:xfrm>
            <a:off x="1097280" y="5056632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D68E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1:29</a:t>
            </a:r>
            <a:endParaRPr lang="en-US" sz="1200" dirty="0"/>
          </a:p>
        </p:txBody>
      </p:sp>
      <p:sp>
        <p:nvSpPr>
          <p:cNvPr id="87" name="Text 44"/>
          <p:cNvSpPr txBox="1"/>
          <p:nvPr/>
        </p:nvSpPr>
        <p:spPr>
          <a:xfrm>
            <a:off x="1783080" y="5056632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Spiegelmoment 2</a:t>
            </a:r>
            <a:endParaRPr lang="en-US" sz="1300" dirty="0"/>
          </a:p>
        </p:txBody>
      </p:sp>
      <p:sp>
        <p:nvSpPr>
          <p:cNvPr id="88" name="Text 45"/>
          <p:cNvSpPr txBox="1"/>
          <p:nvPr/>
        </p:nvSpPr>
        <p:spPr>
          <a:xfrm>
            <a:off x="4617720" y="5056632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68E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15 min</a:t>
            </a:r>
            <a:endParaRPr lang="en-US" sz="1200" dirty="0"/>
          </a:p>
        </p:txBody>
      </p:sp>
      <p:sp>
        <p:nvSpPr>
          <p:cNvPr id="89" name="Text 46"/>
          <p:cNvSpPr txBox="1"/>
          <p:nvPr/>
        </p:nvSpPr>
        <p:spPr>
          <a:xfrm>
            <a:off x="5303520" y="5056632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Bespreek de skill: wat zit erin, wat miste je dashboard?</a:t>
            </a:r>
            <a:endParaRPr lang="en-US" sz="1100" dirty="0"/>
          </a:p>
        </p:txBody>
      </p:sp>
      <p:sp>
        <p:nvSpPr>
          <p:cNvPr id="90" name="Shape 47"/>
          <p:cNvSpPr/>
          <p:nvPr/>
        </p:nvSpPr>
        <p:spPr>
          <a:xfrm>
            <a:off x="9646920" y="5116068"/>
            <a:ext cx="1874520" cy="265176"/>
          </a:xfrm>
          <a:prstGeom prst="roundRect">
            <a:avLst>
              <a:gd name="adj" fmla="val 50000"/>
            </a:avLst>
          </a:prstGeom>
          <a:solidFill>
            <a:srgbClr val="3D68EC"/>
          </a:solidFill>
          <a:ln w="12700">
            <a:solidFill>
              <a:srgbClr val="3D68E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91" name="Text 48"/>
          <p:cNvSpPr txBox="1"/>
          <p:nvPr/>
        </p:nvSpPr>
        <p:spPr>
          <a:xfrm>
            <a:off x="9646920" y="5116068"/>
            <a:ext cx="18745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4D74B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Skill 2 doet ronde 2</a:t>
            </a:r>
            <a:endParaRPr lang="en-US" sz="1000" dirty="0"/>
          </a:p>
        </p:txBody>
      </p:sp>
      <p:sp>
        <p:nvSpPr>
          <p:cNvPr id="92" name="Shape 81"/>
          <p:cNvSpPr/>
          <p:nvPr/>
        </p:nvSpPr>
        <p:spPr>
          <a:xfrm>
            <a:off x="548640" y="5477256"/>
            <a:ext cx="11091672" cy="384048"/>
          </a:xfrm>
          <a:prstGeom prst="roundRect">
            <a:avLst>
              <a:gd name="adj" fmla="val 3181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93" name="Shape 82"/>
          <p:cNvSpPr/>
          <p:nvPr/>
        </p:nvSpPr>
        <p:spPr>
          <a:xfrm>
            <a:off x="640080" y="5522976"/>
            <a:ext cx="292608" cy="292608"/>
          </a:xfrm>
          <a:prstGeom prst="ellipse">
            <a:avLst/>
          </a:prstGeom>
          <a:solidFill>
            <a:srgbClr val="00AF81"/>
          </a:solidFill>
          <a:ln w="12700">
            <a:solidFill>
              <a:srgbClr val="00AF81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94" name="Text 83"/>
          <p:cNvSpPr txBox="1"/>
          <p:nvPr/>
        </p:nvSpPr>
        <p:spPr>
          <a:xfrm>
            <a:off x="640080" y="55229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10</a:t>
            </a:r>
            <a:endParaRPr lang="en-US" sz="1100" dirty="0"/>
          </a:p>
        </p:txBody>
      </p:sp>
      <p:sp>
        <p:nvSpPr>
          <p:cNvPr id="95" name="Text 84"/>
          <p:cNvSpPr txBox="1"/>
          <p:nvPr/>
        </p:nvSpPr>
        <p:spPr>
          <a:xfrm>
            <a:off x="1097280" y="5477256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D68E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1:44</a:t>
            </a:r>
            <a:endParaRPr lang="en-US" sz="1200" dirty="0"/>
          </a:p>
        </p:txBody>
      </p:sp>
      <p:sp>
        <p:nvSpPr>
          <p:cNvPr id="96" name="Text 85"/>
          <p:cNvSpPr txBox="1"/>
          <p:nvPr/>
        </p:nvSpPr>
        <p:spPr>
          <a:xfrm>
            <a:off x="1783080" y="5477256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Evaluatie en afsluiting</a:t>
            </a:r>
            <a:endParaRPr lang="en-US" sz="1300" dirty="0"/>
          </a:p>
        </p:txBody>
      </p:sp>
      <p:sp>
        <p:nvSpPr>
          <p:cNvPr id="97" name="Text 86"/>
          <p:cNvSpPr txBox="1"/>
          <p:nvPr/>
        </p:nvSpPr>
        <p:spPr>
          <a:xfrm>
            <a:off x="4617720" y="5477256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68E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16 min</a:t>
            </a:r>
            <a:endParaRPr lang="en-US" sz="1200" dirty="0"/>
          </a:p>
        </p:txBody>
      </p:sp>
      <p:sp>
        <p:nvSpPr>
          <p:cNvPr id="98" name="Text 87"/>
          <p:cNvSpPr txBox="1"/>
          <p:nvPr/>
        </p:nvSpPr>
        <p:spPr>
          <a:xfrm>
            <a:off x="5303520" y="5477256"/>
            <a:ext cx="6245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Terugblik, interesse in een training, wat je wilt leren en wat je meeneemt</a:t>
            </a:r>
            <a:endParaRPr lang="en-US" sz="1100" dirty="0"/>
          </a:p>
        </p:txBody>
      </p:sp>
      <p:sp>
        <p:nvSpPr>
          <p:cNvPr id="99" name="Text 88"/>
          <p:cNvSpPr txBox="1"/>
          <p:nvPr/>
        </p:nvSpPr>
        <p:spPr>
          <a:xfrm>
            <a:off x="548640" y="598932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D68E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Kanttekening: </a:t>
            </a:r>
            <a:r>
              <a:rPr lang="en-US" sz="1200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deelnemers werken alleen via de AI-agent. De devcontainer bevat alles wat die nodig heeft (o.a. Python, DuckDB en Streamlit).</a:t>
            </a:r>
            <a:endParaRPr lang="en-US" sz="1200" dirty="0"/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D9DC"/>
        </a:solid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411480"/>
            <a:ext cx="9966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3D68E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Wat is synthetische data?</a:t>
            </a:r>
            <a:endParaRPr lang="en-US" sz="3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8695" y="365760"/>
            <a:ext cx="594360" cy="59436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548640" y="1371600"/>
            <a:ext cx="4206240" cy="4480560"/>
          </a:xfrm>
          <a:prstGeom prst="roundRect">
            <a:avLst>
              <a:gd name="adj" fmla="val 6522"/>
            </a:avLst>
          </a:prstGeom>
          <a:solidFill>
            <a:srgbClr val="3D68EC"/>
          </a:solidFill>
          <a:ln w="12700">
            <a:solidFill>
              <a:srgbClr val="3D68E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6" name="Text 2"/>
          <p:cNvSpPr txBox="1"/>
          <p:nvPr/>
        </p:nvSpPr>
        <p:spPr>
          <a:xfrm>
            <a:off x="914400" y="1737360"/>
            <a:ext cx="3474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i="1" dirty="0">
                <a:solidFill>
                  <a:srgbClr val="F4D7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Echt genoeg om mee te oefenen</a:t>
            </a:r>
            <a:endParaRPr lang="en-US" sz="2800" dirty="0"/>
          </a:p>
        </p:txBody>
      </p:sp>
      <p:sp>
        <p:nvSpPr>
          <p:cNvPr id="7" name="Text 3"/>
          <p:cNvSpPr txBox="1"/>
          <p:nvPr/>
        </p:nvSpPr>
        <p:spPr>
          <a:xfrm>
            <a:off x="914400" y="320040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Kunstmatig gemaakte data die de structuur en verbanden van het echte 1CHO-bestand nabootst.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914400" y="443484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Zelfde codebook, zelfde definities: wat je vandaag bouwt, werkt straks ook op echte data.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5029200" y="1371600"/>
            <a:ext cx="3154680" cy="2103120"/>
          </a:xfrm>
          <a:prstGeom prst="roundRect">
            <a:avLst>
              <a:gd name="adj" fmla="val 12174"/>
            </a:avLst>
          </a:prstGeom>
          <a:solidFill>
            <a:srgbClr val="00AF81"/>
          </a:solidFill>
          <a:ln w="12700">
            <a:solidFill>
              <a:srgbClr val="00AF81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0" name="Shape 6"/>
          <p:cNvSpPr/>
          <p:nvPr/>
        </p:nvSpPr>
        <p:spPr>
          <a:xfrm>
            <a:off x="5303520" y="1627632"/>
            <a:ext cx="777240" cy="274320"/>
          </a:xfrm>
          <a:prstGeom prst="roundRect">
            <a:avLst>
              <a:gd name="adj" fmla="val 50000"/>
            </a:avLst>
          </a:prstGeom>
          <a:solidFill>
            <a:srgbClr val="F4D9DC"/>
          </a:solidFill>
          <a:ln w="12700">
            <a:solidFill>
              <a:srgbClr val="F4D9D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1" name="Text 7"/>
          <p:cNvSpPr txBox="1"/>
          <p:nvPr/>
        </p:nvSpPr>
        <p:spPr>
          <a:xfrm>
            <a:off x="5303520" y="162763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AF81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VEILIG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7360920" y="1554480"/>
            <a:ext cx="594360" cy="594360"/>
          </a:xfrm>
          <a:prstGeom prst="ellipse">
            <a:avLst/>
          </a:prstGeom>
          <a:solidFill>
            <a:srgbClr val="F4D9DC"/>
          </a:solidFill>
          <a:ln w="12700">
            <a:solidFill>
              <a:srgbClr val="F4D9D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7224" y="1700784"/>
            <a:ext cx="301752" cy="30175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303520" y="20574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Fictieve rijen</a:t>
            </a:r>
            <a:endParaRPr lang="en-US" sz="2000" dirty="0"/>
          </a:p>
        </p:txBody>
      </p:sp>
      <p:sp>
        <p:nvSpPr>
          <p:cNvPr id="15" name="Text 10"/>
          <p:cNvSpPr txBox="1"/>
          <p:nvPr/>
        </p:nvSpPr>
        <p:spPr>
          <a:xfrm>
            <a:off x="5303520" y="246888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Zelfde kolommen en codes als 1CHO, maar geen enkele rij is een bestaand persoon.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8412480" y="1371600"/>
            <a:ext cx="3154680" cy="2103120"/>
          </a:xfrm>
          <a:prstGeom prst="roundRect">
            <a:avLst>
              <a:gd name="adj" fmla="val 12174"/>
            </a:avLst>
          </a:prstGeom>
          <a:solidFill>
            <a:srgbClr val="DD784B"/>
          </a:solidFill>
          <a:ln w="12700">
            <a:solidFill>
              <a:srgbClr val="DD784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7" name="Shape 12"/>
          <p:cNvSpPr/>
          <p:nvPr/>
        </p:nvSpPr>
        <p:spPr>
          <a:xfrm>
            <a:off x="8686800" y="1627632"/>
            <a:ext cx="777240" cy="274320"/>
          </a:xfrm>
          <a:prstGeom prst="roundRect">
            <a:avLst>
              <a:gd name="adj" fmla="val 50000"/>
            </a:avLst>
          </a:prstGeom>
          <a:solidFill>
            <a:srgbClr val="F4D9DC"/>
          </a:solidFill>
          <a:ln w="12700">
            <a:solidFill>
              <a:srgbClr val="F4D9D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8" name="Text 13"/>
          <p:cNvSpPr txBox="1"/>
          <p:nvPr/>
        </p:nvSpPr>
        <p:spPr>
          <a:xfrm>
            <a:off x="8686800" y="162763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D784B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OPEN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10744200" y="1554480"/>
            <a:ext cx="594360" cy="594360"/>
          </a:xfrm>
          <a:prstGeom prst="ellipse">
            <a:avLst/>
          </a:prstGeom>
          <a:solidFill>
            <a:srgbClr val="F4D9DC"/>
          </a:solidFill>
          <a:ln w="12700">
            <a:solidFill>
              <a:srgbClr val="F4D9D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90504" y="1700784"/>
            <a:ext cx="301752" cy="301752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8686800" y="20574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Mag de agent in</a:t>
            </a:r>
            <a:endParaRPr lang="en-US" sz="2000" dirty="0"/>
          </a:p>
        </p:txBody>
      </p:sp>
      <p:sp>
        <p:nvSpPr>
          <p:cNvPr id="22" name="Text 16"/>
          <p:cNvSpPr txBox="1"/>
          <p:nvPr/>
        </p:nvSpPr>
        <p:spPr>
          <a:xfrm>
            <a:off x="8686800" y="246888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Geen AVG-toets of verwerkersovereenkomst nodig: de data mag zo de devcontainer en de AI-agent in.</a:t>
            </a:r>
            <a:endParaRPr lang="en-US" sz="1300" dirty="0"/>
          </a:p>
        </p:txBody>
      </p:sp>
      <p:sp>
        <p:nvSpPr>
          <p:cNvPr id="23" name="Shape 17"/>
          <p:cNvSpPr/>
          <p:nvPr/>
        </p:nvSpPr>
        <p:spPr>
          <a:xfrm>
            <a:off x="5029200" y="3749040"/>
            <a:ext cx="3154680" cy="2103120"/>
          </a:xfrm>
          <a:prstGeom prst="roundRect">
            <a:avLst>
              <a:gd name="adj" fmla="val 12174"/>
            </a:avLst>
          </a:prstGeom>
          <a:solidFill>
            <a:srgbClr val="F4D74B"/>
          </a:solidFill>
          <a:ln w="12700">
            <a:solidFill>
              <a:srgbClr val="F4D74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4" name="Shape 18"/>
          <p:cNvSpPr/>
          <p:nvPr/>
        </p:nvSpPr>
        <p:spPr>
          <a:xfrm>
            <a:off x="5303520" y="4005072"/>
            <a:ext cx="777240" cy="274320"/>
          </a:xfrm>
          <a:prstGeom prst="roundRect">
            <a:avLst>
              <a:gd name="adj" fmla="val 50000"/>
            </a:avLst>
          </a:prstGeom>
          <a:solidFill>
            <a:srgbClr val="3D68EC"/>
          </a:solidFill>
          <a:ln w="12700">
            <a:solidFill>
              <a:srgbClr val="3D68E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5" name="Text 19"/>
          <p:cNvSpPr txBox="1"/>
          <p:nvPr/>
        </p:nvSpPr>
        <p:spPr>
          <a:xfrm>
            <a:off x="5303520" y="400507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4D74B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LET OP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7360920" y="3931920"/>
            <a:ext cx="594360" cy="594360"/>
          </a:xfrm>
          <a:prstGeom prst="ellipse">
            <a:avLst/>
          </a:prstGeom>
          <a:solidFill>
            <a:srgbClr val="3D68EC"/>
          </a:solidFill>
          <a:ln w="12700">
            <a:solidFill>
              <a:srgbClr val="3D68E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07224" y="4078224"/>
            <a:ext cx="301752" cy="301752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5303520" y="44348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3D68E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Bewust gemaakt</a:t>
            </a:r>
            <a:endParaRPr lang="en-US" sz="2000" dirty="0"/>
          </a:p>
        </p:txBody>
      </p:sp>
      <p:sp>
        <p:nvSpPr>
          <p:cNvPr id="29" name="Text 22"/>
          <p:cNvSpPr txBox="1"/>
          <p:nvPr/>
        </p:nvSpPr>
        <p:spPr>
          <a:xfrm>
            <a:off x="5303520" y="484632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D68E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Bewust een patroon en enkele kleine groepen ingebakken, zodat er iets te vinden én te blokkeren is.</a:t>
            </a:r>
            <a:endParaRPr lang="en-US" sz="1300" dirty="0"/>
          </a:p>
        </p:txBody>
      </p:sp>
      <p:sp>
        <p:nvSpPr>
          <p:cNvPr id="30" name="Shape 23"/>
          <p:cNvSpPr/>
          <p:nvPr/>
        </p:nvSpPr>
        <p:spPr>
          <a:xfrm>
            <a:off x="8412480" y="3749040"/>
            <a:ext cx="3154680" cy="2103120"/>
          </a:xfrm>
          <a:prstGeom prst="roundRect">
            <a:avLst>
              <a:gd name="adj" fmla="val 12174"/>
            </a:avLst>
          </a:prstGeom>
          <a:solidFill>
            <a:srgbClr val="D6E2FD"/>
          </a:solidFill>
          <a:ln w="12700">
            <a:solidFill>
              <a:srgbClr val="D6E2FD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1" name="Shape 24"/>
          <p:cNvSpPr/>
          <p:nvPr/>
        </p:nvSpPr>
        <p:spPr>
          <a:xfrm>
            <a:off x="8686800" y="4005072"/>
            <a:ext cx="777240" cy="274320"/>
          </a:xfrm>
          <a:prstGeom prst="roundRect">
            <a:avLst>
              <a:gd name="adj" fmla="val 50000"/>
            </a:avLst>
          </a:prstGeom>
          <a:solidFill>
            <a:srgbClr val="3D68EC"/>
          </a:solidFill>
          <a:ln w="12700">
            <a:solidFill>
              <a:srgbClr val="3D68E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2" name="Text 25"/>
          <p:cNvSpPr txBox="1"/>
          <p:nvPr/>
        </p:nvSpPr>
        <p:spPr>
          <a:xfrm>
            <a:off x="8686800" y="400507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LET OP</a:t>
            </a:r>
            <a:endParaRPr lang="en-US" sz="1000" dirty="0"/>
          </a:p>
        </p:txBody>
      </p:sp>
      <p:sp>
        <p:nvSpPr>
          <p:cNvPr id="33" name="Shape 26"/>
          <p:cNvSpPr/>
          <p:nvPr/>
        </p:nvSpPr>
        <p:spPr>
          <a:xfrm>
            <a:off x="10744200" y="3931920"/>
            <a:ext cx="594360" cy="594360"/>
          </a:xfrm>
          <a:prstGeom prst="ellipse">
            <a:avLst/>
          </a:prstGeom>
          <a:solidFill>
            <a:srgbClr val="3D68EC"/>
          </a:solidFill>
          <a:ln w="12700">
            <a:solidFill>
              <a:srgbClr val="3D68E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90504" y="4078224"/>
            <a:ext cx="301752" cy="301752"/>
          </a:xfrm>
          <a:prstGeom prst="rect">
            <a:avLst/>
          </a:prstGeom>
        </p:spPr>
      </p:pic>
      <p:sp>
        <p:nvSpPr>
          <p:cNvPr id="35" name="Text 27"/>
          <p:cNvSpPr txBox="1"/>
          <p:nvPr/>
        </p:nvSpPr>
        <p:spPr>
          <a:xfrm>
            <a:off x="8686800" y="44348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Alleen oefenen</a:t>
            </a:r>
            <a:endParaRPr lang="en-US" sz="2000" dirty="0"/>
          </a:p>
        </p:txBody>
      </p:sp>
      <p:sp>
        <p:nvSpPr>
          <p:cNvPr id="36" name="Text 28"/>
          <p:cNvSpPr txBox="1"/>
          <p:nvPr/>
        </p:nvSpPr>
        <p:spPr>
          <a:xfrm>
            <a:off x="8686800" y="484632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Je oefent de werkwijze, niet de uitkomst. Validatie vraagt echte data, buiten de devcontainer.</a:t>
            </a:r>
            <a:endParaRPr lang="en-US" sz="1300" dirty="0"/>
          </a:p>
        </p:txBody>
      </p:sp>
      <p:sp>
        <p:nvSpPr>
          <p:cNvPr id="37" name="Text 29"/>
          <p:cNvSpPr txBox="1"/>
          <p:nvPr/>
        </p:nvSpPr>
        <p:spPr>
          <a:xfrm>
            <a:off x="5029200" y="6035040"/>
            <a:ext cx="6537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D68E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Synthetisch is niet willekeurig: de verdelingen lijken op de werkelijkheid, de personen bestaan niet.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CF5D4"/>
        </a:solid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411480"/>
            <a:ext cx="9966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3D68E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De opdracht</a:t>
            </a:r>
            <a:endParaRPr lang="en-US" sz="3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8695" y="365760"/>
            <a:ext cx="594360" cy="59436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548640" y="1371600"/>
            <a:ext cx="3429000" cy="4206240"/>
          </a:xfrm>
          <a:prstGeom prst="roundRect">
            <a:avLst>
              <a:gd name="adj" fmla="val 8000"/>
            </a:avLst>
          </a:prstGeom>
          <a:solidFill>
            <a:srgbClr val="3D68EC"/>
          </a:solidFill>
          <a:ln w="12700">
            <a:solidFill>
              <a:srgbClr val="3D68E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6" name="Shape 2"/>
          <p:cNvSpPr/>
          <p:nvPr/>
        </p:nvSpPr>
        <p:spPr>
          <a:xfrm>
            <a:off x="822960" y="1645920"/>
            <a:ext cx="502920" cy="502920"/>
          </a:xfrm>
          <a:prstGeom prst="ellipse">
            <a:avLst/>
          </a:prstGeom>
          <a:solidFill>
            <a:srgbClr val="F4D74B"/>
          </a:solidFill>
          <a:ln w="12700">
            <a:solidFill>
              <a:srgbClr val="F4D74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7" name="Text 3"/>
          <p:cNvSpPr txBox="1"/>
          <p:nvPr/>
        </p:nvSpPr>
        <p:spPr>
          <a:xfrm>
            <a:off x="82296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D68E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Shape 4"/>
          <p:cNvSpPr/>
          <p:nvPr/>
        </p:nvSpPr>
        <p:spPr>
          <a:xfrm>
            <a:off x="1463040" y="1719072"/>
            <a:ext cx="2194560" cy="365760"/>
          </a:xfrm>
          <a:prstGeom prst="roundRect">
            <a:avLst>
              <a:gd name="adj" fmla="val 50000"/>
            </a:avLst>
          </a:prstGeom>
          <a:solidFill>
            <a:srgbClr val="F4D74B"/>
          </a:solidFill>
          <a:ln w="12700">
            <a:solidFill>
              <a:srgbClr val="F4D74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9" name="Text 5"/>
          <p:cNvSpPr txBox="1"/>
          <p:nvPr/>
        </p:nvSpPr>
        <p:spPr>
          <a:xfrm>
            <a:off x="1463040" y="171907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D68E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Vraag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822960" y="233172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Kies de casus</a:t>
            </a:r>
            <a:endParaRPr lang="en-US" sz="2200" dirty="0"/>
          </a:p>
        </p:txBody>
      </p:sp>
      <p:sp>
        <p:nvSpPr>
          <p:cNvPr id="11" name="Text 7"/>
          <p:cNvSpPr txBox="1"/>
          <p:nvPr/>
        </p:nvSpPr>
        <p:spPr>
          <a:xfrm>
            <a:off x="822960" y="3200400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HOE</a:t>
            </a:r>
            <a:endParaRPr lang="en-US" sz="1100" dirty="0"/>
          </a:p>
        </p:txBody>
      </p:sp>
      <p:sp>
        <p:nvSpPr>
          <p:cNvPr id="12" name="Text 8"/>
          <p:cNvSpPr txBox="1"/>
          <p:nvPr/>
        </p:nvSpPr>
        <p:spPr>
          <a:xfrm>
            <a:off x="822960" y="3474720"/>
            <a:ext cx="2880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Eén casusvraag over het 1CHO-bestand (A, B of C) staat de hele sessie centraal.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822960" y="4389120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RESULTAAT</a:t>
            </a:r>
            <a:endParaRPr lang="en-US" sz="1100" dirty="0"/>
          </a:p>
        </p:txBody>
      </p:sp>
      <p:sp>
        <p:nvSpPr>
          <p:cNvPr id="14" name="Text 10"/>
          <p:cNvSpPr txBox="1"/>
          <p:nvPr/>
        </p:nvSpPr>
        <p:spPr>
          <a:xfrm>
            <a:off x="822960" y="466344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Een scherpe vraag die je aan het eind kunt beantwoorden.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4069080" y="3246120"/>
            <a:ext cx="219456" cy="457200"/>
          </a:xfrm>
          <a:prstGeom prst="chevron">
            <a:avLst/>
          </a:prstGeom>
          <a:solidFill>
            <a:srgbClr val="3D68EC"/>
          </a:solidFill>
          <a:ln w="12700">
            <a:solidFill>
              <a:srgbClr val="3D68E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6" name="Shape 12"/>
          <p:cNvSpPr/>
          <p:nvPr/>
        </p:nvSpPr>
        <p:spPr>
          <a:xfrm>
            <a:off x="4379976" y="1371600"/>
            <a:ext cx="3429000" cy="4206240"/>
          </a:xfrm>
          <a:prstGeom prst="roundRect">
            <a:avLst>
              <a:gd name="adj" fmla="val 8000"/>
            </a:avLst>
          </a:prstGeom>
          <a:solidFill>
            <a:srgbClr val="DD784B"/>
          </a:solidFill>
          <a:ln w="12700">
            <a:solidFill>
              <a:srgbClr val="DD784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7" name="Shape 13"/>
          <p:cNvSpPr/>
          <p:nvPr/>
        </p:nvSpPr>
        <p:spPr>
          <a:xfrm>
            <a:off x="4654296" y="1645920"/>
            <a:ext cx="502920" cy="502920"/>
          </a:xfrm>
          <a:prstGeom prst="ellipse">
            <a:avLst/>
          </a:prstGeom>
          <a:solidFill>
            <a:srgbClr val="F4D9DC"/>
          </a:solidFill>
          <a:ln w="12700">
            <a:solidFill>
              <a:srgbClr val="F4D9D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8" name="Text 14"/>
          <p:cNvSpPr txBox="1"/>
          <p:nvPr/>
        </p:nvSpPr>
        <p:spPr>
          <a:xfrm>
            <a:off x="4654296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D784B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2</a:t>
            </a:r>
            <a:endParaRPr lang="en-US" sz="1800" dirty="0"/>
          </a:p>
        </p:txBody>
      </p:sp>
      <p:sp>
        <p:nvSpPr>
          <p:cNvPr id="19" name="Shape 15"/>
          <p:cNvSpPr/>
          <p:nvPr/>
        </p:nvSpPr>
        <p:spPr>
          <a:xfrm>
            <a:off x="5294376" y="1719072"/>
            <a:ext cx="2194560" cy="365760"/>
          </a:xfrm>
          <a:prstGeom prst="roundRect">
            <a:avLst>
              <a:gd name="adj" fmla="val 50000"/>
            </a:avLst>
          </a:prstGeom>
          <a:solidFill>
            <a:srgbClr val="F4D9DC"/>
          </a:solidFill>
          <a:ln w="12700">
            <a:solidFill>
              <a:srgbClr val="F4D9D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0" name="Text 16"/>
          <p:cNvSpPr txBox="1"/>
          <p:nvPr/>
        </p:nvSpPr>
        <p:spPr>
          <a:xfrm>
            <a:off x="5294376" y="171907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D784B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Samen</a:t>
            </a:r>
            <a:endParaRPr lang="en-US" sz="1200" dirty="0"/>
          </a:p>
        </p:txBody>
      </p:sp>
      <p:sp>
        <p:nvSpPr>
          <p:cNvPr id="21" name="Text 17"/>
          <p:cNvSpPr txBox="1"/>
          <p:nvPr/>
        </p:nvSpPr>
        <p:spPr>
          <a:xfrm>
            <a:off x="4654296" y="233172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Werk in tweetallen</a:t>
            </a:r>
            <a:endParaRPr lang="en-US" sz="2200" dirty="0"/>
          </a:p>
        </p:txBody>
      </p:sp>
      <p:sp>
        <p:nvSpPr>
          <p:cNvPr id="22" name="Text 18"/>
          <p:cNvSpPr txBox="1"/>
          <p:nvPr/>
        </p:nvSpPr>
        <p:spPr>
          <a:xfrm>
            <a:off x="4654296" y="3200400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HOE</a:t>
            </a:r>
            <a:endParaRPr lang="en-US" sz="1100" dirty="0"/>
          </a:p>
        </p:txBody>
      </p:sp>
      <p:sp>
        <p:nvSpPr>
          <p:cNvPr id="23" name="Text 19"/>
          <p:cNvSpPr txBox="1"/>
          <p:nvPr/>
        </p:nvSpPr>
        <p:spPr>
          <a:xfrm>
            <a:off x="4654296" y="3474720"/>
            <a:ext cx="2880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Eén typt de opdrachten, de ander checkt of het antwoord klopt. Wissel per ronde.</a:t>
            </a:r>
            <a:endParaRPr lang="en-US" sz="1400" dirty="0"/>
          </a:p>
        </p:txBody>
      </p:sp>
      <p:sp>
        <p:nvSpPr>
          <p:cNvPr id="24" name="Text 20"/>
          <p:cNvSpPr txBox="1"/>
          <p:nvPr/>
        </p:nvSpPr>
        <p:spPr>
          <a:xfrm>
            <a:off x="4654296" y="4389120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RESULTAAT</a:t>
            </a:r>
            <a:endParaRPr lang="en-US" sz="1100" dirty="0"/>
          </a:p>
        </p:txBody>
      </p:sp>
      <p:sp>
        <p:nvSpPr>
          <p:cNvPr id="25" name="Text 21"/>
          <p:cNvSpPr txBox="1"/>
          <p:nvPr/>
        </p:nvSpPr>
        <p:spPr>
          <a:xfrm>
            <a:off x="4654296" y="466344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Een eigen aanpak, gespiegeld aan de tweetallen om je heen.</a:t>
            </a:r>
            <a:endParaRPr lang="en-US" sz="1400" dirty="0"/>
          </a:p>
        </p:txBody>
      </p:sp>
      <p:sp>
        <p:nvSpPr>
          <p:cNvPr id="26" name="Shape 22"/>
          <p:cNvSpPr/>
          <p:nvPr/>
        </p:nvSpPr>
        <p:spPr>
          <a:xfrm>
            <a:off x="7900416" y="3246120"/>
            <a:ext cx="219456" cy="457200"/>
          </a:xfrm>
          <a:prstGeom prst="chevron">
            <a:avLst/>
          </a:prstGeom>
          <a:solidFill>
            <a:srgbClr val="3D68EC"/>
          </a:solidFill>
          <a:ln w="12700">
            <a:solidFill>
              <a:srgbClr val="3D68E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7" name="Shape 23"/>
          <p:cNvSpPr/>
          <p:nvPr/>
        </p:nvSpPr>
        <p:spPr>
          <a:xfrm>
            <a:off x="8211312" y="1371600"/>
            <a:ext cx="3429000" cy="4206240"/>
          </a:xfrm>
          <a:prstGeom prst="roundRect">
            <a:avLst>
              <a:gd name="adj" fmla="val 8000"/>
            </a:avLst>
          </a:prstGeom>
          <a:solidFill>
            <a:srgbClr val="00AF81"/>
          </a:solidFill>
          <a:ln w="12700">
            <a:solidFill>
              <a:srgbClr val="00AF81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8" name="Shape 24"/>
          <p:cNvSpPr/>
          <p:nvPr/>
        </p:nvSpPr>
        <p:spPr>
          <a:xfrm>
            <a:off x="8485632" y="1645920"/>
            <a:ext cx="502920" cy="502920"/>
          </a:xfrm>
          <a:prstGeom prst="ellipse">
            <a:avLst/>
          </a:prstGeom>
          <a:solidFill>
            <a:srgbClr val="F4D9DC"/>
          </a:solidFill>
          <a:ln w="12700">
            <a:solidFill>
              <a:srgbClr val="F4D9D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9" name="Text 25"/>
          <p:cNvSpPr txBox="1"/>
          <p:nvPr/>
        </p:nvSpPr>
        <p:spPr>
          <a:xfrm>
            <a:off x="8485632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AF81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3</a:t>
            </a:r>
            <a:endParaRPr lang="en-US" sz="1800" dirty="0"/>
          </a:p>
        </p:txBody>
      </p:sp>
      <p:sp>
        <p:nvSpPr>
          <p:cNvPr id="30" name="Shape 26"/>
          <p:cNvSpPr/>
          <p:nvPr/>
        </p:nvSpPr>
        <p:spPr>
          <a:xfrm>
            <a:off x="9125712" y="1719072"/>
            <a:ext cx="2194560" cy="365760"/>
          </a:xfrm>
          <a:prstGeom prst="roundRect">
            <a:avLst>
              <a:gd name="adj" fmla="val 50000"/>
            </a:avLst>
          </a:prstGeom>
          <a:solidFill>
            <a:srgbClr val="F4D9DC"/>
          </a:solidFill>
          <a:ln w="12700">
            <a:solidFill>
              <a:srgbClr val="F4D9D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1" name="Text 27"/>
          <p:cNvSpPr txBox="1"/>
          <p:nvPr/>
        </p:nvSpPr>
        <p:spPr>
          <a:xfrm>
            <a:off x="9125712" y="171907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AF81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Product</a:t>
            </a:r>
            <a:endParaRPr lang="en-US" sz="1200" dirty="0"/>
          </a:p>
        </p:txBody>
      </p:sp>
      <p:sp>
        <p:nvSpPr>
          <p:cNvPr id="32" name="Text 28"/>
          <p:cNvSpPr txBox="1"/>
          <p:nvPr/>
        </p:nvSpPr>
        <p:spPr>
          <a:xfrm>
            <a:off x="8485632" y="233172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Lever één dashboard</a:t>
            </a:r>
            <a:endParaRPr lang="en-US" sz="2200" dirty="0"/>
          </a:p>
        </p:txBody>
      </p:sp>
      <p:sp>
        <p:nvSpPr>
          <p:cNvPr id="33" name="Text 29"/>
          <p:cNvSpPr txBox="1"/>
          <p:nvPr/>
        </p:nvSpPr>
        <p:spPr>
          <a:xfrm>
            <a:off x="8485632" y="3200400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HOE</a:t>
            </a:r>
            <a:endParaRPr lang="en-US" sz="1100" dirty="0"/>
          </a:p>
        </p:txBody>
      </p:sp>
      <p:sp>
        <p:nvSpPr>
          <p:cNvPr id="34" name="Text 30"/>
          <p:cNvSpPr txBox="1"/>
          <p:nvPr/>
        </p:nvSpPr>
        <p:spPr>
          <a:xfrm>
            <a:off x="8485632" y="3474720"/>
            <a:ext cx="2880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Bouw in twee rondes een dashboard dat de vraag beantwoordt.</a:t>
            </a:r>
            <a:endParaRPr lang="en-US" sz="1400" dirty="0"/>
          </a:p>
        </p:txBody>
      </p:sp>
      <p:sp>
        <p:nvSpPr>
          <p:cNvPr id="35" name="Text 31"/>
          <p:cNvSpPr txBox="1"/>
          <p:nvPr/>
        </p:nvSpPr>
        <p:spPr>
          <a:xfrm>
            <a:off x="8485632" y="4389120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RESULTAAT</a:t>
            </a:r>
            <a:endParaRPr lang="en-US" sz="1100" dirty="0"/>
          </a:p>
        </p:txBody>
      </p:sp>
      <p:sp>
        <p:nvSpPr>
          <p:cNvPr id="36" name="Text 32"/>
          <p:cNvSpPr txBox="1"/>
          <p:nvPr/>
        </p:nvSpPr>
        <p:spPr>
          <a:xfrm>
            <a:off x="8485632" y="466344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Een kwalitatief antwoord, onderbouwd met het dashboard.</a:t>
            </a:r>
            <a:endParaRPr lang="en-US" sz="1400" dirty="0"/>
          </a:p>
        </p:txBody>
      </p:sp>
      <p:sp>
        <p:nvSpPr>
          <p:cNvPr id="37" name="Text 33"/>
          <p:cNvSpPr txBox="1"/>
          <p:nvPr/>
        </p:nvSpPr>
        <p:spPr>
          <a:xfrm>
            <a:off x="548640" y="57607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 is geen goed of fout dashboard. Het gaat om de keuzes die je maakt, en of je ze kunt uitleggen.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CF5D4"/>
        </a:solid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411480"/>
            <a:ext cx="9966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3D68E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Drie casussen, wij kiezen er één</a:t>
            </a:r>
            <a:endParaRPr lang="en-US" sz="3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48695" y="365760"/>
            <a:ext cx="594360" cy="59436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548640" y="1325880"/>
            <a:ext cx="3429000" cy="4343400"/>
          </a:xfrm>
          <a:prstGeom prst="roundRect">
            <a:avLst>
              <a:gd name="adj" fmla="val 8000"/>
            </a:avLst>
          </a:prstGeom>
          <a:solidFill>
            <a:srgbClr val="3D68EC"/>
          </a:solidFill>
          <a:ln w="12700">
            <a:solidFill>
              <a:srgbClr val="3D68E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6" name="Shape 2"/>
          <p:cNvSpPr/>
          <p:nvPr/>
        </p:nvSpPr>
        <p:spPr>
          <a:xfrm>
            <a:off x="822960" y="1600200"/>
            <a:ext cx="502920" cy="502920"/>
          </a:xfrm>
          <a:prstGeom prst="ellipse">
            <a:avLst/>
          </a:prstGeom>
          <a:solidFill>
            <a:srgbClr val="F4D74B"/>
          </a:solidFill>
          <a:ln w="12700">
            <a:solidFill>
              <a:srgbClr val="F4D74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7" name="Text 3"/>
          <p:cNvSpPr txBox="1"/>
          <p:nvPr/>
        </p:nvSpPr>
        <p:spPr>
          <a:xfrm>
            <a:off x="822960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D68E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A</a:t>
            </a:r>
            <a:endParaRPr lang="en-US" sz="2000" dirty="0"/>
          </a:p>
        </p:txBody>
      </p:sp>
      <p:sp>
        <p:nvSpPr>
          <p:cNvPr id="8" name="Shape 4"/>
          <p:cNvSpPr/>
          <p:nvPr/>
        </p:nvSpPr>
        <p:spPr>
          <a:xfrm>
            <a:off x="1463040" y="1673352"/>
            <a:ext cx="2240280" cy="365760"/>
          </a:xfrm>
          <a:prstGeom prst="roundRect">
            <a:avLst>
              <a:gd name="adj" fmla="val 50000"/>
            </a:avLst>
          </a:prstGeom>
          <a:solidFill>
            <a:srgbClr val="F4D74B"/>
          </a:solidFill>
          <a:ln w="12700">
            <a:solidFill>
              <a:srgbClr val="F4D74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9" name="Text 5"/>
          <p:cNvSpPr txBox="1"/>
          <p:nvPr/>
        </p:nvSpPr>
        <p:spPr>
          <a:xfrm>
            <a:off x="1463040" y="1673352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D68E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Inschrijvingen (1CHO)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822960" y="2240280"/>
            <a:ext cx="2880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Eerstejaarsuitval</a:t>
            </a:r>
            <a:endParaRPr lang="en-US" sz="1900" dirty="0"/>
          </a:p>
        </p:txBody>
      </p:sp>
      <p:sp>
        <p:nvSpPr>
          <p:cNvPr id="11" name="Text 7"/>
          <p:cNvSpPr txBox="1"/>
          <p:nvPr/>
        </p:nvSpPr>
        <p:spPr>
          <a:xfrm>
            <a:off x="822960" y="310896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Uitval na één jaar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822960" y="3520440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VRAAG</a:t>
            </a:r>
            <a:endParaRPr lang="en-US" sz="1100" dirty="0"/>
          </a:p>
        </p:txBody>
      </p:sp>
      <p:sp>
        <p:nvSpPr>
          <p:cNvPr id="13" name="Text 9"/>
          <p:cNvSpPr txBox="1"/>
          <p:nvPr/>
        </p:nvSpPr>
        <p:spPr>
          <a:xfrm>
            <a:off x="822960" y="3776472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Welke eerstejaars stoppen binnen een jaar, en verschilt dat per sector en opleidingsvorm?</a:t>
            </a:r>
            <a:endParaRPr lang="en-US" sz="1350" dirty="0"/>
          </a:p>
        </p:txBody>
      </p:sp>
      <p:sp>
        <p:nvSpPr>
          <p:cNvPr id="14" name="Text 10"/>
          <p:cNvSpPr txBox="1"/>
          <p:nvPr/>
        </p:nvSpPr>
        <p:spPr>
          <a:xfrm>
            <a:off x="822960" y="4572000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MET DE AGENT</a:t>
            </a:r>
            <a:endParaRPr lang="en-US" sz="1100" dirty="0"/>
          </a:p>
        </p:txBody>
      </p:sp>
      <p:sp>
        <p:nvSpPr>
          <p:cNvPr id="15" name="Text 11"/>
          <p:cNvSpPr txBox="1"/>
          <p:nvPr/>
        </p:nvSpPr>
        <p:spPr>
          <a:xfrm>
            <a:off x="822960" y="4828032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Uitval binnen 1 jaar per cohort berekenen en vergelijken naar sector, opleidingsvorm en geslacht.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4379976" y="1325880"/>
            <a:ext cx="3429000" cy="4343400"/>
          </a:xfrm>
          <a:prstGeom prst="roundRect">
            <a:avLst>
              <a:gd name="adj" fmla="val 8000"/>
            </a:avLst>
          </a:prstGeom>
          <a:solidFill>
            <a:srgbClr val="DD784B"/>
          </a:solidFill>
          <a:ln w="12700">
            <a:solidFill>
              <a:srgbClr val="DD784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7" name="Shape 13"/>
          <p:cNvSpPr/>
          <p:nvPr/>
        </p:nvSpPr>
        <p:spPr>
          <a:xfrm>
            <a:off x="4654296" y="1600200"/>
            <a:ext cx="502920" cy="502920"/>
          </a:xfrm>
          <a:prstGeom prst="ellipse">
            <a:avLst/>
          </a:prstGeom>
          <a:solidFill>
            <a:srgbClr val="F4D9DC"/>
          </a:solidFill>
          <a:ln w="12700">
            <a:solidFill>
              <a:srgbClr val="F4D9D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8" name="Text 14"/>
          <p:cNvSpPr txBox="1"/>
          <p:nvPr/>
        </p:nvSpPr>
        <p:spPr>
          <a:xfrm>
            <a:off x="4654296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D784B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B</a:t>
            </a:r>
            <a:endParaRPr lang="en-US" sz="2000" dirty="0"/>
          </a:p>
        </p:txBody>
      </p:sp>
      <p:sp>
        <p:nvSpPr>
          <p:cNvPr id="19" name="Shape 15"/>
          <p:cNvSpPr/>
          <p:nvPr/>
        </p:nvSpPr>
        <p:spPr>
          <a:xfrm>
            <a:off x="5294376" y="1673352"/>
            <a:ext cx="2240280" cy="365760"/>
          </a:xfrm>
          <a:prstGeom prst="roundRect">
            <a:avLst>
              <a:gd name="adj" fmla="val 50000"/>
            </a:avLst>
          </a:prstGeom>
          <a:solidFill>
            <a:srgbClr val="F4D9DC"/>
          </a:solidFill>
          <a:ln w="12700">
            <a:solidFill>
              <a:srgbClr val="F4D9D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0" name="Text 16"/>
          <p:cNvSpPr txBox="1"/>
          <p:nvPr/>
        </p:nvSpPr>
        <p:spPr>
          <a:xfrm>
            <a:off x="5294376" y="1673352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D784B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Inschrijvingen (1CHO)</a:t>
            </a:r>
            <a:endParaRPr lang="en-US" sz="1100" dirty="0"/>
          </a:p>
        </p:txBody>
      </p:sp>
      <p:sp>
        <p:nvSpPr>
          <p:cNvPr id="21" name="Text 17"/>
          <p:cNvSpPr txBox="1"/>
          <p:nvPr/>
        </p:nvSpPr>
        <p:spPr>
          <a:xfrm>
            <a:off x="4654296" y="2240280"/>
            <a:ext cx="2880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Wisselen of stoppen?</a:t>
            </a:r>
            <a:endParaRPr lang="en-US" sz="1900" dirty="0"/>
          </a:p>
        </p:txBody>
      </p:sp>
      <p:sp>
        <p:nvSpPr>
          <p:cNvPr id="22" name="Text 18"/>
          <p:cNvSpPr txBox="1"/>
          <p:nvPr/>
        </p:nvSpPr>
        <p:spPr>
          <a:xfrm>
            <a:off x="4654296" y="310896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Uitval versus studiewissel</a:t>
            </a:r>
            <a:endParaRPr lang="en-US" sz="1200" dirty="0"/>
          </a:p>
        </p:txBody>
      </p:sp>
      <p:sp>
        <p:nvSpPr>
          <p:cNvPr id="23" name="Text 19"/>
          <p:cNvSpPr txBox="1"/>
          <p:nvPr/>
        </p:nvSpPr>
        <p:spPr>
          <a:xfrm>
            <a:off x="4654296" y="3520440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VRAAG</a:t>
            </a:r>
            <a:endParaRPr lang="en-US" sz="1100" dirty="0"/>
          </a:p>
        </p:txBody>
      </p:sp>
      <p:sp>
        <p:nvSpPr>
          <p:cNvPr id="24" name="Text 20"/>
          <p:cNvSpPr txBox="1"/>
          <p:nvPr/>
        </p:nvSpPr>
        <p:spPr>
          <a:xfrm>
            <a:off x="4654296" y="3776472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Stoppen studenten, of wisselen ze van opleiding, en waar gaan de wisselaars heen?</a:t>
            </a:r>
            <a:endParaRPr lang="en-US" sz="1350" dirty="0"/>
          </a:p>
        </p:txBody>
      </p:sp>
      <p:sp>
        <p:nvSpPr>
          <p:cNvPr id="25" name="Text 21"/>
          <p:cNvSpPr txBox="1"/>
          <p:nvPr/>
        </p:nvSpPr>
        <p:spPr>
          <a:xfrm>
            <a:off x="4654296" y="4572000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MET DE AGENT</a:t>
            </a:r>
            <a:endParaRPr lang="en-US" sz="1100" dirty="0"/>
          </a:p>
        </p:txBody>
      </p:sp>
      <p:sp>
        <p:nvSpPr>
          <p:cNvPr id="26" name="Text 22"/>
          <p:cNvSpPr txBox="1"/>
          <p:nvPr/>
        </p:nvSpPr>
        <p:spPr>
          <a:xfrm>
            <a:off x="4654296" y="4828032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Uitval en studiewissel (binnen 1 en 3 jaar) onderscheiden en de stromen tussen sectoren tonen.</a:t>
            </a:r>
            <a:endParaRPr lang="en-US" sz="1300" dirty="0"/>
          </a:p>
        </p:txBody>
      </p:sp>
      <p:sp>
        <p:nvSpPr>
          <p:cNvPr id="27" name="Shape 23"/>
          <p:cNvSpPr/>
          <p:nvPr/>
        </p:nvSpPr>
        <p:spPr>
          <a:xfrm>
            <a:off x="8211312" y="1325880"/>
            <a:ext cx="3429000" cy="4343400"/>
          </a:xfrm>
          <a:prstGeom prst="roundRect">
            <a:avLst>
              <a:gd name="adj" fmla="val 8000"/>
            </a:avLst>
          </a:prstGeom>
          <a:solidFill>
            <a:srgbClr val="00AF81"/>
          </a:solidFill>
          <a:ln w="12700">
            <a:solidFill>
              <a:srgbClr val="00AF81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8" name="Shape 24"/>
          <p:cNvSpPr/>
          <p:nvPr/>
        </p:nvSpPr>
        <p:spPr>
          <a:xfrm>
            <a:off x="8485632" y="1600200"/>
            <a:ext cx="502920" cy="502920"/>
          </a:xfrm>
          <a:prstGeom prst="ellipse">
            <a:avLst/>
          </a:prstGeom>
          <a:solidFill>
            <a:srgbClr val="F4D9DC"/>
          </a:solidFill>
          <a:ln w="12700">
            <a:solidFill>
              <a:srgbClr val="F4D9D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9" name="Text 25"/>
          <p:cNvSpPr txBox="1"/>
          <p:nvPr/>
        </p:nvSpPr>
        <p:spPr>
          <a:xfrm>
            <a:off x="8485632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AF81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C</a:t>
            </a:r>
            <a:endParaRPr lang="en-US" sz="2000" dirty="0"/>
          </a:p>
        </p:txBody>
      </p:sp>
      <p:sp>
        <p:nvSpPr>
          <p:cNvPr id="30" name="Shape 26"/>
          <p:cNvSpPr/>
          <p:nvPr/>
        </p:nvSpPr>
        <p:spPr>
          <a:xfrm>
            <a:off x="9125712" y="1673352"/>
            <a:ext cx="2240280" cy="365760"/>
          </a:xfrm>
          <a:prstGeom prst="roundRect">
            <a:avLst>
              <a:gd name="adj" fmla="val 50000"/>
            </a:avLst>
          </a:prstGeom>
          <a:solidFill>
            <a:srgbClr val="F4D9DC"/>
          </a:solidFill>
          <a:ln w="12700">
            <a:solidFill>
              <a:srgbClr val="F4D9D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1" name="Text 27"/>
          <p:cNvSpPr txBox="1"/>
          <p:nvPr/>
        </p:nvSpPr>
        <p:spPr>
          <a:xfrm>
            <a:off x="9125712" y="1673352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AF81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Inschrijvingen (1CHO)</a:t>
            </a:r>
            <a:endParaRPr lang="en-US" sz="1100" dirty="0"/>
          </a:p>
        </p:txBody>
      </p:sp>
      <p:sp>
        <p:nvSpPr>
          <p:cNvPr id="32" name="Text 28"/>
          <p:cNvSpPr txBox="1"/>
          <p:nvPr/>
        </p:nvSpPr>
        <p:spPr>
          <a:xfrm>
            <a:off x="8485632" y="2240280"/>
            <a:ext cx="2880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VO-cijfers en studiesucces</a:t>
            </a:r>
            <a:endParaRPr lang="en-US" sz="1900" dirty="0"/>
          </a:p>
        </p:txBody>
      </p:sp>
      <p:sp>
        <p:nvSpPr>
          <p:cNvPr id="33" name="Text 29"/>
          <p:cNvSpPr txBox="1"/>
          <p:nvPr/>
        </p:nvSpPr>
        <p:spPr>
          <a:xfrm>
            <a:off x="8485632" y="310896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Rendement en VO-eindcijfer</a:t>
            </a:r>
            <a:endParaRPr lang="en-US" sz="1200" dirty="0"/>
          </a:p>
        </p:txBody>
      </p:sp>
      <p:sp>
        <p:nvSpPr>
          <p:cNvPr id="34" name="Text 30"/>
          <p:cNvSpPr txBox="1"/>
          <p:nvPr/>
        </p:nvSpPr>
        <p:spPr>
          <a:xfrm>
            <a:off x="8485632" y="3520440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VRAAG</a:t>
            </a:r>
            <a:endParaRPr lang="en-US" sz="1100" dirty="0"/>
          </a:p>
        </p:txBody>
      </p:sp>
      <p:sp>
        <p:nvSpPr>
          <p:cNvPr id="35" name="Text 31"/>
          <p:cNvSpPr txBox="1"/>
          <p:nvPr/>
        </p:nvSpPr>
        <p:spPr>
          <a:xfrm>
            <a:off x="8485632" y="3776472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Halen studenten met hoge VO-cijfers vaker binnen vijf jaar hun diploma?</a:t>
            </a:r>
            <a:endParaRPr lang="en-US" sz="1350" dirty="0"/>
          </a:p>
        </p:txBody>
      </p:sp>
      <p:sp>
        <p:nvSpPr>
          <p:cNvPr id="36" name="Text 32"/>
          <p:cNvSpPr txBox="1"/>
          <p:nvPr/>
        </p:nvSpPr>
        <p:spPr>
          <a:xfrm>
            <a:off x="8485632" y="4572000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MET DE AGENT</a:t>
            </a:r>
            <a:endParaRPr lang="en-US" sz="1100" dirty="0"/>
          </a:p>
        </p:txBody>
      </p:sp>
      <p:sp>
        <p:nvSpPr>
          <p:cNvPr id="37" name="Text 33"/>
          <p:cNvSpPr txBox="1"/>
          <p:nvPr/>
        </p:nvSpPr>
        <p:spPr>
          <a:xfrm>
            <a:off x="8485632" y="4828032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Rendement (diploma binnen 3, 5 en 8 jaar) koppelen aan het gemiddelde VO-eindcijfer en de vooropleiding.</a:t>
            </a:r>
            <a:endParaRPr lang="en-US" sz="1300" dirty="0"/>
          </a:p>
        </p:txBody>
      </p:sp>
      <p:sp>
        <p:nvSpPr>
          <p:cNvPr id="38" name="Text 34"/>
          <p:cNvSpPr txBox="1"/>
          <p:nvPr/>
        </p:nvSpPr>
        <p:spPr>
          <a:xfrm>
            <a:off x="548640" y="576072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D68E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Doel: </a:t>
            </a:r>
            <a:r>
              <a:rPr lang="en-US" sz="1600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aan het eind een kwalitatief antwoord op de casusvraag, onderbouwd met het dashboard.</a:t>
            </a:r>
            <a:endParaRPr lang="en-US" sz="1600" dirty="0"/>
          </a:p>
        </p:txBody>
      </p:sp>
      <p:sp>
        <p:nvSpPr>
          <p:cNvPr id="39" name="Text 35"/>
          <p:cNvSpPr txBox="1"/>
          <p:nvPr/>
        </p:nvSpPr>
        <p:spPr>
          <a:xfrm>
            <a:off x="548640" y="619963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5C66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Voorstel: casus A. Casus C vraagt het VO-eindcijfer, dat niet in het synthetische inschrijvingenbestand zit (dat komt uit VAKHAVW). Definities volgen het package staat1cho.</a:t>
            </a:r>
            <a:endParaRPr lang="en-US" sz="1100" dirty="0"/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3D68EC"/>
        </a:solid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411480"/>
            <a:ext cx="9966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Wat is een skill?</a:t>
            </a:r>
            <a:endParaRPr lang="en-US" sz="3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48695" y="365760"/>
            <a:ext cx="594360" cy="59436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548640" y="1371600"/>
            <a:ext cx="11091672" cy="1234440"/>
          </a:xfrm>
          <a:prstGeom prst="roundRect">
            <a:avLst>
              <a:gd name="adj" fmla="val 22222"/>
            </a:avLst>
          </a:prstGeom>
          <a:solidFill>
            <a:srgbClr val="F4D9DC"/>
          </a:solidFill>
          <a:ln w="12700">
            <a:solidFill>
              <a:srgbClr val="F4D9D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6" name="Shape 2"/>
          <p:cNvSpPr/>
          <p:nvPr/>
        </p:nvSpPr>
        <p:spPr>
          <a:xfrm>
            <a:off x="685800" y="1508760"/>
            <a:ext cx="2468880" cy="960120"/>
          </a:xfrm>
          <a:prstGeom prst="roundRect">
            <a:avLst>
              <a:gd name="adj" fmla="val 20952"/>
            </a:avLst>
          </a:prstGeom>
          <a:solidFill>
            <a:srgbClr val="F4D74B"/>
          </a:solidFill>
          <a:ln w="12700">
            <a:solidFill>
              <a:srgbClr val="F4D74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7" name="Shape 3"/>
          <p:cNvSpPr/>
          <p:nvPr/>
        </p:nvSpPr>
        <p:spPr>
          <a:xfrm>
            <a:off x="1920240" y="2606040"/>
            <a:ext cx="0" cy="320040"/>
          </a:xfrm>
          <a:prstGeom prst="line">
            <a:avLst/>
          </a:prstGeom>
          <a:noFill/>
          <a:ln w="25400">
            <a:solidFill>
              <a:srgbClr val="F4D9DC"/>
            </a:solidFill>
            <a:prstDash val="dash"/>
          </a:ln>
        </p:spPr>
        <p:txBody>
          <a:bodyPr/>
          <a:lstStyle/>
          <a:p>
            <a:endParaRPr lang="en-NL"/>
          </a:p>
        </p:txBody>
      </p:sp>
      <p:sp>
        <p:nvSpPr>
          <p:cNvPr id="8" name="Shape 4"/>
          <p:cNvSpPr/>
          <p:nvPr/>
        </p:nvSpPr>
        <p:spPr>
          <a:xfrm flipV="1">
            <a:off x="1783080" y="2670048"/>
            <a:ext cx="274320" cy="182880"/>
          </a:xfrm>
          <a:prstGeom prst="triangle">
            <a:avLst/>
          </a:prstGeom>
          <a:solidFill>
            <a:srgbClr val="F4D74B"/>
          </a:solidFill>
          <a:ln w="12700">
            <a:solidFill>
              <a:srgbClr val="F4D74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9" name="Text 5"/>
          <p:cNvSpPr txBox="1"/>
          <p:nvPr/>
        </p:nvSpPr>
        <p:spPr>
          <a:xfrm>
            <a:off x="685800" y="155448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3D68E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Prompt</a:t>
            </a:r>
            <a:endParaRPr lang="en-US" sz="2600" dirty="0"/>
          </a:p>
        </p:txBody>
      </p:sp>
      <p:sp>
        <p:nvSpPr>
          <p:cNvPr id="10" name="Text 6"/>
          <p:cNvSpPr txBox="1"/>
          <p:nvPr/>
        </p:nvSpPr>
        <p:spPr>
          <a:xfrm>
            <a:off x="685800" y="202996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D68E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losse opdracht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3337560" y="1371600"/>
            <a:ext cx="4846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Wat jij zelf typt. Het resultaat is elke keer anders en hangt af van hoe je het vraagt.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8503920" y="162763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3D68E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LEVERT</a:t>
            </a:r>
            <a:endParaRPr lang="en-US" sz="1100" dirty="0"/>
          </a:p>
        </p:txBody>
      </p:sp>
      <p:sp>
        <p:nvSpPr>
          <p:cNvPr id="13" name="Text 9"/>
          <p:cNvSpPr txBox="1"/>
          <p:nvPr/>
        </p:nvSpPr>
        <p:spPr>
          <a:xfrm>
            <a:off x="8503920" y="1883664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3D68E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Eén antwoord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548640" y="2926080"/>
            <a:ext cx="11091672" cy="1234440"/>
          </a:xfrm>
          <a:prstGeom prst="roundRect">
            <a:avLst>
              <a:gd name="adj" fmla="val 22222"/>
            </a:avLst>
          </a:prstGeom>
          <a:solidFill>
            <a:srgbClr val="F4D9DC"/>
          </a:solidFill>
          <a:ln w="12700">
            <a:solidFill>
              <a:srgbClr val="F4D9D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5" name="Shape 11"/>
          <p:cNvSpPr/>
          <p:nvPr/>
        </p:nvSpPr>
        <p:spPr>
          <a:xfrm>
            <a:off x="685800" y="3063240"/>
            <a:ext cx="2468880" cy="960120"/>
          </a:xfrm>
          <a:prstGeom prst="roundRect">
            <a:avLst>
              <a:gd name="adj" fmla="val 20952"/>
            </a:avLst>
          </a:prstGeom>
          <a:solidFill>
            <a:srgbClr val="DD784B"/>
          </a:solidFill>
          <a:ln w="12700">
            <a:solidFill>
              <a:srgbClr val="DD784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6" name="Shape 12"/>
          <p:cNvSpPr/>
          <p:nvPr/>
        </p:nvSpPr>
        <p:spPr>
          <a:xfrm>
            <a:off x="1920240" y="4160520"/>
            <a:ext cx="0" cy="320040"/>
          </a:xfrm>
          <a:prstGeom prst="line">
            <a:avLst/>
          </a:prstGeom>
          <a:noFill/>
          <a:ln w="25400">
            <a:solidFill>
              <a:srgbClr val="F4D9DC"/>
            </a:solidFill>
            <a:prstDash val="dash"/>
          </a:ln>
        </p:spPr>
        <p:txBody>
          <a:bodyPr/>
          <a:lstStyle/>
          <a:p>
            <a:endParaRPr lang="en-NL"/>
          </a:p>
        </p:txBody>
      </p:sp>
      <p:sp>
        <p:nvSpPr>
          <p:cNvPr id="17" name="Shape 13"/>
          <p:cNvSpPr/>
          <p:nvPr/>
        </p:nvSpPr>
        <p:spPr>
          <a:xfrm flipV="1">
            <a:off x="1783080" y="4224528"/>
            <a:ext cx="274320" cy="182880"/>
          </a:xfrm>
          <a:prstGeom prst="triangle">
            <a:avLst/>
          </a:prstGeom>
          <a:solidFill>
            <a:srgbClr val="F4D74B"/>
          </a:solidFill>
          <a:ln w="12700">
            <a:solidFill>
              <a:srgbClr val="F4D74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8" name="Text 14"/>
          <p:cNvSpPr txBox="1"/>
          <p:nvPr/>
        </p:nvSpPr>
        <p:spPr>
          <a:xfrm>
            <a:off x="685800" y="31089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Skill</a:t>
            </a:r>
            <a:endParaRPr lang="en-US" sz="2600" dirty="0"/>
          </a:p>
        </p:txBody>
      </p:sp>
      <p:sp>
        <p:nvSpPr>
          <p:cNvPr id="19" name="Text 15"/>
          <p:cNvSpPr txBox="1"/>
          <p:nvPr/>
        </p:nvSpPr>
        <p:spPr>
          <a:xfrm>
            <a:off x="685800" y="358444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vast stappenplan</a:t>
            </a:r>
            <a:endParaRPr lang="en-US" sz="1400" dirty="0"/>
          </a:p>
        </p:txBody>
      </p:sp>
      <p:sp>
        <p:nvSpPr>
          <p:cNvPr id="20" name="Text 16"/>
          <p:cNvSpPr txBox="1"/>
          <p:nvPr/>
        </p:nvSpPr>
        <p:spPr>
          <a:xfrm>
            <a:off x="3337560" y="2926080"/>
            <a:ext cx="4846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Een tekstbestand (SKILL.md) met stappen en checks dat de agent volgt. Elke keer dezelfde werkwijze.</a:t>
            </a:r>
            <a:endParaRPr lang="en-US" sz="1300" dirty="0"/>
          </a:p>
        </p:txBody>
      </p:sp>
      <p:sp>
        <p:nvSpPr>
          <p:cNvPr id="21" name="Text 17"/>
          <p:cNvSpPr txBox="1"/>
          <p:nvPr/>
        </p:nvSpPr>
        <p:spPr>
          <a:xfrm>
            <a:off x="8503920" y="318211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3D68E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LEVERT</a:t>
            </a:r>
            <a:endParaRPr lang="en-US" sz="1100" dirty="0"/>
          </a:p>
        </p:txBody>
      </p:sp>
      <p:sp>
        <p:nvSpPr>
          <p:cNvPr id="22" name="Text 18"/>
          <p:cNvSpPr txBox="1"/>
          <p:nvPr/>
        </p:nvSpPr>
        <p:spPr>
          <a:xfrm>
            <a:off x="8503920" y="3438144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3D68E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Herhaalbare werkwijze</a:t>
            </a:r>
            <a:endParaRPr lang="en-US" sz="1600" dirty="0"/>
          </a:p>
        </p:txBody>
      </p:sp>
      <p:sp>
        <p:nvSpPr>
          <p:cNvPr id="23" name="Shape 19"/>
          <p:cNvSpPr/>
          <p:nvPr/>
        </p:nvSpPr>
        <p:spPr>
          <a:xfrm>
            <a:off x="548640" y="4480560"/>
            <a:ext cx="11091672" cy="1234440"/>
          </a:xfrm>
          <a:prstGeom prst="roundRect">
            <a:avLst>
              <a:gd name="adj" fmla="val 22222"/>
            </a:avLst>
          </a:prstGeom>
          <a:solidFill>
            <a:srgbClr val="F4D9DC"/>
          </a:solidFill>
          <a:ln w="12700">
            <a:solidFill>
              <a:srgbClr val="F4D9D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4" name="Shape 20"/>
          <p:cNvSpPr/>
          <p:nvPr/>
        </p:nvSpPr>
        <p:spPr>
          <a:xfrm>
            <a:off x="685800" y="4617720"/>
            <a:ext cx="2468880" cy="960120"/>
          </a:xfrm>
          <a:prstGeom prst="roundRect">
            <a:avLst>
              <a:gd name="adj" fmla="val 20952"/>
            </a:avLst>
          </a:prstGeom>
          <a:solidFill>
            <a:srgbClr val="00AF81"/>
          </a:solidFill>
          <a:ln w="12700">
            <a:solidFill>
              <a:srgbClr val="00AF81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5" name="Text 21"/>
          <p:cNvSpPr txBox="1"/>
          <p:nvPr/>
        </p:nvSpPr>
        <p:spPr>
          <a:xfrm>
            <a:off x="685800" y="46634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Agent</a:t>
            </a:r>
            <a:endParaRPr lang="en-US" sz="2600" dirty="0"/>
          </a:p>
        </p:txBody>
      </p:sp>
      <p:sp>
        <p:nvSpPr>
          <p:cNvPr id="26" name="Text 22"/>
          <p:cNvSpPr txBox="1"/>
          <p:nvPr/>
        </p:nvSpPr>
        <p:spPr>
          <a:xfrm>
            <a:off x="685800" y="513892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de uitvoerder</a:t>
            </a:r>
            <a:endParaRPr lang="en-US" sz="1400" dirty="0"/>
          </a:p>
        </p:txBody>
      </p:sp>
      <p:sp>
        <p:nvSpPr>
          <p:cNvPr id="27" name="Text 23"/>
          <p:cNvSpPr txBox="1"/>
          <p:nvPr/>
        </p:nvSpPr>
        <p:spPr>
          <a:xfrm>
            <a:off x="3337560" y="4480560"/>
            <a:ext cx="4846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De AI die het werk doet: leest je opdracht of de skill, schrijft en draait de code. Wij gebruiken Claude Code.</a:t>
            </a:r>
            <a:endParaRPr lang="en-US" sz="1300" dirty="0"/>
          </a:p>
        </p:txBody>
      </p:sp>
      <p:sp>
        <p:nvSpPr>
          <p:cNvPr id="28" name="Text 24"/>
          <p:cNvSpPr txBox="1"/>
          <p:nvPr/>
        </p:nvSpPr>
        <p:spPr>
          <a:xfrm>
            <a:off x="8503920" y="4736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3D68E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LEVERT</a:t>
            </a:r>
            <a:endParaRPr lang="en-US" sz="1100" dirty="0"/>
          </a:p>
        </p:txBody>
      </p:sp>
      <p:sp>
        <p:nvSpPr>
          <p:cNvPr id="29" name="Text 25"/>
          <p:cNvSpPr txBox="1"/>
          <p:nvPr/>
        </p:nvSpPr>
        <p:spPr>
          <a:xfrm>
            <a:off x="8503920" y="4992624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3D68E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Resultaat dat je kunt nalopen</a:t>
            </a:r>
            <a:endParaRPr lang="en-US" sz="1600" dirty="0"/>
          </a:p>
        </p:txBody>
      </p:sp>
      <p:sp>
        <p:nvSpPr>
          <p:cNvPr id="30" name="Text 26"/>
          <p:cNvSpPr txBox="1"/>
          <p:nvPr/>
        </p:nvSpPr>
        <p:spPr>
          <a:xfrm>
            <a:off x="548640" y="594360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Een skill is gewoon tekst in de repo: leesbaar, aanpasbaar en deelbaar. Je hoeft niet te kunnen programmeren om er één te schrijven.</a:t>
            </a:r>
            <a:endParaRPr lang="en-US" sz="1300" dirty="0"/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D9DC"/>
        </a:solid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411480"/>
            <a:ext cx="9966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3D68E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Waarom skills? Van prompt naar teamkennis</a:t>
            </a:r>
            <a:endParaRPr lang="en-US" sz="3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48695" y="365760"/>
            <a:ext cx="594360" cy="59436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132588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i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Een goede prompt helpt jou vandaag. Een goede skill helpt je hele team, elke keer weer.</a:t>
            </a:r>
            <a:endParaRPr lang="en-US" sz="2100" dirty="0"/>
          </a:p>
        </p:txBody>
      </p:sp>
      <p:sp>
        <p:nvSpPr>
          <p:cNvPr id="6" name="Shape 2"/>
          <p:cNvSpPr/>
          <p:nvPr/>
        </p:nvSpPr>
        <p:spPr>
          <a:xfrm>
            <a:off x="548640" y="2468880"/>
            <a:ext cx="2606040" cy="2468880"/>
          </a:xfrm>
          <a:prstGeom prst="roundRect">
            <a:avLst>
              <a:gd name="adj" fmla="val 11111"/>
            </a:avLst>
          </a:prstGeom>
          <a:solidFill>
            <a:srgbClr val="3D68EC"/>
          </a:solidFill>
          <a:ln w="12700">
            <a:solidFill>
              <a:srgbClr val="3D68E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7" name="Text 3"/>
          <p:cNvSpPr txBox="1"/>
          <p:nvPr/>
        </p:nvSpPr>
        <p:spPr>
          <a:xfrm>
            <a:off x="822960" y="269748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F4D74B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1×</a:t>
            </a:r>
            <a:endParaRPr lang="en-US" sz="6400" dirty="0"/>
          </a:p>
        </p:txBody>
      </p:sp>
      <p:sp>
        <p:nvSpPr>
          <p:cNvPr id="8" name="Text 4"/>
          <p:cNvSpPr txBox="1"/>
          <p:nvPr/>
        </p:nvSpPr>
        <p:spPr>
          <a:xfrm>
            <a:off x="822960" y="37490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uitschrijven</a:t>
            </a:r>
            <a:endParaRPr lang="en-US" sz="1900" dirty="0"/>
          </a:p>
        </p:txBody>
      </p:sp>
      <p:sp>
        <p:nvSpPr>
          <p:cNvPr id="9" name="Text 5"/>
          <p:cNvSpPr txBox="1"/>
          <p:nvPr/>
        </p:nvSpPr>
        <p:spPr>
          <a:xfrm>
            <a:off x="822960" y="41605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daarna eindeloos hergebruiken, door iedereen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3376879" y="2468880"/>
            <a:ext cx="2606040" cy="2468880"/>
          </a:xfrm>
          <a:prstGeom prst="roundRect">
            <a:avLst>
              <a:gd name="adj" fmla="val 11111"/>
            </a:avLst>
          </a:prstGeom>
          <a:solidFill>
            <a:srgbClr val="DD784B"/>
          </a:solidFill>
          <a:ln w="12700">
            <a:solidFill>
              <a:srgbClr val="DD784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1" name="Text 7"/>
          <p:cNvSpPr txBox="1"/>
          <p:nvPr/>
        </p:nvSpPr>
        <p:spPr>
          <a:xfrm>
            <a:off x="3651199" y="269748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0</a:t>
            </a:r>
            <a:endParaRPr lang="en-US" sz="6400" dirty="0"/>
          </a:p>
        </p:txBody>
      </p:sp>
      <p:sp>
        <p:nvSpPr>
          <p:cNvPr id="12" name="Text 8"/>
          <p:cNvSpPr txBox="1"/>
          <p:nvPr/>
        </p:nvSpPr>
        <p:spPr>
          <a:xfrm>
            <a:off x="3651199" y="37490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black boxes</a:t>
            </a:r>
            <a:endParaRPr lang="en-US" sz="1900" dirty="0"/>
          </a:p>
        </p:txBody>
      </p:sp>
      <p:sp>
        <p:nvSpPr>
          <p:cNvPr id="13" name="Text 9"/>
          <p:cNvSpPr txBox="1"/>
          <p:nvPr/>
        </p:nvSpPr>
        <p:spPr>
          <a:xfrm>
            <a:off x="3651199" y="41605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je leest precies wat de agent gaat doen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205118" y="2468880"/>
            <a:ext cx="2606040" cy="2468880"/>
          </a:xfrm>
          <a:prstGeom prst="roundRect">
            <a:avLst>
              <a:gd name="adj" fmla="val 11111"/>
            </a:avLst>
          </a:prstGeom>
          <a:solidFill>
            <a:srgbClr val="00AF81"/>
          </a:solidFill>
          <a:ln w="12700">
            <a:solidFill>
              <a:srgbClr val="00AF81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5" name="Text 11"/>
          <p:cNvSpPr txBox="1"/>
          <p:nvPr/>
        </p:nvSpPr>
        <p:spPr>
          <a:xfrm>
            <a:off x="6479438" y="269748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n&lt;30</a:t>
            </a:r>
            <a:endParaRPr lang="en-US" sz="6400" dirty="0"/>
          </a:p>
        </p:txBody>
      </p:sp>
      <p:sp>
        <p:nvSpPr>
          <p:cNvPr id="16" name="Text 12"/>
          <p:cNvSpPr txBox="1"/>
          <p:nvPr/>
        </p:nvSpPr>
        <p:spPr>
          <a:xfrm>
            <a:off x="6479438" y="37490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ingebouwd</a:t>
            </a:r>
            <a:endParaRPr lang="en-US" sz="1900" dirty="0"/>
          </a:p>
        </p:txBody>
      </p:sp>
      <p:sp>
        <p:nvSpPr>
          <p:cNvPr id="17" name="Text 13"/>
          <p:cNvSpPr txBox="1"/>
          <p:nvPr/>
        </p:nvSpPr>
        <p:spPr>
          <a:xfrm>
            <a:off x="6479438" y="41605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privacy-drempel en checks vergeet je nooit meer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9033358" y="2468880"/>
            <a:ext cx="2606040" cy="2468880"/>
          </a:xfrm>
          <a:prstGeom prst="roundRect">
            <a:avLst>
              <a:gd name="adj" fmla="val 11111"/>
            </a:avLst>
          </a:prstGeom>
          <a:solidFill>
            <a:srgbClr val="F4D74B"/>
          </a:solidFill>
          <a:ln w="12700">
            <a:solidFill>
              <a:srgbClr val="F4D74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9" name="Text 15"/>
          <p:cNvSpPr txBox="1"/>
          <p:nvPr/>
        </p:nvSpPr>
        <p:spPr>
          <a:xfrm>
            <a:off x="9307678" y="269748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3D68E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€0</a:t>
            </a:r>
            <a:endParaRPr lang="en-US" sz="6400" dirty="0"/>
          </a:p>
        </p:txBody>
      </p:sp>
      <p:sp>
        <p:nvSpPr>
          <p:cNvPr id="20" name="Text 16"/>
          <p:cNvSpPr txBox="1"/>
          <p:nvPr/>
        </p:nvSpPr>
        <p:spPr>
          <a:xfrm>
            <a:off x="9307678" y="37490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3D68E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kosten</a:t>
            </a:r>
            <a:endParaRPr lang="en-US" sz="1900" dirty="0"/>
          </a:p>
        </p:txBody>
      </p:sp>
      <p:sp>
        <p:nvSpPr>
          <p:cNvPr id="21" name="Text 17"/>
          <p:cNvSpPr txBox="1"/>
          <p:nvPr/>
        </p:nvSpPr>
        <p:spPr>
          <a:xfrm>
            <a:off x="9307678" y="41605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D68E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tekstbestanden in de repo, deelbaar via Git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548640" y="5212080"/>
            <a:ext cx="11091672" cy="777240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3" name="Text 19"/>
          <p:cNvSpPr txBox="1"/>
          <p:nvPr/>
        </p:nvSpPr>
        <p:spPr>
          <a:xfrm>
            <a:off x="822960" y="521208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D68E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Zie het zelf: </a:t>
            </a:r>
            <a:r>
              <a:rPr lang="en-US" sz="1500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na elke ronde doet een skill in één instructie wat jij net met de hand deed.</a:t>
            </a:r>
            <a:endParaRPr lang="en-US" sz="1500" dirty="0"/>
          </a:p>
        </p:txBody>
      </p:sp>
      <p:sp>
        <p:nvSpPr>
          <p:cNvPr id="24" name="Text 20"/>
          <p:cNvSpPr txBox="1"/>
          <p:nvPr/>
        </p:nvSpPr>
        <p:spPr>
          <a:xfrm>
            <a:off x="548640" y="619963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D68E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Vuistregel: elke prompt die je drie keer typt, is een skill in wording.</a:t>
            </a:r>
            <a:endParaRPr lang="en-US" sz="1100" dirty="0"/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D6E2FD"/>
        </a:solid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411480"/>
            <a:ext cx="9966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3D68E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Wat komt er in de devcontainer?</a:t>
            </a:r>
            <a:endParaRPr lang="en-US" sz="3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8695" y="365760"/>
            <a:ext cx="594360" cy="59436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1115568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Iedereen werkt via de AI-agent: jij stuurt, de agent programmeert.</a:t>
            </a:r>
            <a:endParaRPr lang="en-US" sz="18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16459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ÉÉN ROUTE</a:t>
            </a:r>
            <a:endParaRPr lang="en-US" sz="1100" dirty="0"/>
          </a:p>
        </p:txBody>
      </p:sp>
      <p:sp>
        <p:nvSpPr>
          <p:cNvPr id="7" name="Text 3"/>
          <p:cNvSpPr txBox="1"/>
          <p:nvPr/>
        </p:nvSpPr>
        <p:spPr>
          <a:xfrm>
            <a:off x="5486400" y="16459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BOUWSTENEN</a:t>
            </a:r>
            <a:endParaRPr lang="en-US" sz="1100" dirty="0"/>
          </a:p>
        </p:txBody>
      </p:sp>
      <p:sp>
        <p:nvSpPr>
          <p:cNvPr id="8" name="Shape 4"/>
          <p:cNvSpPr/>
          <p:nvPr/>
        </p:nvSpPr>
        <p:spPr>
          <a:xfrm>
            <a:off x="548640" y="1965960"/>
            <a:ext cx="4572000" cy="3703320"/>
          </a:xfrm>
          <a:prstGeom prst="roundRect">
            <a:avLst>
              <a:gd name="adj" fmla="val 15385"/>
            </a:avLst>
          </a:prstGeom>
          <a:solidFill>
            <a:srgbClr val="3D68EC"/>
          </a:solidFill>
          <a:ln w="12700">
            <a:solidFill>
              <a:srgbClr val="3D68E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9" name="Text 5"/>
          <p:cNvSpPr txBox="1"/>
          <p:nvPr/>
        </p:nvSpPr>
        <p:spPr>
          <a:xfrm>
            <a:off x="868680" y="22402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Prompten</a:t>
            </a:r>
            <a:endParaRPr lang="en-US" sz="2400" dirty="0"/>
          </a:p>
        </p:txBody>
      </p:sp>
      <p:sp>
        <p:nvSpPr>
          <p:cNvPr id="10" name="Shape 6"/>
          <p:cNvSpPr/>
          <p:nvPr/>
        </p:nvSpPr>
        <p:spPr>
          <a:xfrm>
            <a:off x="3566160" y="2313432"/>
            <a:ext cx="1280160" cy="310896"/>
          </a:xfrm>
          <a:prstGeom prst="roundRect">
            <a:avLst>
              <a:gd name="adj" fmla="val 50000"/>
            </a:avLst>
          </a:prstGeom>
          <a:solidFill>
            <a:srgbClr val="F4D74B"/>
          </a:solidFill>
          <a:ln w="12700">
            <a:solidFill>
              <a:srgbClr val="F4D74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1" name="Text 7"/>
          <p:cNvSpPr txBox="1"/>
          <p:nvPr/>
        </p:nvSpPr>
        <p:spPr>
          <a:xfrm>
            <a:off x="3566160" y="2313432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D68E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Voor iedereen</a:t>
            </a:r>
            <a:endParaRPr lang="en-US" sz="1100" dirty="0"/>
          </a:p>
        </p:txBody>
      </p:sp>
      <p:sp>
        <p:nvSpPr>
          <p:cNvPr id="12" name="Text 8"/>
          <p:cNvSpPr txBox="1"/>
          <p:nvPr/>
        </p:nvSpPr>
        <p:spPr>
          <a:xfrm>
            <a:off x="868680" y="2834640"/>
            <a:ext cx="39319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Leg de casus voor aan de AI-agent (Claude Code) in de devcontainer. Jij stuurt en controleert, de agent schrijft de code.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/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Geen programmeerervaring nodig. Wel kritisch kijken: klopt wat de agent doet?</a:t>
            </a:r>
            <a:endParaRPr lang="en-US" sz="1500" dirty="0"/>
          </a:p>
        </p:txBody>
      </p:sp>
      <p:sp>
        <p:nvSpPr>
          <p:cNvPr id="13" name="Shape 14"/>
          <p:cNvSpPr/>
          <p:nvPr/>
        </p:nvSpPr>
        <p:spPr>
          <a:xfrm>
            <a:off x="5486400" y="1965960"/>
            <a:ext cx="6153912" cy="566928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4" name="Text 15"/>
          <p:cNvSpPr txBox="1"/>
          <p:nvPr/>
        </p:nvSpPr>
        <p:spPr>
          <a:xfrm>
            <a:off x="5715000" y="202082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AI-agent: Claude Code</a:t>
            </a:r>
            <a:endParaRPr lang="en-US" sz="1400" dirty="0"/>
          </a:p>
        </p:txBody>
      </p:sp>
      <p:sp>
        <p:nvSpPr>
          <p:cNvPr id="15" name="Text 16"/>
          <p:cNvSpPr txBox="1"/>
          <p:nvPr/>
        </p:nvSpPr>
        <p:spPr>
          <a:xfrm>
            <a:off x="5715000" y="226771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5C66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de agent waarmee iedereen werkt</a:t>
            </a:r>
            <a:endParaRPr lang="en-US" sz="1100" dirty="0"/>
          </a:p>
        </p:txBody>
      </p:sp>
      <p:sp>
        <p:nvSpPr>
          <p:cNvPr id="16" name="Shape 17"/>
          <p:cNvSpPr/>
          <p:nvPr/>
        </p:nvSpPr>
        <p:spPr>
          <a:xfrm>
            <a:off x="10012680" y="2112264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00AF81"/>
          </a:solidFill>
          <a:ln w="12700">
            <a:solidFill>
              <a:srgbClr val="00AF81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7" name="Text 18"/>
          <p:cNvSpPr txBox="1"/>
          <p:nvPr/>
        </p:nvSpPr>
        <p:spPr>
          <a:xfrm>
            <a:off x="10012680" y="211226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Vast</a:t>
            </a:r>
            <a:endParaRPr lang="en-US" sz="1000" dirty="0"/>
          </a:p>
        </p:txBody>
      </p:sp>
      <p:sp>
        <p:nvSpPr>
          <p:cNvPr id="18" name="Shape 19"/>
          <p:cNvSpPr/>
          <p:nvPr/>
        </p:nvSpPr>
        <p:spPr>
          <a:xfrm>
            <a:off x="5486400" y="2606040"/>
            <a:ext cx="6153912" cy="566928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9" name="Text 20"/>
          <p:cNvSpPr txBox="1"/>
          <p:nvPr/>
        </p:nvSpPr>
        <p:spPr>
          <a:xfrm>
            <a:off x="5715000" y="266090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Python</a:t>
            </a:r>
            <a:endParaRPr lang="en-US" sz="1400" dirty="0"/>
          </a:p>
        </p:txBody>
      </p:sp>
      <p:sp>
        <p:nvSpPr>
          <p:cNvPr id="20" name="Text 21"/>
          <p:cNvSpPr txBox="1"/>
          <p:nvPr/>
        </p:nvSpPr>
        <p:spPr>
          <a:xfrm>
            <a:off x="5715000" y="290779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5C66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de agent schrijft de analyse, bijv. met DuckDB</a:t>
            </a:r>
            <a:endParaRPr lang="en-US" sz="1100" dirty="0"/>
          </a:p>
        </p:txBody>
      </p:sp>
      <p:sp>
        <p:nvSpPr>
          <p:cNvPr id="21" name="Shape 22"/>
          <p:cNvSpPr/>
          <p:nvPr/>
        </p:nvSpPr>
        <p:spPr>
          <a:xfrm>
            <a:off x="10012680" y="2752344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00AF81"/>
          </a:solidFill>
          <a:ln w="12700">
            <a:solidFill>
              <a:srgbClr val="00AF81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2" name="Text 23"/>
          <p:cNvSpPr txBox="1"/>
          <p:nvPr/>
        </p:nvSpPr>
        <p:spPr>
          <a:xfrm>
            <a:off x="10012680" y="275234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Vast</a:t>
            </a:r>
            <a:endParaRPr lang="en-US" sz="1000" dirty="0"/>
          </a:p>
        </p:txBody>
      </p:sp>
      <p:sp>
        <p:nvSpPr>
          <p:cNvPr id="23" name="Shape 24"/>
          <p:cNvSpPr/>
          <p:nvPr/>
        </p:nvSpPr>
        <p:spPr>
          <a:xfrm>
            <a:off x="5486400" y="3246120"/>
            <a:ext cx="6153912" cy="566928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4" name="Text 25"/>
          <p:cNvSpPr txBox="1"/>
          <p:nvPr/>
        </p:nvSpPr>
        <p:spPr>
          <a:xfrm>
            <a:off x="5715000" y="330098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Data en codebook</a:t>
            </a:r>
            <a:endParaRPr lang="en-US" sz="1400" dirty="0"/>
          </a:p>
        </p:txBody>
      </p:sp>
      <p:sp>
        <p:nvSpPr>
          <p:cNvPr id="25" name="Text 26"/>
          <p:cNvSpPr txBox="1"/>
          <p:nvPr/>
        </p:nvSpPr>
        <p:spPr>
          <a:xfrm>
            <a:off x="5715000" y="354787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5C66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synthetisch 1CHO-CSV, gelabelde waarden</a:t>
            </a:r>
            <a:endParaRPr lang="en-US" sz="1100" dirty="0"/>
          </a:p>
        </p:txBody>
      </p:sp>
      <p:sp>
        <p:nvSpPr>
          <p:cNvPr id="26" name="Shape 27"/>
          <p:cNvSpPr/>
          <p:nvPr/>
        </p:nvSpPr>
        <p:spPr>
          <a:xfrm>
            <a:off x="10012680" y="3392424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00AF81"/>
          </a:solidFill>
          <a:ln w="12700">
            <a:solidFill>
              <a:srgbClr val="00AF81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7" name="Text 28"/>
          <p:cNvSpPr txBox="1"/>
          <p:nvPr/>
        </p:nvSpPr>
        <p:spPr>
          <a:xfrm>
            <a:off x="10012680" y="339242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Vast</a:t>
            </a:r>
            <a:endParaRPr lang="en-US" sz="1000" dirty="0"/>
          </a:p>
        </p:txBody>
      </p:sp>
      <p:sp>
        <p:nvSpPr>
          <p:cNvPr id="28" name="Shape 29"/>
          <p:cNvSpPr/>
          <p:nvPr/>
        </p:nvSpPr>
        <p:spPr>
          <a:xfrm>
            <a:off x="5486400" y="3886200"/>
            <a:ext cx="6153912" cy="566928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9" name="Text 30"/>
          <p:cNvSpPr txBox="1"/>
          <p:nvPr/>
        </p:nvSpPr>
        <p:spPr>
          <a:xfrm>
            <a:off x="5715000" y="394106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Dashboard: Streamlit</a:t>
            </a:r>
            <a:endParaRPr lang="en-US" sz="1400" dirty="0"/>
          </a:p>
        </p:txBody>
      </p:sp>
      <p:sp>
        <p:nvSpPr>
          <p:cNvPr id="30" name="Text 31"/>
          <p:cNvSpPr txBox="1"/>
          <p:nvPr/>
        </p:nvSpPr>
        <p:spPr>
          <a:xfrm>
            <a:off x="5715000" y="418795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5C66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nog niet zeker, tool kan nog wijzigen</a:t>
            </a:r>
            <a:endParaRPr lang="en-US" sz="1100" dirty="0"/>
          </a:p>
        </p:txBody>
      </p:sp>
      <p:sp>
        <p:nvSpPr>
          <p:cNvPr id="31" name="Shape 32"/>
          <p:cNvSpPr/>
          <p:nvPr/>
        </p:nvSpPr>
        <p:spPr>
          <a:xfrm>
            <a:off x="10012680" y="4032504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DD784B"/>
          </a:solidFill>
          <a:ln w="12700">
            <a:solidFill>
              <a:srgbClr val="DD784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2" name="Text 33"/>
          <p:cNvSpPr txBox="1"/>
          <p:nvPr/>
        </p:nvSpPr>
        <p:spPr>
          <a:xfrm>
            <a:off x="10012680" y="40325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Open</a:t>
            </a:r>
            <a:endParaRPr lang="en-US" sz="1000" dirty="0"/>
          </a:p>
        </p:txBody>
      </p:sp>
      <p:sp>
        <p:nvSpPr>
          <p:cNvPr id="33" name="Shape 39"/>
          <p:cNvSpPr/>
          <p:nvPr/>
        </p:nvSpPr>
        <p:spPr>
          <a:xfrm>
            <a:off x="5486400" y="4526280"/>
            <a:ext cx="6153912" cy="566928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4" name="Text 40"/>
          <p:cNvSpPr txBox="1"/>
          <p:nvPr/>
        </p:nvSpPr>
        <p:spPr>
          <a:xfrm>
            <a:off x="5715000" y="458114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Skills</a:t>
            </a:r>
            <a:endParaRPr lang="en-US" sz="1400" dirty="0"/>
          </a:p>
        </p:txBody>
      </p:sp>
      <p:sp>
        <p:nvSpPr>
          <p:cNvPr id="35" name="Text 41"/>
          <p:cNvSpPr txBox="1"/>
          <p:nvPr/>
        </p:nvSpPr>
        <p:spPr>
          <a:xfrm>
            <a:off x="5715000" y="482803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5C66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de leider laat ze live zien bij de spiegelmomenten</a:t>
            </a:r>
            <a:endParaRPr lang="en-US" sz="1100" dirty="0"/>
          </a:p>
        </p:txBody>
      </p:sp>
      <p:sp>
        <p:nvSpPr>
          <p:cNvPr id="36" name="Shape 42"/>
          <p:cNvSpPr/>
          <p:nvPr/>
        </p:nvSpPr>
        <p:spPr>
          <a:xfrm>
            <a:off x="10012680" y="4672584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00AF81"/>
          </a:solidFill>
          <a:ln w="12700">
            <a:solidFill>
              <a:srgbClr val="00AF81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7" name="Text 43"/>
          <p:cNvSpPr txBox="1"/>
          <p:nvPr/>
        </p:nvSpPr>
        <p:spPr>
          <a:xfrm>
            <a:off x="10012680" y="467258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Vast</a:t>
            </a:r>
            <a:endParaRPr lang="en-US" sz="1000" dirty="0"/>
          </a:p>
        </p:txBody>
      </p:sp>
      <p:sp>
        <p:nvSpPr>
          <p:cNvPr id="38" name="Text 44"/>
          <p:cNvSpPr txBox="1"/>
          <p:nvPr/>
        </p:nvSpPr>
        <p:spPr>
          <a:xfrm>
            <a:off x="548640" y="60350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Het concept staat, de invulling is deels open: de dashboard-tool kan nog wijzigen.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CF5D4"/>
        </a:solid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411480"/>
            <a:ext cx="9966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3D68E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Eén dashboard, twee stappen</a:t>
            </a:r>
            <a:endParaRPr lang="en-US" sz="3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8695" y="365760"/>
            <a:ext cx="594360" cy="59436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548640" y="1371600"/>
            <a:ext cx="5344668" cy="4206240"/>
          </a:xfrm>
          <a:prstGeom prst="roundRect">
            <a:avLst>
              <a:gd name="adj" fmla="val 8000"/>
            </a:avLst>
          </a:prstGeom>
          <a:solidFill>
            <a:srgbClr val="3D68EC"/>
          </a:solidFill>
          <a:ln w="12700">
            <a:solidFill>
              <a:srgbClr val="3D68E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6" name="Shape 2"/>
          <p:cNvSpPr/>
          <p:nvPr/>
        </p:nvSpPr>
        <p:spPr>
          <a:xfrm>
            <a:off x="822960" y="1645920"/>
            <a:ext cx="502920" cy="502920"/>
          </a:xfrm>
          <a:prstGeom prst="ellipse">
            <a:avLst/>
          </a:prstGeom>
          <a:solidFill>
            <a:srgbClr val="F4D74B"/>
          </a:solidFill>
          <a:ln w="12700">
            <a:solidFill>
              <a:srgbClr val="F4D74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7" name="Text 3"/>
          <p:cNvSpPr txBox="1"/>
          <p:nvPr/>
        </p:nvSpPr>
        <p:spPr>
          <a:xfrm>
            <a:off x="82296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D68E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Shape 4"/>
          <p:cNvSpPr/>
          <p:nvPr/>
        </p:nvSpPr>
        <p:spPr>
          <a:xfrm>
            <a:off x="1463040" y="1719072"/>
            <a:ext cx="2194560" cy="365760"/>
          </a:xfrm>
          <a:prstGeom prst="roundRect">
            <a:avLst>
              <a:gd name="adj" fmla="val 50000"/>
            </a:avLst>
          </a:prstGeom>
          <a:solidFill>
            <a:srgbClr val="F4D74B"/>
          </a:solidFill>
          <a:ln w="12700">
            <a:solidFill>
              <a:srgbClr val="F4D74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9" name="Text 5"/>
          <p:cNvSpPr txBox="1"/>
          <p:nvPr/>
        </p:nvSpPr>
        <p:spPr>
          <a:xfrm>
            <a:off x="1463040" y="171907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D68E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Data → Informatie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822960" y="2331720"/>
            <a:ext cx="47960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Ronde 1: data exploratie</a:t>
            </a:r>
            <a:endParaRPr lang="en-US" sz="2200" dirty="0"/>
          </a:p>
        </p:txBody>
      </p:sp>
      <p:sp>
        <p:nvSpPr>
          <p:cNvPr id="11" name="Text 7"/>
          <p:cNvSpPr txBox="1"/>
          <p:nvPr/>
        </p:nvSpPr>
        <p:spPr>
          <a:xfrm>
            <a:off x="822960" y="3200400"/>
            <a:ext cx="47960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WAT JE DOET</a:t>
            </a:r>
            <a:endParaRPr lang="en-US" sz="1100" dirty="0"/>
          </a:p>
        </p:txBody>
      </p:sp>
      <p:sp>
        <p:nvSpPr>
          <p:cNvPr id="12" name="Text 8"/>
          <p:cNvSpPr txBox="1"/>
          <p:nvPr/>
        </p:nvSpPr>
        <p:spPr>
          <a:xfrm>
            <a:off x="822960" y="3474720"/>
            <a:ext cx="47960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Data en codebook verkennen met de agent, de uitkomsten controleren en kleine groepen en definities vastleggen.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822960" y="4389120"/>
            <a:ext cx="47960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WAT ONTSTAAT</a:t>
            </a:r>
            <a:endParaRPr lang="en-US" sz="1100" dirty="0"/>
          </a:p>
        </p:txBody>
      </p:sp>
      <p:sp>
        <p:nvSpPr>
          <p:cNvPr id="14" name="Text 10"/>
          <p:cNvSpPr txBox="1"/>
          <p:nvPr/>
        </p:nvSpPr>
        <p:spPr>
          <a:xfrm>
            <a:off x="822960" y="4663440"/>
            <a:ext cx="47960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Begrip van de data, een schets van twee of drie views en een eerste privacy-check.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5984748" y="3246120"/>
            <a:ext cx="219456" cy="457200"/>
          </a:xfrm>
          <a:prstGeom prst="chevron">
            <a:avLst/>
          </a:prstGeom>
          <a:solidFill>
            <a:srgbClr val="3D68EC"/>
          </a:solidFill>
          <a:ln w="12700">
            <a:solidFill>
              <a:srgbClr val="3D68E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6" name="Shape 12"/>
          <p:cNvSpPr/>
          <p:nvPr/>
        </p:nvSpPr>
        <p:spPr>
          <a:xfrm>
            <a:off x="6295644" y="1371600"/>
            <a:ext cx="5344668" cy="4206240"/>
          </a:xfrm>
          <a:prstGeom prst="roundRect">
            <a:avLst>
              <a:gd name="adj" fmla="val 8000"/>
            </a:avLst>
          </a:prstGeom>
          <a:solidFill>
            <a:srgbClr val="DD784B"/>
          </a:solidFill>
          <a:ln w="12700">
            <a:solidFill>
              <a:srgbClr val="DD784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7" name="Shape 13"/>
          <p:cNvSpPr/>
          <p:nvPr/>
        </p:nvSpPr>
        <p:spPr>
          <a:xfrm>
            <a:off x="6569964" y="1645920"/>
            <a:ext cx="502920" cy="502920"/>
          </a:xfrm>
          <a:prstGeom prst="ellipse">
            <a:avLst/>
          </a:prstGeom>
          <a:solidFill>
            <a:srgbClr val="F4D9DC"/>
          </a:solidFill>
          <a:ln w="12700">
            <a:solidFill>
              <a:srgbClr val="F4D9D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8" name="Text 14"/>
          <p:cNvSpPr txBox="1"/>
          <p:nvPr/>
        </p:nvSpPr>
        <p:spPr>
          <a:xfrm>
            <a:off x="6569964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D784B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2</a:t>
            </a:r>
            <a:endParaRPr lang="en-US" sz="1800" dirty="0"/>
          </a:p>
        </p:txBody>
      </p:sp>
      <p:sp>
        <p:nvSpPr>
          <p:cNvPr id="19" name="Shape 15"/>
          <p:cNvSpPr/>
          <p:nvPr/>
        </p:nvSpPr>
        <p:spPr>
          <a:xfrm>
            <a:off x="7210044" y="1719072"/>
            <a:ext cx="3291840" cy="365760"/>
          </a:xfrm>
          <a:prstGeom prst="roundRect">
            <a:avLst>
              <a:gd name="adj" fmla="val 50000"/>
            </a:avLst>
          </a:prstGeom>
          <a:solidFill>
            <a:srgbClr val="F4D9DC"/>
          </a:solidFill>
          <a:ln w="12700">
            <a:solidFill>
              <a:srgbClr val="F4D9D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0" name="Text 16"/>
          <p:cNvSpPr txBox="1"/>
          <p:nvPr/>
        </p:nvSpPr>
        <p:spPr>
          <a:xfrm>
            <a:off x="7210044" y="171907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D784B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Informatie → Kennis → Wijsheid</a:t>
            </a:r>
            <a:endParaRPr lang="en-US" sz="1200" dirty="0"/>
          </a:p>
        </p:txBody>
      </p:sp>
      <p:sp>
        <p:nvSpPr>
          <p:cNvPr id="21" name="Text 17"/>
          <p:cNvSpPr txBox="1"/>
          <p:nvPr/>
        </p:nvSpPr>
        <p:spPr>
          <a:xfrm>
            <a:off x="6569964" y="2331720"/>
            <a:ext cx="47960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Ronde 2: dashboard bouwen</a:t>
            </a:r>
            <a:endParaRPr lang="en-US" sz="2200" dirty="0"/>
          </a:p>
        </p:txBody>
      </p:sp>
      <p:sp>
        <p:nvSpPr>
          <p:cNvPr id="22" name="Text 18"/>
          <p:cNvSpPr txBox="1"/>
          <p:nvPr/>
        </p:nvSpPr>
        <p:spPr>
          <a:xfrm>
            <a:off x="6569964" y="3200400"/>
            <a:ext cx="47960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WAT JE DOET</a:t>
            </a:r>
            <a:endParaRPr lang="en-US" sz="1100" dirty="0"/>
          </a:p>
        </p:txBody>
      </p:sp>
      <p:sp>
        <p:nvSpPr>
          <p:cNvPr id="23" name="Text 19"/>
          <p:cNvSpPr txBox="1"/>
          <p:nvPr/>
        </p:nvSpPr>
        <p:spPr>
          <a:xfrm>
            <a:off x="6569964" y="3474720"/>
            <a:ext cx="47960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Grafiek, vergelijking en filter bouwen tot een dashboard dat de casusvraag beantwoordt, met eerlijke framing, bron en toegankelijke grafieken.</a:t>
            </a:r>
            <a:endParaRPr lang="en-US" sz="1400" dirty="0"/>
          </a:p>
        </p:txBody>
      </p:sp>
      <p:sp>
        <p:nvSpPr>
          <p:cNvPr id="24" name="Text 20"/>
          <p:cNvSpPr txBox="1"/>
          <p:nvPr/>
        </p:nvSpPr>
        <p:spPr>
          <a:xfrm>
            <a:off x="6569964" y="4389120"/>
            <a:ext cx="47960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WAT ONTSTAAT</a:t>
            </a:r>
            <a:endParaRPr lang="en-US" sz="1100" dirty="0"/>
          </a:p>
        </p:txBody>
      </p:sp>
      <p:sp>
        <p:nvSpPr>
          <p:cNvPr id="25" name="Text 21"/>
          <p:cNvSpPr txBox="1"/>
          <p:nvPr/>
        </p:nvSpPr>
        <p:spPr>
          <a:xfrm>
            <a:off x="6569964" y="4663440"/>
            <a:ext cx="47960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Een werkend én verantwoord dashboard, bij voorkeur met de conclusie als titel.</a:t>
            </a:r>
            <a:endParaRPr lang="en-US" sz="1400" dirty="0"/>
          </a:p>
        </p:txBody>
      </p:sp>
      <p:sp>
        <p:nvSpPr>
          <p:cNvPr id="26" name="Text 33"/>
          <p:cNvSpPr txBox="1"/>
          <p:nvPr/>
        </p:nvSpPr>
        <p:spPr>
          <a:xfrm>
            <a:off x="548640" y="57607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Het dashboard is het middel, de casusvraag het doel. De analist voegt de wijsheid toe: wat mag je concluderen en hoe presenteer je het?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3D68EC"/>
        </a:solid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411480"/>
            <a:ext cx="9966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Een skill bij elk spiegelmoment</a:t>
            </a:r>
            <a:endParaRPr lang="en-US" sz="3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48695" y="365760"/>
            <a:ext cx="594360" cy="59436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548640" y="1371600"/>
            <a:ext cx="11091672" cy="1600200"/>
          </a:xfrm>
          <a:prstGeom prst="roundRect">
            <a:avLst>
              <a:gd name="adj" fmla="val 22222"/>
            </a:avLst>
          </a:prstGeom>
          <a:solidFill>
            <a:srgbClr val="F4D9DC"/>
          </a:solidFill>
          <a:ln w="12700">
            <a:solidFill>
              <a:srgbClr val="F4D9D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6" name="Shape 2"/>
          <p:cNvSpPr/>
          <p:nvPr/>
        </p:nvSpPr>
        <p:spPr>
          <a:xfrm>
            <a:off x="685800" y="1691640"/>
            <a:ext cx="2468880" cy="960120"/>
          </a:xfrm>
          <a:prstGeom prst="roundRect">
            <a:avLst>
              <a:gd name="adj" fmla="val 20952"/>
            </a:avLst>
          </a:prstGeom>
          <a:solidFill>
            <a:srgbClr val="F4D74B"/>
          </a:solidFill>
          <a:ln w="12700">
            <a:solidFill>
              <a:srgbClr val="F4D74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7" name="Shape 3"/>
          <p:cNvSpPr/>
          <p:nvPr/>
        </p:nvSpPr>
        <p:spPr>
          <a:xfrm>
            <a:off x="1920240" y="2971800"/>
            <a:ext cx="0" cy="457200"/>
          </a:xfrm>
          <a:prstGeom prst="line">
            <a:avLst/>
          </a:prstGeom>
          <a:noFill/>
          <a:ln w="25400">
            <a:solidFill>
              <a:srgbClr val="F4D9DC"/>
            </a:solidFill>
            <a:prstDash val="dash"/>
          </a:ln>
        </p:spPr>
        <p:txBody>
          <a:bodyPr/>
          <a:lstStyle/>
          <a:p>
            <a:endParaRPr lang="en-NL"/>
          </a:p>
        </p:txBody>
      </p:sp>
      <p:sp>
        <p:nvSpPr>
          <p:cNvPr id="8" name="Shape 4"/>
          <p:cNvSpPr/>
          <p:nvPr/>
        </p:nvSpPr>
        <p:spPr>
          <a:xfrm flipV="1">
            <a:off x="1783080" y="3108960"/>
            <a:ext cx="274320" cy="182880"/>
          </a:xfrm>
          <a:prstGeom prst="triangle">
            <a:avLst/>
          </a:prstGeom>
          <a:solidFill>
            <a:srgbClr val="F4D74B"/>
          </a:solidFill>
          <a:ln w="12700">
            <a:solidFill>
              <a:srgbClr val="F4D74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9" name="Text 5"/>
          <p:cNvSpPr txBox="1"/>
          <p:nvPr/>
        </p:nvSpPr>
        <p:spPr>
          <a:xfrm>
            <a:off x="685800" y="17373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3D68E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Skill 1</a:t>
            </a:r>
            <a:endParaRPr lang="en-US" sz="2600" dirty="0"/>
          </a:p>
        </p:txBody>
      </p:sp>
      <p:sp>
        <p:nvSpPr>
          <p:cNvPr id="10" name="Text 6"/>
          <p:cNvSpPr txBox="1"/>
          <p:nvPr/>
        </p:nvSpPr>
        <p:spPr>
          <a:xfrm>
            <a:off x="685800" y="221284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D68E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doet ronde 1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3337560" y="1371600"/>
            <a:ext cx="48463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Profileert de CSV en het codebook (kolommen, ontbrekende waarden, verdelingen), signaleert kleine groepen, legt de definities vast en schetst twee of drie views.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8503920" y="181051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3D68E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LEVERT</a:t>
            </a:r>
            <a:endParaRPr lang="en-US" sz="1100" dirty="0"/>
          </a:p>
        </p:txBody>
      </p:sp>
      <p:sp>
        <p:nvSpPr>
          <p:cNvPr id="13" name="Text 9"/>
          <p:cNvSpPr txBox="1"/>
          <p:nvPr/>
        </p:nvSpPr>
        <p:spPr>
          <a:xfrm>
            <a:off x="8503920" y="2066544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3D68E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Data-profiel, privacy-check en schets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548640" y="3429000"/>
            <a:ext cx="11091672" cy="1600200"/>
          </a:xfrm>
          <a:prstGeom prst="roundRect">
            <a:avLst>
              <a:gd name="adj" fmla="val 22222"/>
            </a:avLst>
          </a:prstGeom>
          <a:solidFill>
            <a:srgbClr val="F4D9DC"/>
          </a:solidFill>
          <a:ln w="12700">
            <a:solidFill>
              <a:srgbClr val="F4D9D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5" name="Shape 11"/>
          <p:cNvSpPr/>
          <p:nvPr/>
        </p:nvSpPr>
        <p:spPr>
          <a:xfrm>
            <a:off x="685800" y="3749040"/>
            <a:ext cx="2468880" cy="960120"/>
          </a:xfrm>
          <a:prstGeom prst="roundRect">
            <a:avLst>
              <a:gd name="adj" fmla="val 20952"/>
            </a:avLst>
          </a:prstGeom>
          <a:solidFill>
            <a:srgbClr val="DD784B"/>
          </a:solidFill>
          <a:ln w="12700">
            <a:solidFill>
              <a:srgbClr val="DD784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6" name="Text 14"/>
          <p:cNvSpPr txBox="1"/>
          <p:nvPr/>
        </p:nvSpPr>
        <p:spPr>
          <a:xfrm>
            <a:off x="685800" y="37947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Skill 2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685800" y="427024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doet ronde 2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3337560" y="3429000"/>
            <a:ext cx="48463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Bouwt uit de schets een dashboard (waarschijnlijk in Streamlit) met grafiek, vergelijking en filter, met de drempel voor kleine aantallen, eerlijke framing, bron en toegankelijkheid erin verweven.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503920" y="386791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3D68E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LEVERT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8503920" y="4123944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3D68E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Werkend én verantwoord dashboard</a:t>
            </a:r>
            <a:endParaRPr lang="en-US" sz="1600" dirty="0"/>
          </a:p>
        </p:txBody>
      </p:sp>
      <p:sp>
        <p:nvSpPr>
          <p:cNvPr id="21" name="Text 26"/>
          <p:cNvSpPr txBox="1"/>
          <p:nvPr/>
        </p:nvSpPr>
        <p:spPr>
          <a:xfrm>
            <a:off x="548640" y="594360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/workshop-verkennen en /workshop-dashboard. Deelnemers prompten zelf; de leider draait de skills live (gemeten: ongeveer 1 en 2 tot 2,5 minuut). Vaste tussenproducten, kosten €0.</a:t>
            </a:r>
            <a:endParaRPr lang="en-US" sz="1300" dirty="0"/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D9DC"/>
        </a:solid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411480"/>
            <a:ext cx="9966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3D68E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Responsible zit in beide rondes</a:t>
            </a:r>
            <a:endParaRPr lang="en-US" sz="3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8695" y="365760"/>
            <a:ext cx="594360" cy="59436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548640" y="1371600"/>
            <a:ext cx="4206240" cy="4480560"/>
          </a:xfrm>
          <a:prstGeom prst="roundRect">
            <a:avLst>
              <a:gd name="adj" fmla="val 6522"/>
            </a:avLst>
          </a:prstGeom>
          <a:solidFill>
            <a:srgbClr val="3D68EC"/>
          </a:solidFill>
          <a:ln w="12700">
            <a:solidFill>
              <a:srgbClr val="3D68E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6" name="Text 2"/>
          <p:cNvSpPr txBox="1"/>
          <p:nvPr/>
        </p:nvSpPr>
        <p:spPr>
          <a:xfrm>
            <a:off x="914400" y="1737360"/>
            <a:ext cx="3474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i="1" dirty="0">
                <a:solidFill>
                  <a:srgbClr val="F4D7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analist voegt de wijsheid toe</a:t>
            </a:r>
            <a:endParaRPr lang="en-US" sz="2800" dirty="0"/>
          </a:p>
        </p:txBody>
      </p:sp>
      <p:sp>
        <p:nvSpPr>
          <p:cNvPr id="7" name="Text 3"/>
          <p:cNvSpPr txBox="1"/>
          <p:nvPr/>
        </p:nvSpPr>
        <p:spPr>
          <a:xfrm>
            <a:off x="914400" y="320040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De agent bouwt snel. Jij bepaalt wat je mag concluderen en hoe je het presenteert.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914400" y="443484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Beide skills hebben de checks verweven. Na elke ronde zie je wat de tweetallen zelf misten.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5029200" y="1371600"/>
            <a:ext cx="3154680" cy="2103120"/>
          </a:xfrm>
          <a:prstGeom prst="roundRect">
            <a:avLst>
              <a:gd name="adj" fmla="val 12174"/>
            </a:avLst>
          </a:prstGeom>
          <a:solidFill>
            <a:srgbClr val="00AF81"/>
          </a:solidFill>
          <a:ln w="12700">
            <a:solidFill>
              <a:srgbClr val="00AF81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0" name="Shape 6"/>
          <p:cNvSpPr/>
          <p:nvPr/>
        </p:nvSpPr>
        <p:spPr>
          <a:xfrm>
            <a:off x="5303520" y="1627632"/>
            <a:ext cx="1325880" cy="274320"/>
          </a:xfrm>
          <a:prstGeom prst="roundRect">
            <a:avLst>
              <a:gd name="adj" fmla="val 50000"/>
            </a:avLst>
          </a:prstGeom>
          <a:solidFill>
            <a:srgbClr val="F4D9DC"/>
          </a:solidFill>
          <a:ln w="12700">
            <a:solidFill>
              <a:srgbClr val="F4D9D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1" name="Text 7"/>
          <p:cNvSpPr txBox="1"/>
          <p:nvPr/>
        </p:nvSpPr>
        <p:spPr>
          <a:xfrm>
            <a:off x="5303520" y="162763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AF81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RONDE 1 + 2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7360920" y="1554480"/>
            <a:ext cx="594360" cy="594360"/>
          </a:xfrm>
          <a:prstGeom prst="ellipse">
            <a:avLst/>
          </a:prstGeom>
          <a:solidFill>
            <a:srgbClr val="F4D9DC"/>
          </a:solidFill>
          <a:ln w="12700">
            <a:solidFill>
              <a:srgbClr val="F4D9D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7224" y="1700784"/>
            <a:ext cx="301752" cy="30175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303520" y="20574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Privacy-check</a:t>
            </a:r>
            <a:endParaRPr lang="en-US" sz="2000" dirty="0"/>
          </a:p>
        </p:txBody>
      </p:sp>
      <p:sp>
        <p:nvSpPr>
          <p:cNvPr id="15" name="Text 10"/>
          <p:cNvSpPr txBox="1"/>
          <p:nvPr/>
        </p:nvSpPr>
        <p:spPr>
          <a:xfrm>
            <a:off x="5303520" y="246888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Groepen onder 30 studenten en percentages onder 5 niet tonen, en herleidbare combinaties van uitsplitsingen.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8412480" y="1371600"/>
            <a:ext cx="3154680" cy="2103120"/>
          </a:xfrm>
          <a:prstGeom prst="roundRect">
            <a:avLst>
              <a:gd name="adj" fmla="val 12174"/>
            </a:avLst>
          </a:prstGeom>
          <a:solidFill>
            <a:srgbClr val="DD784B"/>
          </a:solidFill>
          <a:ln w="12700">
            <a:solidFill>
              <a:srgbClr val="DD784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7" name="Shape 12"/>
          <p:cNvSpPr/>
          <p:nvPr/>
        </p:nvSpPr>
        <p:spPr>
          <a:xfrm>
            <a:off x="8686800" y="1627632"/>
            <a:ext cx="1325880" cy="274320"/>
          </a:xfrm>
          <a:prstGeom prst="roundRect">
            <a:avLst>
              <a:gd name="adj" fmla="val 50000"/>
            </a:avLst>
          </a:prstGeom>
          <a:solidFill>
            <a:srgbClr val="F4D9DC"/>
          </a:solidFill>
          <a:ln w="12700">
            <a:solidFill>
              <a:srgbClr val="F4D9D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8" name="Text 13"/>
          <p:cNvSpPr txBox="1"/>
          <p:nvPr/>
        </p:nvSpPr>
        <p:spPr>
          <a:xfrm>
            <a:off x="8686800" y="162763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D784B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RONDE 2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10744200" y="1554480"/>
            <a:ext cx="594360" cy="594360"/>
          </a:xfrm>
          <a:prstGeom prst="ellipse">
            <a:avLst/>
          </a:prstGeom>
          <a:solidFill>
            <a:srgbClr val="F4D9DC"/>
          </a:solidFill>
          <a:ln w="12700">
            <a:solidFill>
              <a:srgbClr val="F4D9D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90504" y="1700784"/>
            <a:ext cx="301752" cy="301752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8686800" y="20574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Toegankelijkheid</a:t>
            </a:r>
            <a:endParaRPr lang="en-US" sz="2000" dirty="0"/>
          </a:p>
        </p:txBody>
      </p:sp>
      <p:sp>
        <p:nvSpPr>
          <p:cNvPr id="22" name="Text 16"/>
          <p:cNvSpPr txBox="1"/>
          <p:nvPr/>
        </p:nvSpPr>
        <p:spPr>
          <a:xfrm>
            <a:off x="8686800" y="246888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Kleurcontrast, alt-tekst en een dashboard dat een bestuurder echt kan lezen.</a:t>
            </a:r>
            <a:endParaRPr lang="en-US" sz="1300" dirty="0"/>
          </a:p>
        </p:txBody>
      </p:sp>
      <p:sp>
        <p:nvSpPr>
          <p:cNvPr id="23" name="Shape 17"/>
          <p:cNvSpPr/>
          <p:nvPr/>
        </p:nvSpPr>
        <p:spPr>
          <a:xfrm>
            <a:off x="5029200" y="3749040"/>
            <a:ext cx="3154680" cy="2103120"/>
          </a:xfrm>
          <a:prstGeom prst="roundRect">
            <a:avLst>
              <a:gd name="adj" fmla="val 12174"/>
            </a:avLst>
          </a:prstGeom>
          <a:solidFill>
            <a:srgbClr val="F4D74B"/>
          </a:solidFill>
          <a:ln w="12700">
            <a:solidFill>
              <a:srgbClr val="F4D74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4" name="Shape 18"/>
          <p:cNvSpPr/>
          <p:nvPr/>
        </p:nvSpPr>
        <p:spPr>
          <a:xfrm>
            <a:off x="5303520" y="4005072"/>
            <a:ext cx="1325880" cy="274320"/>
          </a:xfrm>
          <a:prstGeom prst="roundRect">
            <a:avLst>
              <a:gd name="adj" fmla="val 50000"/>
            </a:avLst>
          </a:prstGeom>
          <a:solidFill>
            <a:srgbClr val="3D68EC"/>
          </a:solidFill>
          <a:ln w="12700">
            <a:solidFill>
              <a:srgbClr val="3D68E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5" name="Text 19"/>
          <p:cNvSpPr txBox="1"/>
          <p:nvPr/>
        </p:nvSpPr>
        <p:spPr>
          <a:xfrm>
            <a:off x="5303520" y="400507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4D74B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RONDE 2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7360920" y="3931920"/>
            <a:ext cx="594360" cy="594360"/>
          </a:xfrm>
          <a:prstGeom prst="ellipse">
            <a:avLst/>
          </a:prstGeom>
          <a:solidFill>
            <a:srgbClr val="3D68EC"/>
          </a:solidFill>
          <a:ln w="12700">
            <a:solidFill>
              <a:srgbClr val="3D68E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07224" y="4078224"/>
            <a:ext cx="301752" cy="301752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5303520" y="44348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3D68E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Eerlijke framing</a:t>
            </a:r>
            <a:endParaRPr lang="en-US" sz="2000" dirty="0"/>
          </a:p>
        </p:txBody>
      </p:sp>
      <p:sp>
        <p:nvSpPr>
          <p:cNvPr id="29" name="Text 22"/>
          <p:cNvSpPr txBox="1"/>
          <p:nvPr/>
        </p:nvSpPr>
        <p:spPr>
          <a:xfrm>
            <a:off x="5303520" y="484632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D68E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Cijfers per groep mogen niet stigmatiseren, en een verband is nog geen oorzaak.</a:t>
            </a:r>
            <a:endParaRPr lang="en-US" sz="1300" dirty="0"/>
          </a:p>
        </p:txBody>
      </p:sp>
      <p:sp>
        <p:nvSpPr>
          <p:cNvPr id="30" name="Shape 23"/>
          <p:cNvSpPr/>
          <p:nvPr/>
        </p:nvSpPr>
        <p:spPr>
          <a:xfrm>
            <a:off x="8412480" y="3749040"/>
            <a:ext cx="3154680" cy="2103120"/>
          </a:xfrm>
          <a:prstGeom prst="roundRect">
            <a:avLst>
              <a:gd name="adj" fmla="val 12174"/>
            </a:avLst>
          </a:prstGeom>
          <a:solidFill>
            <a:srgbClr val="D6E2FD"/>
          </a:solidFill>
          <a:ln w="12700">
            <a:solidFill>
              <a:srgbClr val="D6E2FD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1" name="Shape 24"/>
          <p:cNvSpPr/>
          <p:nvPr/>
        </p:nvSpPr>
        <p:spPr>
          <a:xfrm>
            <a:off x="8686800" y="4005072"/>
            <a:ext cx="1325880" cy="274320"/>
          </a:xfrm>
          <a:prstGeom prst="roundRect">
            <a:avLst>
              <a:gd name="adj" fmla="val 50000"/>
            </a:avLst>
          </a:prstGeom>
          <a:solidFill>
            <a:srgbClr val="3D68EC"/>
          </a:solidFill>
          <a:ln w="12700">
            <a:solidFill>
              <a:srgbClr val="3D68E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2" name="Text 25"/>
          <p:cNvSpPr txBox="1"/>
          <p:nvPr/>
        </p:nvSpPr>
        <p:spPr>
          <a:xfrm>
            <a:off x="8686800" y="400507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RONDE 1 + 2</a:t>
            </a:r>
            <a:endParaRPr lang="en-US" sz="1000" dirty="0"/>
          </a:p>
        </p:txBody>
      </p:sp>
      <p:sp>
        <p:nvSpPr>
          <p:cNvPr id="33" name="Shape 26"/>
          <p:cNvSpPr/>
          <p:nvPr/>
        </p:nvSpPr>
        <p:spPr>
          <a:xfrm>
            <a:off x="10744200" y="3931920"/>
            <a:ext cx="594360" cy="594360"/>
          </a:xfrm>
          <a:prstGeom prst="ellipse">
            <a:avLst/>
          </a:prstGeom>
          <a:solidFill>
            <a:srgbClr val="3D68EC"/>
          </a:solidFill>
          <a:ln w="12700">
            <a:solidFill>
              <a:srgbClr val="3D68E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90504" y="4078224"/>
            <a:ext cx="301752" cy="301752"/>
          </a:xfrm>
          <a:prstGeom prst="rect">
            <a:avLst/>
          </a:prstGeom>
        </p:spPr>
      </p:pic>
      <p:sp>
        <p:nvSpPr>
          <p:cNvPr id="35" name="Text 27"/>
          <p:cNvSpPr txBox="1"/>
          <p:nvPr/>
        </p:nvSpPr>
        <p:spPr>
          <a:xfrm>
            <a:off x="8686800" y="44348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Bron en uitleg</a:t>
            </a:r>
            <a:endParaRPr lang="en-US" sz="2000" dirty="0"/>
          </a:p>
        </p:txBody>
      </p:sp>
      <p:sp>
        <p:nvSpPr>
          <p:cNvPr id="36" name="Text 28"/>
          <p:cNvSpPr txBox="1"/>
          <p:nvPr/>
        </p:nvSpPr>
        <p:spPr>
          <a:xfrm>
            <a:off x="8686800" y="484632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Definities uit het codebook, bronvermelding en uitleg bij elke grafiek.</a:t>
            </a:r>
            <a:endParaRPr lang="en-US" sz="1300" dirty="0"/>
          </a:p>
        </p:txBody>
      </p:sp>
      <p:sp>
        <p:nvSpPr>
          <p:cNvPr id="37" name="Text 29"/>
          <p:cNvSpPr txBox="1"/>
          <p:nvPr/>
        </p:nvSpPr>
        <p:spPr>
          <a:xfrm>
            <a:off x="5029200" y="6035040"/>
            <a:ext cx="6537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D68E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Geen aparte stap: elke skill past de checks toe die bij zijn ronde horen.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D9DC"/>
        </a:solid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411480"/>
            <a:ext cx="9966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3D68E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Randvoorwaarden en risico's</a:t>
            </a:r>
            <a:endParaRPr lang="en-US" sz="3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8695" y="365760"/>
            <a:ext cx="594360" cy="59436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548640" y="1371600"/>
            <a:ext cx="3566160" cy="4846320"/>
          </a:xfrm>
          <a:prstGeom prst="roundRect">
            <a:avLst>
              <a:gd name="adj" fmla="val 7692"/>
            </a:avLst>
          </a:prstGeom>
          <a:solidFill>
            <a:srgbClr val="00AF81"/>
          </a:solidFill>
          <a:ln w="12700">
            <a:solidFill>
              <a:srgbClr val="00AF81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6" name="Text 2"/>
          <p:cNvSpPr txBox="1"/>
          <p:nvPr/>
        </p:nvSpPr>
        <p:spPr>
          <a:xfrm>
            <a:off x="868680" y="1691640"/>
            <a:ext cx="292608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Kanttekening devcontainer: deelnemers werken alleen via de AI-agent, in de Codespaces-omgeving dair-agentic-coding (Claude via Foundry). Python en uv staan erin; DuckDB, Streamlit en Plotly nog niet (voorstel: issue #10). Welk model deelnemers krijgen is nog open (issue #11).</a:t>
            </a:r>
            <a:endParaRPr lang="en-US" sz="14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0" y="4160520"/>
            <a:ext cx="1920240" cy="192024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4892040" y="137160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3D68E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RISICO</a:t>
            </a:r>
            <a:endParaRPr lang="en-US" sz="1100" dirty="0"/>
          </a:p>
        </p:txBody>
      </p:sp>
      <p:sp>
        <p:nvSpPr>
          <p:cNvPr id="9" name="Text 4"/>
          <p:cNvSpPr txBox="1"/>
          <p:nvPr/>
        </p:nvSpPr>
        <p:spPr>
          <a:xfrm>
            <a:off x="7772400" y="1371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3D68E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MAATREGEL</a:t>
            </a:r>
            <a:endParaRPr lang="en-US" sz="1100" dirty="0"/>
          </a:p>
        </p:txBody>
      </p:sp>
      <p:sp>
        <p:nvSpPr>
          <p:cNvPr id="10" name="Shape 5"/>
          <p:cNvSpPr/>
          <p:nvPr/>
        </p:nvSpPr>
        <p:spPr>
          <a:xfrm>
            <a:off x="4343400" y="1691640"/>
            <a:ext cx="7296912" cy="6858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1" name="Shape 6"/>
          <p:cNvSpPr/>
          <p:nvPr/>
        </p:nvSpPr>
        <p:spPr>
          <a:xfrm>
            <a:off x="4480560" y="1874520"/>
            <a:ext cx="320040" cy="320040"/>
          </a:xfrm>
          <a:prstGeom prst="ellipse">
            <a:avLst/>
          </a:prstGeom>
          <a:solidFill>
            <a:srgbClr val="3D68EC"/>
          </a:solidFill>
          <a:ln w="12700">
            <a:solidFill>
              <a:srgbClr val="3D68E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2" name="Text 7"/>
          <p:cNvSpPr txBox="1"/>
          <p:nvPr/>
        </p:nvSpPr>
        <p:spPr>
          <a:xfrm>
            <a:off x="4480560" y="18745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4D74B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8"/>
          <p:cNvSpPr txBox="1"/>
          <p:nvPr/>
        </p:nvSpPr>
        <p:spPr>
          <a:xfrm>
            <a:off x="4892040" y="1691640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Deelnemers zonder codeerervaring haken af</a:t>
            </a:r>
            <a:endParaRPr lang="en-US" sz="1250" dirty="0"/>
          </a:p>
        </p:txBody>
      </p:sp>
      <p:sp>
        <p:nvSpPr>
          <p:cNvPr id="14" name="Text 9"/>
          <p:cNvSpPr txBox="1"/>
          <p:nvPr/>
        </p:nvSpPr>
        <p:spPr>
          <a:xfrm>
            <a:off x="7772400" y="169164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Iedereen werkt alleen via prompten; de voorbeeldprompt en de skills geven houvast.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4343400" y="2450592"/>
            <a:ext cx="7296912" cy="6858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6" name="Shape 11"/>
          <p:cNvSpPr/>
          <p:nvPr/>
        </p:nvSpPr>
        <p:spPr>
          <a:xfrm>
            <a:off x="4480560" y="2633472"/>
            <a:ext cx="320040" cy="320040"/>
          </a:xfrm>
          <a:prstGeom prst="ellipse">
            <a:avLst/>
          </a:prstGeom>
          <a:solidFill>
            <a:srgbClr val="DD784B"/>
          </a:solidFill>
          <a:ln w="12700">
            <a:solidFill>
              <a:srgbClr val="DD784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7" name="Text 12"/>
          <p:cNvSpPr txBox="1"/>
          <p:nvPr/>
        </p:nvSpPr>
        <p:spPr>
          <a:xfrm>
            <a:off x="4480560" y="263347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3"/>
          <p:cNvSpPr txBox="1"/>
          <p:nvPr/>
        </p:nvSpPr>
        <p:spPr>
          <a:xfrm>
            <a:off x="4892040" y="2450592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De agent is niet deterministisch</a:t>
            </a:r>
            <a:endParaRPr lang="en-US" sz="1250" dirty="0"/>
          </a:p>
        </p:txBody>
      </p:sp>
      <p:sp>
        <p:nvSpPr>
          <p:cNvPr id="19" name="Text 14"/>
          <p:cNvSpPr txBox="1"/>
          <p:nvPr/>
        </p:nvSpPr>
        <p:spPr>
          <a:xfrm>
            <a:off x="7772400" y="2450592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Per ronde een checkpoint met het verwachte resultaat en minstens twee droge runs vooraf.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4343400" y="3209544"/>
            <a:ext cx="7296912" cy="6858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1" name="Shape 16"/>
          <p:cNvSpPr/>
          <p:nvPr/>
        </p:nvSpPr>
        <p:spPr>
          <a:xfrm>
            <a:off x="4480560" y="3392424"/>
            <a:ext cx="320040" cy="320040"/>
          </a:xfrm>
          <a:prstGeom prst="ellipse">
            <a:avLst/>
          </a:prstGeom>
          <a:solidFill>
            <a:srgbClr val="00AF81"/>
          </a:solidFill>
          <a:ln w="12700">
            <a:solidFill>
              <a:srgbClr val="00AF81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2" name="Text 17"/>
          <p:cNvSpPr txBox="1"/>
          <p:nvPr/>
        </p:nvSpPr>
        <p:spPr>
          <a:xfrm>
            <a:off x="4480560" y="339242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18"/>
          <p:cNvSpPr txBox="1"/>
          <p:nvPr/>
        </p:nvSpPr>
        <p:spPr>
          <a:xfrm>
            <a:off x="4892040" y="3209544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De skill duurt langer dan gepland</a:t>
            </a:r>
            <a:endParaRPr lang="en-US" sz="1250" dirty="0"/>
          </a:p>
        </p:txBody>
      </p:sp>
      <p:sp>
        <p:nvSpPr>
          <p:cNvPr id="24" name="Text 19"/>
          <p:cNvSpPr txBox="1"/>
          <p:nvPr/>
        </p:nvSpPr>
        <p:spPr>
          <a:xfrm>
            <a:off x="7772400" y="3209544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Gemeten: ongeveer 1 en 2 tot 2,5 minuut, met een ander model dan in de devcontainer. Opnieuw meten in de echte omgeving en ruim marge nemen.</a:t>
            </a:r>
            <a:endParaRPr lang="en-US" sz="1150" dirty="0"/>
          </a:p>
        </p:txBody>
      </p:sp>
      <p:sp>
        <p:nvSpPr>
          <p:cNvPr id="25" name="Shape 20"/>
          <p:cNvSpPr/>
          <p:nvPr/>
        </p:nvSpPr>
        <p:spPr>
          <a:xfrm>
            <a:off x="4343400" y="3968496"/>
            <a:ext cx="7296912" cy="6858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6" name="Shape 21"/>
          <p:cNvSpPr/>
          <p:nvPr/>
        </p:nvSpPr>
        <p:spPr>
          <a:xfrm>
            <a:off x="4480560" y="4151376"/>
            <a:ext cx="320040" cy="320040"/>
          </a:xfrm>
          <a:prstGeom prst="ellipse">
            <a:avLst/>
          </a:prstGeom>
          <a:solidFill>
            <a:srgbClr val="F4D74B"/>
          </a:solidFill>
          <a:ln w="12700">
            <a:solidFill>
              <a:srgbClr val="F4D74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7" name="Text 22"/>
          <p:cNvSpPr txBox="1"/>
          <p:nvPr/>
        </p:nvSpPr>
        <p:spPr>
          <a:xfrm>
            <a:off x="4480560" y="415137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D68E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4</a:t>
            </a:r>
            <a:endParaRPr lang="en-US" sz="1200" dirty="0"/>
          </a:p>
        </p:txBody>
      </p:sp>
      <p:sp>
        <p:nvSpPr>
          <p:cNvPr id="28" name="Text 23"/>
          <p:cNvSpPr txBox="1"/>
          <p:nvPr/>
        </p:nvSpPr>
        <p:spPr>
          <a:xfrm>
            <a:off x="4892040" y="3968496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Responsible raakt ondergesneeuwd</a:t>
            </a:r>
            <a:endParaRPr lang="en-US" sz="1250" dirty="0"/>
          </a:p>
        </p:txBody>
      </p:sp>
      <p:sp>
        <p:nvSpPr>
          <p:cNvPr id="29" name="Text 24"/>
          <p:cNvSpPr txBox="1"/>
          <p:nvPr/>
        </p:nvSpPr>
        <p:spPr>
          <a:xfrm>
            <a:off x="7772400" y="3968496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De checks zitten verweven in beide skills, plus een korte checklist per ronde.</a:t>
            </a:r>
            <a:endParaRPr lang="en-US" sz="1150" dirty="0"/>
          </a:p>
        </p:txBody>
      </p:sp>
      <p:sp>
        <p:nvSpPr>
          <p:cNvPr id="30" name="Shape 25"/>
          <p:cNvSpPr/>
          <p:nvPr/>
        </p:nvSpPr>
        <p:spPr>
          <a:xfrm>
            <a:off x="4343400" y="4727448"/>
            <a:ext cx="7296912" cy="6858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1" name="Shape 26"/>
          <p:cNvSpPr/>
          <p:nvPr/>
        </p:nvSpPr>
        <p:spPr>
          <a:xfrm>
            <a:off x="4480560" y="4910328"/>
            <a:ext cx="320040" cy="320040"/>
          </a:xfrm>
          <a:prstGeom prst="ellipse">
            <a:avLst/>
          </a:prstGeom>
          <a:solidFill>
            <a:srgbClr val="3D68EC"/>
          </a:solidFill>
          <a:ln w="12700">
            <a:solidFill>
              <a:srgbClr val="3D68E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2" name="Text 27"/>
          <p:cNvSpPr txBox="1"/>
          <p:nvPr/>
        </p:nvSpPr>
        <p:spPr>
          <a:xfrm>
            <a:off x="4480560" y="49103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5</a:t>
            </a:r>
            <a:endParaRPr lang="en-US" sz="1200" dirty="0"/>
          </a:p>
        </p:txBody>
      </p:sp>
      <p:sp>
        <p:nvSpPr>
          <p:cNvPr id="33" name="Text 28"/>
          <p:cNvSpPr txBox="1"/>
          <p:nvPr/>
        </p:nvSpPr>
        <p:spPr>
          <a:xfrm>
            <a:off x="4892040" y="4727448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Data zonder patroon of kleine groepen</a:t>
            </a:r>
            <a:endParaRPr lang="en-US" sz="1250" dirty="0"/>
          </a:p>
        </p:txBody>
      </p:sp>
      <p:sp>
        <p:nvSpPr>
          <p:cNvPr id="34" name="Text 29"/>
          <p:cNvSpPr txBox="1"/>
          <p:nvPr/>
        </p:nvSpPr>
        <p:spPr>
          <a:xfrm>
            <a:off x="7772400" y="4727448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Patroon (sector) en kleine groepen zijn ingebouwd en vooraf gecontroleerd met een antwoordsleutel.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3D68EC"/>
        </a:solid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411480"/>
            <a:ext cx="9966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Afsluiting en open punten</a:t>
            </a:r>
            <a:endParaRPr lang="en-US" sz="3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8695" y="365760"/>
            <a:ext cx="594360" cy="59436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146304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i="1" dirty="0">
                <a:solidFill>
                  <a:srgbClr val="F4D7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Plenaire reflectie: wat verloor en won je?</a:t>
            </a:r>
            <a:endParaRPr lang="en-US" sz="28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274320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i="1" dirty="0">
                <a:solidFill>
                  <a:srgbClr val="F4D7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Vertaal het naar je eigen praktijk.</a:t>
            </a:r>
            <a:endParaRPr lang="en-US" sz="28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384048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Data is synthetisch: echte data vraagt een eigen route. Voor echte 1CHO-data is er het CEDA-pakket eencijferho.</a:t>
            </a:r>
            <a:endParaRPr lang="en-US" sz="14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754880"/>
            <a:ext cx="1737360" cy="173736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5852160" y="146304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Open punten</a:t>
            </a:r>
            <a:endParaRPr lang="en-US" sz="2200" dirty="0"/>
          </a:p>
        </p:txBody>
      </p:sp>
      <p:sp>
        <p:nvSpPr>
          <p:cNvPr id="10" name="Shape 5"/>
          <p:cNvSpPr/>
          <p:nvPr/>
        </p:nvSpPr>
        <p:spPr>
          <a:xfrm>
            <a:off x="5852160" y="2011680"/>
            <a:ext cx="5788152" cy="1005840"/>
          </a:xfrm>
          <a:prstGeom prst="roundRect">
            <a:avLst>
              <a:gd name="adj" fmla="val 20741"/>
            </a:avLst>
          </a:prstGeom>
          <a:solidFill>
            <a:srgbClr val="F4D9DC"/>
          </a:solidFill>
          <a:ln w="12700">
            <a:solidFill>
              <a:srgbClr val="F4D9D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1" name="Shape 6"/>
          <p:cNvSpPr/>
          <p:nvPr/>
        </p:nvSpPr>
        <p:spPr>
          <a:xfrm>
            <a:off x="6126480" y="2139696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3D68EC"/>
          </a:solidFill>
          <a:ln w="12700">
            <a:solidFill>
              <a:srgbClr val="3D68E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2" name="Text 7"/>
          <p:cNvSpPr txBox="1"/>
          <p:nvPr/>
        </p:nvSpPr>
        <p:spPr>
          <a:xfrm>
            <a:off x="6126480" y="2139696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Casus</a:t>
            </a:r>
            <a:endParaRPr lang="en-US" sz="1200" dirty="0"/>
          </a:p>
        </p:txBody>
      </p:sp>
      <p:sp>
        <p:nvSpPr>
          <p:cNvPr id="13" name="Text 8"/>
          <p:cNvSpPr txBox="1"/>
          <p:nvPr/>
        </p:nvSpPr>
        <p:spPr>
          <a:xfrm>
            <a:off x="6126480" y="2487168"/>
            <a:ext cx="5257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Voorstel: casus A. Casus C vraagt het VO-eindcijfer, dat niet in het synthetische bestand zit.</a:t>
            </a:r>
            <a:endParaRPr lang="en-US" sz="1300" dirty="0"/>
          </a:p>
        </p:txBody>
      </p:sp>
      <p:sp>
        <p:nvSpPr>
          <p:cNvPr id="10" name="Shape 5"/>
          <p:cNvSpPr/>
          <p:nvPr/>
        </p:nvSpPr>
        <p:spPr>
          <a:xfrm>
            <a:off x="5852160" y="3108960"/>
            <a:ext cx="5788152" cy="1005840"/>
          </a:xfrm>
          <a:prstGeom prst="roundRect">
            <a:avLst>
              <a:gd name="adj" fmla="val 20741"/>
            </a:avLst>
          </a:prstGeom>
          <a:solidFill>
            <a:srgbClr val="F4D9DC"/>
          </a:solidFill>
          <a:ln w="12700">
            <a:solidFill>
              <a:srgbClr val="F4D9D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1" name="Shape 6"/>
          <p:cNvSpPr/>
          <p:nvPr/>
        </p:nvSpPr>
        <p:spPr>
          <a:xfrm>
            <a:off x="6126480" y="3236976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3D68EC"/>
          </a:solidFill>
          <a:ln w="12700">
            <a:solidFill>
              <a:srgbClr val="3D68E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2" name="Text 7"/>
          <p:cNvSpPr txBox="1"/>
          <p:nvPr/>
        </p:nvSpPr>
        <p:spPr>
          <a:xfrm>
            <a:off x="6126480" y="3236976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Omgeving</a:t>
            </a:r>
            <a:endParaRPr lang="en-US" sz="1200" dirty="0"/>
          </a:p>
        </p:txBody>
      </p:sp>
      <p:sp>
        <p:nvSpPr>
          <p:cNvPr id="13" name="Text 8"/>
          <p:cNvSpPr txBox="1"/>
          <p:nvPr/>
        </p:nvSpPr>
        <p:spPr>
          <a:xfrm>
            <a:off x="6126480" y="3584448"/>
            <a:ext cx="5257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Pakketten in het image (issue #10) en welk Claude-model deelnemers krijgen (issue #11), bij Tomer.</a:t>
            </a:r>
            <a:endParaRPr lang="en-US" sz="1300" dirty="0"/>
          </a:p>
        </p:txBody>
      </p:sp>
      <p:sp>
        <p:nvSpPr>
          <p:cNvPr id="10" name="Shape 5"/>
          <p:cNvSpPr/>
          <p:nvPr/>
        </p:nvSpPr>
        <p:spPr>
          <a:xfrm>
            <a:off x="5852160" y="4206240"/>
            <a:ext cx="5788152" cy="1005840"/>
          </a:xfrm>
          <a:prstGeom prst="roundRect">
            <a:avLst>
              <a:gd name="adj" fmla="val 20741"/>
            </a:avLst>
          </a:prstGeom>
          <a:solidFill>
            <a:srgbClr val="F4D9DC"/>
          </a:solidFill>
          <a:ln w="12700">
            <a:solidFill>
              <a:srgbClr val="F4D9D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1" name="Shape 6"/>
          <p:cNvSpPr/>
          <p:nvPr/>
        </p:nvSpPr>
        <p:spPr>
          <a:xfrm>
            <a:off x="6126480" y="4334255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3D68EC"/>
          </a:solidFill>
          <a:ln w="12700">
            <a:solidFill>
              <a:srgbClr val="3D68E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2" name="Text 7"/>
          <p:cNvSpPr txBox="1"/>
          <p:nvPr/>
        </p:nvSpPr>
        <p:spPr>
          <a:xfrm>
            <a:off x="6126480" y="4334255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Skills</a:t>
            </a:r>
            <a:endParaRPr lang="en-US" sz="1200" dirty="0"/>
          </a:p>
        </p:txBody>
      </p:sp>
      <p:sp>
        <p:nvSpPr>
          <p:cNvPr id="13" name="Text 8"/>
          <p:cNvSpPr txBox="1"/>
          <p:nvPr/>
        </p:nvSpPr>
        <p:spPr>
          <a:xfrm>
            <a:off x="6126480" y="4681727"/>
            <a:ext cx="5257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De skills staan in een pull request (#9) en moeten nog gereviewd worden. De data volgt apart.</a:t>
            </a:r>
            <a:endParaRPr lang="en-US" sz="1300" dirty="0"/>
          </a:p>
        </p:txBody>
      </p:sp>
      <p:sp>
        <p:nvSpPr>
          <p:cNvPr id="10" name="Shape 5"/>
          <p:cNvSpPr/>
          <p:nvPr/>
        </p:nvSpPr>
        <p:spPr>
          <a:xfrm>
            <a:off x="5852160" y="5303520"/>
            <a:ext cx="5788152" cy="1005840"/>
          </a:xfrm>
          <a:prstGeom prst="roundRect">
            <a:avLst>
              <a:gd name="adj" fmla="val 20741"/>
            </a:avLst>
          </a:prstGeom>
          <a:solidFill>
            <a:srgbClr val="F4D9DC"/>
          </a:solidFill>
          <a:ln w="12700">
            <a:solidFill>
              <a:srgbClr val="F4D9D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1" name="Shape 6"/>
          <p:cNvSpPr/>
          <p:nvPr/>
        </p:nvSpPr>
        <p:spPr>
          <a:xfrm>
            <a:off x="6126480" y="5431536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3D68EC"/>
          </a:solidFill>
          <a:ln w="12700">
            <a:solidFill>
              <a:srgbClr val="3D68E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2" name="Text 7"/>
          <p:cNvSpPr txBox="1"/>
          <p:nvPr/>
        </p:nvSpPr>
        <p:spPr>
          <a:xfrm>
            <a:off x="6126480" y="5431536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Planning</a:t>
            </a:r>
            <a:endParaRPr lang="en-US" sz="1200" dirty="0"/>
          </a:p>
        </p:txBody>
      </p:sp>
      <p:sp>
        <p:nvSpPr>
          <p:cNvPr id="13" name="Text 8"/>
          <p:cNvSpPr txBox="1"/>
          <p:nvPr/>
        </p:nvSpPr>
        <p:spPr>
          <a:xfrm>
            <a:off x="6126480" y="5779008"/>
            <a:ext cx="5257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Peiling-tool, datum en spreker invullen en de skills opnieuw meten in de echte omgeving.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5D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548640" y="411480"/>
            <a:ext cx="9966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3D68E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Evaluatie en afsluiting</a:t>
            </a:r>
            <a:endParaRPr lang="en-US" sz="3400" dirty="0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8695" y="365760"/>
            <a:ext cx="594360" cy="59436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548640" y="1371600"/>
            <a:ext cx="3429000" cy="4206240"/>
          </a:xfrm>
          <a:prstGeom prst="roundRect">
            <a:avLst>
              <a:gd name="adj" fmla="val 8000"/>
            </a:avLst>
          </a:prstGeom>
          <a:solidFill>
            <a:srgbClr val="3D68EC"/>
          </a:solidFill>
          <a:ln w="12700">
            <a:solidFill>
              <a:srgbClr val="3D68E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6" name="Shape 2"/>
          <p:cNvSpPr/>
          <p:nvPr/>
        </p:nvSpPr>
        <p:spPr>
          <a:xfrm>
            <a:off x="822960" y="1645920"/>
            <a:ext cx="502920" cy="502920"/>
          </a:xfrm>
          <a:prstGeom prst="ellipse">
            <a:avLst/>
          </a:prstGeom>
          <a:solidFill>
            <a:srgbClr val="F4D74B"/>
          </a:solidFill>
          <a:ln w="12700">
            <a:solidFill>
              <a:srgbClr val="F4D74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7" name="Text 3"/>
          <p:cNvSpPr txBox="1"/>
          <p:nvPr/>
        </p:nvSpPr>
        <p:spPr>
          <a:xfrm>
            <a:off x="82296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D68E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Shape 4"/>
          <p:cNvSpPr/>
          <p:nvPr/>
        </p:nvSpPr>
        <p:spPr>
          <a:xfrm>
            <a:off x="1463040" y="1719072"/>
            <a:ext cx="2194560" cy="365760"/>
          </a:xfrm>
          <a:prstGeom prst="roundRect">
            <a:avLst>
              <a:gd name="adj" fmla="val 50000"/>
            </a:avLst>
          </a:prstGeom>
          <a:solidFill>
            <a:srgbClr val="F4D74B"/>
          </a:solidFill>
          <a:ln w="12700">
            <a:solidFill>
              <a:srgbClr val="F4D74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9" name="Text 5"/>
          <p:cNvSpPr txBox="1"/>
          <p:nvPr/>
        </p:nvSpPr>
        <p:spPr>
          <a:xfrm>
            <a:off x="1463040" y="171907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D68E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Terugblik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822960" y="233172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Wat vond je ervan?</a:t>
            </a:r>
            <a:endParaRPr lang="en-US" sz="2200" dirty="0"/>
          </a:p>
        </p:txBody>
      </p:sp>
      <p:sp>
        <p:nvSpPr>
          <p:cNvPr id="11" name="Text 7"/>
          <p:cNvSpPr txBox="1"/>
          <p:nvPr/>
        </p:nvSpPr>
        <p:spPr>
          <a:xfrm>
            <a:off x="822960" y="3200400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HOE</a:t>
            </a:r>
            <a:endParaRPr lang="en-US" sz="1100" dirty="0"/>
          </a:p>
        </p:txBody>
      </p:sp>
      <p:sp>
        <p:nvSpPr>
          <p:cNvPr id="12" name="Text 8"/>
          <p:cNvSpPr txBox="1"/>
          <p:nvPr/>
        </p:nvSpPr>
        <p:spPr>
          <a:xfrm>
            <a:off x="822960" y="3474720"/>
            <a:ext cx="2880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Wat ging goed, wat zag je nu pas, wat neem je mee? Via de peiling of een kort rondje.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822960" y="4389120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RESULTAAT</a:t>
            </a:r>
            <a:endParaRPr lang="en-US" sz="1100" dirty="0"/>
          </a:p>
        </p:txBody>
      </p:sp>
      <p:sp>
        <p:nvSpPr>
          <p:cNvPr id="14" name="Text 10"/>
          <p:cNvSpPr txBox="1"/>
          <p:nvPr/>
        </p:nvSpPr>
        <p:spPr>
          <a:xfrm>
            <a:off x="822960" y="466344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Jouw eigen woorden, anoniem en vrijwillig.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4069080" y="3246120"/>
            <a:ext cx="219456" cy="457200"/>
          </a:xfrm>
          <a:prstGeom prst="chevron">
            <a:avLst/>
          </a:prstGeom>
          <a:solidFill>
            <a:srgbClr val="3D68EC"/>
          </a:solidFill>
          <a:ln w="12700">
            <a:solidFill>
              <a:srgbClr val="3D68E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6" name="Shape 12"/>
          <p:cNvSpPr/>
          <p:nvPr/>
        </p:nvSpPr>
        <p:spPr>
          <a:xfrm>
            <a:off x="4379976" y="1371600"/>
            <a:ext cx="3429000" cy="4206240"/>
          </a:xfrm>
          <a:prstGeom prst="roundRect">
            <a:avLst>
              <a:gd name="adj" fmla="val 8000"/>
            </a:avLst>
          </a:prstGeom>
          <a:solidFill>
            <a:srgbClr val="DD784B"/>
          </a:solidFill>
          <a:ln w="12700">
            <a:solidFill>
              <a:srgbClr val="DD784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7" name="Shape 13"/>
          <p:cNvSpPr/>
          <p:nvPr/>
        </p:nvSpPr>
        <p:spPr>
          <a:xfrm>
            <a:off x="4654296" y="1645920"/>
            <a:ext cx="502920" cy="502920"/>
          </a:xfrm>
          <a:prstGeom prst="ellipse">
            <a:avLst/>
          </a:prstGeom>
          <a:solidFill>
            <a:srgbClr val="F4D9DC"/>
          </a:solidFill>
          <a:ln w="12700">
            <a:solidFill>
              <a:srgbClr val="F4D9D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8" name="Text 14"/>
          <p:cNvSpPr txBox="1"/>
          <p:nvPr/>
        </p:nvSpPr>
        <p:spPr>
          <a:xfrm>
            <a:off x="4654296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D784B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2</a:t>
            </a:r>
            <a:endParaRPr lang="en-US" sz="1800" dirty="0"/>
          </a:p>
        </p:txBody>
      </p:sp>
      <p:sp>
        <p:nvSpPr>
          <p:cNvPr id="19" name="Shape 15"/>
          <p:cNvSpPr/>
          <p:nvPr/>
        </p:nvSpPr>
        <p:spPr>
          <a:xfrm>
            <a:off x="5294376" y="1719072"/>
            <a:ext cx="2194560" cy="365760"/>
          </a:xfrm>
          <a:prstGeom prst="roundRect">
            <a:avLst>
              <a:gd name="adj" fmla="val 50000"/>
            </a:avLst>
          </a:prstGeom>
          <a:solidFill>
            <a:srgbClr val="F4D9DC"/>
          </a:solidFill>
          <a:ln w="12700">
            <a:solidFill>
              <a:srgbClr val="F4D9D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0" name="Text 16"/>
          <p:cNvSpPr txBox="1"/>
          <p:nvPr/>
        </p:nvSpPr>
        <p:spPr>
          <a:xfrm>
            <a:off x="5294376" y="171907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D784B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Peiling</a:t>
            </a:r>
            <a:endParaRPr lang="en-US" sz="1200" dirty="0"/>
          </a:p>
        </p:txBody>
      </p:sp>
      <p:sp>
        <p:nvSpPr>
          <p:cNvPr id="21" name="Text 17"/>
          <p:cNvSpPr txBox="1"/>
          <p:nvPr/>
        </p:nvSpPr>
        <p:spPr>
          <a:xfrm>
            <a:off x="4654296" y="233172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Interesse in een training?</a:t>
            </a:r>
            <a:endParaRPr lang="en-US" sz="2200" dirty="0"/>
          </a:p>
        </p:txBody>
      </p:sp>
      <p:sp>
        <p:nvSpPr>
          <p:cNvPr id="22" name="Text 18"/>
          <p:cNvSpPr txBox="1"/>
          <p:nvPr/>
        </p:nvSpPr>
        <p:spPr>
          <a:xfrm>
            <a:off x="4654296" y="3200400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HOE</a:t>
            </a:r>
            <a:endParaRPr lang="en-US" sz="1100" dirty="0"/>
          </a:p>
        </p:txBody>
      </p:sp>
      <p:sp>
        <p:nvSpPr>
          <p:cNvPr id="23" name="Text 19"/>
          <p:cNvSpPr txBox="1"/>
          <p:nvPr/>
        </p:nvSpPr>
        <p:spPr>
          <a:xfrm>
            <a:off x="4654296" y="3474720"/>
            <a:ext cx="2880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Meerkeuzevraag: van nee tot een programma van 4 uur per week voor één semester.</a:t>
            </a:r>
            <a:endParaRPr lang="en-US" sz="1400" dirty="0"/>
          </a:p>
        </p:txBody>
      </p:sp>
      <p:sp>
        <p:nvSpPr>
          <p:cNvPr id="24" name="Text 20"/>
          <p:cNvSpPr txBox="1"/>
          <p:nvPr/>
        </p:nvSpPr>
        <p:spPr>
          <a:xfrm>
            <a:off x="4654296" y="4389120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RESULTAAT</a:t>
            </a:r>
            <a:endParaRPr lang="en-US" sz="1100" dirty="0"/>
          </a:p>
        </p:txBody>
      </p:sp>
      <p:sp>
        <p:nvSpPr>
          <p:cNvPr id="25" name="Text 21"/>
          <p:cNvSpPr txBox="1"/>
          <p:nvPr/>
        </p:nvSpPr>
        <p:spPr>
          <a:xfrm>
            <a:off x="4654296" y="466344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Zicht op hoeveel tijd mensen echt willen vrijmaken.</a:t>
            </a:r>
            <a:endParaRPr lang="en-US" sz="1400" dirty="0"/>
          </a:p>
        </p:txBody>
      </p:sp>
      <p:sp>
        <p:nvSpPr>
          <p:cNvPr id="26" name="Shape 22"/>
          <p:cNvSpPr/>
          <p:nvPr/>
        </p:nvSpPr>
        <p:spPr>
          <a:xfrm>
            <a:off x="7900416" y="3246120"/>
            <a:ext cx="219456" cy="457200"/>
          </a:xfrm>
          <a:prstGeom prst="chevron">
            <a:avLst/>
          </a:prstGeom>
          <a:solidFill>
            <a:srgbClr val="3D68EC"/>
          </a:solidFill>
          <a:ln w="12700">
            <a:solidFill>
              <a:srgbClr val="3D68E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7" name="Shape 23"/>
          <p:cNvSpPr/>
          <p:nvPr/>
        </p:nvSpPr>
        <p:spPr>
          <a:xfrm>
            <a:off x="8211312" y="1371600"/>
            <a:ext cx="3429000" cy="4206240"/>
          </a:xfrm>
          <a:prstGeom prst="roundRect">
            <a:avLst>
              <a:gd name="adj" fmla="val 8000"/>
            </a:avLst>
          </a:prstGeom>
          <a:solidFill>
            <a:srgbClr val="00AF81"/>
          </a:solidFill>
          <a:ln w="12700">
            <a:solidFill>
              <a:srgbClr val="00AF81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8" name="Shape 24"/>
          <p:cNvSpPr/>
          <p:nvPr/>
        </p:nvSpPr>
        <p:spPr>
          <a:xfrm>
            <a:off x="8485632" y="1645920"/>
            <a:ext cx="502920" cy="502920"/>
          </a:xfrm>
          <a:prstGeom prst="ellipse">
            <a:avLst/>
          </a:prstGeom>
          <a:solidFill>
            <a:srgbClr val="F4D9DC"/>
          </a:solidFill>
          <a:ln w="12700">
            <a:solidFill>
              <a:srgbClr val="F4D9D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9" name="Text 25"/>
          <p:cNvSpPr txBox="1"/>
          <p:nvPr/>
        </p:nvSpPr>
        <p:spPr>
          <a:xfrm>
            <a:off x="8485632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AF81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3</a:t>
            </a:r>
            <a:endParaRPr lang="en-US" sz="1800" dirty="0"/>
          </a:p>
        </p:txBody>
      </p:sp>
      <p:sp>
        <p:nvSpPr>
          <p:cNvPr id="30" name="Shape 26"/>
          <p:cNvSpPr/>
          <p:nvPr/>
        </p:nvSpPr>
        <p:spPr>
          <a:xfrm>
            <a:off x="9125712" y="1719072"/>
            <a:ext cx="2194560" cy="365760"/>
          </a:xfrm>
          <a:prstGeom prst="roundRect">
            <a:avLst>
              <a:gd name="adj" fmla="val 50000"/>
            </a:avLst>
          </a:prstGeom>
          <a:solidFill>
            <a:srgbClr val="F4D9DC"/>
          </a:solidFill>
          <a:ln w="12700">
            <a:solidFill>
              <a:srgbClr val="F4D9D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1" name="Text 27"/>
          <p:cNvSpPr txBox="1"/>
          <p:nvPr/>
        </p:nvSpPr>
        <p:spPr>
          <a:xfrm>
            <a:off x="9125712" y="171907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AF81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Open vraag</a:t>
            </a:r>
            <a:endParaRPr lang="en-US" sz="1200" dirty="0"/>
          </a:p>
        </p:txBody>
      </p:sp>
      <p:sp>
        <p:nvSpPr>
          <p:cNvPr id="32" name="Text 28"/>
          <p:cNvSpPr txBox="1"/>
          <p:nvPr/>
        </p:nvSpPr>
        <p:spPr>
          <a:xfrm>
            <a:off x="8485632" y="233172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Wat wil je leren?</a:t>
            </a:r>
            <a:endParaRPr lang="en-US" sz="2200" dirty="0"/>
          </a:p>
        </p:txBody>
      </p:sp>
      <p:sp>
        <p:nvSpPr>
          <p:cNvPr id="33" name="Text 29"/>
          <p:cNvSpPr txBox="1"/>
          <p:nvPr/>
        </p:nvSpPr>
        <p:spPr>
          <a:xfrm>
            <a:off x="8485632" y="3200400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HOE</a:t>
            </a:r>
            <a:endParaRPr lang="en-US" sz="1100" dirty="0"/>
          </a:p>
        </p:txBody>
      </p:sp>
      <p:sp>
        <p:nvSpPr>
          <p:cNvPr id="34" name="Text 30"/>
          <p:cNvSpPr txBox="1"/>
          <p:nvPr/>
        </p:nvSpPr>
        <p:spPr>
          <a:xfrm>
            <a:off x="8485632" y="3474720"/>
            <a:ext cx="2880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Wat wil je precies leren in zo'n training? Kort en concreet.</a:t>
            </a:r>
            <a:endParaRPr lang="en-US" sz="1400" dirty="0"/>
          </a:p>
        </p:txBody>
      </p:sp>
      <p:sp>
        <p:nvSpPr>
          <p:cNvPr id="35" name="Text 31"/>
          <p:cNvSpPr txBox="1"/>
          <p:nvPr/>
        </p:nvSpPr>
        <p:spPr>
          <a:xfrm>
            <a:off x="8485632" y="4389120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RESULTAAT</a:t>
            </a:r>
            <a:endParaRPr lang="en-US" sz="1100" dirty="0"/>
          </a:p>
        </p:txBody>
      </p:sp>
      <p:sp>
        <p:nvSpPr>
          <p:cNvPr id="36" name="Text 32"/>
          <p:cNvSpPr txBox="1"/>
          <p:nvPr/>
        </p:nvSpPr>
        <p:spPr>
          <a:xfrm>
            <a:off x="8485632" y="466344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Input voor de inhoud van een vervolg.</a:t>
            </a:r>
            <a:endParaRPr lang="en-US" sz="1400" dirty="0"/>
          </a:p>
        </p:txBody>
      </p:sp>
      <p:sp>
        <p:nvSpPr>
          <p:cNvPr id="37" name="Text 33"/>
          <p:cNvSpPr txBox="1"/>
          <p:nvPr/>
        </p:nvSpPr>
        <p:spPr>
          <a:xfrm>
            <a:off x="548640" y="57607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Evaluatie en afsluiting vormen één blok van 16 minuten, na de laatste uitleg. De antwoorden bepalen of en hoe CEDA een vervolg inricht.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1329</Words>
  <Application>Microsoft Office PowerPoint</Application>
  <PresentationFormat>Widescreen</PresentationFormat>
  <Paragraphs>235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General Sans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CEDA / Npuls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 data science in het onderwijs</dc:title>
  <dc:subject>PptxGenJS Presentation</dc:subject>
  <dc:creator>PptxGenJS</dc:creator>
  <cp:lastModifiedBy>Aslam Tanjung</cp:lastModifiedBy>
  <cp:revision>3</cp:revision>
  <dcterms:created xsi:type="dcterms:W3CDTF">2026-09-24T12:15:19Z</dcterms:created>
  <dcterms:modified xsi:type="dcterms:W3CDTF">2026-10-01T13:56:21Z</dcterms:modified>
</cp:coreProperties>
</file>